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emf" ContentType="image/x-emf"/>
  <Default Extension="jpg" ContentType="image/jpeg"/>
  <Override PartName="/docProps/app.xml" ContentType="application/vnd.openxmlformats-officedocument.extended-propertie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9646"/>
    <a:srgbClr val="062C43"/>
    <a:srgbClr val="118581"/>
    <a:srgbClr val="AC2874"/>
    <a:srgbClr val="AD9252"/>
    <a:srgbClr val="FCCC32"/>
    <a:srgbClr val="59A74B"/>
    <a:srgbClr val="F27830"/>
    <a:srgbClr val="21B1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5580"/>
    <p:restoredTop sz="94658"/>
  </p:normalViewPr>
  <p:slideViewPr>
    <p:cSldViewPr snapToGrid="0" snapToObjects="1">
      <p:cViewPr varScale="1">
        <p:scale>
          <a:sx d="100" n="128"/>
          <a:sy d="100" n="128"/>
        </p:scale>
        <p:origin x="768" y="176"/>
      </p:cViewPr>
      <p:guideLst/>
    </p:cSldViewPr>
  </p:slideViewPr>
  <p:notesTextViewPr>
    <p:cViewPr>
      <p:scale>
        <a:sx d="1" n="1"/>
        <a:sy d="1" n="1"/>
      </p:scale>
      <p:origin x="0" y="0"/>
    </p:cViewPr>
  </p:notesTextViewPr>
  <p:sorterViewPr>
    <p:cViewPr>
      <p:scale>
        <a:sx d="100" n="80"/>
        <a:sy d="100" n="80"/>
      </p:scale>
      <p:origin x="0" y="0"/>
    </p:cViewPr>
  </p:sorterViewPr>
  <p:notesViewPr>
    <p:cSldViewPr snapToGrid="0" snapToObjects="1">
      <p:cViewPr varScale="1">
        <p:scale>
          <a:sx d="100" n="99"/>
          <a:sy d="100" n="99"/>
        </p:scale>
        <p:origin x="2864" y="184"/>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5" Type="http://schemas.openxmlformats.org/officeDocument/2006/relationships/viewProps" Target="viewProps.xml" /><Relationship Id="rId44" Type="http://schemas.openxmlformats.org/officeDocument/2006/relationships/presProps" Target="presProps.xml" /><Relationship Id="rId1" Type="http://schemas.openxmlformats.org/officeDocument/2006/relationships/slideMaster" Target="slideMasters/slideMaster1.xml" /><Relationship Id="rId47" Type="http://schemas.openxmlformats.org/officeDocument/2006/relationships/tableStyles" Target="tableStyles.xml" /><Relationship Id="rId4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7461840" y="774132"/>
            <a:ext cx="4263136" cy="1879616"/>
          </a:xfrm>
        </p:spPr>
        <p:txBody>
          <a:bodyPr anchor="b">
            <a:normAutofit/>
          </a:bodyPr>
          <a:lstStyle>
            <a:lvl1pPr algn="l">
              <a:defRPr sz="35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D46EA0A7-1E73-F64D-9AC7-B8EFBCA6BAAE}"/>
              </a:ext>
            </a:extLst>
          </p:cNvPr>
          <p:cNvSpPr>
            <a:spLocks noGrp="1"/>
          </p:cNvSpPr>
          <p:nvPr>
            <p:ph type="subTitle" idx="1"/>
          </p:nvPr>
        </p:nvSpPr>
        <p:spPr>
          <a:xfrm>
            <a:off x="7461840" y="3488441"/>
            <a:ext cx="3820634" cy="853003"/>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Rectangle 6">
            <a:extLst>
              <a:ext uri="{FF2B5EF4-FFF2-40B4-BE49-F238E27FC236}">
                <a16:creationId xmlns:a16="http://schemas.microsoft.com/office/drawing/2014/main" id="{871947E7-DACC-CA46-9951-175FD059B99E}"/>
              </a:ext>
            </a:extLst>
          </p:cNvPr>
          <p:cNvSpPr/>
          <p:nvPr userDrawn="1"/>
        </p:nvSpPr>
        <p:spPr>
          <a:xfrm>
            <a:off x="627321" y="-178627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4AF14B05-EF61-4345-AA4C-35FDA321C3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pic>
        <p:nvPicPr>
          <p:cNvPr id="8" name="Picture 7">
            <a:extLst>
              <a:ext uri="{FF2B5EF4-FFF2-40B4-BE49-F238E27FC236}">
                <a16:creationId xmlns:a16="http://schemas.microsoft.com/office/drawing/2014/main" id="{B06511BA-1293-D749-88D7-6A305352B3C9}"/>
              </a:ext>
            </a:extLst>
          </p:cNvPr>
          <p:cNvPicPr>
            <a:picLocks noChangeAspect="1"/>
          </p:cNvPicPr>
          <p:nvPr userDrawn="1"/>
        </p:nvPicPr>
        <p:blipFill>
          <a:blip r:embed="rId3"/>
          <a:srcRect/>
          <a:stretch/>
        </p:blipFill>
        <p:spPr>
          <a:xfrm>
            <a:off x="379946" y="-9427"/>
            <a:ext cx="6792373" cy="6867427"/>
          </a:xfrm>
          <a:prstGeom prst="rect">
            <a:avLst/>
          </a:prstGeom>
        </p:spPr>
      </p:pic>
      <p:sp>
        <p:nvSpPr>
          <p:cNvPr id="9" name="Rectangle 8">
            <a:extLst>
              <a:ext uri="{FF2B5EF4-FFF2-40B4-BE49-F238E27FC236}">
                <a16:creationId xmlns:a16="http://schemas.microsoft.com/office/drawing/2014/main" id="{7AC819E9-38D1-FF48-8369-874ED919D343}"/>
              </a:ext>
            </a:extLst>
          </p:cNvPr>
          <p:cNvSpPr/>
          <p:nvPr userDrawn="1"/>
        </p:nvSpPr>
        <p:spPr>
          <a:xfrm>
            <a:off x="7585187" y="2740442"/>
            <a:ext cx="510363" cy="101489"/>
          </a:xfrm>
          <a:prstGeom prst="rect">
            <a:avLst/>
          </a:prstGeom>
          <a:solidFill>
            <a:srgbClr val="5A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30AD36D-6FCB-4E49-B2B2-52DB7184E44E}"/>
              </a:ext>
            </a:extLst>
          </p:cNvPr>
          <p:cNvPicPr>
            <a:picLocks noChangeAspect="1"/>
          </p:cNvPicPr>
          <p:nvPr userDrawn="1"/>
        </p:nvPicPr>
        <p:blipFill>
          <a:blip r:embed="rId4"/>
          <a:srcRect/>
          <a:stretch/>
        </p:blipFill>
        <p:spPr>
          <a:xfrm>
            <a:off x="0" y="0"/>
            <a:ext cx="2482576" cy="6858000"/>
          </a:xfrm>
          <a:prstGeom prst="rect">
            <a:avLst/>
          </a:prstGeom>
        </p:spPr>
      </p:pic>
    </p:spTree>
    <p:extLst>
      <p:ext uri="{BB962C8B-B14F-4D97-AF65-F5344CB8AC3E}">
        <p14:creationId xmlns:p14="http://schemas.microsoft.com/office/powerpoint/2010/main" val="586984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nchor="b" anchorCtr="0"/>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hasCustomPrompt="1"/>
          </p:nvPr>
        </p:nvSpPr>
        <p:spPr>
          <a:xfrm>
            <a:off x="1055553" y="1531088"/>
            <a:ext cx="10735723" cy="4645875"/>
          </a:xfrm>
        </p:spPr>
        <p:txBody>
          <a:bodyPr/>
          <a:lstStyle>
            <a:lvl1pPr>
              <a:defRPr sz="1800">
                <a:solidFill>
                  <a:schemeClr val="tx1"/>
                </a:solidFill>
              </a:defRPr>
            </a:lvl1pPr>
            <a:lvl2pPr>
              <a:defRPr sz="1400">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8384" y="5735570"/>
            <a:ext cx="1323000" cy="864000"/>
          </a:xfrm>
          <a:prstGeom prst="rect">
            <a:avLst/>
          </a:prstGeom>
        </p:spPr>
      </p:pic>
      <p:pic>
        <p:nvPicPr>
          <p:cNvPr id="5" name="Picture 4">
            <a:extLst>
              <a:ext uri="{FF2B5EF4-FFF2-40B4-BE49-F238E27FC236}">
                <a16:creationId xmlns:a16="http://schemas.microsoft.com/office/drawing/2014/main" id="{32FC56F4-8756-D24E-843C-DEF7012E3D44}"/>
              </a:ext>
            </a:extLst>
          </p:cNvPr>
          <p:cNvPicPr>
            <a:picLocks noChangeAspect="1"/>
          </p:cNvPicPr>
          <p:nvPr userDrawn="1"/>
        </p:nvPicPr>
        <p:blipFill>
          <a:blip r:embed="rId3"/>
          <a:srcRect/>
          <a:stretch/>
        </p:blipFill>
        <p:spPr>
          <a:xfrm>
            <a:off x="-31549" y="-10510"/>
            <a:ext cx="1167955" cy="6912000"/>
          </a:xfrm>
          <a:prstGeom prst="rect">
            <a:avLst/>
          </a:prstGeom>
        </p:spPr>
      </p:pic>
    </p:spTree>
    <p:extLst>
      <p:ext uri="{BB962C8B-B14F-4D97-AF65-F5344CB8AC3E}">
        <p14:creationId xmlns:p14="http://schemas.microsoft.com/office/powerpoint/2010/main" val="4195728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2997987" y="1817520"/>
            <a:ext cx="3540643" cy="1381125"/>
          </a:xfrm>
        </p:spPr>
        <p:txBody>
          <a:bodyPr anchor="b">
            <a:normAutofit/>
          </a:bodyPr>
          <a:lstStyle>
            <a:lvl1pPr algn="l">
              <a:defRPr sz="2400">
                <a:solidFill>
                  <a:schemeClr val="tx1"/>
                </a:solidFill>
              </a:defRPr>
            </a:lvl1pPr>
          </a:lstStyle>
          <a:p>
            <a:r>
              <a:rPr lang="en-US" dirty="0"/>
              <a:t>DIVIDER</a:t>
            </a:r>
            <a:br>
              <a:rPr lang="en-US" dirty="0"/>
            </a:br>
            <a:r>
              <a:rPr lang="en-US" dirty="0"/>
              <a:t>SLIDE</a:t>
            </a:r>
          </a:p>
        </p:txBody>
      </p:sp>
      <p:sp>
        <p:nvSpPr>
          <p:cNvPr id="7" name="Rectangle 6">
            <a:extLst>
              <a:ext uri="{FF2B5EF4-FFF2-40B4-BE49-F238E27FC236}">
                <a16:creationId xmlns:a16="http://schemas.microsoft.com/office/drawing/2014/main" id="{871947E7-DACC-CA46-9951-175FD059B99E}"/>
              </a:ext>
            </a:extLst>
          </p:cNvPr>
          <p:cNvSpPr/>
          <p:nvPr userDrawn="1"/>
        </p:nvSpPr>
        <p:spPr>
          <a:xfrm>
            <a:off x="627321" y="-178627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
        <p:nvSpPr>
          <p:cNvPr id="9" name="Slide Number Placeholder 5">
            <a:extLst>
              <a:ext uri="{FF2B5EF4-FFF2-40B4-BE49-F238E27FC236}">
                <a16:creationId xmlns:a16="http://schemas.microsoft.com/office/drawing/2014/main" id="{A50C40EB-9722-8244-8C4B-58C77EAC766D}"/>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2" name="Picture 11">
            <a:extLst>
              <a:ext uri="{FF2B5EF4-FFF2-40B4-BE49-F238E27FC236}">
                <a16:creationId xmlns:a16="http://schemas.microsoft.com/office/drawing/2014/main" id="{936C6409-780F-2E42-A10A-2D119A4CE137}"/>
              </a:ext>
            </a:extLst>
          </p:cNvPr>
          <p:cNvPicPr>
            <a:picLocks noChangeAspect="1"/>
          </p:cNvPicPr>
          <p:nvPr userDrawn="1"/>
        </p:nvPicPr>
        <p:blipFill>
          <a:blip r:embed="rId3"/>
          <a:srcRect/>
          <a:stretch/>
        </p:blipFill>
        <p:spPr>
          <a:xfrm>
            <a:off x="0" y="-21772"/>
            <a:ext cx="2502124" cy="6912000"/>
          </a:xfrm>
          <a:prstGeom prst="rect">
            <a:avLst/>
          </a:prstGeom>
        </p:spPr>
      </p:pic>
      <p:sp>
        <p:nvSpPr>
          <p:cNvPr id="8" name="Rectangle 7">
            <a:extLst>
              <a:ext uri="{FF2B5EF4-FFF2-40B4-BE49-F238E27FC236}">
                <a16:creationId xmlns:a16="http://schemas.microsoft.com/office/drawing/2014/main" id="{DD26ADAA-A976-7E46-9C6E-AAB46C1CD48F}"/>
              </a:ext>
            </a:extLst>
          </p:cNvPr>
          <p:cNvSpPr/>
          <p:nvPr userDrawn="1"/>
        </p:nvSpPr>
        <p:spPr>
          <a:xfrm>
            <a:off x="3117620" y="3275556"/>
            <a:ext cx="510363" cy="101489"/>
          </a:xfrm>
          <a:prstGeom prst="rect">
            <a:avLst/>
          </a:prstGeom>
          <a:solidFill>
            <a:srgbClr val="5A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0952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8D0F3025-A031-3143-B45B-2EBE64C48C12}"/>
              </a:ext>
            </a:extLst>
          </p:cNvPr>
          <p:cNvPicPr>
            <a:picLocks noChangeAspect="1"/>
          </p:cNvPicPr>
          <p:nvPr userDrawn="1"/>
        </p:nvPicPr>
        <p:blipFill>
          <a:blip r:embed="rId2"/>
          <a:stretch>
            <a:fillRect/>
          </a:stretch>
        </p:blipFill>
        <p:spPr>
          <a:xfrm>
            <a:off x="0" y="0"/>
            <a:ext cx="5298067" cy="6858000"/>
          </a:xfrm>
          <a:prstGeom prst="rect">
            <a:avLst/>
          </a:prstGeom>
        </p:spPr>
      </p:pic>
      <p:sp>
        <p:nvSpPr>
          <p:cNvPr id="2" name="Title 1">
            <a:extLst>
              <a:ext uri="{FF2B5EF4-FFF2-40B4-BE49-F238E27FC236}">
                <a16:creationId xmlns:a16="http://schemas.microsoft.com/office/drawing/2014/main" id="{AF806118-0840-574D-AD0F-62FBB748D13C}"/>
              </a:ext>
            </a:extLst>
          </p:cNvPr>
          <p:cNvSpPr>
            <a:spLocks noGrp="1"/>
          </p:cNvSpPr>
          <p:nvPr>
            <p:ph type="ctrTitle" hasCustomPrompt="1"/>
          </p:nvPr>
        </p:nvSpPr>
        <p:spPr>
          <a:xfrm>
            <a:off x="765005" y="1307738"/>
            <a:ext cx="3540643" cy="1381125"/>
          </a:xfrm>
        </p:spPr>
        <p:txBody>
          <a:bodyPr anchor="b" anchorCtr="0">
            <a:normAutofit/>
          </a:bodyPr>
          <a:lstStyle>
            <a:lvl1pPr algn="l">
              <a:defRPr sz="3500">
                <a:solidFill>
                  <a:schemeClr val="bg1"/>
                </a:solidFill>
              </a:defRPr>
            </a:lvl1pPr>
          </a:lstStyle>
          <a:p>
            <a:r>
              <a:rPr lang="en-US" dirty="0"/>
              <a:t>CONTENT</a:t>
            </a:r>
            <a:br>
              <a:rPr lang="en-US" dirty="0"/>
            </a:br>
            <a:r>
              <a:rPr lang="en-US" dirty="0"/>
              <a:t>PAGE</a:t>
            </a:r>
          </a:p>
        </p:txBody>
      </p:sp>
      <p:sp>
        <p:nvSpPr>
          <p:cNvPr id="3" name="Subtitle 2">
            <a:extLst>
              <a:ext uri="{FF2B5EF4-FFF2-40B4-BE49-F238E27FC236}">
                <a16:creationId xmlns:a16="http://schemas.microsoft.com/office/drawing/2014/main" id="{D46EA0A7-1E73-F64D-9AC7-B8EFBCA6BAAE}"/>
              </a:ext>
            </a:extLst>
          </p:cNvPr>
          <p:cNvSpPr>
            <a:spLocks noGrp="1"/>
          </p:cNvSpPr>
          <p:nvPr>
            <p:ph type="subTitle" idx="1" hasCustomPrompt="1"/>
          </p:nvPr>
        </p:nvSpPr>
        <p:spPr>
          <a:xfrm>
            <a:off x="5523651" y="1311609"/>
            <a:ext cx="5903344" cy="4725200"/>
          </a:xfrm>
        </p:spPr>
        <p:txBody>
          <a:bodyPr/>
          <a:lstStyle>
            <a:lvl1pPr marL="457200" indent="-457200" algn="l">
              <a:buFont typeface="+mj-lt"/>
              <a:buAutoNum type="arabicPeriod"/>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content</a:t>
            </a:r>
          </a:p>
          <a:p>
            <a:endParaRPr lang="en-US" dirty="0"/>
          </a:p>
        </p:txBody>
      </p:sp>
      <p:sp>
        <p:nvSpPr>
          <p:cNvPr id="7" name="Rectangle 6">
            <a:extLst>
              <a:ext uri="{FF2B5EF4-FFF2-40B4-BE49-F238E27FC236}">
                <a16:creationId xmlns:a16="http://schemas.microsoft.com/office/drawing/2014/main" id="{871947E7-DACC-CA46-9951-175FD059B99E}"/>
              </a:ext>
            </a:extLst>
          </p:cNvPr>
          <p:cNvSpPr/>
          <p:nvPr userDrawn="1"/>
        </p:nvSpPr>
        <p:spPr>
          <a:xfrm>
            <a:off x="627321" y="-1786270"/>
            <a:ext cx="9144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2" name="Picture 11">
            <a:extLst>
              <a:ext uri="{FF2B5EF4-FFF2-40B4-BE49-F238E27FC236}">
                <a16:creationId xmlns:a16="http://schemas.microsoft.com/office/drawing/2014/main" id="{9D801F86-E697-6C4F-88EA-99A60AD6359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
        <p:nvSpPr>
          <p:cNvPr id="9" name="Rectangle 8">
            <a:extLst>
              <a:ext uri="{FF2B5EF4-FFF2-40B4-BE49-F238E27FC236}">
                <a16:creationId xmlns:a16="http://schemas.microsoft.com/office/drawing/2014/main" id="{C048EE3F-3194-284A-A9A0-E847CB070626}"/>
              </a:ext>
            </a:extLst>
          </p:cNvPr>
          <p:cNvSpPr/>
          <p:nvPr userDrawn="1"/>
        </p:nvSpPr>
        <p:spPr>
          <a:xfrm>
            <a:off x="862792" y="2781983"/>
            <a:ext cx="510363" cy="101489"/>
          </a:xfrm>
          <a:prstGeom prst="rect">
            <a:avLst/>
          </a:prstGeom>
          <a:solidFill>
            <a:srgbClr val="5A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7324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0_Title and Content">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0"/>
            <a:ext cx="4379495" cy="6858000"/>
          </a:xfrm>
          <a:prstGeom prst="rect">
            <a:avLst/>
          </a:prstGeom>
          <a:solidFill>
            <a:srgbClr val="062C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483579" y="365125"/>
            <a:ext cx="3463388" cy="850217"/>
          </a:xfrm>
        </p:spPr>
        <p:txBody>
          <a:bodyPr anchor="b" anchorCtr="0">
            <a:normAutofit/>
          </a:bodyPr>
          <a:lstStyle>
            <a:lvl1pPr>
              <a:defRPr sz="250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575212" y="1531088"/>
            <a:ext cx="3463388" cy="4782732"/>
          </a:xfrm>
        </p:spPr>
        <p:txBody>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sp>
        <p:nvSpPr>
          <p:cNvPr id="5" name="Content Placeholder 2">
            <a:extLst>
              <a:ext uri="{FF2B5EF4-FFF2-40B4-BE49-F238E27FC236}">
                <a16:creationId xmlns:a16="http://schemas.microsoft.com/office/drawing/2014/main" id="{BE566692-5016-B349-BD9B-BB0C554A858F}"/>
              </a:ext>
            </a:extLst>
          </p:cNvPr>
          <p:cNvSpPr>
            <a:spLocks noGrp="1"/>
          </p:cNvSpPr>
          <p:nvPr>
            <p:ph idx="13"/>
          </p:nvPr>
        </p:nvSpPr>
        <p:spPr>
          <a:xfrm>
            <a:off x="4379495" y="0"/>
            <a:ext cx="6026775" cy="6857999"/>
          </a:xfrm>
        </p:spPr>
        <p:txBody>
          <a:bodyPr/>
          <a:lstStyle>
            <a:lvl1pPr marL="0" indent="0">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200">
                <a:solidFill>
                  <a:schemeClr val="bg1"/>
                </a:solidFill>
              </a:defRPr>
            </a:lvl5pPr>
          </a:lstStyle>
          <a:p>
            <a:pPr lvl="0"/>
            <a:endParaRPr lang="en-US" dirty="0"/>
          </a:p>
        </p:txBody>
      </p:sp>
      <p:pic>
        <p:nvPicPr>
          <p:cNvPr id="11" name="Picture 10">
            <a:extLst>
              <a:ext uri="{FF2B5EF4-FFF2-40B4-BE49-F238E27FC236}">
                <a16:creationId xmlns:a16="http://schemas.microsoft.com/office/drawing/2014/main" id="{C77E07AA-F835-5247-94AF-8930E4371B5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Tree>
    <p:extLst>
      <p:ext uri="{BB962C8B-B14F-4D97-AF65-F5344CB8AC3E}">
        <p14:creationId xmlns:p14="http://schemas.microsoft.com/office/powerpoint/2010/main" val="2026258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062C4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537175" y="365125"/>
            <a:ext cx="11061790" cy="666233"/>
          </a:xfrm>
        </p:spPr>
        <p:txBody>
          <a:bodyPr anchor="b" anchorCtr="0"/>
          <a:lstStyle>
            <a:lvl1pPr>
              <a:defRPr>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537175" y="1531088"/>
            <a:ext cx="11061790" cy="4645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2" name="Picture 11"/>
          <p:cNvPicPr>
            <a:picLocks noChangeAspect="1"/>
          </p:cNvPicPr>
          <p:nvPr userDrawn="1"/>
        </p:nvPicPr>
        <p:blipFill>
          <a:blip r:embed="rId2"/>
          <a:stretch>
            <a:fillRect/>
          </a:stretch>
        </p:blipFill>
        <p:spPr>
          <a:xfrm>
            <a:off x="10598201" y="5760720"/>
            <a:ext cx="1297072" cy="838708"/>
          </a:xfrm>
          <a:prstGeom prst="rect">
            <a:avLst/>
          </a:prstGeom>
        </p:spPr>
      </p:pic>
    </p:spTree>
    <p:extLst>
      <p:ext uri="{BB962C8B-B14F-4D97-AF65-F5344CB8AC3E}">
        <p14:creationId xmlns:p14="http://schemas.microsoft.com/office/powerpoint/2010/main" val="2112312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6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2004392" y="365125"/>
            <a:ext cx="9962322" cy="666233"/>
          </a:xfrm>
        </p:spPr>
        <p:txBody>
          <a:bodyPr anchor="b" anchorCtr="0"/>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2004392" y="1531088"/>
            <a:ext cx="9962322" cy="46458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pic>
        <p:nvPicPr>
          <p:cNvPr id="5" name="Picture 4">
            <a:extLst>
              <a:ext uri="{FF2B5EF4-FFF2-40B4-BE49-F238E27FC236}">
                <a16:creationId xmlns:a16="http://schemas.microsoft.com/office/drawing/2014/main" id="{886A0B06-480A-F44A-8B85-346CF183476D}"/>
              </a:ext>
            </a:extLst>
          </p:cNvPr>
          <p:cNvPicPr>
            <a:picLocks noChangeAspect="1"/>
          </p:cNvPicPr>
          <p:nvPr userDrawn="1"/>
        </p:nvPicPr>
        <p:blipFill>
          <a:blip r:embed="rId3"/>
          <a:srcRect/>
          <a:stretch/>
        </p:blipFill>
        <p:spPr>
          <a:xfrm>
            <a:off x="-4652" y="0"/>
            <a:ext cx="1895475" cy="6858000"/>
          </a:xfrm>
          <a:prstGeom prst="rect">
            <a:avLst/>
          </a:prstGeom>
        </p:spPr>
      </p:pic>
    </p:spTree>
    <p:extLst>
      <p:ext uri="{BB962C8B-B14F-4D97-AF65-F5344CB8AC3E}">
        <p14:creationId xmlns:p14="http://schemas.microsoft.com/office/powerpoint/2010/main" val="2479384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A263750-C6D6-9140-B23A-412FC9B93104}"/>
              </a:ext>
            </a:extLst>
          </p:cNvPr>
          <p:cNvSpPr>
            <a:spLocks noGrp="1"/>
          </p:cNvSpPr>
          <p:nvPr>
            <p:ph sz="half" idx="1"/>
          </p:nvPr>
        </p:nvSpPr>
        <p:spPr>
          <a:xfrm>
            <a:off x="1136408" y="1240835"/>
            <a:ext cx="5181600" cy="518123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09DD4EAB-EE77-A640-8BFE-C74B32D55E78}"/>
              </a:ext>
            </a:extLst>
          </p:cNvPr>
          <p:cNvSpPr>
            <a:spLocks noGrp="1"/>
          </p:cNvSpPr>
          <p:nvPr>
            <p:ph sz="half" idx="2"/>
          </p:nvPr>
        </p:nvSpPr>
        <p:spPr>
          <a:xfrm>
            <a:off x="6500533" y="1240835"/>
            <a:ext cx="5181600" cy="518123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94EFE0C0-0926-4B46-A65E-069D8E848CB5}"/>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sp>
        <p:nvSpPr>
          <p:cNvPr id="9" name="Title 1">
            <a:extLst>
              <a:ext uri="{FF2B5EF4-FFF2-40B4-BE49-F238E27FC236}">
                <a16:creationId xmlns:a16="http://schemas.microsoft.com/office/drawing/2014/main" id="{106F284E-B08A-7047-A440-A30BAA91B409}"/>
              </a:ext>
            </a:extLst>
          </p:cNvPr>
          <p:cNvSpPr>
            <a:spLocks noGrp="1"/>
          </p:cNvSpPr>
          <p:nvPr>
            <p:ph type="title"/>
          </p:nvPr>
        </p:nvSpPr>
        <p:spPr>
          <a:xfrm>
            <a:off x="1136407" y="365125"/>
            <a:ext cx="10545725" cy="666233"/>
          </a:xfrm>
        </p:spPr>
        <p:txBody>
          <a:bodyPr/>
          <a:lstStyle/>
          <a:p>
            <a:r>
              <a:rPr lang="en-US" dirty="0"/>
              <a:t>Click to edit Master title style</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8384" y="5735570"/>
            <a:ext cx="1323000" cy="864000"/>
          </a:xfrm>
          <a:prstGeom prst="rect">
            <a:avLst/>
          </a:prstGeom>
        </p:spPr>
      </p:pic>
      <p:pic>
        <p:nvPicPr>
          <p:cNvPr id="12" name="Picture 11">
            <a:extLst>
              <a:ext uri="{FF2B5EF4-FFF2-40B4-BE49-F238E27FC236}">
                <a16:creationId xmlns:a16="http://schemas.microsoft.com/office/drawing/2014/main" id="{143AEAEB-E192-E44E-BDBB-DB33F7EE65B8}"/>
              </a:ext>
            </a:extLst>
          </p:cNvPr>
          <p:cNvPicPr>
            <a:picLocks noChangeAspect="1"/>
          </p:cNvPicPr>
          <p:nvPr userDrawn="1"/>
        </p:nvPicPr>
        <p:blipFill>
          <a:blip r:embed="rId3"/>
          <a:srcRect/>
          <a:stretch/>
        </p:blipFill>
        <p:spPr>
          <a:xfrm>
            <a:off x="-31549" y="-10510"/>
            <a:ext cx="1167955" cy="6912000"/>
          </a:xfrm>
          <a:prstGeom prst="rect">
            <a:avLst/>
          </a:prstGeom>
        </p:spPr>
      </p:pic>
    </p:spTree>
    <p:extLst>
      <p:ext uri="{BB962C8B-B14F-4D97-AF65-F5344CB8AC3E}">
        <p14:creationId xmlns:p14="http://schemas.microsoft.com/office/powerpoint/2010/main" val="24563990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7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2004392" y="365125"/>
            <a:ext cx="9962322" cy="666233"/>
          </a:xfrm>
        </p:spPr>
        <p:txBody>
          <a:bodyPr anchor="b" anchorCtr="0"/>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2004392" y="1531088"/>
            <a:ext cx="9962322" cy="46458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pic>
        <p:nvPicPr>
          <p:cNvPr id="5" name="Picture 4">
            <a:extLst>
              <a:ext uri="{FF2B5EF4-FFF2-40B4-BE49-F238E27FC236}">
                <a16:creationId xmlns:a16="http://schemas.microsoft.com/office/drawing/2014/main" id="{886A0B06-480A-F44A-8B85-346CF183476D}"/>
              </a:ext>
            </a:extLst>
          </p:cNvPr>
          <p:cNvPicPr>
            <a:picLocks noChangeAspect="1"/>
          </p:cNvPicPr>
          <p:nvPr userDrawn="1"/>
        </p:nvPicPr>
        <p:blipFill>
          <a:blip r:embed="rId3"/>
          <a:srcRect/>
          <a:stretch/>
        </p:blipFill>
        <p:spPr>
          <a:xfrm>
            <a:off x="-4653" y="0"/>
            <a:ext cx="1910400" cy="6912000"/>
          </a:xfrm>
          <a:prstGeom prst="rect">
            <a:avLst/>
          </a:prstGeom>
        </p:spPr>
      </p:pic>
    </p:spTree>
    <p:extLst>
      <p:ext uri="{BB962C8B-B14F-4D97-AF65-F5344CB8AC3E}">
        <p14:creationId xmlns:p14="http://schemas.microsoft.com/office/powerpoint/2010/main" val="2955516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9_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nchor="b" anchorCtr="0"/>
          <a:lstStyle>
            <a:lvl1pPr>
              <a:defRPr>
                <a:solidFill>
                  <a:schemeClr val="tx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idx="1"/>
          </p:nvPr>
        </p:nvSpPr>
        <p:spPr>
          <a:xfrm>
            <a:off x="1055553" y="1531088"/>
            <a:ext cx="10735723" cy="46458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8384" y="5735570"/>
            <a:ext cx="1323000" cy="864000"/>
          </a:xfrm>
          <a:prstGeom prst="rect">
            <a:avLst/>
          </a:prstGeom>
        </p:spPr>
      </p:pic>
      <p:pic>
        <p:nvPicPr>
          <p:cNvPr id="5" name="Picture 4">
            <a:extLst>
              <a:ext uri="{FF2B5EF4-FFF2-40B4-BE49-F238E27FC236}">
                <a16:creationId xmlns:a16="http://schemas.microsoft.com/office/drawing/2014/main" id="{32FC56F4-8756-D24E-843C-DEF7012E3D44}"/>
              </a:ext>
            </a:extLst>
          </p:cNvPr>
          <p:cNvPicPr>
            <a:picLocks noChangeAspect="1"/>
          </p:cNvPicPr>
          <p:nvPr userDrawn="1"/>
        </p:nvPicPr>
        <p:blipFill>
          <a:blip r:embed="rId3"/>
          <a:srcRect/>
          <a:stretch/>
        </p:blipFill>
        <p:spPr>
          <a:xfrm>
            <a:off x="-31549" y="-5724"/>
            <a:ext cx="1167956" cy="6902428"/>
          </a:xfrm>
          <a:prstGeom prst="rect">
            <a:avLst/>
          </a:prstGeom>
        </p:spPr>
      </p:pic>
    </p:spTree>
    <p:extLst>
      <p:ext uri="{BB962C8B-B14F-4D97-AF65-F5344CB8AC3E}">
        <p14:creationId xmlns:p14="http://schemas.microsoft.com/office/powerpoint/2010/main" val="326021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bg>
      <p:bgPr>
        <a:solidFill>
          <a:schemeClr val="bg1"/>
        </a:solidFill>
        <a:effectLst/>
      </p:bgPr>
    </p:bg>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6A263750-C6D6-9140-B23A-412FC9B93104}"/>
              </a:ext>
            </a:extLst>
          </p:cNvPr>
          <p:cNvSpPr>
            <a:spLocks noGrp="1"/>
          </p:cNvSpPr>
          <p:nvPr>
            <p:ph sz="half" idx="1"/>
          </p:nvPr>
        </p:nvSpPr>
        <p:spPr>
          <a:xfrm>
            <a:off x="1136408" y="1240835"/>
            <a:ext cx="5181600" cy="518123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a:extLst>
              <a:ext uri="{FF2B5EF4-FFF2-40B4-BE49-F238E27FC236}">
                <a16:creationId xmlns:a16="http://schemas.microsoft.com/office/drawing/2014/main" id="{09DD4EAB-EE77-A640-8BFE-C74B32D55E78}"/>
              </a:ext>
            </a:extLst>
          </p:cNvPr>
          <p:cNvSpPr>
            <a:spLocks noGrp="1"/>
          </p:cNvSpPr>
          <p:nvPr>
            <p:ph sz="half" idx="2"/>
          </p:nvPr>
        </p:nvSpPr>
        <p:spPr>
          <a:xfrm>
            <a:off x="6500533" y="1240835"/>
            <a:ext cx="5181600" cy="518123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94EFE0C0-0926-4B46-A65E-069D8E848CB5}"/>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sp>
        <p:nvSpPr>
          <p:cNvPr id="9" name="Title 1">
            <a:extLst>
              <a:ext uri="{FF2B5EF4-FFF2-40B4-BE49-F238E27FC236}">
                <a16:creationId xmlns:a16="http://schemas.microsoft.com/office/drawing/2014/main" id="{106F284E-B08A-7047-A440-A30BAA91B409}"/>
              </a:ext>
            </a:extLst>
          </p:cNvPr>
          <p:cNvSpPr>
            <a:spLocks noGrp="1"/>
          </p:cNvSpPr>
          <p:nvPr>
            <p:ph type="title"/>
          </p:nvPr>
        </p:nvSpPr>
        <p:spPr>
          <a:xfrm>
            <a:off x="1136407" y="365125"/>
            <a:ext cx="10545725" cy="666233"/>
          </a:xfrm>
        </p:spPr>
        <p:txBody>
          <a:bodyPr/>
          <a:lstStyle/>
          <a:p>
            <a:r>
              <a:rPr lang="en-US" dirty="0"/>
              <a:t>Click to edit Master title style</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88384" y="5735570"/>
            <a:ext cx="1323000" cy="864000"/>
          </a:xfrm>
          <a:prstGeom prst="rect">
            <a:avLst/>
          </a:prstGeom>
        </p:spPr>
      </p:pic>
      <p:pic>
        <p:nvPicPr>
          <p:cNvPr id="12" name="Picture 11">
            <a:extLst>
              <a:ext uri="{FF2B5EF4-FFF2-40B4-BE49-F238E27FC236}">
                <a16:creationId xmlns:a16="http://schemas.microsoft.com/office/drawing/2014/main" id="{47D15360-2D94-AC48-AA2D-C98A0E079A34}"/>
              </a:ext>
            </a:extLst>
          </p:cNvPr>
          <p:cNvPicPr>
            <a:picLocks noChangeAspect="1"/>
          </p:cNvPicPr>
          <p:nvPr userDrawn="1"/>
        </p:nvPicPr>
        <p:blipFill>
          <a:blip r:embed="rId3"/>
          <a:srcRect/>
          <a:stretch/>
        </p:blipFill>
        <p:spPr>
          <a:xfrm>
            <a:off x="-31549" y="-5724"/>
            <a:ext cx="1167956" cy="6902428"/>
          </a:xfrm>
          <a:prstGeom prst="rect">
            <a:avLst/>
          </a:prstGeom>
        </p:spPr>
      </p:pic>
    </p:spTree>
    <p:extLst>
      <p:ext uri="{BB962C8B-B14F-4D97-AF65-F5344CB8AC3E}">
        <p14:creationId xmlns:p14="http://schemas.microsoft.com/office/powerpoint/2010/main" val="23525195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10301177" cy="6858000"/>
          </a:xfrm>
          <a:prstGeom prst="rect">
            <a:avLst/>
          </a:prstGeom>
          <a:solidFill>
            <a:srgbClr val="062C4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5">
            <a:extLst>
              <a:ext uri="{FF2B5EF4-FFF2-40B4-BE49-F238E27FC236}">
                <a16:creationId xmlns:a16="http://schemas.microsoft.com/office/drawing/2014/main" id="{97B6B1A4-849A-4C4E-B215-DB41876483DA}"/>
              </a:ext>
            </a:extLst>
          </p:cNvPr>
          <p:cNvSpPr>
            <a:spLocks noGrp="1"/>
          </p:cNvSpPr>
          <p:nvPr>
            <p:ph type="sldNum" sz="quarter" idx="12"/>
          </p:nvPr>
        </p:nvSpPr>
        <p:spPr>
          <a:xfrm>
            <a:off x="7557977" y="6313820"/>
            <a:ext cx="2743200" cy="365125"/>
          </a:xfrm>
        </p:spPr>
        <p:txBody>
          <a:bodyPr/>
          <a:lstStyle>
            <a:lvl1pPr>
              <a:defRPr sz="1100">
                <a:solidFill>
                  <a:schemeClr val="bg1"/>
                </a:solidFill>
              </a:defRPr>
            </a:lvl1pPr>
          </a:lstStyle>
          <a:p>
            <a:fld id="{85DA3A08-9E66-614E-AAE5-F810EFDD6885}" type="slidenum">
              <a:rPr lang="en-US" smtClean="0"/>
              <a:pPr/>
              <a:t>‹#›</a:t>
            </a:fld>
            <a:endParaRPr lang="en-US" dirty="0"/>
          </a:p>
        </p:txBody>
      </p:sp>
      <p:sp>
        <p:nvSpPr>
          <p:cNvPr id="9" name="Title 1">
            <a:extLst>
              <a:ext uri="{FF2B5EF4-FFF2-40B4-BE49-F238E27FC236}">
                <a16:creationId xmlns:a16="http://schemas.microsoft.com/office/drawing/2014/main" id="{31A8B892-E644-5B4F-AB39-6FBAE1EEC925}"/>
              </a:ext>
            </a:extLst>
          </p:cNvPr>
          <p:cNvSpPr>
            <a:spLocks noGrp="1"/>
          </p:cNvSpPr>
          <p:nvPr>
            <p:ph type="title"/>
          </p:nvPr>
        </p:nvSpPr>
        <p:spPr>
          <a:xfrm>
            <a:off x="398026" y="365125"/>
            <a:ext cx="9630558" cy="722895"/>
          </a:xfrm>
        </p:spPr>
        <p:txBody>
          <a:bodyPr anchor="b" anchorCtr="0"/>
          <a:lstStyle>
            <a:lvl1pPr>
              <a:defRPr>
                <a:solidFill>
                  <a:schemeClr val="bg1"/>
                </a:solidFill>
              </a:defRPr>
            </a:lvl1pPr>
          </a:lstStyle>
          <a:p>
            <a:r>
              <a:rPr lang="en-US" dirty="0"/>
              <a:t>Click to edit Master title style</a:t>
            </a:r>
          </a:p>
        </p:txBody>
      </p:sp>
      <p:sp>
        <p:nvSpPr>
          <p:cNvPr id="4" name="Content Placeholder 2">
            <a:extLst>
              <a:ext uri="{FF2B5EF4-FFF2-40B4-BE49-F238E27FC236}">
                <a16:creationId xmlns:a16="http://schemas.microsoft.com/office/drawing/2014/main" id="{D540C788-F559-3848-8492-851BB3AF3A8A}"/>
              </a:ext>
            </a:extLst>
          </p:cNvPr>
          <p:cNvSpPr>
            <a:spLocks noGrp="1"/>
          </p:cNvSpPr>
          <p:nvPr>
            <p:ph sz="half" idx="1"/>
          </p:nvPr>
        </p:nvSpPr>
        <p:spPr>
          <a:xfrm>
            <a:off x="398025" y="1371600"/>
            <a:ext cx="9630558" cy="486023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Tree>
    <p:extLst>
      <p:ext uri="{BB962C8B-B14F-4D97-AF65-F5344CB8AC3E}">
        <p14:creationId xmlns:p14="http://schemas.microsoft.com/office/powerpoint/2010/main" val="13158463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wo Content">
    <p:bg>
      <p:bgPr>
        <a:solidFill>
          <a:schemeClr val="bg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393AF17-BFE0-534F-9F37-44A4F67F1949}"/>
              </a:ext>
            </a:extLst>
          </p:cNvPr>
          <p:cNvSpPr>
            <a:spLocks noGrp="1"/>
          </p:cNvSpPr>
          <p:nvPr>
            <p:ph type="pic" sz="quarter" idx="13" hasCustomPrompt="1"/>
          </p:nvPr>
        </p:nvSpPr>
        <p:spPr>
          <a:xfrm>
            <a:off x="0" y="0"/>
            <a:ext cx="10301176" cy="6858000"/>
          </a:xfrm>
        </p:spPr>
        <p:txBody>
          <a:bodyPr/>
          <a:lstStyle>
            <a:lvl1pPr>
              <a:defRPr/>
            </a:lvl1pPr>
          </a:lstStyle>
          <a:p>
            <a:r>
              <a:rPr lang="en-US" dirty="0"/>
              <a:t>Insert your picture here</a:t>
            </a:r>
          </a:p>
        </p:txBody>
      </p:sp>
      <p:sp>
        <p:nvSpPr>
          <p:cNvPr id="8" name="Slide Number Placeholder 5">
            <a:extLst>
              <a:ext uri="{FF2B5EF4-FFF2-40B4-BE49-F238E27FC236}">
                <a16:creationId xmlns:a16="http://schemas.microsoft.com/office/drawing/2014/main" id="{97B6B1A4-849A-4C4E-B215-DB41876483DA}"/>
              </a:ext>
            </a:extLst>
          </p:cNvPr>
          <p:cNvSpPr>
            <a:spLocks noGrp="1"/>
          </p:cNvSpPr>
          <p:nvPr>
            <p:ph type="sldNum" sz="quarter" idx="12"/>
          </p:nvPr>
        </p:nvSpPr>
        <p:spPr>
          <a:xfrm>
            <a:off x="7557977" y="6313820"/>
            <a:ext cx="2743200" cy="365125"/>
          </a:xfrm>
        </p:spPr>
        <p:txBody>
          <a:bodyPr/>
          <a:lstStyle>
            <a:lvl1pPr>
              <a:defRPr sz="1100"/>
            </a:lvl1pPr>
          </a:lstStyle>
          <a:p>
            <a:fld id="{85DA3A08-9E66-614E-AAE5-F810EFDD688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6761" y="5696053"/>
            <a:ext cx="1439953" cy="936000"/>
          </a:xfrm>
          <a:prstGeom prst="rect">
            <a:avLst/>
          </a:prstGeom>
        </p:spPr>
      </p:pic>
    </p:spTree>
    <p:extLst>
      <p:ext uri="{BB962C8B-B14F-4D97-AF65-F5344CB8AC3E}">
        <p14:creationId xmlns:p14="http://schemas.microsoft.com/office/powerpoint/2010/main" val="28947922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wo Cont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69F5C5-D4EE-5445-9306-1D9E7517F24E}"/>
              </a:ext>
            </a:extLst>
          </p:cNvPr>
          <p:cNvSpPr/>
          <p:nvPr userDrawn="1"/>
        </p:nvSpPr>
        <p:spPr>
          <a:xfrm>
            <a:off x="1157469" y="0"/>
            <a:ext cx="11034532" cy="6858000"/>
          </a:xfrm>
          <a:prstGeom prst="rect">
            <a:avLst/>
          </a:prstGeom>
          <a:solidFill>
            <a:srgbClr val="062C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F7E0EDA-5665-EF45-9088-19BB7F8B0117}"/>
              </a:ext>
            </a:extLst>
          </p:cNvPr>
          <p:cNvPicPr>
            <a:picLocks noChangeAspect="1"/>
          </p:cNvPicPr>
          <p:nvPr userDrawn="1"/>
        </p:nvPicPr>
        <p:blipFill>
          <a:blip r:embed="rId2"/>
          <a:stretch>
            <a:fillRect/>
          </a:stretch>
        </p:blipFill>
        <p:spPr>
          <a:xfrm>
            <a:off x="10647252" y="5768053"/>
            <a:ext cx="1224838" cy="792000"/>
          </a:xfrm>
          <a:prstGeom prst="rect">
            <a:avLst/>
          </a:prstGeom>
        </p:spPr>
      </p:pic>
      <p:sp>
        <p:nvSpPr>
          <p:cNvPr id="8" name="TextBox 7">
            <a:extLst>
              <a:ext uri="{FF2B5EF4-FFF2-40B4-BE49-F238E27FC236}">
                <a16:creationId xmlns:a16="http://schemas.microsoft.com/office/drawing/2014/main" id="{CAC46887-13CA-0343-A183-2B7A755173B0}"/>
              </a:ext>
            </a:extLst>
          </p:cNvPr>
          <p:cNvSpPr txBox="1"/>
          <p:nvPr userDrawn="1"/>
        </p:nvSpPr>
        <p:spPr>
          <a:xfrm>
            <a:off x="3717282" y="1815737"/>
            <a:ext cx="7158446" cy="1846659"/>
          </a:xfrm>
          <a:prstGeom prst="rect">
            <a:avLst/>
          </a:prstGeom>
          <a:noFill/>
        </p:spPr>
        <p:txBody>
          <a:bodyPr wrap="square" rtlCol="0">
            <a:spAutoFit/>
          </a:bodyPr>
          <a:lstStyle/>
          <a:p>
            <a:r>
              <a:rPr lang="en-US" sz="5700" b="1" i="0" dirty="0">
                <a:solidFill>
                  <a:schemeClr val="bg1"/>
                </a:solidFill>
                <a:latin typeface="Arial" panose="020B0604020202020204" pitchFamily="34" charset="0"/>
                <a:cs typeface="Arial" panose="020B0604020202020204" pitchFamily="34" charset="0"/>
              </a:rPr>
              <a:t>THANK </a:t>
            </a:r>
            <a:br>
              <a:rPr lang="en-US" sz="5700" b="1" i="0" dirty="0">
                <a:solidFill>
                  <a:schemeClr val="bg1"/>
                </a:solidFill>
                <a:latin typeface="Arial" panose="020B0604020202020204" pitchFamily="34" charset="0"/>
                <a:cs typeface="Arial" panose="020B0604020202020204" pitchFamily="34" charset="0"/>
              </a:rPr>
            </a:br>
            <a:r>
              <a:rPr lang="en-US" sz="5700" b="1" i="0" dirty="0">
                <a:solidFill>
                  <a:schemeClr val="bg1"/>
                </a:solidFill>
                <a:latin typeface="Arial" panose="020B0604020202020204" pitchFamily="34" charset="0"/>
                <a:cs typeface="Arial" panose="020B0604020202020204" pitchFamily="34" charset="0"/>
              </a:rPr>
              <a:t>YOU</a:t>
            </a:r>
          </a:p>
        </p:txBody>
      </p:sp>
      <p:sp>
        <p:nvSpPr>
          <p:cNvPr id="9" name="Rectangle 8">
            <a:extLst>
              <a:ext uri="{FF2B5EF4-FFF2-40B4-BE49-F238E27FC236}">
                <a16:creationId xmlns:a16="http://schemas.microsoft.com/office/drawing/2014/main" id="{7BEA8619-8B4E-C445-A8C2-CDFECA28A025}"/>
              </a:ext>
            </a:extLst>
          </p:cNvPr>
          <p:cNvSpPr/>
          <p:nvPr userDrawn="1"/>
        </p:nvSpPr>
        <p:spPr>
          <a:xfrm>
            <a:off x="3902436" y="3835044"/>
            <a:ext cx="510363" cy="101489"/>
          </a:xfrm>
          <a:prstGeom prst="rect">
            <a:avLst/>
          </a:prstGeom>
          <a:solidFill>
            <a:srgbClr val="5A96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95D4E9A-5D85-8047-8F33-BE3C6F1903D9}"/>
              </a:ext>
            </a:extLst>
          </p:cNvPr>
          <p:cNvPicPr>
            <a:picLocks noChangeAspect="1"/>
          </p:cNvPicPr>
          <p:nvPr userDrawn="1"/>
        </p:nvPicPr>
        <p:blipFill>
          <a:blip r:embed="rId3"/>
          <a:srcRect/>
          <a:stretch/>
        </p:blipFill>
        <p:spPr>
          <a:xfrm>
            <a:off x="0" y="0"/>
            <a:ext cx="2482576" cy="6858000"/>
          </a:xfrm>
          <a:prstGeom prst="rect">
            <a:avLst/>
          </a:prstGeom>
        </p:spPr>
      </p:pic>
    </p:spTree>
    <p:extLst>
      <p:ext uri="{BB962C8B-B14F-4D97-AF65-F5344CB8AC3E}">
        <p14:creationId xmlns:p14="http://schemas.microsoft.com/office/powerpoint/2010/main" val="733692349"/>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slideLayouts/slideLayout1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slideLayouts/slideLayout17.xml" Type="http://schemas.openxmlformats.org/officeDocument/2006/relationships/slideLayout" /><Relationship Id="rId2" Target="../slideLayouts/slideLayout2.xml" Type="http://schemas.openxmlformats.org/officeDocument/2006/relationships/slideLayout" /><Relationship Id="rId16" Target="../slideLayouts/slideLayout16.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slideLayouts/slideLayout15.xml" Type="http://schemas.openxmlformats.org/officeDocument/2006/relationships/slideLayout" /><Relationship Id="rId10" Target="../slideLayouts/slideLayout10.xml" Type="http://schemas.openxmlformats.org/officeDocument/2006/relationships/slideLayout" /><Relationship Id="rId19" Target="../theme/theme1.xml" Type="http://schemas.openxmlformats.org/officeDocument/2006/relationships/them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860D6F-2EF1-E44B-85ED-CB36B7C7FE9A}"/>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dirty="0" lang="en-US"/>
              <a:t>Click to edit Master title style</a:t>
            </a:r>
          </a:p>
        </p:txBody>
      </p:sp>
      <p:sp>
        <p:nvSpPr>
          <p:cNvPr id="3" name="Text Placeholder 2">
            <a:extLst>
              <a:ext uri="{FF2B5EF4-FFF2-40B4-BE49-F238E27FC236}">
                <a16:creationId xmlns:a16="http://schemas.microsoft.com/office/drawing/2014/main" id="{59BC75E1-A95E-BC4E-B2D9-ABDFCA087EF4}"/>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dirty="0" lang="en-US"/>
              <a:t>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a:extLst>
              <a:ext uri="{FF2B5EF4-FFF2-40B4-BE49-F238E27FC236}">
                <a16:creationId xmlns:a16="http://schemas.microsoft.com/office/drawing/2014/main" id="{CC6FD388-B48A-CC4B-BDDC-9D8B1FE61DB6}"/>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75000"/>
                  </a:schemeClr>
                </a:solidFill>
                <a:latin charset="0" panose="020B0604020202020204" pitchFamily="34" typeface="Arial"/>
                <a:cs charset="0" panose="020B0604020202020204" pitchFamily="34" typeface="Arial"/>
              </a:defRPr>
            </a:lvl1pPr>
          </a:lstStyle>
          <a:p>
            <a:endParaRPr lang="en-US"/>
          </a:p>
        </p:txBody>
      </p:sp>
      <p:sp>
        <p:nvSpPr>
          <p:cNvPr id="5" name="Footer Placeholder 4">
            <a:extLst>
              <a:ext uri="{FF2B5EF4-FFF2-40B4-BE49-F238E27FC236}">
                <a16:creationId xmlns:a16="http://schemas.microsoft.com/office/drawing/2014/main" id="{631147A0-10B7-294B-9972-14195E6FC90B}"/>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75000"/>
                  </a:schemeClr>
                </a:solidFill>
                <a:latin charset="0" panose="020B0604020202020204" pitchFamily="34" typeface="Arial"/>
                <a:cs charset="0" panose="020B0604020202020204" pitchFamily="34" typeface="Arial"/>
              </a:defRPr>
            </a:lvl1pPr>
          </a:lstStyle>
          <a:p>
            <a:r>
              <a:rPr lang="en-US"/>
              <a:t>TOP SECRET, SECRET, CONFIDENTIAL, RESTRICTED</a:t>
            </a:r>
          </a:p>
        </p:txBody>
      </p:sp>
      <p:sp>
        <p:nvSpPr>
          <p:cNvPr id="6" name="Slide Number Placeholder 5">
            <a:extLst>
              <a:ext uri="{FF2B5EF4-FFF2-40B4-BE49-F238E27FC236}">
                <a16:creationId xmlns:a16="http://schemas.microsoft.com/office/drawing/2014/main" id="{97B40C17-8DDF-6C41-B1A3-244CE114983A}"/>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latin charset="0" panose="020B0604020202020204" pitchFamily="34" typeface="Arial"/>
                <a:cs charset="0" panose="020B0604020202020204" pitchFamily="34" typeface="Arial"/>
              </a:defRPr>
            </a:lvl1pPr>
          </a:lstStyle>
          <a:p>
            <a:fld id="{85DA3A08-9E66-614E-AAE5-F810EFDD6885}" type="slidenum">
              <a:rPr lang="en-US" smtClean="0"/>
              <a:pPr/>
              <a:t>‹#›</a:t>
            </a:fld>
            <a:endParaRPr lang="en-US"/>
          </a:p>
        </p:txBody>
      </p:sp>
    </p:spTree>
    <p:extLst>
      <p:ext uri="{BB962C8B-B14F-4D97-AF65-F5344CB8AC3E}">
        <p14:creationId xmlns:p14="http://schemas.microsoft.com/office/powerpoint/2010/main" val="2168777543"/>
      </p:ext>
    </p:extLst>
  </p:cSld>
  <p:clrMap accent1="accent1" accent2="accent2" accent3="accent3" accent4="accent4" accent5="accent5" accent6="accent6" bg1="lt1" bg2="lt2" folHlink="folHlink" hlink="hlink" tx1="dk1" tx2="dk2"/>
  <p:sldLayoutIdLst>
    <p:sldLayoutId id="2147483649" r:id="rId1"/>
    <p:sldLayoutId id="2147483678" r:id="rId2"/>
    <p:sldLayoutId id="2147483681" r:id="rId3"/>
    <p:sldLayoutId id="2147483686" r:id="rId4"/>
    <p:sldLayoutId id="2147483661" r:id="rId5"/>
    <p:sldLayoutId id="2147483660" r:id="rId6"/>
    <p:sldLayoutId id="2147483680" r:id="rId7"/>
    <p:sldLayoutId id="2147483682" r:id="rId8"/>
    <p:sldLayoutId id="2147483650" r:id="rId9"/>
    <p:sldLayoutId id="2147483663" r:id="rId10"/>
    <p:sldLayoutId id="2147483671" r:id="rId11"/>
    <p:sldLayoutId id="2147483679" r:id="rId12"/>
    <p:sldLayoutId id="2147483683" r:id="rId13"/>
    <p:sldLayoutId id="2147483684" r:id="rId14"/>
    <p:sldLayoutId id="2147483685" r:id="rId15"/>
    <p:sldLayoutId id="2147483665" r:id="rId16"/>
    <p:sldLayoutId id="2147483675" r:id="rId17"/>
    <p:sldLayoutId id="2147483670" r:id="rId18"/>
  </p:sldLayoutIdLst>
  <p:hf dt="0" hdr="0"/>
  <p:txStyles>
    <p:titleStyle>
      <a:lvl1pPr algn="l" defTabSz="914400" eaLnBrk="1" hangingPunct="1" latinLnBrk="0" rtl="0">
        <a:lnSpc>
          <a:spcPct val="90000"/>
        </a:lnSpc>
        <a:spcBef>
          <a:spcPct val="0"/>
        </a:spcBef>
        <a:buNone/>
        <a:defRPr b="1" kern="1200" sz="2800">
          <a:solidFill>
            <a:schemeClr val="tx1"/>
          </a:solidFill>
          <a:latin charset="0" panose="020B0604020202020204" pitchFamily="34" typeface="Arial"/>
          <a:ea typeface="+mj-ea"/>
          <a:cs charset="0" panose="020B0604020202020204" pitchFamily="34" typeface="Arial"/>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000">
          <a:solidFill>
            <a:schemeClr val="tx1"/>
          </a:solidFill>
          <a:latin charset="0" panose="020B0604020202020204" pitchFamily="34" typeface="Arial"/>
          <a:ea typeface="+mn-ea"/>
          <a:cs charset="0" panose="020B0604020202020204" pitchFamily="34" typeface="Arial"/>
        </a:defRPr>
      </a:lvl1pPr>
      <a:lvl2pPr algn="l" defTabSz="914400" eaLnBrk="1" hangingPunct="1" indent="-228600" latinLnBrk="0" marL="685800" rtl="0">
        <a:lnSpc>
          <a:spcPct val="90000"/>
        </a:lnSpc>
        <a:spcBef>
          <a:spcPts val="500"/>
        </a:spcBef>
        <a:buFont charset="0" panose="020B0604020202020204" pitchFamily="34" typeface="Arial"/>
        <a:buChar char="•"/>
        <a:defRPr kern="1200" sz="1800">
          <a:solidFill>
            <a:schemeClr val="tx1"/>
          </a:solidFill>
          <a:latin charset="0" panose="020B0604020202020204" pitchFamily="34" typeface="Arial"/>
          <a:ea typeface="+mn-ea"/>
          <a:cs charset="0" panose="020B0604020202020204" pitchFamily="34" typeface="Arial"/>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charset="0" panose="020B0604020202020204" pitchFamily="34" typeface="Arial"/>
          <a:ea typeface="+mn-ea"/>
          <a:cs charset="0" panose="020B0604020202020204" pitchFamily="34" typeface="Arial"/>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charset="0" panose="020B0604020202020204" pitchFamily="34" typeface="Arial"/>
          <a:ea typeface="+mn-ea"/>
          <a:cs charset="0" panose="020B0604020202020204" pitchFamily="34" typeface="Arial"/>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charset="0" panose="020B0604020202020204" pitchFamily="34" typeface="Arial"/>
          <a:ea typeface="+mn-ea"/>
          <a:cs charset="0" panose="020B0604020202020204" pitchFamily="34" typeface="Arial"/>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111/j.1538-4616.2010.00307.x" TargetMode="External" /><Relationship Id="rId3" Type="http://schemas.openxmlformats.org/officeDocument/2006/relationships/hyperlink" Target="https://doi.org/10.1111/1468-0335.00195" TargetMode="External" /><Relationship Id="rId4" Type="http://schemas.openxmlformats.org/officeDocument/2006/relationships/hyperlink" Target="https://doi.org/10.1111/j.1468-2354.2005.00333.x" TargetMode="External" /><Relationship Id="rId5" Type="http://schemas.openxmlformats.org/officeDocument/2006/relationships/hyperlink" Target="https://doi.org/10.1086/260968" TargetMode="External" /><Relationship Id="rId6" Type="http://schemas.openxmlformats.org/officeDocument/2006/relationships/hyperlink" Target="https://doi.org/10.1146/annurev-economics-063016-103651" TargetMode="External" /><Relationship Id="rId7" Type="http://schemas.openxmlformats.org/officeDocument/2006/relationships/hyperlink" Target="https://doi.org/10.1086/261821" TargetMode="External" /><Relationship Id="rId8" Type="http://schemas.openxmlformats.org/officeDocument/2006/relationships/hyperlink" Target="https://www.jstor.org/stable/1914364" TargetMode="Externa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hasCustomPrompt="1" type="ctrTitle"/>
          </p:nvPr>
        </p:nvSpPr>
        <p:spPr>
          <a:xfrm>
            <a:off x="7461840" y="774132"/>
            <a:ext cx="4263136" cy="1879616"/>
          </a:xfrm>
        </p:spPr>
        <p:txBody>
          <a:bodyPr/>
          <a:lstStyle/>
          <a:p>
            <a:pPr lvl="0" indent="0" marL="0">
              <a:buNone/>
            </a:pPr>
            <a:r>
              <a:rPr/>
              <a:t>Relative price dispersion and inflation regimes in South Africa</a:t>
            </a:r>
          </a:p>
        </p:txBody>
      </p:sp>
      <p:sp>
        <p:nvSpPr>
          <p:cNvPr id="3" name="Subtitle 2">
            <a:extLst>
              <a:ext uri="{FF2B5EF4-FFF2-40B4-BE49-F238E27FC236}">
                <a16:creationId xmlns:a16="http://schemas.microsoft.com/office/drawing/2014/main" id="{D46EA0A7-1E73-F64D-9AC7-B8EFBCA6BAAE}"/>
              </a:ext>
            </a:extLst>
          </p:cNvPr>
          <p:cNvSpPr>
            <a:spLocks noGrp="1"/>
          </p:cNvSpPr>
          <p:nvPr>
            <p:ph idx="1" type="subTitle"/>
          </p:nvPr>
        </p:nvSpPr>
        <p:spPr>
          <a:xfrm>
            <a:off x="7461840" y="3488441"/>
            <a:ext cx="3820634" cy="853003"/>
          </a:xfrm>
        </p:spPr>
        <p:txBody>
          <a:bodyPr/>
          <a:lstStyle/>
          <a:p>
            <a:pPr lvl="0" indent="0" marL="0">
              <a:buNone/>
            </a:pPr>
            <a:br/>
            <a:br/>
            <a:r>
              <a:rPr/>
              <a:t>Keagile Lesame and Xolani Sibande | </a:t>
            </a:r>
            <a:r>
              <a:rPr i="1"/>
              <a:t>National Treasury of South Africa and South African Reserve Bank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hasCustomPrompt="1" type="ctrTitle"/>
          </p:nvPr>
        </p:nvSpPr>
        <p:spPr>
          <a:xfrm>
            <a:off x="2997987" y="1817520"/>
            <a:ext cx="3540643" cy="1381125"/>
          </a:xfrm>
        </p:spPr>
        <p:txBody>
          <a:bodyPr/>
          <a:lstStyle/>
          <a:p>
            <a:pPr lvl="0" indent="0" marL="0">
              <a:buNone/>
            </a:pPr>
            <a:r>
              <a:rPr/>
              <a:t>Motivation</a:t>
            </a:r>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Motivation</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a:r>
              <a:rPr/>
              <a:t>Inflation is known to have adverse welfare effects through its distortion of relative prices which causes the misallocation of resources, production inefficiencies leading to lower real economic activity.</a:t>
            </a:r>
          </a:p>
          <a:p>
            <a:pPr lvl="0"/>
            <a:r>
              <a:rPr/>
              <a:t>This is well supported by both theoretical and empirical studies.</a:t>
            </a:r>
          </a:p>
          <a:p>
            <a:pPr lvl="0"/>
            <a:r>
              <a:rPr/>
              <a:t>This paper contributes to the empirical literature, by examining the relationship between inflation and relative price variability (RPD) in South Africa given the little evidence available and to better understand how this relationship has evolved and the implications for monetary policy.</a:t>
            </a:r>
          </a:p>
          <a:p>
            <a:pPr lvl="0"/>
            <a:r>
              <a:rPr/>
              <a:t>The South African context can provide further insights into the relationship between inflation and RPD given the shifts in the inflation targets from 3-6 per cent in 2000 to 4.5 per cent since 2017 as structural changes in inflation can affect the link between inflation and relative price variability (Caglayan and Filiztekin 2003)</a:t>
            </a:r>
          </a:p>
          <a:p>
            <a:pPr lvl="0"/>
            <a:r>
              <a:rPr/>
              <a:t>That the functional form of relationship is U-shaped and dynamic (Fielding and Mizen 2000; Choi 2010)</a:t>
            </a:r>
          </a:p>
          <a:p>
            <a:pPr lvl="0"/>
            <a:r>
              <a:rPr/>
              <a:t>The latter motivates the estimation of the inflation rate that minimizes relative price distortions since if the relationship was linear then the optimal inflation rate would be zero</a:t>
            </a:r>
          </a:p>
          <a:p>
            <a:pPr lvl="0"/>
            <a:r>
              <a:rPr/>
              <a:t>Given the inflation target reform towards a 3% in South Africa, this study contributes to the policy discussion on the appropriate inflation target and understating how dynamic relations between inflation and relative price variability has evolved</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hasCustomPrompt="1" type="ctrTitle"/>
          </p:nvPr>
        </p:nvSpPr>
        <p:spPr>
          <a:xfrm>
            <a:off x="2997987" y="1817520"/>
            <a:ext cx="3540643" cy="1381125"/>
          </a:xfrm>
        </p:spPr>
        <p:txBody>
          <a:bodyPr/>
          <a:lstStyle/>
          <a:p>
            <a:pPr lvl="0" indent="0" marL="0">
              <a:buNone/>
            </a:pPr>
            <a:r>
              <a:rPr/>
              <a:t>Theoretical Framework: RPD through Lucas’s aggregate supply curve</a:t>
            </a:r>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RPD theoretical framework</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a:r>
              <a:rPr/>
              <a:t>The theoretical literature generally distinguishes between menu-cost and signal extraction models in explaining the positive relation between trend inflation and RPD.</a:t>
            </a:r>
          </a:p>
          <a:p>
            <a:pPr lvl="0"/>
            <a:r>
              <a:rPr/>
              <a:t>In these models’ firms follow a one-sided dynamic pricing rule when setting prices and face fixed non-zero costs of adjusting nominal prices (e.g. printing new menus) when inflation increases as the latter reduces the optimal real price of goods and services.</a:t>
            </a:r>
          </a:p>
          <a:p>
            <a:pPr lvl="0"/>
            <a:r>
              <a:rPr/>
              <a:t>Due to differences in administrative costs, these nominal price adjustment costs vary across firms moreover these adjustments occur at different times which implies staggard price setting behaviour which leads to relative price variability.</a:t>
            </a:r>
          </a:p>
          <a:p>
            <a:pPr lvl="0"/>
            <a:r>
              <a:rPr/>
              <a:t>Menu cost models predict a that higher expected inflation causes an increase in RPD (citations xxx) while Lucas-type signal extraction models (Lucas 1973; Hercowitz 1981; Cukierman 1983) argue unexpected inflation uncertainty causes higher RPD because informational frictions make it difficult to distinguish between idiosyncratic relative shocks or an aggregate (inflationary) shock.</a:t>
            </a:r>
          </a:p>
          <a:p>
            <a:pPr lvl="0"/>
            <a:r>
              <a:rPr/>
              <a:t>Menu cost and signal-extraction models assume a positive and linear relationship making the optimal inflation rate zero, however, recently monetary search models (Head and Kumar 2005) show that this relationship is nonlinear making the optimal inflation rate somewhere between zero and positive inflation rate.</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RPD theoretical framework</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a:r>
              <a:rPr/>
              <a:t>The concept of relative price dispersion can be abstract and difficult to grasp without a theoretical framework.</a:t>
            </a:r>
          </a:p>
          <a:p>
            <a:pPr lvl="0"/>
            <a:r>
              <a:rPr/>
              <a:t>One of the most influential frameworks for understanding relative price dispersion is the Lucas (1973) aggregate supply curve, which provides insights into how relative price dispersion can explain the output-inflation relationship.</a:t>
            </a:r>
          </a:p>
          <a:p>
            <a:pPr lvl="0"/>
            <a:r>
              <a:rPr/>
              <a:t>This theory essentially means (in part) that nominal “rigidities” partially dominate short-run supplier behaviour resulting from a lack of information about the some prices relevant to decision making.</a:t>
            </a:r>
          </a:p>
          <a:p>
            <a:pPr lvl="0"/>
            <a:r>
              <a:rPr/>
              <a:t>For our purposes we ignore other aspects of the theoretical framework and emphasis this aspect of the model to provide an understanding relative price dispersion.</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RPD theoretical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Lucas (1973) proposes a decomposition of the supply curve, all in logs, into a natural or secular component and a cyclical component as follows:</a:t>
                </a:r>
              </a:p>
              <a:p>
                <a:pPr lvl="0" indent="0" marL="0">
                  <a:buNone/>
                </a:pPr>
                <a14:m>
                  <m:oMathPara xmlns:m="http://schemas.openxmlformats.org/officeDocument/2006/math">
                    <m:oMathParaPr>
                      <m:jc m:val="center"/>
                    </m:oMathParaPr>
                    <m:oMath>
                      <m:sSub>
                        <m:e>
                          <m:r>
                            <m:t>y</m:t>
                          </m:r>
                        </m:e>
                        <m:sub>
                          <m:r>
                            <m:t>t</m:t>
                          </m:r>
                        </m:sub>
                      </m:sSub>
                      <m:d>
                        <m:dPr>
                          <m:begChr m:val="("/>
                          <m:endChr m:val=")"/>
                          <m:sepChr m:val=""/>
                          <m:grow/>
                        </m:dPr>
                        <m:e>
                          <m:r>
                            <m:t>z</m:t>
                          </m:r>
                        </m:e>
                      </m:d>
                      <m:r>
                        <m:rPr>
                          <m:sty m:val="p"/>
                        </m:rPr>
                        <m:t>=</m:t>
                      </m:r>
                      <m:sSub>
                        <m:e>
                          <m:r>
                            <m:t>y</m:t>
                          </m:r>
                        </m:e>
                        <m:sub>
                          <m:r>
                            <m:t>n</m:t>
                          </m:r>
                          <m:r>
                            <m:rPr>
                              <m:sty m:val="p"/>
                            </m:rPr>
                            <m:t>,</m:t>
                          </m:r>
                          <m:r>
                            <m:t>t</m:t>
                          </m:r>
                        </m:sub>
                      </m:sSub>
                      <m:r>
                        <m:rPr>
                          <m:sty m:val="p"/>
                        </m:rPr>
                        <m:t>+</m:t>
                      </m:r>
                      <m:sSub>
                        <m:e>
                          <m:r>
                            <m:t>y</m:t>
                          </m:r>
                        </m:e>
                        <m:sub>
                          <m:r>
                            <m:t>c</m:t>
                          </m:r>
                          <m:r>
                            <m:t>t</m:t>
                          </m:r>
                        </m:sub>
                      </m:sSub>
                      <m:d>
                        <m:dPr>
                          <m:begChr m:val="("/>
                          <m:endChr m:val=")"/>
                          <m:sepChr m:val=""/>
                          <m:grow/>
                        </m:dPr>
                        <m:e>
                          <m:r>
                            <m:t>z</m:t>
                          </m:r>
                        </m:e>
                      </m:d>
                      <m:r>
                        <m:rPr>
                          <m:sty m:val="p"/>
                        </m:rPr>
                        <m:t>,</m:t>
                      </m:r>
                      <m:r>
                        <m:t>  </m:t>
                      </m:r>
                      <m:d>
                        <m:dPr>
                          <m:begChr m:val="("/>
                          <m:endChr m:val=")"/>
                          <m:sepChr m:val=""/>
                          <m:grow/>
                        </m:dPr>
                        <m:e>
                          <m:r>
                            <m:t>1</m:t>
                          </m:r>
                        </m:e>
                      </m:d>
                    </m:oMath>
                  </m:oMathPara>
                </a14:m>
              </a:p>
              <a:p>
                <a:pPr lvl="0"/>
                <a14:m>
                  <m:oMath xmlns:m="http://schemas.openxmlformats.org/officeDocument/2006/math">
                    <m:sSub>
                      <m:e>
                        <m:r>
                          <m:t>y</m:t>
                        </m:r>
                      </m:e>
                      <m:sub>
                        <m:r>
                          <m:t>t</m:t>
                        </m:r>
                      </m:sub>
                    </m:sSub>
                    <m:d>
                      <m:dPr>
                        <m:begChr m:val="("/>
                        <m:endChr m:val=")"/>
                        <m:sepChr m:val=""/>
                        <m:grow/>
                      </m:dPr>
                      <m:e>
                        <m:r>
                          <m:t>z</m:t>
                        </m:r>
                      </m:e>
                    </m:d>
                  </m:oMath>
                </a14:m>
                <a:r>
                  <a:rPr/>
                  <a:t> is the aggregate supply at time </a:t>
                </a:r>
                <a14:m>
                  <m:oMath xmlns:m="http://schemas.openxmlformats.org/officeDocument/2006/math">
                    <m:r>
                      <m:t>t</m:t>
                    </m:r>
                  </m:oMath>
                </a14:m>
                <a:r>
                  <a:rPr/>
                  <a:t> in market </a:t>
                </a:r>
                <a14:m>
                  <m:oMath xmlns:m="http://schemas.openxmlformats.org/officeDocument/2006/math">
                    <m:r>
                      <m:t>z</m:t>
                    </m:r>
                  </m:oMath>
                </a14:m>
                <a:r>
                  <a:rPr/>
                  <a:t>, </a:t>
                </a:r>
                <a14:m>
                  <m:oMath xmlns:m="http://schemas.openxmlformats.org/officeDocument/2006/math">
                    <m:sSub>
                      <m:e>
                        <m:r>
                          <m:t>y</m:t>
                        </m:r>
                      </m:e>
                      <m:sub>
                        <m:r>
                          <m:t>n</m:t>
                        </m:r>
                        <m:r>
                          <m:rPr>
                            <m:sty m:val="p"/>
                          </m:rPr>
                          <m:t>,</m:t>
                        </m:r>
                        <m:r>
                          <m:t>t</m:t>
                        </m:r>
                      </m:sub>
                    </m:sSub>
                  </m:oMath>
                </a14:m>
                <a:r>
                  <a:rPr/>
                  <a:t> is the natural or secular level of supply at time </a:t>
                </a:r>
                <a14:m>
                  <m:oMath xmlns:m="http://schemas.openxmlformats.org/officeDocument/2006/math">
                    <m:r>
                      <m:t>t</m:t>
                    </m:r>
                  </m:oMath>
                </a14:m>
              </a:p>
              <a:p>
                <a:pPr lvl="0"/>
                <a14:m>
                  <m:oMath xmlns:m="http://schemas.openxmlformats.org/officeDocument/2006/math">
                    <m:sSub>
                      <m:e>
                        <m:r>
                          <m:t>y</m:t>
                        </m:r>
                      </m:e>
                      <m:sub>
                        <m:r>
                          <m:t>c</m:t>
                        </m:r>
                        <m:r>
                          <m:t>t</m:t>
                        </m:r>
                      </m:sub>
                    </m:sSub>
                  </m:oMath>
                </a14:m>
                <a:r>
                  <a:rPr/>
                  <a:t> is the cyclical component of supply at time </a:t>
                </a:r>
                <a14:m>
                  <m:oMath xmlns:m="http://schemas.openxmlformats.org/officeDocument/2006/math">
                    <m:r>
                      <m:t>t</m:t>
                    </m:r>
                  </m:oMath>
                </a14:m>
                <a:r>
                  <a:rPr/>
                  <a:t>.</a:t>
                </a:r>
              </a:p>
              <a:p>
                <a:pPr lvl="0"/>
                <a:r>
                  <a:rPr/>
                  <a:t>Competitive markets and a cleared labour market are assumed</a:t>
                </a:r>
              </a:p>
              <a:p>
                <a:pPr lvl="0"/>
                <a:r>
                  <a:rPr/>
                  <a:t>Leading to relative price and general price level movements leading.</a:t>
                </a:r>
              </a:p>
              <a:p>
                <a:pPr lvl="0"/>
                <a:r>
                  <a:rPr/>
                  <a:t>Imperfect information of the suppliers about the general price level that leads to relative price dispersion and the output-inflation relationship.</a:t>
                </a:r>
              </a:p>
              <a:p>
                <a:pPr lvl="0" indent="0" marL="0">
                  <a:buNone/>
                </a:pPr>
                <a:r>
                  <a:rPr/>
                  <a:t>In addition, the natural or secular level of supply is assumed to follow a linear trend as follows:</a:t>
                </a:r>
              </a:p>
              <a:p>
                <a:pPr lvl="0" indent="0" marL="0">
                  <a:buNone/>
                </a:pPr>
                <a14:m>
                  <m:oMathPara xmlns:m="http://schemas.openxmlformats.org/officeDocument/2006/math">
                    <m:oMathParaPr>
                      <m:jc m:val="center"/>
                    </m:oMathParaPr>
                    <m:oMath>
                      <m:sSub>
                        <m:e>
                          <m:r>
                            <m:t>y</m:t>
                          </m:r>
                        </m:e>
                        <m:sub>
                          <m:r>
                            <m:t>n</m:t>
                          </m:r>
                          <m:r>
                            <m:rPr>
                              <m:sty m:val="p"/>
                            </m:rPr>
                            <m:t>,</m:t>
                          </m:r>
                          <m:r>
                            <m:t>t</m:t>
                          </m:r>
                        </m:sub>
                      </m:sSub>
                      <m:r>
                        <m:rPr>
                          <m:sty m:val="p"/>
                        </m:rPr>
                        <m:t>=</m:t>
                      </m:r>
                      <m:r>
                        <m:t>α</m:t>
                      </m:r>
                      <m:r>
                        <m:rPr>
                          <m:sty m:val="p"/>
                        </m:rPr>
                        <m:t>+</m:t>
                      </m:r>
                      <m:r>
                        <m:t>β</m:t>
                      </m:r>
                      <m:r>
                        <m:t>t</m:t>
                      </m:r>
                      <m:r>
                        <m:rPr>
                          <m:sty m:val="p"/>
                        </m:rPr>
                        <m:t>,</m:t>
                      </m:r>
                      <m:r>
                        <m:t>  </m:t>
                      </m:r>
                      <m:d>
                        <m:dPr>
                          <m:begChr m:val="("/>
                          <m:endChr m:val=")"/>
                          <m:sepChr m:val=""/>
                          <m:grow/>
                        </m:dPr>
                        <m:e>
                          <m:r>
                            <m:t>2</m:t>
                          </m:r>
                        </m:e>
                      </m:d>
                    </m:oMath>
                  </m:oMathPara>
                </a14:m>
              </a:p>
              <a:p>
                <a:pPr lvl="0" indent="0" marL="0">
                  <a:buNone/>
                </a:pPr>
                <a:r>
                  <a:rPr/>
                  <a:t>where </a:t>
                </a:r>
                <a14:m>
                  <m:oMath xmlns:m="http://schemas.openxmlformats.org/officeDocument/2006/math">
                    <m:r>
                      <m:t>α</m:t>
                    </m:r>
                  </m:oMath>
                </a14:m>
                <a:r>
                  <a:rPr/>
                  <a:t> is a constant and </a:t>
                </a:r>
                <a14:m>
                  <m:oMath xmlns:m="http://schemas.openxmlformats.org/officeDocument/2006/math">
                    <m:r>
                      <m:t>β</m:t>
                    </m:r>
                  </m:oMath>
                </a14:m>
                <a:r>
                  <a:rPr/>
                  <a:t> captures the trend growth rate of the natural level of supply.</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RPD theoretical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The cyclical component varies with the perceived relative price (the difference between the actual price level and the expected price level) and its lags as follows:</a:t>
                </a:r>
              </a:p>
              <a:p>
                <a:pPr lvl="0" indent="0" marL="0">
                  <a:buNone/>
                </a:pPr>
                <a14:m>
                  <m:oMathPara xmlns:m="http://schemas.openxmlformats.org/officeDocument/2006/math">
                    <m:oMathParaPr>
                      <m:jc m:val="center"/>
                    </m:oMathParaPr>
                    <m:oMath>
                      <m:sSub>
                        <m:e>
                          <m:r>
                            <m:t>y</m:t>
                          </m:r>
                        </m:e>
                        <m:sub>
                          <m:r>
                            <m:t>c</m:t>
                          </m:r>
                          <m:r>
                            <m:t>t</m:t>
                          </m:r>
                        </m:sub>
                      </m:sSub>
                      <m:d>
                        <m:dPr>
                          <m:begChr m:val="("/>
                          <m:endChr m:val=")"/>
                          <m:sepChr m:val=""/>
                          <m:grow/>
                        </m:dPr>
                        <m:e>
                          <m:r>
                            <m:t>z</m:t>
                          </m:r>
                        </m:e>
                      </m:d>
                      <m:r>
                        <m:rPr>
                          <m:sty m:val="p"/>
                        </m:rPr>
                        <m:t>=</m:t>
                      </m:r>
                      <m:r>
                        <m:t>γ</m:t>
                      </m:r>
                      <m:d>
                        <m:dPr>
                          <m:begChr m:val="["/>
                          <m:endChr m:val="]"/>
                          <m:sepChr m:val=""/>
                          <m:grow/>
                        </m:dPr>
                        <m:e>
                          <m:sSub>
                            <m:e>
                              <m:r>
                                <m:t>P</m:t>
                              </m:r>
                            </m:e>
                            <m:sub>
                              <m:r>
                                <m:t>t</m:t>
                              </m:r>
                            </m:sub>
                          </m:sSub>
                          <m:d>
                            <m:dPr>
                              <m:begChr m:val="("/>
                              <m:endChr m:val=")"/>
                              <m:sepChr m:val=""/>
                              <m:grow/>
                            </m:dPr>
                            <m:e>
                              <m:r>
                                <m:t>z</m:t>
                              </m:r>
                            </m:e>
                          </m:d>
                          <m:r>
                            <m:rPr>
                              <m:sty m:val="p"/>
                            </m:rPr>
                            <m:t>−</m:t>
                          </m:r>
                          <m:r>
                            <m:t>E</m:t>
                          </m:r>
                          <m:d>
                            <m:dPr>
                              <m:begChr m:val="("/>
                              <m:endChr m:val=")"/>
                              <m:sepChr m:val=""/>
                              <m:grow/>
                            </m:dPr>
                            <m:e>
                              <m:sSub>
                                <m:e>
                                  <m:r>
                                    <m:t>P</m:t>
                                  </m:r>
                                </m:e>
                                <m:sub>
                                  <m:r>
                                    <m:t>t</m:t>
                                  </m:r>
                                </m:sub>
                              </m:sSub>
                              <m:r>
                                <m:rPr>
                                  <m:sty m:val="p"/>
                                </m:rPr>
                                <m:t>|</m:t>
                              </m:r>
                              <m:sSub>
                                <m:e>
                                  <m:r>
                                    <m:t>I</m:t>
                                  </m:r>
                                </m:e>
                                <m:sub>
                                  <m:r>
                                    <m:t>t</m:t>
                                  </m:r>
                                </m:sub>
                              </m:sSub>
                              <m:d>
                                <m:dPr>
                                  <m:begChr m:val="("/>
                                  <m:endChr m:val=")"/>
                                  <m:sepChr m:val=""/>
                                  <m:grow/>
                                </m:dPr>
                                <m:e>
                                  <m:r>
                                    <m:t>z</m:t>
                                  </m:r>
                                </m:e>
                              </m:d>
                            </m:e>
                          </m:d>
                        </m:e>
                      </m:d>
                      <m:r>
                        <m:rPr>
                          <m:sty m:val="p"/>
                        </m:rPr>
                        <m:t>+</m:t>
                      </m:r>
                      <m:r>
                        <m:t>λ</m:t>
                      </m:r>
                      <m:sSub>
                        <m:e>
                          <m:r>
                            <m:t>y</m:t>
                          </m:r>
                        </m:e>
                        <m:sub>
                          <m:r>
                            <m:t>c</m:t>
                          </m:r>
                          <m:r>
                            <m:rPr>
                              <m:sty m:val="p"/>
                            </m:rPr>
                            <m:t>,</m:t>
                          </m:r>
                          <m:r>
                            <m:t>t</m:t>
                          </m:r>
                          <m:r>
                            <m:rPr>
                              <m:sty m:val="p"/>
                            </m:rPr>
                            <m:t>−</m:t>
                          </m:r>
                          <m:r>
                            <m:t>1</m:t>
                          </m:r>
                        </m:sub>
                      </m:sSub>
                      <m:d>
                        <m:dPr>
                          <m:begChr m:val="("/>
                          <m:endChr m:val=")"/>
                          <m:sepChr m:val=""/>
                          <m:grow/>
                        </m:dPr>
                        <m:e>
                          <m:r>
                            <m:t>z</m:t>
                          </m:r>
                        </m:e>
                      </m:d>
                      <m:r>
                        <m:rPr>
                          <m:sty m:val="p"/>
                        </m:rPr>
                        <m:t>,</m:t>
                      </m:r>
                      <m:r>
                        <m:t>  </m:t>
                      </m:r>
                      <m:d>
                        <m:dPr>
                          <m:begChr m:val="("/>
                          <m:endChr m:val=")"/>
                          <m:sepChr m:val=""/>
                          <m:grow/>
                        </m:dPr>
                        <m:e>
                          <m:r>
                            <m:t>3</m:t>
                          </m:r>
                        </m:e>
                      </m:d>
                    </m:oMath>
                  </m:oMathPara>
                </a14:m>
              </a:p>
              <a:p>
                <a:pPr lvl="0"/>
                <a14:m>
                  <m:oMath xmlns:m="http://schemas.openxmlformats.org/officeDocument/2006/math">
                    <m:r>
                      <m:t>γ</m:t>
                    </m:r>
                  </m:oMath>
                </a14:m>
                <a:r>
                  <a:rPr/>
                  <a:t> captures the sensitivity of supply to the perceived relative price, </a:t>
                </a:r>
                <a14:m>
                  <m:oMath xmlns:m="http://schemas.openxmlformats.org/officeDocument/2006/math">
                    <m:sSub>
                      <m:e>
                        <m:r>
                          <m:t>P</m:t>
                        </m:r>
                      </m:e>
                      <m:sub>
                        <m:r>
                          <m:t>t</m:t>
                        </m:r>
                      </m:sub>
                    </m:sSub>
                    <m:d>
                      <m:dPr>
                        <m:begChr m:val="("/>
                        <m:endChr m:val=")"/>
                        <m:sepChr m:val=""/>
                        <m:grow/>
                      </m:dPr>
                      <m:e>
                        <m:r>
                          <m:t>z</m:t>
                        </m:r>
                      </m:e>
                    </m:d>
                  </m:oMath>
                </a14:m>
                <a:r>
                  <a:rPr/>
                  <a:t> is the actual price level in market </a:t>
                </a:r>
                <a14:m>
                  <m:oMath xmlns:m="http://schemas.openxmlformats.org/officeDocument/2006/math">
                    <m:r>
                      <m:t>z</m:t>
                    </m:r>
                  </m:oMath>
                </a14:m>
                <a:r>
                  <a:rPr/>
                  <a:t> at time </a:t>
                </a:r>
                <a14:m>
                  <m:oMath xmlns:m="http://schemas.openxmlformats.org/officeDocument/2006/math">
                    <m:r>
                      <m:t>t</m:t>
                    </m:r>
                  </m:oMath>
                </a14:m>
                <a:r>
                  <a:rPr/>
                  <a:t>,</a:t>
                </a:r>
              </a:p>
              <a:p>
                <a:pPr lvl="0"/>
                <a14:m>
                  <m:oMath xmlns:m="http://schemas.openxmlformats.org/officeDocument/2006/math">
                    <m:r>
                      <m:t>E</m:t>
                    </m:r>
                    <m:d>
                      <m:dPr>
                        <m:begChr m:val="("/>
                        <m:endChr m:val=")"/>
                        <m:sepChr m:val=""/>
                        <m:grow/>
                      </m:dPr>
                      <m:e>
                        <m:sSub>
                          <m:e>
                            <m:r>
                              <m:t>P</m:t>
                            </m:r>
                          </m:e>
                          <m:sub>
                            <m:r>
                              <m:t>t</m:t>
                            </m:r>
                          </m:sub>
                        </m:sSub>
                        <m:r>
                          <m:rPr>
                            <m:sty m:val="p"/>
                          </m:rPr>
                          <m:t>|</m:t>
                        </m:r>
                        <m:sSub>
                          <m:e>
                            <m:r>
                              <m:t>I</m:t>
                            </m:r>
                          </m:e>
                          <m:sub>
                            <m:r>
                              <m:t>t</m:t>
                            </m:r>
                          </m:sub>
                        </m:sSub>
                        <m:d>
                          <m:dPr>
                            <m:begChr m:val="("/>
                            <m:endChr m:val=")"/>
                            <m:sepChr m:val=""/>
                            <m:grow/>
                          </m:dPr>
                          <m:e>
                            <m:r>
                              <m:t>z</m:t>
                            </m:r>
                          </m:e>
                        </m:d>
                      </m:e>
                    </m:d>
                  </m:oMath>
                </a14:m>
                <a:r>
                  <a:rPr/>
                  <a:t> is the expected price level based on information available at time </a:t>
                </a:r>
                <a14:m>
                  <m:oMath xmlns:m="http://schemas.openxmlformats.org/officeDocument/2006/math">
                    <m:r>
                      <m:t>t</m:t>
                    </m:r>
                  </m:oMath>
                </a14:m>
                <a:r>
                  <a:rPr/>
                  <a:t> in market </a:t>
                </a:r>
                <a14:m>
                  <m:oMath xmlns:m="http://schemas.openxmlformats.org/officeDocument/2006/math">
                    <m:r>
                      <m:t>z</m:t>
                    </m:r>
                  </m:oMath>
                </a14:m>
              </a:p>
              <a:p>
                <a:pPr lvl="0"/>
                <a14:m>
                  <m:oMath xmlns:m="http://schemas.openxmlformats.org/officeDocument/2006/math">
                    <m:r>
                      <m:t>λ</m:t>
                    </m:r>
                  </m:oMath>
                </a14:m>
                <a:r>
                  <a:rPr/>
                  <a:t> captures the persistence of the cyclical component and </a:t>
                </a:r>
                <a14:m>
                  <m:oMath xmlns:m="http://schemas.openxmlformats.org/officeDocument/2006/math">
                    <m:d>
                      <m:dPr>
                        <m:begChr m:val="|"/>
                        <m:endChr m:val="|"/>
                        <m:sepChr m:val=""/>
                        <m:grow/>
                      </m:dPr>
                      <m:e>
                        <m:r>
                          <m:t>λ</m:t>
                        </m:r>
                      </m:e>
                    </m:d>
                    <m:r>
                      <m:rPr>
                        <m:sty m:val="p"/>
                      </m:rPr>
                      <m:t>&lt;</m:t>
                    </m:r>
                    <m:r>
                      <m:t>1</m:t>
                    </m:r>
                  </m:oMath>
                </a14:m>
                <a:r>
                  <a:rPr/>
                  <a:t>. </a:t>
                </a:r>
                <a14:m>
                  <m:oMath xmlns:m="http://schemas.openxmlformats.org/officeDocument/2006/math">
                    <m:r>
                      <m:t>E</m:t>
                    </m:r>
                    <m:d>
                      <m:dPr>
                        <m:begChr m:val="("/>
                        <m:endChr m:val=")"/>
                        <m:sepChr m:val=""/>
                        <m:grow/>
                      </m:dPr>
                      <m:e>
                        <m:sSub>
                          <m:e>
                            <m:r>
                              <m:t>P</m:t>
                            </m:r>
                          </m:e>
                          <m:sub>
                            <m:r>
                              <m:t>t</m:t>
                            </m:r>
                          </m:sub>
                        </m:sSub>
                        <m:r>
                          <m:rPr>
                            <m:sty m:val="p"/>
                          </m:rPr>
                          <m:t>|</m:t>
                        </m:r>
                        <m:sSub>
                          <m:e>
                            <m:r>
                              <m:t>I</m:t>
                            </m:r>
                          </m:e>
                          <m:sub>
                            <m:r>
                              <m:t>t</m:t>
                            </m:r>
                          </m:sub>
                        </m:sSub>
                        <m:d>
                          <m:dPr>
                            <m:begChr m:val="("/>
                            <m:endChr m:val=")"/>
                            <m:sepChr m:val=""/>
                            <m:grow/>
                          </m:dPr>
                          <m:e>
                            <m:r>
                              <m:t>z</m:t>
                            </m:r>
                          </m:e>
                        </m:d>
                      </m:e>
                    </m:d>
                  </m:oMath>
                </a14:m>
                <a:r>
                  <a:rPr/>
                  <a:t> is current expected price level conditioned on information that is available at time </a:t>
                </a:r>
                <a14:m>
                  <m:oMath xmlns:m="http://schemas.openxmlformats.org/officeDocument/2006/math">
                    <m:r>
                      <m:t>t</m:t>
                    </m:r>
                  </m:oMath>
                </a14:m>
                <a:r>
                  <a:rPr/>
                  <a:t>, at market </a:t>
                </a:r>
                <a14:m>
                  <m:oMath xmlns:m="http://schemas.openxmlformats.org/officeDocument/2006/math">
                    <m:r>
                      <m:t>z</m:t>
                    </m:r>
                  </m:oMath>
                </a14:m>
                <a:r>
                  <a:rPr/>
                  <a:t>.</a:t>
                </a:r>
              </a:p>
              <a:p>
                <a:pPr lvl="0"/>
                <a:r>
                  <a:rPr/>
                  <a:t>The available information set (</a:t>
                </a:r>
                <a14:m>
                  <m:oMath xmlns:m="http://schemas.openxmlformats.org/officeDocument/2006/math">
                    <m:sSub>
                      <m:e>
                        <m:r>
                          <m:t>I</m:t>
                        </m:r>
                      </m:e>
                      <m:sub>
                        <m:r>
                          <m:t>t</m:t>
                        </m:r>
                      </m:sub>
                    </m:sSub>
                    <m:d>
                      <m:dPr>
                        <m:begChr m:val="("/>
                        <m:endChr m:val=")"/>
                        <m:sepChr m:val=""/>
                        <m:grow/>
                      </m:dPr>
                      <m:e>
                        <m:r>
                          <m:t>z</m:t>
                        </m:r>
                      </m:e>
                    </m:d>
                  </m:oMath>
                </a14:m>
                <a:r>
                  <a:rPr/>
                  <a:t>) comprises of past demand driven shifts of the secular component (</a:t>
                </a:r>
                <a14:m>
                  <m:oMath xmlns:m="http://schemas.openxmlformats.org/officeDocument/2006/math">
                    <m:sSub>
                      <m:e>
                        <m:r>
                          <m:t>y</m:t>
                        </m:r>
                      </m:e>
                      <m:sub>
                        <m:r>
                          <m:t>n</m:t>
                        </m:r>
                        <m:r>
                          <m:rPr>
                            <m:sty m:val="p"/>
                          </m:rPr>
                          <m:t>,</m:t>
                        </m:r>
                        <m:r>
                          <m:t>t</m:t>
                        </m:r>
                      </m:sub>
                    </m:sSub>
                  </m:oMath>
                </a14:m>
                <a:r>
                  <a:rPr/>
                  <a:t>),</a:t>
                </a:r>
              </a:p>
              <a:p>
                <a:pPr lvl="0"/>
                <a:r>
                  <a:rPr/>
                  <a:t>Past deviations of the cyclical component (</a:t>
                </a:r>
                <a14:m>
                  <m:oMath xmlns:m="http://schemas.openxmlformats.org/officeDocument/2006/math">
                    <m:sSub>
                      <m:e>
                        <m:r>
                          <m:t>y</m:t>
                        </m:r>
                      </m:e>
                      <m:sub>
                        <m:r>
                          <m:t>c</m:t>
                        </m:r>
                        <m:r>
                          <m:rPr>
                            <m:sty m:val="p"/>
                          </m:rPr>
                          <m:t>,</m:t>
                        </m:r>
                        <m:r>
                          <m:t>t</m:t>
                        </m:r>
                        <m:r>
                          <m:rPr>
                            <m:sty m:val="p"/>
                          </m:rPr>
                          <m:t>−</m:t>
                        </m:r>
                        <m:r>
                          <m:t>1</m:t>
                        </m:r>
                      </m:sub>
                    </m:sSub>
                    <m:r>
                      <m:rPr>
                        <m:sty m:val="p"/>
                      </m:rPr>
                      <m:t>,</m:t>
                    </m:r>
                    <m:sSub>
                      <m:e>
                        <m:r>
                          <m:t>y</m:t>
                        </m:r>
                      </m:e>
                      <m:sub>
                        <m:r>
                          <m:t>c</m:t>
                        </m:r>
                        <m:r>
                          <m:rPr>
                            <m:sty m:val="p"/>
                          </m:rPr>
                          <m:t>,</m:t>
                        </m:r>
                        <m:r>
                          <m:t>t</m:t>
                        </m:r>
                        <m:r>
                          <m:rPr>
                            <m:sty m:val="p"/>
                          </m:rPr>
                          <m:t>−</m:t>
                        </m:r>
                        <m:r>
                          <m:t>2</m:t>
                        </m:r>
                      </m:sub>
                    </m:sSub>
                    <m:r>
                      <m:rPr>
                        <m:sty m:val="p"/>
                      </m:rPr>
                      <m:t>,</m:t>
                    </m:r>
                    <m:r>
                      <m:rPr>
                        <m:sty m:val="p"/>
                      </m:rPr>
                      <m:t>.</m:t>
                    </m:r>
                    <m:r>
                      <m:rPr>
                        <m:sty m:val="p"/>
                      </m:rPr>
                      <m:t>.</m:t>
                    </m:r>
                    <m:r>
                      <m:rPr>
                        <m:sty m:val="p"/>
                      </m:rPr>
                      <m:t>.</m:t>
                    </m:r>
                  </m:oMath>
                </a14:m>
                <a:r>
                  <a:rPr/>
                  <a:t>) from its natural level.</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RPD theoretical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a:r>
                  <a:rPr/>
                  <a:t>The current general price level (</a:t>
                </a:r>
                <a14:m>
                  <m:oMath xmlns:m="http://schemas.openxmlformats.org/officeDocument/2006/math">
                    <m:sSub>
                      <m:e>
                        <m:r>
                          <m:t>P</m:t>
                        </m:r>
                      </m:e>
                      <m:sub>
                        <m:r>
                          <m:t>t</m:t>
                        </m:r>
                      </m:sub>
                    </m:sSub>
                  </m:oMath>
                </a14:m>
                <a:r>
                  <a:rPr/>
                  <a:t>), which determines ‘prior’ expectations common across all suppliers in all markets, is assumed to be </a:t>
                </a:r>
                <a14:m>
                  <m:oMath xmlns:m="http://schemas.openxmlformats.org/officeDocument/2006/math">
                    <m:sSub>
                      <m:e>
                        <m:r>
                          <m:t>P</m:t>
                        </m:r>
                      </m:e>
                      <m:sub>
                        <m:r>
                          <m:t>t</m:t>
                        </m:r>
                      </m:sub>
                    </m:sSub>
                    <m:r>
                      <m:rPr>
                        <m:sty m:val="p"/>
                      </m:rPr>
                      <m:t>∼</m:t>
                    </m:r>
                    <m:r>
                      <m:t>N</m:t>
                    </m:r>
                    <m:d>
                      <m:dPr>
                        <m:begChr m:val="("/>
                        <m:endChr m:val=")"/>
                        <m:sepChr m:val=""/>
                        <m:grow/>
                      </m:dPr>
                      <m:e>
                        <m:bar>
                          <m:barPr>
                            <m:pos m:val="top"/>
                          </m:barPr>
                          <m:e>
                            <m:sSub>
                              <m:e>
                                <m:r>
                                  <m:t>P</m:t>
                                </m:r>
                              </m:e>
                              <m:sub>
                                <m:r>
                                  <m:t>t</m:t>
                                </m:r>
                              </m:sub>
                            </m:sSub>
                          </m:e>
                        </m:bar>
                        <m:r>
                          <m:rPr>
                            <m:sty m:val="p"/>
                          </m:rPr>
                          <m:t>,</m:t>
                        </m:r>
                        <m:sSup>
                          <m:e>
                            <m:r>
                              <m:t>σ</m:t>
                            </m:r>
                          </m:e>
                          <m:sup>
                            <m:r>
                              <m:t>2</m:t>
                            </m:r>
                          </m:sup>
                        </m:sSup>
                      </m:e>
                    </m:d>
                  </m:oMath>
                </a14:m>
              </a:p>
              <a:p>
                <a:pPr lvl="0"/>
                <a14:m>
                  <m:oMath xmlns:m="http://schemas.openxmlformats.org/officeDocument/2006/math">
                    <m:bar>
                      <m:barPr>
                        <m:pos m:val="top"/>
                      </m:barPr>
                      <m:e>
                        <m:sSub>
                          <m:e>
                            <m:r>
                              <m:t>P</m:t>
                            </m:r>
                          </m:e>
                          <m:sub>
                            <m:r>
                              <m:t>t</m:t>
                            </m:r>
                          </m:sub>
                        </m:sSub>
                      </m:e>
                    </m:bar>
                  </m:oMath>
                </a14:m>
                <a:r>
                  <a:rPr/>
                  <a:t> is the mean price level at time </a:t>
                </a:r>
                <a14:m>
                  <m:oMath xmlns:m="http://schemas.openxmlformats.org/officeDocument/2006/math">
                    <m:r>
                      <m:t>t</m:t>
                    </m:r>
                  </m:oMath>
                </a14:m>
                <a:r>
                  <a:rPr/>
                  <a:t> and </a:t>
                </a:r>
                <a14:m>
                  <m:oMath xmlns:m="http://schemas.openxmlformats.org/officeDocument/2006/math">
                    <m:sSup>
                      <m:e>
                        <m:r>
                          <m:t>σ</m:t>
                        </m:r>
                      </m:e>
                      <m:sup>
                        <m:r>
                          <m:t>2</m:t>
                        </m:r>
                      </m:sup>
                    </m:sSup>
                  </m:oMath>
                </a14:m>
                <a:r>
                  <a:rPr/>
                  <a:t> is the variance of the price level at time </a:t>
                </a:r>
                <a14:m>
                  <m:oMath xmlns:m="http://schemas.openxmlformats.org/officeDocument/2006/math">
                    <m:r>
                      <m:t>t</m:t>
                    </m:r>
                  </m:oMath>
                </a14:m>
                <a:r>
                  <a:rPr/>
                  <a:t>.</a:t>
                </a:r>
              </a:p>
              <a:p>
                <a:pPr lvl="0"/>
                <a:r>
                  <a:rPr/>
                  <a:t>Furthermore, Lucas (1973) defines </a:t>
                </a:r>
                <a14:m>
                  <m:oMath xmlns:m="http://schemas.openxmlformats.org/officeDocument/2006/math">
                    <m:sSub>
                      <m:e>
                        <m:r>
                          <m:t>z</m:t>
                        </m:r>
                      </m:e>
                      <m:sub>
                        <m:r>
                          <m:t>t</m:t>
                        </m:r>
                      </m:sub>
                    </m:sSub>
                  </m:oMath>
                </a14:m>
                <a:r>
                  <a:rPr/>
                  <a:t> as the percentage deviation of the actual market price from the general price level as </a:t>
                </a:r>
                <a14:m>
                  <m:oMath xmlns:m="http://schemas.openxmlformats.org/officeDocument/2006/math">
                    <m:r>
                      <m:t>z</m:t>
                    </m:r>
                    <m:limUpp>
                      <m:e>
                        <m:r>
                          <m:rPr>
                            <m:sty m:val="p"/>
                          </m:rPr>
                          <m:t>∼</m:t>
                        </m:r>
                      </m:e>
                      <m:lim>
                        <m:r>
                          <m:rPr>
                            <m:nor/>
                            <m:sty m:val="p"/>
                          </m:rPr>
                          <m:t>iid</m:t>
                        </m:r>
                      </m:lim>
                    </m:limUpp>
                    <m:r>
                      <m:t>N</m:t>
                    </m:r>
                    <m:d>
                      <m:dPr>
                        <m:begChr m:val="("/>
                        <m:endChr m:val=")"/>
                        <m:sepChr m:val=""/>
                        <m:grow/>
                      </m:dPr>
                      <m:e>
                        <m:r>
                          <m:t>0</m:t>
                        </m:r>
                        <m:r>
                          <m:rPr>
                            <m:sty m:val="p"/>
                          </m:rPr>
                          <m:t>,</m:t>
                        </m:r>
                        <m:sSup>
                          <m:e>
                            <m:r>
                              <m:t>τ</m:t>
                            </m:r>
                          </m:e>
                          <m:sup>
                            <m:r>
                              <m:t>2</m:t>
                            </m:r>
                          </m:sup>
                        </m:sSup>
                      </m:e>
                    </m:d>
                    <m:r>
                      <m:rPr>
                        <m:sty m:val="p"/>
                      </m:rPr>
                      <m:t>,</m:t>
                    </m:r>
                  </m:oMath>
                </a14:m>
                <a:r>
                  <a:rPr/>
                  <a:t> where </a:t>
                </a:r>
                <a14:m>
                  <m:oMath xmlns:m="http://schemas.openxmlformats.org/officeDocument/2006/math">
                    <m:sSup>
                      <m:e>
                        <m:r>
                          <m:t>τ</m:t>
                        </m:r>
                      </m:e>
                      <m:sup>
                        <m:r>
                          <m:t>2</m:t>
                        </m:r>
                      </m:sup>
                    </m:sSup>
                  </m:oMath>
                </a14:m>
                <a:r>
                  <a:rPr/>
                  <a:t> is the variance of </a:t>
                </a:r>
                <a14:m>
                  <m:oMath xmlns:m="http://schemas.openxmlformats.org/officeDocument/2006/math">
                    <m:r>
                      <m:t>z</m:t>
                    </m:r>
                  </m:oMath>
                </a14:m>
                <a:r>
                  <a:rPr/>
                  <a:t>.</a:t>
                </a:r>
              </a:p>
              <a:p>
                <a:pPr lvl="0" indent="0" marL="0">
                  <a:buNone/>
                </a:pPr>
                <a:r>
                  <a:rPr/>
                  <a:t>Therefore, the actual price level in market </a:t>
                </a:r>
                <a14:m>
                  <m:oMath xmlns:m="http://schemas.openxmlformats.org/officeDocument/2006/math">
                    <m:r>
                      <m:t>z</m:t>
                    </m:r>
                  </m:oMath>
                </a14:m>
                <a:r>
                  <a:rPr/>
                  <a:t> at time </a:t>
                </a:r>
                <a14:m>
                  <m:oMath xmlns:m="http://schemas.openxmlformats.org/officeDocument/2006/math">
                    <m:r>
                      <m:t>t</m:t>
                    </m:r>
                  </m:oMath>
                </a14:m>
                <a:r>
                  <a:rPr/>
                  <a:t> can be expressed as:</a:t>
                </a:r>
              </a:p>
              <a:p>
                <a:pPr lvl="0" indent="0" marL="0">
                  <a:buNone/>
                </a:pPr>
                <a14:m>
                  <m:oMathPara xmlns:m="http://schemas.openxmlformats.org/officeDocument/2006/math">
                    <m:oMathParaPr>
                      <m:jc m:val="center"/>
                    </m:oMathParaPr>
                    <m:oMath>
                      <m:sSub>
                        <m:e>
                          <m:r>
                            <m:t>P</m:t>
                          </m:r>
                        </m:e>
                        <m:sub>
                          <m:r>
                            <m:t>t</m:t>
                          </m:r>
                        </m:sub>
                      </m:sSub>
                      <m:d>
                        <m:dPr>
                          <m:begChr m:val="("/>
                          <m:endChr m:val=")"/>
                          <m:sepChr m:val=""/>
                          <m:grow/>
                        </m:dPr>
                        <m:e>
                          <m:r>
                            <m:t>z</m:t>
                          </m:r>
                        </m:e>
                      </m:d>
                      <m:r>
                        <m:rPr>
                          <m:sty m:val="p"/>
                        </m:rPr>
                        <m:t>=</m:t>
                      </m:r>
                      <m:sSub>
                        <m:e>
                          <m:r>
                            <m:t>P</m:t>
                          </m:r>
                        </m:e>
                        <m:sub>
                          <m:r>
                            <m:t>t</m:t>
                          </m:r>
                        </m:sub>
                      </m:sSub>
                      <m:r>
                        <m:rPr>
                          <m:sty m:val="p"/>
                        </m:rPr>
                        <m:t>+</m:t>
                      </m:r>
                      <m:r>
                        <m:t>z</m:t>
                      </m:r>
                      <m:r>
                        <m:rPr>
                          <m:sty m:val="p"/>
                        </m:rPr>
                        <m:t>,</m:t>
                      </m:r>
                      <m:r>
                        <m:t>  </m:t>
                      </m:r>
                      <m:d>
                        <m:dPr>
                          <m:begChr m:val="("/>
                          <m:endChr m:val=")"/>
                          <m:sepChr m:val=""/>
                          <m:grow/>
                        </m:dPr>
                        <m:e>
                          <m:r>
                            <m:t>4</m:t>
                          </m:r>
                        </m:e>
                      </m:d>
                    </m:oMath>
                  </m:oMathPara>
                </a14:m>
              </a:p>
              <a:p>
                <a:pPr lvl="0"/>
                <a14:m>
                  <m:oMath xmlns:m="http://schemas.openxmlformats.org/officeDocument/2006/math">
                    <m:sSub>
                      <m:e>
                        <m:r>
                          <m:t>P</m:t>
                        </m:r>
                      </m:e>
                      <m:sub>
                        <m:r>
                          <m:t>t</m:t>
                        </m:r>
                      </m:sub>
                    </m:sSub>
                    <m:d>
                      <m:dPr>
                        <m:begChr m:val="("/>
                        <m:endChr m:val=")"/>
                        <m:sepChr m:val=""/>
                        <m:grow/>
                      </m:dPr>
                      <m:e>
                        <m:r>
                          <m:t>z</m:t>
                        </m:r>
                      </m:e>
                    </m:d>
                  </m:oMath>
                </a14:m>
                <a:r>
                  <a:rPr/>
                  <a:t> is the actual price in market </a:t>
                </a:r>
                <a14:m>
                  <m:oMath xmlns:m="http://schemas.openxmlformats.org/officeDocument/2006/math">
                    <m:r>
                      <m:t>z</m:t>
                    </m:r>
                  </m:oMath>
                </a14:m>
                <a:r>
                  <a:rPr/>
                  <a:t> at time </a:t>
                </a:r>
                <a14:m>
                  <m:oMath xmlns:m="http://schemas.openxmlformats.org/officeDocument/2006/math">
                    <m:r>
                      <m:t>t</m:t>
                    </m:r>
                  </m:oMath>
                </a14:m>
                <a:r>
                  <a:rPr/>
                  <a:t> (that is the markets are indexed to z),</a:t>
                </a:r>
              </a:p>
              <a:p>
                <a:pPr lvl="0"/>
                <a14:m>
                  <m:oMath xmlns:m="http://schemas.openxmlformats.org/officeDocument/2006/math">
                    <m:sSub>
                      <m:e>
                        <m:r>
                          <m:t>P</m:t>
                        </m:r>
                      </m:e>
                      <m:sub>
                        <m:r>
                          <m:t>t</m:t>
                        </m:r>
                      </m:sub>
                    </m:sSub>
                  </m:oMath>
                </a14:m>
                <a:r>
                  <a:rPr/>
                  <a:t> is the current general price level at time </a:t>
                </a:r>
                <a14:m>
                  <m:oMath xmlns:m="http://schemas.openxmlformats.org/officeDocument/2006/math">
                    <m:r>
                      <m:t>t</m:t>
                    </m:r>
                  </m:oMath>
                </a14:m>
                <a:r>
                  <a:rPr/>
                  <a:t>, and </a:t>
                </a:r>
                <a14:m>
                  <m:oMath xmlns:m="http://schemas.openxmlformats.org/officeDocument/2006/math">
                    <m:r>
                      <m:t>z</m:t>
                    </m:r>
                  </m:oMath>
                </a14:m>
                <a:r>
                  <a:rPr/>
                  <a:t> is the percentage deviation of the actual market price from the general price level.</a:t>
                </a:r>
              </a:p>
              <a:p>
                <a:pPr lvl="0"/>
                <a:r>
                  <a:rPr/>
                  <a:t>However, </a:t>
                </a:r>
                <a14:m>
                  <m:oMath xmlns:m="http://schemas.openxmlformats.org/officeDocument/2006/math">
                    <m:sSub>
                      <m:e>
                        <m:r>
                          <m:t>P</m:t>
                        </m:r>
                      </m:e>
                      <m:sub>
                        <m:r>
                          <m:t>t</m:t>
                        </m:r>
                      </m:sub>
                    </m:sSub>
                  </m:oMath>
                </a14:m>
                <a:r>
                  <a:rPr/>
                  <a:t> is unobserved by traders, and therefore </a:t>
                </a:r>
                <a14:m>
                  <m:oMath xmlns:m="http://schemas.openxmlformats.org/officeDocument/2006/math">
                    <m:sSub>
                      <m:e>
                        <m:r>
                          <m:t>I</m:t>
                        </m:r>
                      </m:e>
                      <m:sub>
                        <m:r>
                          <m:t>t</m:t>
                        </m:r>
                      </m:sub>
                    </m:sSub>
                    <m:d>
                      <m:dPr>
                        <m:begChr m:val="("/>
                        <m:endChr m:val=")"/>
                        <m:sepChr m:val=""/>
                        <m:grow/>
                      </m:dPr>
                      <m:e>
                        <m:r>
                          <m:t>z</m:t>
                        </m:r>
                      </m:e>
                    </m:d>
                  </m:oMath>
                </a14:m>
                <a:r>
                  <a:rPr/>
                  <a:t> is used to estimate the expected price level (</a:t>
                </a:r>
                <a14:m>
                  <m:oMath xmlns:m="http://schemas.openxmlformats.org/officeDocument/2006/math">
                    <m:r>
                      <m:t>E</m:t>
                    </m:r>
                    <m:d>
                      <m:dPr>
                        <m:begChr m:val="("/>
                        <m:endChr m:val=")"/>
                        <m:sepChr m:val=""/>
                        <m:grow/>
                      </m:dPr>
                      <m:e>
                        <m:sSub>
                          <m:e>
                            <m:r>
                              <m:t>P</m:t>
                            </m:r>
                          </m:e>
                          <m:sub>
                            <m:r>
                              <m:t>t</m:t>
                            </m:r>
                          </m:sub>
                        </m:sSub>
                        <m:r>
                          <m:rPr>
                            <m:sty m:val="p"/>
                          </m:rPr>
                          <m:t>|</m:t>
                        </m:r>
                        <m:sSub>
                          <m:e>
                            <m:r>
                              <m:t>I</m:t>
                            </m:r>
                          </m:e>
                          <m:sub>
                            <m:r>
                              <m:t>t</m:t>
                            </m:r>
                          </m:sub>
                        </m:sSub>
                        <m:d>
                          <m:dPr>
                            <m:begChr m:val="("/>
                            <m:endChr m:val=")"/>
                            <m:sepChr m:val=""/>
                            <m:grow/>
                          </m:dPr>
                          <m:e>
                            <m:r>
                              <m:t>z</m:t>
                            </m:r>
                          </m:e>
                        </m:d>
                      </m:e>
                    </m:d>
                  </m:oMath>
                </a14:m>
                <a:r>
                  <a:rPr/>
                  <a:t>).</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RPD theoretical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The expected price level based on information available at time </a:t>
                </a:r>
                <a14:m>
                  <m:oMath xmlns:m="http://schemas.openxmlformats.org/officeDocument/2006/math">
                    <m:r>
                      <m:t>t</m:t>
                    </m:r>
                  </m:oMath>
                </a14:m>
                <a:r>
                  <a:rPr/>
                  <a:t> in market </a:t>
                </a:r>
                <a14:m>
                  <m:oMath xmlns:m="http://schemas.openxmlformats.org/officeDocument/2006/math">
                    <m:r>
                      <m:t>z</m:t>
                    </m:r>
                  </m:oMath>
                </a14:m>
                <a:r>
                  <a:rPr/>
                  <a:t> can be derived using Bayes’ rule as follows:</a:t>
                </a:r>
              </a:p>
              <a:p>
                <a:pPr lvl="0" indent="0" marL="0">
                  <a:buNone/>
                </a:pPr>
                <a14:m>
                  <m:oMathPara xmlns:m="http://schemas.openxmlformats.org/officeDocument/2006/math">
                    <m:oMathParaPr>
                      <m:jc m:val="center"/>
                    </m:oMathParaPr>
                    <m:oMath>
                      <m:r>
                        <m:t>E</m:t>
                      </m:r>
                      <m:d>
                        <m:dPr>
                          <m:begChr m:val="("/>
                          <m:endChr m:val=")"/>
                          <m:sepChr m:val=""/>
                          <m:grow/>
                        </m:dPr>
                        <m:e>
                          <m:sSub>
                            <m:e>
                              <m:r>
                                <m:t>P</m:t>
                              </m:r>
                            </m:e>
                            <m:sub>
                              <m:r>
                                <m:t>t</m:t>
                              </m:r>
                            </m:sub>
                          </m:sSub>
                          <m:r>
                            <m:rPr>
                              <m:sty m:val="p"/>
                            </m:rPr>
                            <m:t>|</m:t>
                          </m:r>
                          <m:sSub>
                            <m:e>
                              <m:r>
                                <m:t>I</m:t>
                              </m:r>
                            </m:e>
                            <m:sub>
                              <m:r>
                                <m:t>t</m:t>
                              </m:r>
                            </m:sub>
                          </m:sSub>
                          <m:d>
                            <m:dPr>
                              <m:begChr m:val="("/>
                              <m:endChr m:val=")"/>
                              <m:sepChr m:val=""/>
                              <m:grow/>
                            </m:dPr>
                            <m:e>
                              <m:r>
                                <m:t>z</m:t>
                              </m:r>
                            </m:e>
                          </m:d>
                        </m:e>
                      </m:d>
                      <m:r>
                        <m:rPr>
                          <m:sty m:val="p"/>
                        </m:rPr>
                        <m:t>=</m:t>
                      </m:r>
                      <m:r>
                        <m:t>E</m:t>
                      </m:r>
                      <m:d>
                        <m:dPr>
                          <m:begChr m:val="("/>
                          <m:endChr m:val=")"/>
                          <m:sepChr m:val=""/>
                          <m:grow/>
                        </m:dPr>
                        <m:e>
                          <m:sSub>
                            <m:e>
                              <m:r>
                                <m:t>P</m:t>
                              </m:r>
                            </m:e>
                            <m:sub>
                              <m:r>
                                <m:t>t</m:t>
                              </m:r>
                            </m:sub>
                          </m:sSub>
                          <m:r>
                            <m:rPr>
                              <m:sty m:val="p"/>
                            </m:rPr>
                            <m:t>|</m:t>
                          </m:r>
                          <m:sSub>
                            <m:e>
                              <m:r>
                                <m:t>P</m:t>
                              </m:r>
                            </m:e>
                            <m:sub>
                              <m:r>
                                <m:t>t</m:t>
                              </m:r>
                            </m:sub>
                          </m:sSub>
                          <m:d>
                            <m:dPr>
                              <m:begChr m:val="("/>
                              <m:endChr m:val=")"/>
                              <m:sepChr m:val=""/>
                              <m:grow/>
                            </m:dPr>
                            <m:e>
                              <m:r>
                                <m:t>z</m:t>
                              </m:r>
                            </m:e>
                          </m:d>
                          <m:r>
                            <m:rPr>
                              <m:sty m:val="p"/>
                            </m:rPr>
                            <m:t>,</m:t>
                          </m:r>
                          <m:bar>
                            <m:barPr>
                              <m:pos m:val="top"/>
                            </m:barPr>
                            <m:e>
                              <m:sSub>
                                <m:e>
                                  <m:r>
                                    <m:t>P</m:t>
                                  </m:r>
                                </m:e>
                                <m:sub>
                                  <m:r>
                                    <m:t>t</m:t>
                                  </m:r>
                                </m:sub>
                              </m:sSub>
                            </m:e>
                          </m:bar>
                        </m:e>
                      </m:d>
                      <m:r>
                        <m:rPr>
                          <m:sty m:val="p"/>
                        </m:rPr>
                        <m:t>=</m:t>
                      </m:r>
                      <m:d>
                        <m:dPr>
                          <m:begChr m:val="("/>
                          <m:endChr m:val=")"/>
                          <m:sepChr m:val=""/>
                          <m:grow/>
                        </m:dPr>
                        <m:e>
                          <m:r>
                            <m:t>1</m:t>
                          </m:r>
                          <m:r>
                            <m:rPr>
                              <m:sty m:val="p"/>
                            </m:rPr>
                            <m:t>−</m:t>
                          </m:r>
                          <m:r>
                            <m:t>θ</m:t>
                          </m:r>
                        </m:e>
                      </m:d>
                      <m:sSub>
                        <m:e>
                          <m:r>
                            <m:t>P</m:t>
                          </m:r>
                        </m:e>
                        <m:sub>
                          <m:r>
                            <m:t>t</m:t>
                          </m:r>
                        </m:sub>
                      </m:sSub>
                      <m:d>
                        <m:dPr>
                          <m:begChr m:val="("/>
                          <m:endChr m:val=")"/>
                          <m:sepChr m:val=""/>
                          <m:grow/>
                        </m:dPr>
                        <m:e>
                          <m:r>
                            <m:t>z</m:t>
                          </m:r>
                        </m:e>
                      </m:d>
                      <m:r>
                        <m:rPr>
                          <m:sty m:val="p"/>
                        </m:rPr>
                        <m:t>+</m:t>
                      </m:r>
                      <m:r>
                        <m:t>θ</m:t>
                      </m:r>
                      <m:bar>
                        <m:barPr>
                          <m:pos m:val="top"/>
                        </m:barPr>
                        <m:e>
                          <m:r>
                            <m:t>P</m:t>
                          </m:r>
                          <m:r>
                            <m:t>t</m:t>
                          </m:r>
                        </m:e>
                      </m:bar>
                      <m:r>
                        <m:rPr>
                          <m:sty m:val="p"/>
                        </m:rPr>
                        <m:t>,</m:t>
                      </m:r>
                      <m:r>
                        <m:t>  </m:t>
                      </m:r>
                      <m:d>
                        <m:dPr>
                          <m:begChr m:val="("/>
                          <m:endChr m:val=")"/>
                          <m:sepChr m:val=""/>
                          <m:grow/>
                        </m:dPr>
                        <m:e>
                          <m:r>
                            <m:t>5</m:t>
                          </m:r>
                        </m:e>
                      </m:d>
                    </m:oMath>
                  </m:oMathPara>
                </a14:m>
              </a:p>
              <a:p>
                <a:pPr lvl="0"/>
                <a14:m>
                  <m:oMath xmlns:m="http://schemas.openxmlformats.org/officeDocument/2006/math">
                    <m:r>
                      <m:t>θ</m:t>
                    </m:r>
                    <m:r>
                      <m:rPr>
                        <m:sty m:val="p"/>
                      </m:rPr>
                      <m:t>=</m:t>
                    </m:r>
                    <m:f>
                      <m:fPr>
                        <m:type m:val="bar"/>
                      </m:fPr>
                      <m:num>
                        <m:sSup>
                          <m:e>
                            <m:r>
                              <m:t>τ</m:t>
                            </m:r>
                          </m:e>
                          <m:sup>
                            <m:r>
                              <m:t>2</m:t>
                            </m:r>
                          </m:sup>
                        </m:sSup>
                      </m:num>
                      <m:den>
                        <m:d>
                          <m:dPr>
                            <m:begChr m:val="("/>
                            <m:endChr m:val=")"/>
                            <m:sepChr m:val=""/>
                            <m:grow/>
                          </m:dPr>
                          <m:e>
                            <m:sSup>
                              <m:e>
                                <m:r>
                                  <m:t>σ</m:t>
                                </m:r>
                              </m:e>
                              <m:sup>
                                <m:r>
                                  <m:t>2</m:t>
                                </m:r>
                              </m:sup>
                            </m:sSup>
                            <m:r>
                              <m:rPr>
                                <m:sty m:val="p"/>
                              </m:rPr>
                              <m:t>+</m:t>
                            </m:r>
                            <m:sSup>
                              <m:e>
                                <m:r>
                                  <m:t>τ</m:t>
                                </m:r>
                              </m:e>
                              <m:sup>
                                <m:r>
                                  <m:t>2</m:t>
                                </m:r>
                              </m:sup>
                            </m:sSup>
                          </m:e>
                        </m:d>
                      </m:den>
                    </m:f>
                  </m:oMath>
                </a14:m>
                <a:r>
                  <a:rPr/>
                  <a:t> is the weight placed on the mean price level (</a:t>
                </a:r>
                <a14:m>
                  <m:oMath xmlns:m="http://schemas.openxmlformats.org/officeDocument/2006/math">
                    <m:bar>
                      <m:barPr>
                        <m:pos m:val="top"/>
                      </m:barPr>
                      <m:e>
                        <m:sSub>
                          <m:e>
                            <m:r>
                              <m:t>P</m:t>
                            </m:r>
                          </m:e>
                          <m:sub>
                            <m:r>
                              <m:t>t</m:t>
                            </m:r>
                          </m:sub>
                        </m:sSub>
                      </m:e>
                    </m:bar>
                  </m:oMath>
                </a14:m>
                <a:r>
                  <a:rPr/>
                  <a:t>) in forming expectations.</a:t>
                </a:r>
              </a:p>
              <a:p>
                <a:pPr lvl="0" indent="0" marL="0">
                  <a:buNone/>
                </a:pPr>
                <a:r>
                  <a:rPr/>
                  <a:t>Combining Equation 1, Equation 4, and Equation 5 by substitution yields the following:</a:t>
                </a:r>
              </a:p>
              <a:p>
                <a:pPr lvl="0" indent="0" marL="0">
                  <a:buNone/>
                </a:pPr>
                <a14:m>
                  <m:oMathPara xmlns:m="http://schemas.openxmlformats.org/officeDocument/2006/math">
                    <m:oMathParaPr>
                      <m:jc m:val="center"/>
                    </m:oMathParaPr>
                    <m:oMath>
                      <m:sSub>
                        <m:e>
                          <m:r>
                            <m:t>y</m:t>
                          </m:r>
                        </m:e>
                        <m:sub>
                          <m:r>
                            <m:t>t</m:t>
                          </m:r>
                        </m:sub>
                      </m:sSub>
                      <m:d>
                        <m:dPr>
                          <m:begChr m:val="("/>
                          <m:endChr m:val=")"/>
                          <m:sepChr m:val=""/>
                          <m:grow/>
                        </m:dPr>
                        <m:e>
                          <m:r>
                            <m:t>z</m:t>
                          </m:r>
                        </m:e>
                      </m:d>
                      <m:r>
                        <m:rPr>
                          <m:sty m:val="p"/>
                        </m:rPr>
                        <m:t>=</m:t>
                      </m:r>
                      <m:sSub>
                        <m:e>
                          <m:r>
                            <m:t>y</m:t>
                          </m:r>
                        </m:e>
                        <m:sub>
                          <m:r>
                            <m:t>n</m:t>
                          </m:r>
                          <m:r>
                            <m:t>t</m:t>
                          </m:r>
                        </m:sub>
                      </m:sSub>
                      <m:r>
                        <m:rPr>
                          <m:sty m:val="p"/>
                        </m:rPr>
                        <m:t>+</m:t>
                      </m:r>
                      <m:r>
                        <m:t>θ</m:t>
                      </m:r>
                      <m:r>
                        <m:t>γ</m:t>
                      </m:r>
                      <m:d>
                        <m:dPr>
                          <m:begChr m:val="["/>
                          <m:endChr m:val="]"/>
                          <m:sepChr m:val=""/>
                          <m:grow/>
                        </m:dPr>
                        <m:e>
                          <m:sSub>
                            <m:e>
                              <m:r>
                                <m:t>P</m:t>
                              </m:r>
                            </m:e>
                            <m:sub>
                              <m:r>
                                <m:t>t</m:t>
                              </m:r>
                            </m:sub>
                          </m:sSub>
                          <m:d>
                            <m:dPr>
                              <m:begChr m:val="("/>
                              <m:endChr m:val=")"/>
                              <m:sepChr m:val=""/>
                              <m:grow/>
                            </m:dPr>
                            <m:e>
                              <m:r>
                                <m:t>z</m:t>
                              </m:r>
                            </m:e>
                          </m:d>
                          <m:r>
                            <m:rPr>
                              <m:sty m:val="p"/>
                            </m:rPr>
                            <m:t>−</m:t>
                          </m:r>
                          <m:bar>
                            <m:barPr>
                              <m:pos m:val="top"/>
                            </m:barPr>
                            <m:e>
                              <m:sSub>
                                <m:e>
                                  <m:r>
                                    <m:t>P</m:t>
                                  </m:r>
                                </m:e>
                                <m:sub>
                                  <m:r>
                                    <m:t>t</m:t>
                                  </m:r>
                                </m:sub>
                              </m:sSub>
                            </m:e>
                          </m:bar>
                        </m:e>
                      </m:d>
                      <m:r>
                        <m:rPr>
                          <m:sty m:val="p"/>
                        </m:rPr>
                        <m:t>+</m:t>
                      </m:r>
                      <m:r>
                        <m:t>λ</m:t>
                      </m:r>
                      <m:sSub>
                        <m:e>
                          <m:r>
                            <m:t>y</m:t>
                          </m:r>
                        </m:e>
                        <m:sub>
                          <m:r>
                            <m:t>c</m:t>
                          </m:r>
                          <m:r>
                            <m:rPr>
                              <m:sty m:val="p"/>
                            </m:rPr>
                            <m:t>,</m:t>
                          </m:r>
                          <m:r>
                            <m:t>t</m:t>
                          </m:r>
                          <m:r>
                            <m:rPr>
                              <m:sty m:val="p"/>
                            </m:rPr>
                            <m:t>−</m:t>
                          </m:r>
                          <m:r>
                            <m:t>1</m:t>
                          </m:r>
                        </m:sub>
                      </m:sSub>
                      <m:r>
                        <m:t>  </m:t>
                      </m:r>
                      <m:d>
                        <m:dPr>
                          <m:begChr m:val="("/>
                          <m:endChr m:val=")"/>
                          <m:sepChr m:val=""/>
                          <m:grow/>
                        </m:dPr>
                        <m:e>
                          <m:r>
                            <m:t>6</m:t>
                          </m:r>
                        </m:e>
                      </m:d>
                    </m:oMath>
                  </m:oMathPara>
                </a14:m>
              </a:p>
              <a:p>
                <a:pPr lvl="0"/>
                <a:r>
                  <a:rPr/>
                  <a:t>current supply in market </a:t>
                </a:r>
                <a14:m>
                  <m:oMath xmlns:m="http://schemas.openxmlformats.org/officeDocument/2006/math">
                    <m:r>
                      <m:t>z</m:t>
                    </m:r>
                  </m:oMath>
                </a14:m>
                <a:r>
                  <a:rPr/>
                  <a:t> at time </a:t>
                </a:r>
                <a14:m>
                  <m:oMath xmlns:m="http://schemas.openxmlformats.org/officeDocument/2006/math">
                    <m:r>
                      <m:t>t</m:t>
                    </m:r>
                  </m:oMath>
                </a14:m>
                <a:r>
                  <a:rPr/>
                  <a:t> is a function of the natural level of supply, the perceived relative price (the difference between the actual price level in market </a:t>
                </a:r>
                <a14:m>
                  <m:oMath xmlns:m="http://schemas.openxmlformats.org/officeDocument/2006/math">
                    <m:r>
                      <m:t>z</m:t>
                    </m:r>
                  </m:oMath>
                </a14:m>
                <a:r>
                  <a:rPr/>
                  <a:t> and the mean price level), and the lagged cyclical component.</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RPD theoretical framework</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Finally, aggregating across all markets (or integrating over all markets) yields the following aggregate supply curve:</a:t>
                </a:r>
              </a:p>
              <a:p>
                <a:pPr lvl="0" indent="0" marL="0">
                  <a:buNone/>
                </a:pPr>
                <a14:m>
                  <m:oMathPara xmlns:m="http://schemas.openxmlformats.org/officeDocument/2006/math">
                    <m:oMathParaPr>
                      <m:jc m:val="center"/>
                    </m:oMathParaPr>
                    <m:oMath>
                      <m:sSub>
                        <m:e>
                          <m:r>
                            <m:t>y</m:t>
                          </m:r>
                        </m:e>
                        <m:sub>
                          <m:r>
                            <m:t>t</m:t>
                          </m:r>
                        </m:sub>
                      </m:sSub>
                      <m:r>
                        <m:rPr>
                          <m:sty m:val="p"/>
                        </m:rPr>
                        <m:t>=</m:t>
                      </m:r>
                      <m:sSub>
                        <m:e>
                          <m:r>
                            <m:t>y</m:t>
                          </m:r>
                        </m:e>
                        <m:sub>
                          <m:r>
                            <m:t>n</m:t>
                          </m:r>
                          <m:r>
                            <m:t>t</m:t>
                          </m:r>
                        </m:sub>
                      </m:sSub>
                      <m:r>
                        <m:rPr>
                          <m:sty m:val="p"/>
                        </m:rPr>
                        <m:t>+</m:t>
                      </m:r>
                      <m:r>
                        <m:t>θ</m:t>
                      </m:r>
                      <m:r>
                        <m:t>γ</m:t>
                      </m:r>
                      <m:d>
                        <m:dPr>
                          <m:begChr m:val="("/>
                          <m:endChr m:val=")"/>
                          <m:sepChr m:val=""/>
                          <m:grow/>
                        </m:dPr>
                        <m:e>
                          <m:sSub>
                            <m:e>
                              <m:r>
                                <m:t>P</m:t>
                              </m:r>
                            </m:e>
                            <m:sub>
                              <m:r>
                                <m:t>t</m:t>
                              </m:r>
                            </m:sub>
                          </m:sSub>
                          <m:r>
                            <m:rPr>
                              <m:sty m:val="p"/>
                            </m:rPr>
                            <m:t>−</m:t>
                          </m:r>
                          <m:bar>
                            <m:barPr>
                              <m:pos m:val="top"/>
                            </m:barPr>
                            <m:e>
                              <m:sSub>
                                <m:e>
                                  <m:r>
                                    <m:t>P</m:t>
                                  </m:r>
                                </m:e>
                                <m:sub>
                                  <m:r>
                                    <m:t>t</m:t>
                                  </m:r>
                                </m:sub>
                              </m:sSub>
                            </m:e>
                          </m:bar>
                        </m:e>
                      </m:d>
                      <m:r>
                        <m:rPr>
                          <m:sty m:val="p"/>
                        </m:rPr>
                        <m:t>+</m:t>
                      </m:r>
                      <m:r>
                        <m:t>λ</m:t>
                      </m:r>
                      <m:d>
                        <m:dPr>
                          <m:begChr m:val="["/>
                          <m:endChr m:val="]"/>
                          <m:sepChr m:val=""/>
                          <m:grow/>
                        </m:dPr>
                        <m:e>
                          <m:sSub>
                            <m:e>
                              <m:r>
                                <m:t>y</m:t>
                              </m:r>
                            </m:e>
                            <m:sub>
                              <m:r>
                                <m:t>t</m:t>
                              </m:r>
                              <m:r>
                                <m:rPr>
                                  <m:sty m:val="p"/>
                                </m:rPr>
                                <m:t>−</m:t>
                              </m:r>
                              <m:r>
                                <m:t>1</m:t>
                              </m:r>
                            </m:sub>
                          </m:sSub>
                          <m:r>
                            <m:rPr>
                              <m:sty m:val="p"/>
                            </m:rPr>
                            <m:t>−</m:t>
                          </m:r>
                          <m:sSub>
                            <m:e>
                              <m:r>
                                <m:t>y</m:t>
                              </m:r>
                            </m:e>
                            <m:sub>
                              <m:r>
                                <m:t>n</m:t>
                              </m:r>
                              <m:r>
                                <m:rPr>
                                  <m:sty m:val="p"/>
                                </m:rPr>
                                <m:t>,</m:t>
                              </m:r>
                              <m:r>
                                <m:t>t</m:t>
                              </m:r>
                              <m:r>
                                <m:rPr>
                                  <m:sty m:val="p"/>
                                </m:rPr>
                                <m:t>−</m:t>
                              </m:r>
                              <m:r>
                                <m:t>1</m:t>
                              </m:r>
                            </m:sub>
                          </m:sSub>
                        </m:e>
                      </m:d>
                      <m:r>
                        <m:t>  </m:t>
                      </m:r>
                      <m:d>
                        <m:dPr>
                          <m:begChr m:val="("/>
                          <m:endChr m:val=")"/>
                          <m:sepChr m:val=""/>
                          <m:grow/>
                        </m:dPr>
                        <m:e>
                          <m:r>
                            <m:t>7</m:t>
                          </m:r>
                        </m:e>
                      </m:d>
                    </m:oMath>
                  </m:oMathPara>
                </a14:m>
              </a:p>
              <a:p>
                <a:pPr lvl="0" indent="0" marL="0">
                  <a:buNone/>
                </a:pPr>
                <a:r>
                  <a:rPr/>
                  <a:t>From Equation 7, we can clearly demonstrate how the relative price dispersion (</a:t>
                </a:r>
                <a14:m>
                  <m:oMath xmlns:m="http://schemas.openxmlformats.org/officeDocument/2006/math">
                    <m:r>
                      <m:t>θ</m:t>
                    </m:r>
                  </m:oMath>
                </a14:m>
                <a:r>
                  <a:rPr/>
                  <a:t>) is a fraction of the total individual price dispersion (</a:t>
                </a:r>
                <a14:m>
                  <m:oMath xmlns:m="http://schemas.openxmlformats.org/officeDocument/2006/math">
                    <m:sSup>
                      <m:e>
                        <m:r>
                          <m:t>σ</m:t>
                        </m:r>
                      </m:e>
                      <m:sup>
                        <m:r>
                          <m:t>2</m:t>
                        </m:r>
                      </m:sup>
                    </m:sSup>
                    <m:r>
                      <m:rPr>
                        <m:sty m:val="p"/>
                      </m:rPr>
                      <m:t>+</m:t>
                    </m:r>
                    <m:sSup>
                      <m:e>
                        <m:r>
                          <m:t>τ</m:t>
                        </m:r>
                      </m:e>
                      <m:sup>
                        <m:r>
                          <m:t>2</m:t>
                        </m:r>
                      </m:sup>
                    </m:sSup>
                  </m:oMath>
                </a14:m>
                <a:r>
                  <a:rPr/>
                  <a:t>), affects the aggregate supply curve, and therefore the output-inflation relationship.</a:t>
                </a:r>
              </a:p>
              <a:p>
                <a:pPr lvl="0"/>
                <a:r>
                  <a:rPr/>
                  <a:t>That is, </a:t>
                </a:r>
                <a14:m>
                  <m:oMath xmlns:m="http://schemas.openxmlformats.org/officeDocument/2006/math">
                    <m:r>
                      <m:t>θ</m:t>
                    </m:r>
                    <m:r>
                      <m:rPr>
                        <m:sty m:val="p"/>
                      </m:rPr>
                      <m:t>↑</m:t>
                    </m:r>
                  </m:oMath>
                </a14:m>
                <a:r>
                  <a:rPr/>
                  <a:t> in </a:t>
                </a:r>
                <a14:m>
                  <m:oMath xmlns:m="http://schemas.openxmlformats.org/officeDocument/2006/math">
                    <m:sSup>
                      <m:e>
                        <m:r>
                          <m:t>τ</m:t>
                        </m:r>
                      </m:e>
                      <m:sup>
                        <m:r>
                          <m:t>2</m:t>
                        </m:r>
                      </m:sup>
                    </m:sSup>
                  </m:oMath>
                </a14:m>
                <a:r>
                  <a:rPr/>
                  <a:t> and </a:t>
                </a:r>
                <a14:m>
                  <m:oMath xmlns:m="http://schemas.openxmlformats.org/officeDocument/2006/math">
                    <m:r>
                      <m:rPr>
                        <m:sty m:val="p"/>
                      </m:rPr>
                      <m:t>↓</m:t>
                    </m:r>
                  </m:oMath>
                </a14:m>
                <a:r>
                  <a:rPr/>
                  <a:t> in </a:t>
                </a:r>
                <a14:m>
                  <m:oMath xmlns:m="http://schemas.openxmlformats.org/officeDocument/2006/math">
                    <m:sSup>
                      <m:e>
                        <m:r>
                          <m:t>σ</m:t>
                        </m:r>
                      </m:e>
                      <m:sup>
                        <m:r>
                          <m:t>2</m:t>
                        </m:r>
                      </m:sup>
                    </m:sSup>
                  </m:oMath>
                </a14:m>
                <a:r>
                  <a:rPr/>
                  <a:t>.</a:t>
                </a:r>
              </a:p>
              <a:p>
                <a:pPr lvl="0"/>
                <a:r>
                  <a:rPr/>
                  <a:t>Meaning that when </a:t>
                </a:r>
                <a14:m>
                  <m:oMath xmlns:m="http://schemas.openxmlformats.org/officeDocument/2006/math">
                    <m:r>
                      <m:t>θ</m:t>
                    </m:r>
                    <m:r>
                      <m:rPr>
                        <m:sty m:val="p"/>
                      </m:rPr>
                      <m:t>↑</m:t>
                    </m:r>
                  </m:oMath>
                </a14:m>
                <a:r>
                  <a:rPr/>
                  <a:t>, the aggregate supply curve becomes flatter, and the output-inflation relationship becomes stronger.</a:t>
                </a:r>
              </a:p>
              <a:p>
                <a:pPr lvl="0"/>
                <a:r>
                  <a:rPr/>
                  <a:t>And when </a:t>
                </a:r>
                <a14:m>
                  <m:oMath xmlns:m="http://schemas.openxmlformats.org/officeDocument/2006/math">
                    <m:r>
                      <m:t>θ</m:t>
                    </m:r>
                    <m:r>
                      <m:rPr>
                        <m:sty m:val="p"/>
                      </m:rPr>
                      <m:t>↓</m:t>
                    </m:r>
                  </m:oMath>
                </a14:m>
                <a:r>
                  <a:rPr/>
                  <a:t>, the slope is restricted by </a:t>
                </a:r>
                <a14:m>
                  <m:oMath xmlns:m="http://schemas.openxmlformats.org/officeDocument/2006/math">
                    <m:r>
                      <m:t>γ</m:t>
                    </m:r>
                  </m:oMath>
                </a14:m>
                <a:r>
                  <a:rPr/>
                  <a:t>.</a:t>
                </a:r>
              </a:p>
              <a:p>
                <a:pPr lvl="0"/>
                <a:r>
                  <a:rPr/>
                  <a:t>Therefore, the relative price variance (</a:t>
                </a:r>
                <a14:m>
                  <m:oMath xmlns:m="http://schemas.openxmlformats.org/officeDocument/2006/math">
                    <m:r>
                      <m:t>θ</m:t>
                    </m:r>
                  </m:oMath>
                </a14:m>
                <a:r>
                  <a:rPr/>
                  <a:t>), in this context, is a key determinant of the slope of the aggregate supply curve and the strength of the output-inflation relationship.</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Empirical literaturer review</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hasCustomPrompt="1" type="ctrTitle"/>
          </p:nvPr>
        </p:nvSpPr>
        <p:spPr>
          <a:xfrm>
            <a:off x="2997987" y="1817520"/>
            <a:ext cx="3540643" cy="1381125"/>
          </a:xfrm>
        </p:spPr>
        <p:txBody>
          <a:bodyPr/>
          <a:lstStyle/>
          <a:p>
            <a:pPr lvl="0" indent="0" marL="0">
              <a:buNone/>
            </a:pPr>
            <a:r>
              <a:rPr/>
              <a:t>Data and methodology</a:t>
            </a:r>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Data</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a:r>
              <a:rPr/>
              <a:t>Our analysis uses monthly inflation data on 45 goods categories from January 2009 to November 2025 obtained from Statistics South Africa (Stats SA).</a:t>
            </a:r>
            <a:r>
              <a:rPr baseline="30000">
                <a:hlinkClick r:id="rId2" action="ppaction://hlinksldjump"/>
              </a:rPr>
              <a:t>1</a:t>
            </a:r>
            <a:br/>
          </a:p>
          <a:p>
            <a:pPr lvl="0"/>
            <a:r>
              <a:rPr/>
              <a:t>Figure 1 below shows the long term inflation rate in South Africa, and Figure 2 in the appendix shows the various price categories used in the analysis</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Data</a:t>
            </a:r>
          </a:p>
        </p:txBody>
      </p:sp>
      <p:pic>
        <p:nvPicPr>
          <p:cNvPr descr="inflation_relative_price_variance_presentation_files/figure-pptx/fig-headline_inflation-1.png" id="0" name="Picture 1"/>
          <p:cNvPicPr>
            <a:picLocks noGrp="1" noChangeAspect="1"/>
          </p:cNvPicPr>
          <p:nvPr/>
        </p:nvPicPr>
        <p:blipFill>
          <a:blip r:embed="rId2"/>
          <a:stretch>
            <a:fillRect/>
          </a:stretch>
        </p:blipFill>
        <p:spPr bwMode="auto">
          <a:xfrm>
            <a:off x="1054100" y="1828800"/>
            <a:ext cx="10731500" cy="40259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Data</a:t>
            </a:r>
          </a:p>
        </p:txBody>
      </p:sp>
      <p:pic>
        <p:nvPicPr>
          <p:cNvPr descr="inflation_relative_price_variance_presentation_files/figure-pptx/fig-price_data-1.png" id="0" name="Picture 1"/>
          <p:cNvPicPr>
            <a:picLocks noGrp="1" noChangeAspect="1"/>
          </p:cNvPicPr>
          <p:nvPr/>
        </p:nvPicPr>
        <p:blipFill>
          <a:blip r:embed="rId2"/>
          <a:stretch>
            <a:fillRect/>
          </a:stretch>
        </p:blipFill>
        <p:spPr bwMode="auto">
          <a:xfrm>
            <a:off x="2946400" y="1524000"/>
            <a:ext cx="69596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RPD is calculated in line with Lach and Tsiddon (1992) as the weighted standard deviation of individual price inflation rates from the aggregate inflation rate. The RPD is essentially the variability of relative prices of a given product. - We first calculate the monthly inflation rate as follows:</a:t>
                </a:r>
              </a:p>
              <a:p>
                <a:pPr lvl="0" indent="0" marL="0">
                  <a:buNone/>
                </a:pPr>
                <a14:m>
                  <m:oMathPara xmlns:m="http://schemas.openxmlformats.org/officeDocument/2006/math">
                    <m:oMathParaPr>
                      <m:jc m:val="center"/>
                    </m:oMathParaPr>
                    <m:oMath>
                      <m:sSub>
                        <m:e>
                          <m:r>
                            <m:t>π</m:t>
                          </m:r>
                        </m:e>
                        <m:sub>
                          <m:r>
                            <m:t>i</m:t>
                          </m:r>
                          <m:r>
                            <m:rPr>
                              <m:sty m:val="p"/>
                            </m:rPr>
                            <m:t>,</m:t>
                          </m:r>
                          <m:r>
                            <m:t>t</m:t>
                          </m:r>
                        </m:sub>
                      </m:sSub>
                      <m:r>
                        <m:rPr>
                          <m:sty m:val="p"/>
                        </m:rPr>
                        <m:t>=</m:t>
                      </m:r>
                      <m:r>
                        <m:t>l</m:t>
                      </m:r>
                      <m:r>
                        <m:t>n</m:t>
                      </m:r>
                      <m:d>
                        <m:dPr>
                          <m:begChr m:val="("/>
                          <m:endChr m:val=")"/>
                          <m:sepChr m:val=""/>
                          <m:grow/>
                        </m:dPr>
                        <m:e>
                          <m:f>
                            <m:fPr>
                              <m:type m:val="bar"/>
                            </m:fPr>
                            <m:num>
                              <m:sSub>
                                <m:e>
                                  <m:r>
                                    <m:t>P</m:t>
                                  </m:r>
                                </m:e>
                                <m:sub>
                                  <m:r>
                                    <m:t>i</m:t>
                                  </m:r>
                                  <m:r>
                                    <m:rPr>
                                      <m:sty m:val="p"/>
                                    </m:rPr>
                                    <m:t>,</m:t>
                                  </m:r>
                                  <m:r>
                                    <m:t>t</m:t>
                                  </m:r>
                                </m:sub>
                              </m:sSub>
                            </m:num>
                            <m:den>
                              <m:sSub>
                                <m:e>
                                  <m:r>
                                    <m:t>P</m:t>
                                  </m:r>
                                </m:e>
                                <m:sub>
                                  <m:r>
                                    <m:t>i</m:t>
                                  </m:r>
                                  <m:r>
                                    <m:rPr>
                                      <m:sty m:val="p"/>
                                    </m:rPr>
                                    <m:t>,</m:t>
                                  </m:r>
                                  <m:r>
                                    <m:t>t</m:t>
                                  </m:r>
                                  <m:r>
                                    <m:rPr>
                                      <m:sty m:val="p"/>
                                    </m:rPr>
                                    <m:t>−</m:t>
                                  </m:r>
                                  <m:r>
                                    <m:t>1</m:t>
                                  </m:r>
                                </m:sub>
                              </m:sSub>
                            </m:den>
                          </m:f>
                        </m:e>
                      </m:d>
                      <m:r>
                        <m:rPr>
                          <m:sty m:val="p"/>
                        </m:rPr>
                        <m:t>*</m:t>
                      </m:r>
                      <m:r>
                        <m:t>100</m:t>
                      </m:r>
                      <m:r>
                        <m:rPr>
                          <m:sty m:val="p"/>
                        </m:rPr>
                        <m:t>,</m:t>
                      </m:r>
                      <m:r>
                        <m:t>  </m:t>
                      </m:r>
                      <m:d>
                        <m:dPr>
                          <m:begChr m:val="("/>
                          <m:endChr m:val=")"/>
                          <m:sepChr m:val=""/>
                          <m:grow/>
                        </m:dPr>
                        <m:e>
                          <m:r>
                            <m:t>8</m:t>
                          </m:r>
                        </m:e>
                      </m:d>
                    </m:oMath>
                  </m:oMathPara>
                </a14:m>
              </a:p>
              <a:p>
                <a:pPr lvl="0"/>
                <a14:m>
                  <m:oMath xmlns:m="http://schemas.openxmlformats.org/officeDocument/2006/math">
                    <m:sSub>
                      <m:e>
                        <m:r>
                          <m:t>π</m:t>
                        </m:r>
                      </m:e>
                      <m:sub>
                        <m:r>
                          <m:t>i</m:t>
                        </m:r>
                        <m:r>
                          <m:rPr>
                            <m:sty m:val="p"/>
                          </m:rPr>
                          <m:t>,</m:t>
                        </m:r>
                        <m:r>
                          <m:t>t</m:t>
                        </m:r>
                      </m:sub>
                    </m:sSub>
                  </m:oMath>
                </a14:m>
                <a:r>
                  <a:rPr/>
                  <a:t> is the inflation rate of good </a:t>
                </a:r>
                <a14:m>
                  <m:oMath xmlns:m="http://schemas.openxmlformats.org/officeDocument/2006/math">
                    <m:r>
                      <m:t>i</m:t>
                    </m:r>
                  </m:oMath>
                </a14:m>
                <a:r>
                  <a:rPr/>
                  <a:t> at time </a:t>
                </a:r>
                <a14:m>
                  <m:oMath xmlns:m="http://schemas.openxmlformats.org/officeDocument/2006/math">
                    <m:r>
                      <m:t>t</m:t>
                    </m:r>
                  </m:oMath>
                </a14:m>
              </a:p>
              <a:p>
                <a:pPr lvl="0"/>
                <a14:m>
                  <m:oMath xmlns:m="http://schemas.openxmlformats.org/officeDocument/2006/math">
                    <m:sSub>
                      <m:e>
                        <m:r>
                          <m:t>P</m:t>
                        </m:r>
                      </m:e>
                      <m:sub>
                        <m:r>
                          <m:t>i</m:t>
                        </m:r>
                        <m:r>
                          <m:rPr>
                            <m:sty m:val="p"/>
                          </m:rPr>
                          <m:t>,</m:t>
                        </m:r>
                        <m:r>
                          <m:t>t</m:t>
                        </m:r>
                      </m:sub>
                    </m:sSub>
                  </m:oMath>
                </a14:m>
                <a:r>
                  <a:rPr/>
                  <a:t> is the price of good </a:t>
                </a:r>
                <a14:m>
                  <m:oMath xmlns:m="http://schemas.openxmlformats.org/officeDocument/2006/math">
                    <m:r>
                      <m:t>i</m:t>
                    </m:r>
                  </m:oMath>
                </a14:m>
                <a:r>
                  <a:rPr/>
                  <a:t> at time </a:t>
                </a:r>
                <a14:m>
                  <m:oMath xmlns:m="http://schemas.openxmlformats.org/officeDocument/2006/math">
                    <m:r>
                      <m:t>t</m:t>
                    </m:r>
                  </m:oMath>
                </a14:m>
              </a:p>
              <a:p>
                <a:pPr lvl="0"/>
                <a14:m>
                  <m:oMath xmlns:m="http://schemas.openxmlformats.org/officeDocument/2006/math">
                    <m:sSub>
                      <m:e>
                        <m:r>
                          <m:t>P</m:t>
                        </m:r>
                      </m:e>
                      <m:sub>
                        <m:r>
                          <m:t>i</m:t>
                        </m:r>
                        <m:r>
                          <m:rPr>
                            <m:sty m:val="p"/>
                          </m:rPr>
                          <m:t>,</m:t>
                        </m:r>
                        <m:r>
                          <m:t>t</m:t>
                        </m:r>
                        <m:r>
                          <m:rPr>
                            <m:sty m:val="p"/>
                          </m:rPr>
                          <m:t>−</m:t>
                        </m:r>
                        <m:r>
                          <m:t>1</m:t>
                        </m:r>
                      </m:sub>
                    </m:sSub>
                  </m:oMath>
                </a14:m>
                <a:r>
                  <a:rPr/>
                  <a:t> is the price of good </a:t>
                </a:r>
                <a14:m>
                  <m:oMath xmlns:m="http://schemas.openxmlformats.org/officeDocument/2006/math">
                    <m:r>
                      <m:t>i</m:t>
                    </m:r>
                  </m:oMath>
                </a14:m>
                <a:r>
                  <a:rPr/>
                  <a:t> at time </a:t>
                </a:r>
                <a14:m>
                  <m:oMath xmlns:m="http://schemas.openxmlformats.org/officeDocument/2006/math">
                    <m:r>
                      <m:t>t</m:t>
                    </m:r>
                    <m:r>
                      <m:rPr>
                        <m:sty m:val="p"/>
                      </m:rPr>
                      <m:t>−</m:t>
                    </m:r>
                    <m:r>
                      <m:t>1</m:t>
                    </m:r>
                  </m:oMath>
                </a14:m>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Then, the RPD is calculated as:</a:t>
                </a:r>
              </a:p>
              <a:p>
                <a:pPr lvl="0" indent="0" marL="0">
                  <a:buNone/>
                </a:pPr>
                <a14:m>
                  <m:oMathPara xmlns:m="http://schemas.openxmlformats.org/officeDocument/2006/math">
                    <m:oMathParaPr>
                      <m:jc m:val="center"/>
                    </m:oMathParaPr>
                    <m:oMath>
                      <m:r>
                        <m:t>R</m:t>
                      </m:r>
                      <m:r>
                        <m:t>P</m:t>
                      </m:r>
                      <m:sSub>
                        <m:e>
                          <m:r>
                            <m:t>D</m:t>
                          </m:r>
                        </m:e>
                        <m:sub>
                          <m:r>
                            <m:t>t</m:t>
                          </m:r>
                        </m:sub>
                      </m:sSub>
                      <m:r>
                        <m:rPr>
                          <m:sty m:val="p"/>
                        </m:rPr>
                        <m:t>=</m:t>
                      </m:r>
                      <m:rad>
                        <m:radPr>
                          <m:degHide m:val="on"/>
                        </m:radPr>
                        <m:deg/>
                        <m:e>
                          <m:nary>
                            <m:naryPr>
                              <m:chr m:val="∑"/>
                              <m:limLoc m:val="undOvr"/>
                              <m:subHide m:val="off"/>
                              <m:supHide m:val="off"/>
                            </m:naryPr>
                            <m:sub>
                              <m:r>
                                <m:t>i</m:t>
                              </m:r>
                              <m:r>
                                <m:rPr>
                                  <m:sty m:val="p"/>
                                </m:rPr>
                                <m:t>=</m:t>
                              </m:r>
                              <m:r>
                                <m:t>1</m:t>
                              </m:r>
                            </m:sub>
                            <m:sup>
                              <m:r>
                                <m:t>n</m:t>
                              </m:r>
                            </m:sup>
                            <m:e>
                              <m:sSub>
                                <m:e>
                                  <m:r>
                                    <m:t>ω</m:t>
                                  </m:r>
                                </m:e>
                                <m:sub>
                                  <m:r>
                                    <m:t>i</m:t>
                                  </m:r>
                                </m:sub>
                              </m:sSub>
                            </m:e>
                          </m:nary>
                          <m:sSup>
                            <m:e>
                              <m:d>
                                <m:dPr>
                                  <m:begChr m:val="("/>
                                  <m:endChr m:val=")"/>
                                  <m:sepChr m:val=""/>
                                  <m:grow/>
                                </m:dPr>
                                <m:e>
                                  <m:sSub>
                                    <m:e>
                                      <m:r>
                                        <m:t>π</m:t>
                                      </m:r>
                                    </m:e>
                                    <m:sub>
                                      <m:r>
                                        <m:t>i</m:t>
                                      </m:r>
                                      <m:r>
                                        <m:rPr>
                                          <m:sty m:val="p"/>
                                        </m:rPr>
                                        <m:t>,</m:t>
                                      </m:r>
                                      <m:r>
                                        <m:t>t</m:t>
                                      </m:r>
                                    </m:sub>
                                  </m:sSub>
                                  <m:r>
                                    <m:rPr>
                                      <m:sty m:val="p"/>
                                    </m:rPr>
                                    <m:t>−</m:t>
                                  </m:r>
                                  <m:sSub>
                                    <m:e>
                                      <m:r>
                                        <m:t>π</m:t>
                                      </m:r>
                                    </m:e>
                                    <m:sub>
                                      <m:r>
                                        <m:t>t</m:t>
                                      </m:r>
                                    </m:sub>
                                  </m:sSub>
                                </m:e>
                              </m:d>
                            </m:e>
                            <m:sup>
                              <m:r>
                                <m:t>2</m:t>
                              </m:r>
                            </m:sup>
                          </m:sSup>
                        </m:e>
                      </m:rad>
                      <m:r>
                        <m:rPr>
                          <m:sty m:val="p"/>
                        </m:rPr>
                        <m:t>,</m:t>
                      </m:r>
                      <m:r>
                        <m:t>  </m:t>
                      </m:r>
                      <m:d>
                        <m:dPr>
                          <m:begChr m:val="("/>
                          <m:endChr m:val=")"/>
                          <m:sepChr m:val=""/>
                          <m:grow/>
                        </m:dPr>
                        <m:e>
                          <m:r>
                            <m:t>9</m:t>
                          </m:r>
                        </m:e>
                      </m:d>
                    </m:oMath>
                  </m:oMathPara>
                </a14:m>
              </a:p>
              <a:p>
                <a:pPr lvl="0"/>
                <a14:m>
                  <m:oMath xmlns:m="http://schemas.openxmlformats.org/officeDocument/2006/math">
                    <m:sSub>
                      <m:e>
                        <m:r>
                          <m:t>ω</m:t>
                        </m:r>
                      </m:e>
                      <m:sub>
                        <m:r>
                          <m:t>j</m:t>
                        </m:r>
                      </m:sub>
                    </m:sSub>
                  </m:oMath>
                </a14:m>
                <a:r>
                  <a:rPr/>
                  <a:t> is the expenditure share of the </a:t>
                </a:r>
                <a14:m>
                  <m:oMath xmlns:m="http://schemas.openxmlformats.org/officeDocument/2006/math">
                    <m:sSup>
                      <m:e>
                        <m:r>
                          <m:t>j</m:t>
                        </m:r>
                      </m:e>
                      <m:sup>
                        <m:r>
                          <m:t>t</m:t>
                        </m:r>
                        <m:r>
                          <m:t>h</m:t>
                        </m:r>
                      </m:sup>
                    </m:sSup>
                  </m:oMath>
                </a14:m>
                <a:r>
                  <a:rPr/>
                  <a:t> good,</a:t>
                </a:r>
              </a:p>
              <a:p>
                <a:pPr lvl="0"/>
                <a14:m>
                  <m:oMath xmlns:m="http://schemas.openxmlformats.org/officeDocument/2006/math">
                    <m:sSub>
                      <m:e>
                        <m:r>
                          <m:t>π</m:t>
                        </m:r>
                      </m:e>
                      <m:sub>
                        <m:r>
                          <m:t>t</m:t>
                        </m:r>
                      </m:sub>
                    </m:sSub>
                  </m:oMath>
                </a14:m>
                <a:r>
                  <a:rPr/>
                  <a:t> is the headline or aggregate inflation rate at time </a:t>
                </a:r>
                <a14:m>
                  <m:oMath xmlns:m="http://schemas.openxmlformats.org/officeDocument/2006/math">
                    <m:r>
                      <m:t>t</m:t>
                    </m:r>
                  </m:oMath>
                </a14:m>
                <a:r>
                  <a:rPr/>
                  <a:t>,</a:t>
                </a:r>
              </a:p>
              <a:p>
                <a:pPr lvl="0"/>
                <a14:m>
                  <m:oMath xmlns:m="http://schemas.openxmlformats.org/officeDocument/2006/math">
                    <m:nary>
                      <m:naryPr>
                        <m:chr m:val="∑"/>
                        <m:limLoc m:val="undOvr"/>
                        <m:subHide m:val="off"/>
                        <m:supHide m:val="off"/>
                      </m:naryPr>
                      <m:sub>
                        <m:r>
                          <m:t>i</m:t>
                        </m:r>
                        <m:r>
                          <m:rPr>
                            <m:sty m:val="p"/>
                          </m:rPr>
                          <m:t>=</m:t>
                        </m:r>
                        <m:r>
                          <m:t>1</m:t>
                        </m:r>
                      </m:sub>
                      <m:sup>
                        <m:r>
                          <m:t>n</m:t>
                        </m:r>
                      </m:sup>
                      <m:e>
                        <m:sSub>
                          <m:e>
                            <m:r>
                              <m:t>ω</m:t>
                            </m:r>
                          </m:e>
                          <m:sub>
                            <m:r>
                              <m:t>i</m:t>
                            </m:r>
                          </m:sub>
                        </m:sSub>
                      </m:e>
                    </m:nary>
                    <m:r>
                      <m:rPr>
                        <m:sty m:val="p"/>
                      </m:rPr>
                      <m:t>=</m:t>
                    </m:r>
                    <m:r>
                      <m:t>1</m:t>
                    </m:r>
                  </m:oMath>
                </a14:m>
                <a:r>
                  <a:rPr/>
                  <a:t>.</a:t>
                </a:r>
              </a:p>
              <a:p>
                <a:pPr lvl="0"/>
                <a:r>
                  <a:rPr/>
                  <a:t>The expenditure weights (</a:t>
                </a:r>
                <a14:m>
                  <m:oMath xmlns:m="http://schemas.openxmlformats.org/officeDocument/2006/math">
                    <m:sSub>
                      <m:e>
                        <m:r>
                          <m:t>ω</m:t>
                        </m:r>
                      </m:e>
                      <m:sub>
                        <m:r>
                          <m:t>i</m:t>
                        </m:r>
                      </m:sub>
                    </m:sSub>
                  </m:oMath>
                </a14:m>
                <a:r>
                  <a:rPr/>
                  <a:t>) used are derived from the Consumer Price Index (CPI) basket provided by Stats SA</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To examine the relationship between inflation and RPD, we estimate the following econometric model:</a:t>
                </a:r>
              </a:p>
              <a:p>
                <a:pPr lvl="0" indent="0" marL="0">
                  <a:buNone/>
                </a:pPr>
                <a14:m>
                  <m:oMathPara xmlns:m="http://schemas.openxmlformats.org/officeDocument/2006/math">
                    <m:oMathParaPr>
                      <m:jc m:val="center"/>
                    </m:oMathParaPr>
                    <m:oMath>
                      <m:r>
                        <m:t>R</m:t>
                      </m:r>
                      <m:r>
                        <m:t>P</m:t>
                      </m:r>
                      <m:sSub>
                        <m:e>
                          <m:r>
                            <m:t>D</m:t>
                          </m:r>
                        </m:e>
                        <m:sub>
                          <m:r>
                            <m:t>t</m:t>
                          </m:r>
                        </m:sub>
                      </m:sSub>
                      <m:r>
                        <m:rPr>
                          <m:sty m:val="p"/>
                        </m:rPr>
                        <m:t>=</m:t>
                      </m:r>
                      <m:sSub>
                        <m:e>
                          <m:r>
                            <m:t>β</m:t>
                          </m:r>
                        </m:e>
                        <m:sub>
                          <m:r>
                            <m:t>0</m:t>
                          </m:r>
                        </m:sub>
                      </m:sSub>
                      <m:r>
                        <m:rPr>
                          <m:sty m:val="p"/>
                        </m:rPr>
                        <m:t>+</m:t>
                      </m:r>
                      <m:sSub>
                        <m:e>
                          <m:r>
                            <m:t>β</m:t>
                          </m:r>
                        </m:e>
                        <m:sub>
                          <m:r>
                            <m:t>1</m:t>
                          </m:r>
                        </m:sub>
                      </m:sSub>
                      <m:sSub>
                        <m:e>
                          <m:r>
                            <m:t>π</m:t>
                          </m:r>
                        </m:e>
                        <m:sub>
                          <m:r>
                            <m:t>t</m:t>
                          </m:r>
                        </m:sub>
                      </m:sSub>
                      <m:r>
                        <m:rPr>
                          <m:sty m:val="p"/>
                        </m:rPr>
                        <m:t>+</m:t>
                      </m:r>
                      <m:nary>
                        <m:naryPr>
                          <m:chr m:val="∑"/>
                          <m:limLoc m:val="undOvr"/>
                          <m:subHide m:val="off"/>
                          <m:supHide m:val="off"/>
                        </m:naryPr>
                        <m:sub>
                          <m:r>
                            <m:t>h</m:t>
                          </m:r>
                          <m:r>
                            <m:rPr>
                              <m:sty m:val="p"/>
                            </m:rPr>
                            <m:t>=</m:t>
                          </m:r>
                          <m:r>
                            <m:t>1</m:t>
                          </m:r>
                        </m:sub>
                        <m:sup>
                          <m:r>
                            <m:t>3</m:t>
                          </m:r>
                        </m:sup>
                        <m:e>
                          <m:sSub>
                            <m:e>
                              <m:r>
                                <m:t>ω</m:t>
                              </m:r>
                            </m:e>
                            <m:sub>
                              <m:r>
                                <m:t>h</m:t>
                              </m:r>
                            </m:sub>
                          </m:sSub>
                        </m:e>
                      </m:nary>
                      <m:r>
                        <m:t>R</m:t>
                      </m:r>
                      <m:r>
                        <m:t>P</m:t>
                      </m:r>
                      <m:sSub>
                        <m:e>
                          <m:r>
                            <m:t>D</m:t>
                          </m:r>
                        </m:e>
                        <m:sub>
                          <m:r>
                            <m:t>t</m:t>
                          </m:r>
                          <m:r>
                            <m:rPr>
                              <m:sty m:val="p"/>
                            </m:rPr>
                            <m:t>−</m:t>
                          </m:r>
                          <m:r>
                            <m:t>h</m:t>
                          </m:r>
                        </m:sub>
                      </m:sSub>
                      <m:r>
                        <m:rPr>
                          <m:sty m:val="p"/>
                        </m:rPr>
                        <m:t>+</m:t>
                      </m:r>
                      <m:sSub>
                        <m:e>
                          <m:r>
                            <m:t>μ</m:t>
                          </m:r>
                        </m:e>
                        <m:sub>
                          <m:r>
                            <m:t>t</m:t>
                          </m:r>
                        </m:sub>
                      </m:sSub>
                      <m:r>
                        <m:rPr>
                          <m:sty m:val="p"/>
                        </m:rPr>
                        <m:t>,</m:t>
                      </m:r>
                      <m:r>
                        <m:t>  </m:t>
                      </m:r>
                      <m:d>
                        <m:dPr>
                          <m:begChr m:val="("/>
                          <m:endChr m:val=")"/>
                          <m:sepChr m:val=""/>
                          <m:grow/>
                        </m:dPr>
                        <m:e>
                          <m:r>
                            <m:t>10</m:t>
                          </m:r>
                        </m:e>
                      </m:d>
                    </m:oMath>
                  </m:oMathPara>
                </a14:m>
              </a:p>
              <a:p>
                <a:pPr lvl="0"/>
                <a14:m>
                  <m:oMath xmlns:m="http://schemas.openxmlformats.org/officeDocument/2006/math">
                    <m:r>
                      <m:t>R</m:t>
                    </m:r>
                    <m:r>
                      <m:t>P</m:t>
                    </m:r>
                    <m:sSub>
                      <m:e>
                        <m:r>
                          <m:t>D</m:t>
                        </m:r>
                      </m:e>
                      <m:sub>
                        <m:r>
                          <m:t>t</m:t>
                        </m:r>
                      </m:sub>
                    </m:sSub>
                  </m:oMath>
                </a14:m>
                <a:r>
                  <a:rPr/>
                  <a:t> is the relative price variance at time </a:t>
                </a:r>
                <a14:m>
                  <m:oMath xmlns:m="http://schemas.openxmlformats.org/officeDocument/2006/math">
                    <m:r>
                      <m:t>t</m:t>
                    </m:r>
                  </m:oMath>
                </a14:m>
              </a:p>
              <a:p>
                <a:pPr lvl="0"/>
                <a14:m>
                  <m:oMath xmlns:m="http://schemas.openxmlformats.org/officeDocument/2006/math">
                    <m:sSub>
                      <m:e>
                        <m:r>
                          <m:t>π</m:t>
                        </m:r>
                      </m:e>
                      <m:sub>
                        <m:r>
                          <m:t>t</m:t>
                        </m:r>
                      </m:sub>
                    </m:sSub>
                  </m:oMath>
                </a14:m>
                <a:r>
                  <a:rPr/>
                  <a:t> is the aggregate inflation rate at time </a:t>
                </a:r>
                <a14:m>
                  <m:oMath xmlns:m="http://schemas.openxmlformats.org/officeDocument/2006/math">
                    <m:r>
                      <m:t>t</m:t>
                    </m:r>
                  </m:oMath>
                </a14:m>
              </a:p>
              <a:p>
                <a:pPr lvl="0"/>
                <a14:m>
                  <m:oMath xmlns:m="http://schemas.openxmlformats.org/officeDocument/2006/math">
                    <m:r>
                      <m:t>R</m:t>
                    </m:r>
                    <m:r>
                      <m:t>P</m:t>
                    </m:r>
                    <m:sSub>
                      <m:e>
                        <m:r>
                          <m:t>D</m:t>
                        </m:r>
                      </m:e>
                      <m:sub>
                        <m:r>
                          <m:t>t</m:t>
                        </m:r>
                        <m:r>
                          <m:rPr>
                            <m:sty m:val="p"/>
                          </m:rPr>
                          <m:t>−</m:t>
                        </m:r>
                        <m:r>
                          <m:t>h</m:t>
                        </m:r>
                      </m:sub>
                    </m:sSub>
                  </m:oMath>
                </a14:m>
                <a:r>
                  <a:rPr/>
                  <a:t> are lagged values of RPD to account for its dynamic nature, and </a:t>
                </a:r>
                <a14:m>
                  <m:oMath xmlns:m="http://schemas.openxmlformats.org/officeDocument/2006/math">
                    <m:sSub>
                      <m:e>
                        <m:r>
                          <m:t>μ</m:t>
                        </m:r>
                      </m:e>
                      <m:sub>
                        <m:r>
                          <m:t>t</m:t>
                        </m:r>
                      </m:sub>
                    </m:sSub>
                  </m:oMath>
                </a14:m>
                <a:r>
                  <a:rPr/>
                  <a:t> is the error term</a:t>
                </a:r>
              </a:p>
              <a:p>
                <a:pPr lvl="0"/>
                <a:r>
                  <a:rPr/>
                  <a:t>The coefficient </a:t>
                </a:r>
                <a14:m>
                  <m:oMath xmlns:m="http://schemas.openxmlformats.org/officeDocument/2006/math">
                    <m:sSub>
                      <m:e>
                        <m:r>
                          <m:t>β</m:t>
                        </m:r>
                      </m:e>
                      <m:sub>
                        <m:r>
                          <m:t>1</m:t>
                        </m:r>
                      </m:sub>
                    </m:sSub>
                  </m:oMath>
                </a14:m>
                <a:r>
                  <a:rPr/>
                  <a:t> captures the effect of inflation on RPD. We include three lags of RPD based on Akaike Information Criterion (AIC) (and other tests) and to capture potential persistence in RPD.</a:t>
                </a:r>
              </a:p>
              <a:p>
                <a:pPr lvl="0"/>
                <a:r>
                  <a:rPr/>
                  <a:t>For robustness, we repeat this estimation using core inflation (excluding food and non-alcoholic beverages, and fuel and electricity) instead of headline inflation to account for the potential volatility in these components.</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The literature on RPD emphasises that the relationship between inflation and RPD maybe time-varying due to structural changes in the economy, monetary policy regimes, and other factors. To capture potential time variation in the relationship, we also estimate a rolling regression model with a 24-month and 60-month windows as follows:</a:t>
                </a:r>
              </a:p>
              <a:p>
                <a:pPr lvl="0" indent="0" marL="0">
                  <a:buNone/>
                </a:pPr>
                <a14:m>
                  <m:oMathPara xmlns:m="http://schemas.openxmlformats.org/officeDocument/2006/math">
                    <m:oMathParaPr>
                      <m:jc m:val="center"/>
                    </m:oMathParaPr>
                    <m:oMath>
                      <m:r>
                        <m:t>R</m:t>
                      </m:r>
                      <m:r>
                        <m:t>P</m:t>
                      </m:r>
                      <m:sSub>
                        <m:e>
                          <m:r>
                            <m:t>D</m:t>
                          </m:r>
                        </m:e>
                        <m:sub>
                          <m:r>
                            <m:t>t</m:t>
                          </m:r>
                        </m:sub>
                      </m:sSub>
                      <m:r>
                        <m:rPr>
                          <m:sty m:val="p"/>
                        </m:rPr>
                        <m:t>=</m:t>
                      </m:r>
                      <m:sSub>
                        <m:e>
                          <m:r>
                            <m:t>α</m:t>
                          </m:r>
                        </m:e>
                        <m:sub>
                          <m:r>
                            <m:t>t</m:t>
                          </m:r>
                        </m:sub>
                      </m:sSub>
                      <m:r>
                        <m:rPr>
                          <m:sty m:val="p"/>
                        </m:rPr>
                        <m:t>+</m:t>
                      </m:r>
                      <m:sSub>
                        <m:e>
                          <m:r>
                            <m:t>β</m:t>
                          </m:r>
                        </m:e>
                        <m:sub>
                          <m:r>
                            <m:t>1</m:t>
                          </m:r>
                          <m:r>
                            <m:rPr>
                              <m:sty m:val="p"/>
                            </m:rPr>
                            <m:t>,</m:t>
                          </m:r>
                          <m:r>
                            <m:t>t</m:t>
                          </m:r>
                        </m:sub>
                      </m:sSub>
                      <m:sSub>
                        <m:e>
                          <m:r>
                            <m:t>π</m:t>
                          </m:r>
                        </m:e>
                        <m:sub>
                          <m:r>
                            <m:t>t</m:t>
                          </m:r>
                        </m:sub>
                      </m:sSub>
                      <m:r>
                        <m:rPr>
                          <m:sty m:val="p"/>
                        </m:rPr>
                        <m:t>+</m:t>
                      </m:r>
                      <m:nary>
                        <m:naryPr>
                          <m:chr m:val="∑"/>
                          <m:limLoc m:val="undOvr"/>
                          <m:subHide m:val="off"/>
                          <m:supHide m:val="off"/>
                        </m:naryPr>
                        <m:sub>
                          <m:r>
                            <m:t>h</m:t>
                          </m:r>
                          <m:r>
                            <m:rPr>
                              <m:sty m:val="p"/>
                            </m:rPr>
                            <m:t>=</m:t>
                          </m:r>
                          <m:r>
                            <m:t>1</m:t>
                          </m:r>
                        </m:sub>
                        <m:sup>
                          <m:r>
                            <m:t>3</m:t>
                          </m:r>
                        </m:sup>
                        <m:e>
                          <m:sSub>
                            <m:e>
                              <m:r>
                                <m:t>ω</m:t>
                              </m:r>
                            </m:e>
                            <m:sub>
                              <m:r>
                                <m:t>h</m:t>
                              </m:r>
                              <m:r>
                                <m:rPr>
                                  <m:sty m:val="p"/>
                                </m:rPr>
                                <m:t>,</m:t>
                              </m:r>
                              <m:r>
                                <m:t>t</m:t>
                              </m:r>
                            </m:sub>
                          </m:sSub>
                        </m:e>
                      </m:nary>
                      <m:r>
                        <m:t>R</m:t>
                      </m:r>
                      <m:r>
                        <m:t>P</m:t>
                      </m:r>
                      <m:sSub>
                        <m:e>
                          <m:r>
                            <m:t>D</m:t>
                          </m:r>
                        </m:e>
                        <m:sub>
                          <m:r>
                            <m:t>t</m:t>
                          </m:r>
                          <m:r>
                            <m:rPr>
                              <m:sty m:val="p"/>
                            </m:rPr>
                            <m:t>−</m:t>
                          </m:r>
                          <m:r>
                            <m:t>h</m:t>
                          </m:r>
                        </m:sub>
                      </m:sSub>
                      <m:r>
                        <m:rPr>
                          <m:sty m:val="p"/>
                        </m:rPr>
                        <m:t>+</m:t>
                      </m:r>
                      <m:sSub>
                        <m:e>
                          <m:r>
                            <m:t>μ</m:t>
                          </m:r>
                        </m:e>
                        <m:sub>
                          <m:r>
                            <m:t>t</m:t>
                          </m:r>
                        </m:sub>
                      </m:sSub>
                      <m:r>
                        <m:rPr>
                          <m:sty m:val="p"/>
                        </m:rPr>
                        <m:t>,</m:t>
                      </m:r>
                      <m:r>
                        <m:t>  </m:t>
                      </m:r>
                      <m:d>
                        <m:dPr>
                          <m:begChr m:val="("/>
                          <m:endChr m:val=")"/>
                          <m:sepChr m:val=""/>
                          <m:grow/>
                        </m:dPr>
                        <m:e>
                          <m:r>
                            <m:t>11</m:t>
                          </m:r>
                        </m:e>
                      </m:d>
                    </m:oMath>
                  </m:oMathPara>
                </a14:m>
              </a:p>
              <a:p>
                <a:pPr lvl="0"/>
                <a:r>
                  <a:rPr/>
                  <a:t>The coefficients </a:t>
                </a:r>
                <a14:m>
                  <m:oMath xmlns:m="http://schemas.openxmlformats.org/officeDocument/2006/math">
                    <m:sSub>
                      <m:e>
                        <m:r>
                          <m:t>α</m:t>
                        </m:r>
                      </m:e>
                      <m:sub>
                        <m:r>
                          <m:t>t</m:t>
                        </m:r>
                      </m:sub>
                    </m:sSub>
                  </m:oMath>
                </a14:m>
                <a:r>
                  <a:rPr/>
                  <a:t>, </a:t>
                </a:r>
                <a14:m>
                  <m:oMath xmlns:m="http://schemas.openxmlformats.org/officeDocument/2006/math">
                    <m:sSub>
                      <m:e>
                        <m:r>
                          <m:t>β</m:t>
                        </m:r>
                      </m:e>
                      <m:sub>
                        <m:r>
                          <m:t>1</m:t>
                        </m:r>
                        <m:r>
                          <m:rPr>
                            <m:sty m:val="p"/>
                          </m:rPr>
                          <m:t>,</m:t>
                        </m:r>
                        <m:r>
                          <m:t>t</m:t>
                        </m:r>
                      </m:sub>
                    </m:sSub>
                  </m:oMath>
                </a14:m>
                <a:r>
                  <a:rPr/>
                  <a:t>, and </a:t>
                </a:r>
                <a14:m>
                  <m:oMath xmlns:m="http://schemas.openxmlformats.org/officeDocument/2006/math">
                    <m:sSub>
                      <m:e>
                        <m:r>
                          <m:t>ω</m:t>
                        </m:r>
                      </m:e>
                      <m:sub>
                        <m:r>
                          <m:t>h</m:t>
                        </m:r>
                        <m:r>
                          <m:rPr>
                            <m:sty m:val="p"/>
                          </m:rPr>
                          <m:t>,</m:t>
                        </m:r>
                        <m:r>
                          <m:t>t</m:t>
                        </m:r>
                      </m:sub>
                    </m:sSub>
                  </m:oMath>
                </a14:m>
                <a:r>
                  <a:rPr/>
                  <a:t> vary over time.</a:t>
                </a:r>
              </a:p>
              <a:p>
                <a:pPr lvl="0"/>
                <a:r>
                  <a:rPr/>
                  <a:t>This approach allows us to observe the stability of the coefficients over time, which is an indicator of non-linearity in the relationship between RPD and inflation.</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Next, we utilise a semi-parametric or partially linear approach to estimate the optimal level of inflation given the RPD. This approach allows us to model the relationship between inflation and RPD without imposing a strict functional form. Following the literature, we first specify a quadratic (U-shaped) relationship between inflation and RPD as follows:</a:t>
                </a:r>
              </a:p>
              <a:p>
                <a:pPr lvl="0" indent="0" marL="0">
                  <a:buNone/>
                </a:pPr>
                <a14:m>
                  <m:oMathPara xmlns:m="http://schemas.openxmlformats.org/officeDocument/2006/math">
                    <m:oMathParaPr>
                      <m:jc m:val="center"/>
                    </m:oMathParaPr>
                    <m:oMath>
                      <m:r>
                        <m:t>R</m:t>
                      </m:r>
                      <m:r>
                        <m:t>P</m:t>
                      </m:r>
                      <m:sSub>
                        <m:e>
                          <m:r>
                            <m:t>D</m:t>
                          </m:r>
                        </m:e>
                        <m:sub>
                          <m:r>
                            <m:t>t</m:t>
                          </m:r>
                        </m:sub>
                      </m:sSub>
                      <m:r>
                        <m:rPr>
                          <m:sty m:val="p"/>
                        </m:rPr>
                        <m:t>=</m:t>
                      </m:r>
                      <m:r>
                        <m:t>α</m:t>
                      </m:r>
                      <m:r>
                        <m:rPr>
                          <m:sty m:val="p"/>
                        </m:rPr>
                        <m:t>+</m:t>
                      </m:r>
                      <m:sSub>
                        <m:e>
                          <m:r>
                            <m:t>π</m:t>
                          </m:r>
                        </m:e>
                        <m:sub>
                          <m:r>
                            <m:t>t</m:t>
                          </m:r>
                        </m:sub>
                      </m:sSub>
                      <m:r>
                        <m:rPr>
                          <m:sty m:val="p"/>
                        </m:rPr>
                        <m:t>+</m:t>
                      </m:r>
                      <m:sSub>
                        <m:e>
                          <m:r>
                            <m:t>β</m:t>
                          </m:r>
                        </m:e>
                        <m:sub>
                          <m:r>
                            <m:t>2</m:t>
                          </m:r>
                        </m:sub>
                      </m:sSub>
                      <m:sSubSup>
                        <m:e>
                          <m:r>
                            <m:t>π</m:t>
                          </m:r>
                        </m:e>
                        <m:sub>
                          <m:r>
                            <m:t>t</m:t>
                          </m:r>
                        </m:sub>
                        <m:sup>
                          <m:r>
                            <m:t>2</m:t>
                          </m:r>
                        </m:sup>
                      </m:sSubSup>
                      <m:r>
                        <m:rPr>
                          <m:sty m:val="p"/>
                        </m:rPr>
                        <m:t>+</m:t>
                      </m:r>
                      <m:nary>
                        <m:naryPr>
                          <m:chr m:val="∑"/>
                          <m:limLoc m:val="undOvr"/>
                          <m:subHide m:val="off"/>
                          <m:supHide m:val="off"/>
                        </m:naryPr>
                        <m:sub>
                          <m:r>
                            <m:t>h</m:t>
                          </m:r>
                          <m:r>
                            <m:rPr>
                              <m:sty m:val="p"/>
                            </m:rPr>
                            <m:t>=</m:t>
                          </m:r>
                          <m:r>
                            <m:t>1</m:t>
                          </m:r>
                        </m:sub>
                        <m:sup>
                          <m:r>
                            <m:t>3</m:t>
                          </m:r>
                        </m:sup>
                        <m:e>
                          <m:sSub>
                            <m:e>
                              <m:r>
                                <m:t>ϕ</m:t>
                              </m:r>
                            </m:e>
                            <m:sub>
                              <m:r>
                                <m:t>h</m:t>
                              </m:r>
                            </m:sub>
                          </m:sSub>
                        </m:e>
                      </m:nary>
                      <m:r>
                        <m:t>R</m:t>
                      </m:r>
                      <m:r>
                        <m:t>P</m:t>
                      </m:r>
                      <m:sSub>
                        <m:e>
                          <m:r>
                            <m:t>D</m:t>
                          </m:r>
                        </m:e>
                        <m:sub>
                          <m:r>
                            <m:t>t</m:t>
                          </m:r>
                          <m:r>
                            <m:rPr>
                              <m:sty m:val="p"/>
                            </m:rPr>
                            <m:t>−</m:t>
                          </m:r>
                          <m:r>
                            <m:t>h</m:t>
                          </m:r>
                        </m:sub>
                      </m:sSub>
                      <m:r>
                        <m:rPr>
                          <m:sty m:val="p"/>
                        </m:rPr>
                        <m:t>+</m:t>
                      </m:r>
                      <m:sSub>
                        <m:e>
                          <m:r>
                            <m:t>ϵ</m:t>
                          </m:r>
                        </m:e>
                        <m:sub>
                          <m:r>
                            <m:t>t</m:t>
                          </m:r>
                        </m:sub>
                      </m:sSub>
                      <m:r>
                        <m:rPr>
                          <m:sty m:val="p"/>
                        </m:rPr>
                        <m:t>,</m:t>
                      </m:r>
                      <m:r>
                        <m:t>  </m:t>
                      </m:r>
                      <m:d>
                        <m:dPr>
                          <m:begChr m:val="("/>
                          <m:endChr m:val=")"/>
                          <m:sepChr m:val=""/>
                          <m:grow/>
                        </m:dPr>
                        <m:e>
                          <m:r>
                            <m:t>12</m:t>
                          </m:r>
                        </m:e>
                      </m:d>
                    </m:oMath>
                  </m:oMathPara>
                </a14:m>
              </a:p>
              <a:p>
                <a:pPr lvl="0"/>
                <a14:m>
                  <m:oMath xmlns:m="http://schemas.openxmlformats.org/officeDocument/2006/math">
                    <m:sSub>
                      <m:e>
                        <m:r>
                          <m:t>β</m:t>
                        </m:r>
                      </m:e>
                      <m:sub>
                        <m:r>
                          <m:t>2</m:t>
                        </m:r>
                      </m:sub>
                    </m:sSub>
                  </m:oMath>
                </a14:m>
                <a:r>
                  <a:rPr/>
                  <a:t> captures the curvature of the relationship between inflation and RPD</a:t>
                </a:r>
              </a:p>
              <a:p>
                <a:pPr lvl="0"/>
                <a:r>
                  <a:rPr/>
                  <a:t>The optimal inflation rate that minimizes RPD can be derived by taking the first derivative of the equation with respect to </a:t>
                </a:r>
                <a14:m>
                  <m:oMath xmlns:m="http://schemas.openxmlformats.org/officeDocument/2006/math">
                    <m:sSub>
                      <m:e>
                        <m:r>
                          <m:t>π</m:t>
                        </m:r>
                      </m:e>
                      <m:sub>
                        <m:r>
                          <m:t>t</m:t>
                        </m:r>
                      </m:sub>
                    </m:sSub>
                  </m:oMath>
                </a14:m>
                <a:r>
                  <a:rPr/>
                  <a:t> and setting it to zero, yielding:</a:t>
                </a:r>
              </a:p>
              <a:p>
                <a:pPr lvl="0" indent="0" marL="0">
                  <a:buNone/>
                </a:pPr>
                <a14:m>
                  <m:oMathPara xmlns:m="http://schemas.openxmlformats.org/officeDocument/2006/math">
                    <m:oMathParaPr>
                      <m:jc m:val="center"/>
                    </m:oMathParaPr>
                    <m:oMath>
                      <m:sSubSup>
                        <m:e>
                          <m:r>
                            <m:t>π</m:t>
                          </m:r>
                        </m:e>
                        <m:sub>
                          <m:r>
                            <m:t>t</m:t>
                          </m:r>
                        </m:sub>
                        <m:sup>
                          <m:r>
                            <m:rPr>
                              <m:sty m:val="p"/>
                            </m:rPr>
                            <m:t>*</m:t>
                          </m:r>
                        </m:sup>
                      </m:sSubSup>
                      <m:r>
                        <m:rPr>
                          <m:sty m:val="p"/>
                        </m:rPr>
                        <m:t>=</m:t>
                      </m:r>
                      <m:r>
                        <m:rPr>
                          <m:sty m:val="p"/>
                        </m:rPr>
                        <m:t>−</m:t>
                      </m:r>
                      <m:f>
                        <m:fPr>
                          <m:type m:val="bar"/>
                        </m:fPr>
                        <m:num>
                          <m:r>
                            <m:t>1</m:t>
                          </m:r>
                        </m:num>
                        <m:den>
                          <m:r>
                            <m:t>2</m:t>
                          </m:r>
                          <m:sSub>
                            <m:e>
                              <m:r>
                                <m:t>β</m:t>
                              </m:r>
                            </m:e>
                            <m:sub>
                              <m:r>
                                <m:t>2</m:t>
                              </m:r>
                            </m:sub>
                          </m:sSub>
                        </m:den>
                      </m:f>
                      <m:r>
                        <m:rPr>
                          <m:sty m:val="p"/>
                        </m:rPr>
                        <m:t>.</m:t>
                      </m:r>
                      <m:r>
                        <m:t>  </m:t>
                      </m:r>
                      <m:d>
                        <m:dPr>
                          <m:begChr m:val="("/>
                          <m:endChr m:val=")"/>
                          <m:sepChr m:val=""/>
                          <m:grow/>
                        </m:dPr>
                        <m:e>
                          <m:r>
                            <m:t>13</m:t>
                          </m:r>
                        </m:e>
                      </m:d>
                    </m:oMath>
                  </m:oMathPara>
                </a14:m>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To estimate this optimal inflation we implement a semi-parametric approach as follows:</a:t>
                </a:r>
              </a:p>
              <a:p>
                <a:pPr lvl="0" indent="0" marL="0">
                  <a:buNone/>
                </a:pPr>
                <a14:m>
                  <m:oMathPara xmlns:m="http://schemas.openxmlformats.org/officeDocument/2006/math">
                    <m:oMathParaPr>
                      <m:jc m:val="center"/>
                    </m:oMathParaPr>
                    <m:oMath>
                      <m:r>
                        <m:t>R</m:t>
                      </m:r>
                      <m:r>
                        <m:t>P</m:t>
                      </m:r>
                      <m:sSub>
                        <m:e>
                          <m:r>
                            <m:t>D</m:t>
                          </m:r>
                        </m:e>
                        <m:sub>
                          <m:r>
                            <m:t>t</m:t>
                          </m:r>
                        </m:sub>
                      </m:sSub>
                      <m:r>
                        <m:rPr>
                          <m:sty m:val="p"/>
                        </m:rPr>
                        <m:t>=</m:t>
                      </m:r>
                      <m:r>
                        <m:t>f</m:t>
                      </m:r>
                      <m:d>
                        <m:dPr>
                          <m:begChr m:val="("/>
                          <m:endChr m:val=")"/>
                          <m:sepChr m:val=""/>
                          <m:grow/>
                        </m:dPr>
                        <m:e>
                          <m:sSub>
                            <m:e>
                              <m:r>
                                <m:t>π</m:t>
                              </m:r>
                            </m:e>
                            <m:sub>
                              <m:r>
                                <m:t>t</m:t>
                              </m:r>
                            </m:sub>
                          </m:sSub>
                        </m:e>
                      </m:d>
                      <m:r>
                        <m:rPr>
                          <m:sty m:val="p"/>
                        </m:rPr>
                        <m:t>+</m:t>
                      </m:r>
                      <m:nary>
                        <m:naryPr>
                          <m:chr m:val="∑"/>
                          <m:limLoc m:val="undOvr"/>
                          <m:subHide m:val="off"/>
                          <m:supHide m:val="off"/>
                        </m:naryPr>
                        <m:sub>
                          <m:r>
                            <m:t>h</m:t>
                          </m:r>
                          <m:r>
                            <m:rPr>
                              <m:sty m:val="p"/>
                            </m:rPr>
                            <m:t>=</m:t>
                          </m:r>
                          <m:r>
                            <m:t>1</m:t>
                          </m:r>
                        </m:sub>
                        <m:sup>
                          <m:r>
                            <m:t>3</m:t>
                          </m:r>
                        </m:sup>
                        <m:e>
                          <m:sSub>
                            <m:e>
                              <m:r>
                                <m:t>ϕ</m:t>
                              </m:r>
                            </m:e>
                            <m:sub>
                              <m:r>
                                <m:t>h</m:t>
                              </m:r>
                            </m:sub>
                          </m:sSub>
                        </m:e>
                      </m:nary>
                      <m:r>
                        <m:t>R</m:t>
                      </m:r>
                      <m:r>
                        <m:t>P</m:t>
                      </m:r>
                      <m:sSub>
                        <m:e>
                          <m:r>
                            <m:t>D</m:t>
                          </m:r>
                        </m:e>
                        <m:sub>
                          <m:r>
                            <m:t>t</m:t>
                          </m:r>
                          <m:r>
                            <m:rPr>
                              <m:sty m:val="p"/>
                            </m:rPr>
                            <m:t>−</m:t>
                          </m:r>
                          <m:r>
                            <m:t>h</m:t>
                          </m:r>
                        </m:sub>
                      </m:sSub>
                      <m:r>
                        <m:rPr>
                          <m:sty m:val="p"/>
                        </m:rPr>
                        <m:t>+</m:t>
                      </m:r>
                      <m:sSub>
                        <m:e>
                          <m:r>
                            <m:t>ϵ</m:t>
                          </m:r>
                        </m:e>
                        <m:sub>
                          <m:r>
                            <m:t>t</m:t>
                          </m:r>
                        </m:sub>
                      </m:sSub>
                      <m:r>
                        <m:rPr>
                          <m:sty m:val="p"/>
                        </m:rPr>
                        <m:t>,</m:t>
                      </m:r>
                      <m:r>
                        <m:t>  </m:t>
                      </m:r>
                      <m:d>
                        <m:dPr>
                          <m:begChr m:val="("/>
                          <m:endChr m:val=")"/>
                          <m:sepChr m:val=""/>
                          <m:grow/>
                        </m:dPr>
                        <m:e>
                          <m:r>
                            <m:t>14</m:t>
                          </m:r>
                        </m:e>
                      </m:d>
                    </m:oMath>
                  </m:oMathPara>
                </a14:m>
              </a:p>
              <a:p>
                <a:pPr lvl="0"/>
                <a14:m>
                  <m:oMath xmlns:m="http://schemas.openxmlformats.org/officeDocument/2006/math">
                    <m:r>
                      <m:t>f</m:t>
                    </m:r>
                    <m:d>
                      <m:dPr>
                        <m:begChr m:val="("/>
                        <m:endChr m:val=")"/>
                        <m:sepChr m:val=""/>
                        <m:grow/>
                      </m:dPr>
                      <m:e>
                        <m:sSub>
                          <m:e>
                            <m:r>
                              <m:t>π</m:t>
                            </m:r>
                          </m:e>
                          <m:sub>
                            <m:r>
                              <m:t>t</m:t>
                            </m:r>
                          </m:sub>
                        </m:sSub>
                      </m:e>
                    </m:d>
                  </m:oMath>
                </a14:m>
                <a:r>
                  <a:rPr/>
                  <a:t> is a non-linear smooth differentiable function of inflation and the RPD.</a:t>
                </a:r>
              </a:p>
              <a:p>
                <a:pPr lvl="0"/>
                <a:r>
                  <a:rPr/>
                  <a:t>Therefore, the optimal inflation rate can be obtained by finding the minimum of the estimated </a:t>
                </a:r>
                <a14:m>
                  <m:oMath xmlns:m="http://schemas.openxmlformats.org/officeDocument/2006/math">
                    <m:r>
                      <m:t>f</m:t>
                    </m:r>
                    <m:d>
                      <m:dPr>
                        <m:begChr m:val="("/>
                        <m:endChr m:val=")"/>
                        <m:sepChr m:val=""/>
                        <m:grow/>
                      </m:dPr>
                      <m:e>
                        <m:sSub>
                          <m:e>
                            <m:r>
                              <m:t>π</m:t>
                            </m:r>
                          </m:e>
                          <m:sub>
                            <m:r>
                              <m:t>t</m:t>
                            </m:r>
                          </m:sub>
                        </m:sSub>
                      </m:e>
                    </m:d>
                  </m:oMath>
                </a14:m>
                <a:r>
                  <a:rPr/>
                  <a:t> function. </a:t>
                </a:r>
                <a14:m>
                  <m:oMath xmlns:m="http://schemas.openxmlformats.org/officeDocument/2006/math">
                    <m:r>
                      <m:t>f</m:t>
                    </m:r>
                    <m:d>
                      <m:dPr>
                        <m:begChr m:val="("/>
                        <m:endChr m:val=")"/>
                        <m:sepChr m:val=""/>
                        <m:grow/>
                      </m:dPr>
                      <m:e>
                        <m:sSub>
                          <m:e>
                            <m:r>
                              <m:t>π</m:t>
                            </m:r>
                          </m:e>
                          <m:sub>
                            <m:r>
                              <m:t>t</m:t>
                            </m:r>
                          </m:sub>
                        </m:sSub>
                      </m:e>
                    </m:d>
                  </m:oMath>
                </a14:m>
                <a:r>
                  <a:rPr/>
                  <a:t> is estimated in two stages.</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First we estimate </a:t>
                </a:r>
                <a14:m>
                  <m:oMath xmlns:m="http://schemas.openxmlformats.org/officeDocument/2006/math">
                    <m:sSub>
                      <m:e>
                        <m:r>
                          <m:t>λ</m:t>
                        </m:r>
                      </m:e>
                      <m:sub>
                        <m:r>
                          <m:t>h</m:t>
                        </m:r>
                      </m:sub>
                    </m:sSub>
                  </m:oMath>
                </a14:m>
                <a:r>
                  <a:rPr/>
                  <a:t> as follows:</a:t>
                </a:r>
              </a:p>
              <a:p>
                <a:pPr lvl="0" indent="0" marL="0">
                  <a:buNone/>
                </a:pPr>
                <a14:m>
                  <m:oMathPara xmlns:m="http://schemas.openxmlformats.org/officeDocument/2006/math">
                    <m:oMathParaPr>
                      <m:jc m:val="center"/>
                    </m:oMathParaPr>
                    <m:oMath>
                      <m:r>
                        <m:t>R</m:t>
                      </m:r>
                      <m:r>
                        <m:t>P</m:t>
                      </m:r>
                      <m:sSub>
                        <m:e>
                          <m:r>
                            <m:t>D</m:t>
                          </m:r>
                        </m:e>
                        <m:sub>
                          <m:r>
                            <m:t>t</m:t>
                          </m:r>
                        </m:sub>
                      </m:sSub>
                      <m:r>
                        <m:rPr>
                          <m:sty m:val="p"/>
                        </m:rPr>
                        <m:t>=</m:t>
                      </m:r>
                      <m:nary>
                        <m:naryPr>
                          <m:chr m:val="∑"/>
                          <m:limLoc m:val="undOvr"/>
                          <m:subHide m:val="off"/>
                          <m:supHide m:val="off"/>
                        </m:naryPr>
                        <m:sub>
                          <m:r>
                            <m:t>h</m:t>
                          </m:r>
                          <m:r>
                            <m:rPr>
                              <m:sty m:val="p"/>
                            </m:rPr>
                            <m:t>=</m:t>
                          </m:r>
                          <m:r>
                            <m:t>1</m:t>
                          </m:r>
                        </m:sub>
                        <m:sup>
                          <m:r>
                            <m:t>3</m:t>
                          </m:r>
                        </m:sup>
                        <m:e>
                          <m:sSub>
                            <m:e>
                              <m:r>
                                <m:t>λ</m:t>
                              </m:r>
                            </m:e>
                            <m:sub>
                              <m:r>
                                <m:t>h</m:t>
                              </m:r>
                            </m:sub>
                          </m:sSub>
                        </m:e>
                      </m:nary>
                      <m:sSub>
                        <m:e>
                          <m:bar>
                            <m:barPr>
                              <m:pos m:val="top"/>
                            </m:barPr>
                            <m:e>
                              <m:r>
                                <m:t>R</m:t>
                              </m:r>
                              <m:r>
                                <m:t>P</m:t>
                              </m:r>
                              <m:r>
                                <m:t>D</m:t>
                              </m:r>
                            </m:e>
                          </m:bar>
                        </m:e>
                        <m:sub>
                          <m:r>
                            <m:t>t</m:t>
                          </m:r>
                          <m:r>
                            <m:rPr>
                              <m:sty m:val="p"/>
                            </m:rPr>
                            <m:t>−</m:t>
                          </m:r>
                          <m:r>
                            <m:t>h</m:t>
                          </m:r>
                        </m:sub>
                      </m:sSub>
                      <m:r>
                        <m:rPr>
                          <m:sty m:val="p"/>
                        </m:rPr>
                        <m:t>+</m:t>
                      </m:r>
                      <m:sSub>
                        <m:e>
                          <m:r>
                            <m:t>η</m:t>
                          </m:r>
                        </m:e>
                        <m:sub>
                          <m:r>
                            <m:t>t</m:t>
                          </m:r>
                        </m:sub>
                      </m:sSub>
                      <m:r>
                        <m:rPr>
                          <m:sty m:val="p"/>
                        </m:rPr>
                        <m:t>,</m:t>
                      </m:r>
                      <m:r>
                        <m:t>  </m:t>
                      </m:r>
                      <m:d>
                        <m:dPr>
                          <m:begChr m:val="("/>
                          <m:endChr m:val=")"/>
                          <m:sepChr m:val=""/>
                          <m:grow/>
                        </m:dPr>
                        <m:e>
                          <m:r>
                            <m:t>15</m:t>
                          </m:r>
                        </m:e>
                      </m:d>
                    </m:oMath>
                  </m:oMathPara>
                </a14:m>
              </a:p>
              <a:p>
                <a:pPr lvl="0"/>
                <a14:m>
                  <m:oMath xmlns:m="http://schemas.openxmlformats.org/officeDocument/2006/math">
                    <m:sSub>
                      <m:e>
                        <m:bar>
                          <m:barPr>
                            <m:pos m:val="top"/>
                          </m:barPr>
                          <m:e>
                            <m:r>
                              <m:t>R</m:t>
                            </m:r>
                            <m:r>
                              <m:t>P</m:t>
                            </m:r>
                            <m:r>
                              <m:t>D</m:t>
                            </m:r>
                          </m:e>
                        </m:bar>
                      </m:e>
                      <m:sub>
                        <m:r>
                          <m:t>t</m:t>
                        </m:r>
                        <m:r>
                          <m:rPr>
                            <m:sty m:val="p"/>
                          </m:rPr>
                          <m:t>−</m:t>
                        </m:r>
                        <m:r>
                          <m:t>h</m:t>
                        </m:r>
                      </m:sub>
                    </m:sSub>
                  </m:oMath>
                </a14:m>
                <a:r>
                  <a:rPr/>
                  <a:t> are the residuals from a non-parametric regression of each lag of </a:t>
                </a:r>
                <a14:m>
                  <m:oMath xmlns:m="http://schemas.openxmlformats.org/officeDocument/2006/math">
                    <m:r>
                      <m:t>R</m:t>
                    </m:r>
                    <m:r>
                      <m:t>P</m:t>
                    </m:r>
                    <m:sSub>
                      <m:e>
                        <m:r>
                          <m:t>D</m:t>
                        </m:r>
                      </m:e>
                      <m:sub>
                        <m:r>
                          <m:t>t</m:t>
                        </m:r>
                      </m:sub>
                    </m:sSub>
                  </m:oMath>
                </a14:m>
                <a:r>
                  <a:rPr/>
                  <a:t> on </a:t>
                </a:r>
                <a14:m>
                  <m:oMath xmlns:m="http://schemas.openxmlformats.org/officeDocument/2006/math">
                    <m:sSub>
                      <m:e>
                        <m:r>
                          <m:t>π</m:t>
                        </m:r>
                      </m:e>
                      <m:sub>
                        <m:r>
                          <m:t>t</m:t>
                        </m:r>
                      </m:sub>
                    </m:sSub>
                  </m:oMath>
                </a14:m>
              </a:p>
              <a:p>
                <a:pPr lvl="0" indent="0" marL="0">
                  <a:buNone/>
                </a:pPr>
                <a:r>
                  <a:rPr/>
                  <a:t>In the second stage, we estimate </a:t>
                </a:r>
                <a14:m>
                  <m:oMath xmlns:m="http://schemas.openxmlformats.org/officeDocument/2006/math">
                    <m:r>
                      <m:t>f</m:t>
                    </m:r>
                    <m:d>
                      <m:dPr>
                        <m:begChr m:val="("/>
                        <m:endChr m:val=")"/>
                        <m:sepChr m:val=""/>
                        <m:grow/>
                      </m:dPr>
                      <m:e>
                        <m:sSub>
                          <m:e>
                            <m:r>
                              <m:t>π</m:t>
                            </m:r>
                          </m:e>
                          <m:sub>
                            <m:r>
                              <m:t>t</m:t>
                            </m:r>
                          </m:sub>
                        </m:sSub>
                      </m:e>
                    </m:d>
                  </m:oMath>
                </a14:m>
                <a:r>
                  <a:rPr/>
                  <a:t> non-parametrically as follows:</a:t>
                </a:r>
              </a:p>
              <a:p>
                <a:pPr lvl="0" indent="0" marL="0">
                  <a:buNone/>
                </a:pPr>
                <a14:m>
                  <m:oMathPara xmlns:m="http://schemas.openxmlformats.org/officeDocument/2006/math">
                    <m:oMathParaPr>
                      <m:jc m:val="center"/>
                    </m:oMathParaPr>
                    <m:oMath>
                      <m:sSub>
                        <m:e>
                          <m:acc>
                            <m:accPr>
                              <m:chr m:val="̂"/>
                            </m:accPr>
                            <m:e>
                              <m:r>
                                <m:t>η</m:t>
                              </m:r>
                            </m:e>
                          </m:acc>
                        </m:e>
                        <m:sub>
                          <m:r>
                            <m:t>t</m:t>
                          </m:r>
                        </m:sub>
                      </m:sSub>
                      <m:r>
                        <m:rPr>
                          <m:sty m:val="p"/>
                        </m:rPr>
                        <m:t>=</m:t>
                      </m:r>
                      <m:r>
                        <m:t>f</m:t>
                      </m:r>
                      <m:d>
                        <m:dPr>
                          <m:begChr m:val="("/>
                          <m:endChr m:val=")"/>
                          <m:sepChr m:val=""/>
                          <m:grow/>
                        </m:dPr>
                        <m:e>
                          <m:sSub>
                            <m:e>
                              <m:r>
                                <m:t>π</m:t>
                              </m:r>
                            </m:e>
                            <m:sub>
                              <m:r>
                                <m:t>t</m:t>
                              </m:r>
                            </m:sub>
                          </m:sSub>
                        </m:e>
                      </m:d>
                      <m:r>
                        <m:rPr>
                          <m:sty m:val="p"/>
                        </m:rPr>
                        <m:t>+</m:t>
                      </m:r>
                      <m:sSub>
                        <m:e>
                          <m:r>
                            <m:t>v</m:t>
                          </m:r>
                        </m:e>
                        <m:sub>
                          <m:r>
                            <m:t>t</m:t>
                          </m:r>
                        </m:sub>
                      </m:sSub>
                      <m:r>
                        <m:rPr>
                          <m:sty m:val="p"/>
                        </m:rPr>
                        <m:t>,</m:t>
                      </m:r>
                      <m:r>
                        <m:t>  </m:t>
                      </m:r>
                      <m:d>
                        <m:dPr>
                          <m:begChr m:val="("/>
                          <m:endChr m:val=")"/>
                          <m:sepChr m:val=""/>
                          <m:grow/>
                        </m:dPr>
                        <m:e>
                          <m:r>
                            <m:t>16</m:t>
                          </m:r>
                        </m:e>
                      </m:d>
                    </m:oMath>
                  </m:oMathPara>
                </a14:m>
              </a:p>
              <a:p>
                <a:pPr lvl="0"/>
                <a14:m>
                  <m:oMath xmlns:m="http://schemas.openxmlformats.org/officeDocument/2006/math">
                    <m:sSub>
                      <m:e>
                        <m:acc>
                          <m:accPr>
                            <m:chr m:val="̂"/>
                          </m:accPr>
                          <m:e>
                            <m:r>
                              <m:t>η</m:t>
                            </m:r>
                          </m:e>
                        </m:acc>
                      </m:e>
                      <m:sub>
                        <m:r>
                          <m:t>t</m:t>
                        </m:r>
                      </m:sub>
                    </m:sSub>
                  </m:oMath>
                </a14:m>
                <a:r>
                  <a:rPr/>
                  <a:t> are the residuals from Equation 15</a:t>
                </a:r>
              </a:p>
              <a:p>
                <a:pPr lvl="0"/>
                <a14:m>
                  <m:oMath xmlns:m="http://schemas.openxmlformats.org/officeDocument/2006/math">
                    <m:r>
                      <m:t>f</m:t>
                    </m:r>
                    <m:d>
                      <m:dPr>
                        <m:begChr m:val="("/>
                        <m:endChr m:val=")"/>
                        <m:sepChr m:val=""/>
                        <m:grow/>
                      </m:dPr>
                      <m:e>
                        <m:sSub>
                          <m:e>
                            <m:r>
                              <m:t>π</m:t>
                            </m:r>
                          </m:e>
                          <m:sub>
                            <m:r>
                              <m:t>t</m:t>
                            </m:r>
                          </m:sub>
                        </m:sSub>
                      </m:e>
                    </m:d>
                  </m:oMath>
                </a14:m>
                <a:r>
                  <a:rPr/>
                  <a:t> is estimated using a kernel regression method</a:t>
                </a:r>
              </a:p>
              <a:p>
                <a:pPr lvl="0"/>
                <a:r>
                  <a:rPr/>
                  <a:t>The bandwidth (</a:t>
                </a:r>
                <a14:m>
                  <m:oMath xmlns:m="http://schemas.openxmlformats.org/officeDocument/2006/math">
                    <m:r>
                      <m:t>h</m:t>
                    </m:r>
                  </m:oMath>
                </a14:m>
                <a:r>
                  <a:rPr/>
                  <a:t>) for the kernel estimator is selected using cross-validation to minimize the mean squared error.</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a:r>
                  <a:rPr/>
                  <a:t>As a treatment for extreme values of inflation, we further implement the unbounded Gaussian kernel and the outlier-robust Epanechnikov kernel.</a:t>
                </a:r>
              </a:p>
              <a:p>
                <a:pPr lvl="0"/>
                <a:r>
                  <a:rPr/>
                  <a:t>In essence, the semi-parametric approach captures the sensitivity of RPD to marginal increases in inflation.</a:t>
                </a:r>
              </a:p>
              <a:p>
                <a:pPr lvl="0"/>
                <a:r>
                  <a:rPr/>
                  <a:t>In that case, the optimal inflation rate can be obtained by finding the point where the first derivative (</a:t>
                </a:r>
                <a14:m>
                  <m:oMath xmlns:m="http://schemas.openxmlformats.org/officeDocument/2006/math">
                    <m:r>
                      <m:t>f</m:t>
                    </m:r>
                    <m:r>
                      <m:rPr>
                        <m:sty m:val="p"/>
                      </m:rPr>
                      <m:t>′</m:t>
                    </m:r>
                    <m:d>
                      <m:dPr>
                        <m:begChr m:val="("/>
                        <m:endChr m:val=")"/>
                        <m:sepChr m:val=""/>
                        <m:grow/>
                      </m:dPr>
                      <m:e>
                        <m:sSub>
                          <m:e>
                            <m:r>
                              <m:t>π</m:t>
                            </m:r>
                          </m:e>
                          <m:sub>
                            <m:r>
                              <m:t>t</m:t>
                            </m:r>
                          </m:sub>
                        </m:sSub>
                      </m:e>
                    </m:d>
                  </m:oMath>
                </a14:m>
                <a:r>
                  <a:rPr/>
                  <a:t>) is equal to zero.</a:t>
                </a:r>
              </a:p>
              <a:p>
                <a:pPr lvl="0"/>
                <a:r>
                  <a:rPr/>
                  <a:t>Therefore, if </a:t>
                </a:r>
                <a14:m>
                  <m:oMath xmlns:m="http://schemas.openxmlformats.org/officeDocument/2006/math">
                    <m:r>
                      <m:t>f</m:t>
                    </m:r>
                    <m:r>
                      <m:rPr>
                        <m:sty m:val="p"/>
                      </m:rPr>
                      <m:t>′</m:t>
                    </m:r>
                    <m:d>
                      <m:dPr>
                        <m:begChr m:val="("/>
                        <m:endChr m:val=")"/>
                        <m:sepChr m:val=""/>
                        <m:grow/>
                      </m:dPr>
                      <m:e>
                        <m:sSub>
                          <m:e>
                            <m:r>
                              <m:t>π</m:t>
                            </m:r>
                          </m:e>
                          <m:sub>
                            <m:r>
                              <m:t>t</m:t>
                            </m:r>
                          </m:sub>
                        </m:sSub>
                      </m:e>
                    </m:d>
                    <m:r>
                      <m:rPr>
                        <m:sty m:val="p"/>
                      </m:rPr>
                      <m:t>&gt;</m:t>
                    </m:r>
                    <m:r>
                      <m:t>0</m:t>
                    </m:r>
                  </m:oMath>
                </a14:m>
                <a:r>
                  <a:rPr/>
                  <a:t> (</a:t>
                </a:r>
                <a14:m>
                  <m:oMath xmlns:m="http://schemas.openxmlformats.org/officeDocument/2006/math">
                    <m:r>
                      <m:t>f</m:t>
                    </m:r>
                    <m:r>
                      <m:rPr>
                        <m:sty m:val="p"/>
                      </m:rPr>
                      <m:t>′</m:t>
                    </m:r>
                    <m:d>
                      <m:dPr>
                        <m:begChr m:val="("/>
                        <m:endChr m:val=")"/>
                        <m:sepChr m:val=""/>
                        <m:grow/>
                      </m:dPr>
                      <m:e>
                        <m:sSub>
                          <m:e>
                            <m:r>
                              <m:t>π</m:t>
                            </m:r>
                          </m:e>
                          <m:sub>
                            <m:r>
                              <m:t>t</m:t>
                            </m:r>
                          </m:sub>
                        </m:sSub>
                      </m:e>
                    </m:d>
                    <m:r>
                      <m:rPr>
                        <m:sty m:val="p"/>
                      </m:rPr>
                      <m:t>&lt;</m:t>
                    </m:r>
                    <m:r>
                      <m:t>0</m:t>
                    </m:r>
                  </m:oMath>
                </a14:m>
                <a:r>
                  <a:rPr/>
                  <a:t>), then an increase in inflation (decrease) leads to an increase (decrease) in the RPD. For robustness we estimate the </a:t>
                </a:r>
                <a14:m>
                  <m:oMath xmlns:m="http://schemas.openxmlformats.org/officeDocument/2006/math">
                    <m:r>
                      <m:t>g</m:t>
                    </m:r>
                    <m:d>
                      <m:dPr>
                        <m:begChr m:val="("/>
                        <m:endChr m:val=")"/>
                        <m:sepChr m:val=""/>
                        <m:grow/>
                      </m:dPr>
                      <m:e>
                        <m:r>
                          <m:t>U</m:t>
                        </m:r>
                        <m:r>
                          <m:t>I</m:t>
                        </m:r>
                        <m:sSub>
                          <m:e>
                            <m:r>
                              <m:t>N</m:t>
                            </m:r>
                          </m:e>
                          <m:sub>
                            <m:r>
                              <m:t>t</m:t>
                            </m:r>
                          </m:sub>
                        </m:sSub>
                      </m:e>
                    </m:d>
                  </m:oMath>
                </a14:m>
                <a:r>
                  <a:rPr/>
                  <a:t> with multiple bandwith (</a:t>
                </a:r>
                <a14:m>
                  <m:oMath xmlns:m="http://schemas.openxmlformats.org/officeDocument/2006/math">
                    <m:r>
                      <m:t>h</m:t>
                    </m:r>
                  </m:oMath>
                </a14:m>
                <a:r>
                  <a:rPr/>
                  <a:t>).</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To further disentangle the effects of RPD on inflation, we decompose headline inflation into its expected and unexpected components. As discussed in the literature section, for example, theory suggests that inflation uncertainty has a more pronounced effect on RPD due to information frictions faced by firms when adjusting prices (Lucas 1973; Hercowitz 1981; Cukierman 1983).</a:t>
                </a:r>
              </a:p>
              <a:p>
                <a:pPr lvl="0" indent="0" marL="0">
                  <a:buNone/>
                </a:pPr>
                <a:r>
                  <a:rPr/>
                  <a:t>We therefore estimate the following model:</a:t>
                </a:r>
              </a:p>
              <a:p>
                <a:pPr lvl="0" indent="0" marL="0">
                  <a:buNone/>
                </a:pPr>
                <a14:m>
                  <m:oMathPara xmlns:m="http://schemas.openxmlformats.org/officeDocument/2006/math">
                    <m:oMathParaPr>
                      <m:jc m:val="center"/>
                    </m:oMathParaPr>
                    <m:oMath>
                      <m:r>
                        <m:t>R</m:t>
                      </m:r>
                      <m:r>
                        <m:t>P</m:t>
                      </m:r>
                      <m:sSub>
                        <m:e>
                          <m:r>
                            <m:t>D</m:t>
                          </m:r>
                        </m:e>
                        <m:sub>
                          <m:r>
                            <m:t>t</m:t>
                          </m:r>
                        </m:sub>
                      </m:sSub>
                      <m:r>
                        <m:rPr>
                          <m:sty m:val="p"/>
                        </m:rPr>
                        <m:t>=</m:t>
                      </m:r>
                      <m:r>
                        <m:t>α</m:t>
                      </m:r>
                      <m:r>
                        <m:rPr>
                          <m:sty m:val="p"/>
                        </m:rPr>
                        <m:t>+</m:t>
                      </m:r>
                      <m:sSub>
                        <m:e>
                          <m:r>
                            <m:t>β</m:t>
                          </m:r>
                        </m:e>
                        <m:sub>
                          <m:r>
                            <m:t>0</m:t>
                          </m:r>
                        </m:sub>
                      </m:sSub>
                      <m:r>
                        <m:t>E</m:t>
                      </m:r>
                      <m:r>
                        <m:t>I</m:t>
                      </m:r>
                      <m:sSub>
                        <m:e>
                          <m:r>
                            <m:t>N</m:t>
                          </m:r>
                        </m:e>
                        <m:sub>
                          <m:r>
                            <m:t>t</m:t>
                          </m:r>
                        </m:sub>
                      </m:sSub>
                      <m:r>
                        <m:rPr>
                          <m:sty m:val="p"/>
                        </m:rPr>
                        <m:t>+</m:t>
                      </m:r>
                      <m:sSub>
                        <m:e>
                          <m:r>
                            <m:t>β</m:t>
                          </m:r>
                        </m:e>
                        <m:sub>
                          <m:r>
                            <m:t>1</m:t>
                          </m:r>
                        </m:sub>
                      </m:sSub>
                      <m:r>
                        <m:t>U</m:t>
                      </m:r>
                      <m:r>
                        <m:t>I</m:t>
                      </m:r>
                      <m:sSub>
                        <m:e>
                          <m:r>
                            <m:t>N</m:t>
                          </m:r>
                        </m:e>
                        <m:sub>
                          <m:r>
                            <m:t>t</m:t>
                          </m:r>
                        </m:sub>
                      </m:sSub>
                      <m:r>
                        <m:rPr>
                          <m:sty m:val="p"/>
                        </m:rPr>
                        <m:t>+</m:t>
                      </m:r>
                      <m:r>
                        <m:t>g</m:t>
                      </m:r>
                      <m:d>
                        <m:dPr>
                          <m:begChr m:val="("/>
                          <m:endChr m:val=")"/>
                          <m:sepChr m:val=""/>
                          <m:grow/>
                        </m:dPr>
                        <m:e>
                          <m:r>
                            <m:t>U</m:t>
                          </m:r>
                          <m:r>
                            <m:t>I</m:t>
                          </m:r>
                          <m:sSub>
                            <m:e>
                              <m:r>
                                <m:t>N</m:t>
                              </m:r>
                            </m:e>
                            <m:sub>
                              <m:r>
                                <m:t>t</m:t>
                              </m:r>
                            </m:sub>
                          </m:sSub>
                        </m:e>
                      </m:d>
                      <m:r>
                        <m:rPr>
                          <m:sty m:val="p"/>
                        </m:rPr>
                        <m:t>+</m:t>
                      </m:r>
                      <m:nary>
                        <m:naryPr>
                          <m:chr m:val="∑"/>
                          <m:limLoc m:val="undOvr"/>
                          <m:subHide m:val="off"/>
                          <m:supHide m:val="off"/>
                        </m:naryPr>
                        <m:sub>
                          <m:r>
                            <m:t>k</m:t>
                          </m:r>
                          <m:r>
                            <m:rPr>
                              <m:sty m:val="p"/>
                            </m:rPr>
                            <m:t>=</m:t>
                          </m:r>
                          <m:r>
                            <m:t>1</m:t>
                          </m:r>
                        </m:sub>
                        <m:sup>
                          <m:r>
                            <m:t>3</m:t>
                          </m:r>
                        </m:sup>
                        <m:e>
                          <m:sSub>
                            <m:e>
                              <m:r>
                                <m:t>λ</m:t>
                              </m:r>
                            </m:e>
                            <m:sub>
                              <m:r>
                                <m:t>k</m:t>
                              </m:r>
                            </m:sub>
                          </m:sSub>
                        </m:e>
                      </m:nary>
                      <m:r>
                        <m:t>R</m:t>
                      </m:r>
                      <m:r>
                        <m:t>P</m:t>
                      </m:r>
                      <m:sSub>
                        <m:e>
                          <m:r>
                            <m:t>D</m:t>
                          </m:r>
                        </m:e>
                        <m:sub>
                          <m:r>
                            <m:t>t</m:t>
                          </m:r>
                          <m:r>
                            <m:rPr>
                              <m:sty m:val="p"/>
                            </m:rPr>
                            <m:t>−</m:t>
                          </m:r>
                          <m:r>
                            <m:t>k</m:t>
                          </m:r>
                        </m:sub>
                      </m:sSub>
                      <m:r>
                        <m:rPr>
                          <m:sty m:val="p"/>
                        </m:rPr>
                        <m:t>+</m:t>
                      </m:r>
                      <m:sSub>
                        <m:e>
                          <m:r>
                            <m:t>ϵ</m:t>
                          </m:r>
                        </m:e>
                        <m:sub>
                          <m:r>
                            <m:t>t</m:t>
                          </m:r>
                        </m:sub>
                      </m:sSub>
                      <m:r>
                        <m:rPr>
                          <m:sty m:val="p"/>
                        </m:rPr>
                        <m:t>,</m:t>
                      </m:r>
                      <m:r>
                        <m:t>  </m:t>
                      </m:r>
                      <m:d>
                        <m:dPr>
                          <m:begChr m:val="("/>
                          <m:endChr m:val=")"/>
                          <m:sepChr m:val=""/>
                          <m:grow/>
                        </m:dPr>
                        <m:e>
                          <m:r>
                            <m:t>17</m:t>
                          </m:r>
                        </m:e>
                      </m:d>
                    </m:oMath>
                  </m:oMathPara>
                </a14:m>
              </a:p>
              <a:p>
                <a:pPr lvl="0"/>
                <a14:m>
                  <m:oMath xmlns:m="http://schemas.openxmlformats.org/officeDocument/2006/math">
                    <m:r>
                      <m:t>E</m:t>
                    </m:r>
                    <m:r>
                      <m:t>I</m:t>
                    </m:r>
                    <m:sSub>
                      <m:e>
                        <m:r>
                          <m:t>N</m:t>
                        </m:r>
                      </m:e>
                      <m:sub>
                        <m:r>
                          <m:t>t</m:t>
                        </m:r>
                      </m:sub>
                    </m:sSub>
                  </m:oMath>
                </a14:m>
                <a:r>
                  <a:rPr/>
                  <a:t> is the expected inflation rate and </a:t>
                </a:r>
                <a14:m>
                  <m:oMath xmlns:m="http://schemas.openxmlformats.org/officeDocument/2006/math">
                    <m:r>
                      <m:t>U</m:t>
                    </m:r>
                    <m:r>
                      <m:t>I</m:t>
                    </m:r>
                    <m:sSub>
                      <m:e>
                        <m:r>
                          <m:t>N</m:t>
                        </m:r>
                      </m:e>
                      <m:sub>
                        <m:r>
                          <m:t>t</m:t>
                        </m:r>
                      </m:sub>
                    </m:sSub>
                  </m:oMath>
                </a14:m>
                <a:r>
                  <a:rPr/>
                  <a:t> is the unexpected inflation rate</a:t>
                </a:r>
              </a:p>
              <a:p>
                <a:pPr lvl="0"/>
                <a14:m>
                  <m:oMath xmlns:m="http://schemas.openxmlformats.org/officeDocument/2006/math">
                    <m:r>
                      <m:t>g</m:t>
                    </m:r>
                    <m:d>
                      <m:dPr>
                        <m:begChr m:val="("/>
                        <m:endChr m:val=")"/>
                        <m:sepChr m:val=""/>
                        <m:grow/>
                      </m:dPr>
                      <m:e>
                        <m:r>
                          <m:t>U</m:t>
                        </m:r>
                        <m:r>
                          <m:t>I</m:t>
                        </m:r>
                        <m:sSub>
                          <m:e>
                            <m:r>
                              <m:t>N</m:t>
                            </m:r>
                          </m:e>
                          <m:sub>
                            <m:r>
                              <m:t>t</m:t>
                            </m:r>
                          </m:sub>
                        </m:sSub>
                      </m:e>
                    </m:d>
                  </m:oMath>
                </a14:m>
                <a:r>
                  <a:rPr/>
                  <a:t> is a non-linear function of unexpected inflation (</a:t>
                </a:r>
                <a14:m>
                  <m:oMath xmlns:m="http://schemas.openxmlformats.org/officeDocument/2006/math">
                    <m:r>
                      <m:t>U</m:t>
                    </m:r>
                    <m:r>
                      <m:t>I</m:t>
                    </m:r>
                    <m:sSub>
                      <m:e>
                        <m:r>
                          <m:t>N</m:t>
                        </m:r>
                      </m:e>
                      <m:sub>
                        <m:r>
                          <m:t>t</m:t>
                        </m:r>
                      </m:sub>
                    </m:sSub>
                  </m:oMath>
                </a14:m>
                <a:r>
                  <a:rPr/>
                  <a:t>).</a:t>
                </a:r>
              </a:p>
              <a:p>
                <a:pPr lvl="0"/>
                <a:r>
                  <a:rPr/>
                  <a:t>We obtain the expected using </a:t>
                </a:r>
                <a:r>
                  <a:rPr b="1"/>
                  <a:t>a simple moving average of headline inflation, and unexpected inflation as the standard deviation of inflation</a:t>
                </a:r>
                <a:r>
                  <a:rPr/>
                  <a:t>. The estimation of </a:t>
                </a:r>
                <a14:m>
                  <m:oMath xmlns:m="http://schemas.openxmlformats.org/officeDocument/2006/math">
                    <m:r>
                      <m:t>g</m:t>
                    </m:r>
                    <m:d>
                      <m:dPr>
                        <m:begChr m:val="("/>
                        <m:endChr m:val=")"/>
                        <m:sepChr m:val=""/>
                        <m:grow/>
                      </m:dPr>
                      <m:e>
                        <m:r>
                          <m:t>U</m:t>
                        </m:r>
                        <m:r>
                          <m:t>I</m:t>
                        </m:r>
                        <m:sSub>
                          <m:e>
                            <m:r>
                              <m:t>N</m:t>
                            </m:r>
                          </m:e>
                          <m:sub>
                            <m:r>
                              <m:t>t</m:t>
                            </m:r>
                          </m:sub>
                        </m:sSub>
                      </m:e>
                    </m:d>
                  </m:oMath>
                </a14:m>
                <a:r>
                  <a:rPr/>
                  <a:t> follows the same two-stage semi-parametric approach outlined in Equation 15 and Equation 16. The number of lags is the same as in Equation 10.</a:t>
                </a:r>
              </a:p>
            </p:txBody>
          </p:sp>
        </mc:Choice>
      </mc:AlternateContent>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Methodology</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Lastly, and some-what novel to the RPD literature, we employ a quantile on quantile regression approach (Koenker 2017). Quantile on quantile regressions are robust to outliers and allows us to estimate the regime aspects of the relationship between RPD and inflation.</a:t>
            </a:r>
          </a:p>
          <a:p>
            <a:pPr lvl="0" indent="0" marL="0">
              <a:buNone/>
            </a:pPr>
            <a:r>
              <a:rPr/>
              <a:t>For brevity, we do not explain the quantile on quantile estimation procedure</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hasCustomPrompt="1" type="ctrTitle"/>
          </p:nvPr>
        </p:nvSpPr>
        <p:spPr>
          <a:xfrm>
            <a:off x="2997987" y="1817520"/>
            <a:ext cx="3540643" cy="1381125"/>
          </a:xfrm>
        </p:spPr>
        <p:txBody>
          <a:bodyPr/>
          <a:lstStyle/>
          <a:p>
            <a:pPr lvl="0" indent="0" marL="0">
              <a:buNone/>
            </a:pPr>
            <a:r>
              <a:rPr/>
              <a:t>Results</a:t>
            </a:r>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rpd-1.png" id="0" name="Picture 1"/>
          <p:cNvPicPr>
            <a:picLocks noGrp="1" noChangeAspect="1"/>
          </p:cNvPicPr>
          <p:nvPr/>
        </p:nvPicPr>
        <p:blipFill>
          <a:blip r:embed="rId2"/>
          <a:stretch>
            <a:fillRect/>
          </a:stretch>
        </p:blipFill>
        <p:spPr bwMode="auto">
          <a:xfrm>
            <a:off x="1778000" y="1524000"/>
            <a:ext cx="92710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rpd_inflation-1.png" id="0" name="Picture 1"/>
          <p:cNvPicPr>
            <a:picLocks noGrp="1" noChangeAspect="1"/>
          </p:cNvPicPr>
          <p:nvPr/>
        </p:nvPicPr>
        <p:blipFill>
          <a:blip r:embed="rId2"/>
          <a:stretch>
            <a:fillRect/>
          </a:stretch>
        </p:blipFill>
        <p:spPr bwMode="auto">
          <a:xfrm>
            <a:off x="1778000" y="1524000"/>
            <a:ext cx="92710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graphicFrame xmlns:a="http://schemas.openxmlformats.org/drawingml/2006/main" xmlns:r="http://schemas.openxmlformats.org/officeDocument/2006/relationships" xmlns:p="http://schemas.openxmlformats.org/presentationml/2006/main">
        <p:nvGraphicFramePr>
          <p:cNvPr id="131672549" name=""/>
          <p:cNvGraphicFramePr>
            <a:graphicFrameLocks noGrp="true"/>
          </p:cNvGraphicFramePr>
          <p:nvPr/>
        </p:nvGraphicFramePr>
        <p:xfrm rot="0">
          <a:off x="914400" y="1828800"/>
          <a:ext cx="9144000" cy="5486400"/>
        </p:xfrm>
        <a:graphic>
          <a:graphicData uri="http://schemas.openxmlformats.org/drawingml/2006/table">
            <a:tbl>
              <a:tblPr/>
              <a:tblGrid>
                <a:gridCol w="1540933"/>
                <a:gridCol w="1095906"/>
                <a:gridCol w="987342"/>
                <a:gridCol w="1026887"/>
                <a:gridCol w="1817481"/>
                <a:gridCol w="1708917"/>
                <a:gridCol w="1748462"/>
              </a:tblGrid>
              <a:tr h="343162">
                <a:tc>
                  <a:txBody>
                    <a:bodyPr/>
                    <a:lstStyle/>
                    <a:p>
                      <a:pPr algn="l"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000000">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Full Sample</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000000">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Pre 2017</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000000">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Post 2017</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000000">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Full Sample: Squared Inflation</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000000">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Pre 2017: Squared Inflation</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000000">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Post 2017: Squared Inflation</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000000">
                          <a:alpha val="100000"/>
                        </a:srgbClr>
                      </a:solidFill>
                      <a:prstDash val="solid"/>
                    </a:lnT>
                    <a:lnB algn="ctr" cmpd="sng" cap="flat" w="12700">
                      <a:solidFill>
                        <a:srgbClr val="000000">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sSub>
                                  <m:e>
                                    <m:r>
                                      <m:t>π</m:t>
                                    </m:r>
                                  </m:e>
                                  <m:sub>
                                    <m:r>
                                      <m:t>t</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0.01*</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0.009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0.032***</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-0.046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-0.104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-0.033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sSubSup>
                                  <m:e>
                                    <m:r>
                                      <m:t>π</m:t>
                                    </m:r>
                                  </m:e>
                                  <m:sub>
                                    <m:r>
                                      <m:t>t</m:t>
                                    </m:r>
                                  </m:sub>
                                  <m:sup>
                                    <m:r>
                                      <m:t>2</m:t>
                                    </m:r>
                                  </m:sup>
                                </m:sSubSup>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0.006*</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0.011*</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0.007*</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r>
                                  <m:t>RP</m:t>
                                </m:r>
                                <m:sSub>
                                  <m:e>
                                    <m:r>
                                      <m:t>D</m:t>
                                    </m:r>
                                  </m:e>
                                  <m:sub>
                                    <m:r>
                                      <m:t>t−3</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0.244***</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0.173*</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0.248**</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0.234***</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0.154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0.209**</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r>
                                  <m:t>RP</m:t>
                                </m:r>
                                <m:sSub>
                                  <m:e>
                                    <m:r>
                                      <m:t>D</m:t>
                                    </m:r>
                                  </m:e>
                                  <m:sub>
                                    <m:r>
                                      <m:t>t−2</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-0.382***</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-0.14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-0.645***</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-0.363***</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-0.111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-0.609***</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r>
                                  <m:t>RP</m:t>
                                </m:r>
                                <m:sSub>
                                  <m:e>
                                    <m:r>
                                      <m:t>D</m:t>
                                    </m:r>
                                  </m:e>
                                  <m:sub>
                                    <m:r>
                                      <m:t>t−1</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1.039***</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0.896***</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1.116***</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1.017***</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0.864***</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1.063***</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sSub>
                                  <m:e>
                                    <m:r>
                                      <m:t>D</m:t>
                                    </m:r>
                                  </m:e>
                                  <m:sub>
                                    <m:r>
                                      <m:t>2022m8</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0.026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0.024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-0.001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-0.012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sSub>
                                  <m:e>
                                    <m:r>
                                      <m:t>D</m:t>
                                    </m:r>
                                  </m:e>
                                  <m:sub>
                                    <m:r>
                                      <m:t>2020m2</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-0.116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-0.213**</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-0.106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-0.205**</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sSub>
                                  <m:e>
                                    <m:r>
                                      <m:t>D</m:t>
                                    </m:r>
                                  </m:e>
                                  <m:sub>
                                    <m:r>
                                      <m:t>2017m7</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0.156*</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0.161*</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sSub>
                                  <m:e>
                                    <m:r>
                                      <m:t>D</m:t>
                                    </m:r>
                                  </m:e>
                                  <m:sub>
                                    <m:r>
                                      <m:t>2014m7</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-0.098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-0.087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-0.105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-0.096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sSub>
                                  <m:e>
                                    <m:r>
                                      <m:t>D</m:t>
                                    </m:r>
                                  </m:e>
                                  <m:sub>
                                    <m:r>
                                      <m:t>2011m12</m:t>
                                    </m:r>
                                  </m:sub>
                                </m:sSub>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0.042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0.027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0.047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0.037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endParaRPr cap="none" sz="700" i="0" b="0" u="none" strike="noStrike">
                        <a:solidFill>
                          <a:srgbClr val="000000">
                            <a:alpha val="100000"/>
                          </a:srgbClr>
                        </a:solidFill>
                        <a:latin typeface="Arial"/>
                        <a:cs typeface="Helvetica"/>
                        <a:ea typeface="Helvetica"/>
                        <a:sym typeface="Helvetica"/>
                      </a:endParaRPr>
                      <a:r>
                        <a:rPr cap="none" sz="700" i="0" b="0" u="none" strike="noStrike">
                          <a:solidFill>
                            <a:srgbClr val="000000">
                              <a:alpha val="100000"/>
                            </a:srgbClr>
                          </a:solidFill>
                          <a:latin typeface="Arial"/>
                          <a:cs typeface="Helvetica"/>
                          <a:ea typeface="Helvetica"/>
                          <a:sym typeface="Helvetica"/>
                        </a:rPr>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FFFFFF">
                          <a:alpha val="100000"/>
                        </a:srgbClr>
                      </a:solidFill>
                      <a:prstDash val="solid"/>
                    </a:lnB>
                    <a:solidFill>
                      <a:srgbClr val="FFFFFF">
                        <a:alpha val="0"/>
                      </a:srgbClr>
                    </a:solidFill>
                  </a:tcPr>
                </a:tc>
              </a:tr>
              <a:tr h="443653">
                <a:tc>
                  <a:txBody>
                    <a:bodyPr/>
                    <a:lstStyle/>
                    <a:p>
                      <a:pPr algn="l" marL="63500" marR="63500">
                        <a:lnSpc>
                          <a:spcPct val="100000"/>
                        </a:lnSpc>
                        <a:spcBef>
                          <a:spcPts val="500"/>
                        </a:spcBef>
                        <a:spcAft>
                          <a:spcPts val="500"/>
                        </a:spcAft>
                        <a:buNone/>
                      </a:pPr>
                      <a:rPr cap="none" sz="700" i="0" b="0" u="none" strike="noStrike">
                        <a:solidFill>
                          <a:srgbClr val="000000">
                            <a:alpha val="100000"/>
                          </a:srgbClr>
                        </a:solidFill>
                        <a:latin typeface="Arial"/>
                        <a:cs typeface="Helvetica"/>
                        <a:ea typeface="Helvetica"/>
                        <a:sym typeface="Helvetica"/>
                      </a:rPr>
                      <mc:AlternateContent xmlns:mc="http://schemas.openxmlformats.org/markup-compatibility/2006">
                        <mc:Choice xmlns:a14="http://schemas.microsoft.com/office/drawing/2010/main" Requires="a14">
                          <a14:m xmlns:a14="http://schemas.microsoft.com/office/drawing/2010/main">
                            <m:oMathPara xmlns:m="http://schemas.openxmlformats.org/officeDocument/2006/math">
                              <m:oMathParaPr>
                                <m:jc m:val="centerGroup"/>
                              </m:oMathParaPr>
                              <m:oMath xmlns:m="http://schemas.openxmlformats.org/officeDocument/2006/math" xmlns:mml="http://www.w3.org/1998/Math/MathML">
                                <m:r>
                                  <m:t>C</m:t>
                                </m:r>
                              </m:oMath>
                            </m:oMathPara>
                          </a14:m>
                        </mc:Choice>
                      </mc:AlternateContent>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0.044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0.012 </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0.117***</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0.184**</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0.326*</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000000">
                          <a:alpha val="100000"/>
                        </a:srgbClr>
                      </a:solidFill>
                      <a:prstDash val="solid"/>
                    </a:lnB>
                    <a:solidFill>
                      <a:srgbClr val="FFFFFF">
                        <a:alpha val="0"/>
                      </a:srgbClr>
                    </a:solidFill>
                  </a:tcPr>
                </a:tc>
                <a:tc>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0.304**</a:t>
                      </a:r>
                    </a:p>
                  </a:txBody>
                  <a:tcPr anchor="ctr" marB="63500" marT="63500" marR="0" marL="0">
                    <a:lnL algn="ctr" cmpd="sng" cap="flat" w="12700">
                      <a:solidFill>
                        <a:srgbClr val="FFFFFF">
                          <a:alpha val="100000"/>
                        </a:srgbClr>
                      </a:solidFill>
                      <a:prstDash val="solid"/>
                    </a:lnL>
                    <a:lnR algn="ctr" cmpd="sng" cap="flat" w="12700">
                      <a:solidFill>
                        <a:srgbClr val="FFFFFF">
                          <a:alpha val="100000"/>
                        </a:srgbClr>
                      </a:solidFill>
                      <a:prstDash val="solid"/>
                    </a:lnR>
                    <a:lnT algn="ctr" cmpd="sng" cap="flat" w="12700">
                      <a:solidFill>
                        <a:srgbClr val="FFFFFF">
                          <a:alpha val="100000"/>
                        </a:srgbClr>
                      </a:solidFill>
                      <a:prstDash val="solid"/>
                    </a:lnT>
                    <a:lnB algn="ctr" cmpd="sng" cap="flat" w="12700">
                      <a:solidFill>
                        <a:srgbClr val="000000">
                          <a:alpha val="100000"/>
                        </a:srgbClr>
                      </a:solidFill>
                      <a:prstDash val="solid"/>
                    </a:lnB>
                    <a:solidFill>
                      <a:srgbClr val="FFFFFF">
                        <a:alpha val="0"/>
                      </a:srgbClr>
                    </a:solidFill>
                  </a:tcPr>
                </a:tc>
              </a:tr>
              <a:tr h="228600">
                <a:tc gridSpan="7">
                  <a:txBody>
                    <a:bodyPr/>
                    <a:lstStyle/>
                    <a:p>
                      <a:pPr algn="l"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Note: *** = p value &lt; 0.01, ** = 0.01 &lt; p value &lt; 0.05, * = 0.05 &lt; p value &lt; 0.1.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hMerge="true">
                  <a:txBody>
                    <a:bodyPr/>
                    <a:lstStyle/>
                    <a:p>
                      <a:pPr algn="ctr"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Note: *** = p value &lt; 0.01, ** = 0.01 &lt; p value &lt; 0.05, * = 0.05 &lt; p value &lt; 0.1.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hMerge="true">
                  <a:txBody>
                    <a:bodyPr/>
                    <a:lstStyle/>
                    <a:p>
                      <a:pPr algn="l"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Note: *** = p value &lt; 0.01, ** = 0.01 &lt; p value &lt; 0.05, * = 0.05 &lt; p value &lt; 0.1.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hMerge="true">
                  <a:txBody>
                    <a:bodyPr/>
                    <a:lstStyle/>
                    <a:p>
                      <a:pPr algn="l"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Note: *** = p value &lt; 0.01, ** = 0.01 &lt; p value &lt; 0.05, * = 0.05 &lt; p value &lt; 0.1.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hMerge="true">
                  <a:txBody>
                    <a:bodyPr/>
                    <a:lstStyle/>
                    <a:p>
                      <a:pPr algn="l"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Note: *** = p value &lt; 0.01, ** = 0.01 &lt; p value &lt; 0.05, * = 0.05 &lt; p value &lt; 0.1.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hMerge="true">
                  <a:txBody>
                    <a:bodyPr/>
                    <a:lstStyle/>
                    <a:p>
                      <a:pPr algn="l"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Note: *** = p value &lt; 0.01, ** = 0.01 &lt; p value &lt; 0.05, * = 0.05 &lt; p value &lt; 0.1.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hMerge="true">
                  <a:txBody>
                    <a:bodyPr/>
                    <a:lstStyle/>
                    <a:p>
                      <a:pPr algn="l" marL="63500" marR="63500">
                        <a:lnSpc>
                          <a:spcPct val="100000"/>
                        </a:lnSpc>
                        <a:spcBef>
                          <a:spcPts val="500"/>
                        </a:spcBef>
                        <a:spcAft>
                          <a:spcPts val="500"/>
                        </a:spcAft>
                        <a:buNone/>
                      </a:pPr>
                      <a:r>
                        <a:rPr cap="none" sz="700" i="0" b="0" u="none" strike="noStrike">
                          <a:solidFill>
                            <a:srgbClr val="000000">
                              <a:alpha val="100000"/>
                            </a:srgbClr>
                          </a:solidFill>
                          <a:latin typeface="Arial"/>
                          <a:cs typeface="Helvetica"/>
                          <a:ea typeface="Helvetica"/>
                          <a:sym typeface="Helvetica"/>
                        </a:rPr>
                        <a:t>Note: *** = p value &lt; 0.01, ** = 0.01 &lt; p value &lt; 0.05, * = 0.05 &lt; p value &lt; 0.1.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bl>
          </a:graphicData>
        </a:graphic>
      </p:graphicFrame>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rolling_coefficients-1.png" id="0" name="Picture 1"/>
          <p:cNvPicPr>
            <a:picLocks noGrp="1" noChangeAspect="1"/>
          </p:cNvPicPr>
          <p:nvPr/>
        </p:nvPicPr>
        <p:blipFill>
          <a:blip r:embed="rId2"/>
          <a:stretch>
            <a:fillRect/>
          </a:stretch>
        </p:blipFill>
        <p:spPr bwMode="auto">
          <a:xfrm>
            <a:off x="3238500" y="1524000"/>
            <a:ext cx="63754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recursive-1.png" id="0" name="Picture 1"/>
          <p:cNvPicPr>
            <a:picLocks noGrp="1" noChangeAspect="1"/>
          </p:cNvPicPr>
          <p:nvPr/>
        </p:nvPicPr>
        <p:blipFill>
          <a:blip r:embed="rId2"/>
          <a:stretch>
            <a:fillRect/>
          </a:stretch>
        </p:blipFill>
        <p:spPr bwMode="auto">
          <a:xfrm>
            <a:off x="1778000" y="1524000"/>
            <a:ext cx="92710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semi_parametric-1.png" id="0" name="Picture 1"/>
          <p:cNvPicPr>
            <a:picLocks noGrp="1" noChangeAspect="1"/>
          </p:cNvPicPr>
          <p:nvPr/>
        </p:nvPicPr>
        <p:blipFill>
          <a:blip r:embed="rId2"/>
          <a:stretch>
            <a:fillRect/>
          </a:stretch>
        </p:blipFill>
        <p:spPr bwMode="auto">
          <a:xfrm>
            <a:off x="3238500" y="1524000"/>
            <a:ext cx="63754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semi_parametric_robustness-1.png" id="0" name="Picture 1"/>
          <p:cNvPicPr>
            <a:picLocks noGrp="1" noChangeAspect="1"/>
          </p:cNvPicPr>
          <p:nvPr/>
        </p:nvPicPr>
        <p:blipFill>
          <a:blip r:embed="rId2"/>
          <a:stretch>
            <a:fillRect/>
          </a:stretch>
        </p:blipFill>
        <p:spPr bwMode="auto">
          <a:xfrm>
            <a:off x="3238500" y="1524000"/>
            <a:ext cx="63754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unexpected_inflation-1.png" id="0" name="Picture 1"/>
          <p:cNvPicPr>
            <a:picLocks noGrp="1" noChangeAspect="1"/>
          </p:cNvPicPr>
          <p:nvPr/>
        </p:nvPicPr>
        <p:blipFill>
          <a:blip r:embed="rId2"/>
          <a:stretch>
            <a:fillRect/>
          </a:stretch>
        </p:blipFill>
        <p:spPr bwMode="auto">
          <a:xfrm>
            <a:off x="3238500" y="1524000"/>
            <a:ext cx="63754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quant_reg-1.png" id="0" name="Picture 1"/>
          <p:cNvPicPr>
            <a:picLocks noGrp="1" noChangeAspect="1"/>
          </p:cNvPicPr>
          <p:nvPr/>
        </p:nvPicPr>
        <p:blipFill>
          <a:blip r:embed="rId2"/>
          <a:stretch>
            <a:fillRect/>
          </a:stretch>
        </p:blipFill>
        <p:spPr bwMode="auto">
          <a:xfrm>
            <a:off x="1778000" y="1524000"/>
            <a:ext cx="92710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Results</a:t>
            </a:r>
          </a:p>
        </p:txBody>
      </p:sp>
      <p:pic>
        <p:nvPicPr>
          <p:cNvPr descr="inflation_relative_price_variance_presentation_files/figure-pptx/fig-unif_quant_reg-1.png" id="0" name="Picture 1"/>
          <p:cNvPicPr>
            <a:picLocks noGrp="1" noChangeAspect="1"/>
          </p:cNvPicPr>
          <p:nvPr/>
        </p:nvPicPr>
        <p:blipFill>
          <a:blip r:embed="rId2"/>
          <a:stretch>
            <a:fillRect/>
          </a:stretch>
        </p:blipFill>
        <p:spPr bwMode="auto">
          <a:xfrm>
            <a:off x="1778000" y="1524000"/>
            <a:ext cx="9271000" cy="4635500"/>
          </a:xfrm>
          <a:prstGeom prst="rect">
            <a:avLst/>
          </a:prstGeom>
          <a:noFill/>
          <a:ln w="9525">
            <a:noFill/>
            <a:headEnd/>
            <a:tailEnd/>
          </a:ln>
        </p:spPr>
      </p:pic>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6118-0840-574D-AD0F-62FBB748D13C}"/>
              </a:ext>
            </a:extLst>
          </p:cNvPr>
          <p:cNvSpPr>
            <a:spLocks noGrp="1"/>
          </p:cNvSpPr>
          <p:nvPr>
            <p:ph hasCustomPrompt="1" type="ctrTitle"/>
          </p:nvPr>
        </p:nvSpPr>
        <p:spPr>
          <a:xfrm>
            <a:off x="2997987" y="1817520"/>
            <a:ext cx="3540643" cy="1381125"/>
          </a:xfrm>
        </p:spPr>
        <p:txBody>
          <a:bodyPr/>
          <a:lstStyle/>
          <a:p>
            <a:pPr lvl="0" indent="0" marL="0">
              <a:buNone/>
            </a:pPr>
            <a:r>
              <a:rPr/>
              <a:t>Conclusions</a:t>
            </a:r>
          </a:p>
        </p:txBody>
      </p:sp>
      <p:sp>
        <p:nvSpPr>
          <p:cNvPr id="9" name="Slide Number Placeholder 5">
            <a:extLst>
              <a:ext uri="{FF2B5EF4-FFF2-40B4-BE49-F238E27FC236}">
                <a16:creationId xmlns:a16="http://schemas.microsoft.com/office/drawing/2014/main" id="{A50C40EB-9722-8244-8C4B-58C77EAC766D}"/>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Conclusion</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Thank You!</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b="1"/>
              <a:t>Questions?</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References</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a:t>Caglayan, Mustafa, and Alpay Filiztekin. 2003. “Nonlinear Impact of Inflation on Relative Price Variability.” </a:t>
            </a:r>
            <a:r>
              <a:rPr i="1"/>
              <a:t>Economics Letters</a:t>
            </a:r>
            <a:r>
              <a:rPr/>
              <a:t> 79 (2): 213–18.</a:t>
            </a:r>
          </a:p>
          <a:p>
            <a:pPr lvl="0" indent="0" marL="0">
              <a:buNone/>
            </a:pPr>
            <a:r>
              <a:rPr/>
              <a:t>Choi, Chi-Young. 2010. “Reconsidering the Relationship Between Inflation and Relative Price Variability.” </a:t>
            </a:r>
            <a:r>
              <a:rPr i="1"/>
              <a:t>Journal of Money, Credit and Banking</a:t>
            </a:r>
            <a:r>
              <a:rPr/>
              <a:t> 42 (5): 769–98. </a:t>
            </a:r>
            <a:r>
              <a:rPr>
                <a:hlinkClick r:id="rId2"/>
              </a:rPr>
              <a:t>https://doi.org/10.1111/j.1538-4616.2010.00307.x</a:t>
            </a:r>
            <a:r>
              <a:rPr/>
              <a:t>.</a:t>
            </a:r>
          </a:p>
          <a:p>
            <a:pPr lvl="0" indent="0" marL="0">
              <a:buNone/>
            </a:pPr>
            <a:r>
              <a:rPr/>
              <a:t>Cukierman, Alex. 1983. “Relative Price Variability and Inflation: A Survey and Further Results.” In </a:t>
            </a:r>
            <a:r>
              <a:rPr i="1"/>
              <a:t>Carnegie-Rochester Conference Series on Public Policy</a:t>
            </a:r>
            <a:r>
              <a:rPr/>
              <a:t>, 19:103–57. Elsevier.</a:t>
            </a:r>
          </a:p>
          <a:p>
            <a:pPr lvl="0" indent="0" marL="0">
              <a:buNone/>
            </a:pPr>
            <a:r>
              <a:rPr/>
              <a:t>Fielding, David, and Paul Mizen. 2000. “Relative Price Variability and Inflation in Europe.” </a:t>
            </a:r>
            <a:r>
              <a:rPr i="1"/>
              <a:t>Economica</a:t>
            </a:r>
            <a:r>
              <a:rPr/>
              <a:t> 67 (265): 57–78. </a:t>
            </a:r>
            <a:r>
              <a:rPr>
                <a:hlinkClick r:id="rId3"/>
              </a:rPr>
              <a:t>https://doi.org/10.1111/1468-0335.00195</a:t>
            </a:r>
            <a:r>
              <a:rPr/>
              <a:t>.</a:t>
            </a:r>
          </a:p>
          <a:p>
            <a:pPr lvl="0" indent="0" marL="0">
              <a:buNone/>
            </a:pPr>
            <a:r>
              <a:rPr/>
              <a:t>Head, Allen, and Alok Kumar. 2005. “Price Dispersion, Inflation, and Welfare.” </a:t>
            </a:r>
            <a:r>
              <a:rPr i="1"/>
              <a:t>International Economic Review</a:t>
            </a:r>
            <a:r>
              <a:rPr/>
              <a:t> 46 (2): 533–72. </a:t>
            </a:r>
            <a:r>
              <a:rPr>
                <a:hlinkClick r:id="rId4"/>
              </a:rPr>
              <a:t>https://doi.org/10.1111/j.1468-2354.2005.00333.x</a:t>
            </a:r>
            <a:r>
              <a:rPr/>
              <a:t>.</a:t>
            </a:r>
          </a:p>
          <a:p>
            <a:pPr lvl="0" indent="0" marL="0">
              <a:buNone/>
            </a:pPr>
            <a:r>
              <a:rPr/>
              <a:t>Hercowitz, Zvi. 1981. “Money and the Dispersion of Relative Prices.” </a:t>
            </a:r>
            <a:r>
              <a:rPr i="1"/>
              <a:t>Journal of Political Economy</a:t>
            </a:r>
            <a:r>
              <a:rPr/>
              <a:t> 89 (2): 328–56. </a:t>
            </a:r>
            <a:r>
              <a:rPr>
                <a:hlinkClick r:id="rId5"/>
              </a:rPr>
              <a:t>https://doi.org/10.1086/260968</a:t>
            </a:r>
            <a:r>
              <a:rPr/>
              <a:t>.</a:t>
            </a:r>
          </a:p>
          <a:p>
            <a:pPr lvl="0" indent="0" marL="0">
              <a:buNone/>
            </a:pPr>
            <a:r>
              <a:rPr/>
              <a:t>Koenker, Roger. 2017. “Quantile Regression: 40 Years On.” </a:t>
            </a:r>
            <a:r>
              <a:rPr i="1"/>
              <a:t>Annual Review of Economics</a:t>
            </a:r>
            <a:r>
              <a:rPr/>
              <a:t> 9 (1): 155–76. </a:t>
            </a:r>
            <a:r>
              <a:rPr>
                <a:hlinkClick r:id="rId6"/>
              </a:rPr>
              <a:t>https://doi.org/10.1146/annurev-economics-063016-103651</a:t>
            </a:r>
            <a:r>
              <a:rPr/>
              <a:t>.</a:t>
            </a:r>
          </a:p>
          <a:p>
            <a:pPr lvl="0" indent="0" marL="0">
              <a:buNone/>
            </a:pPr>
            <a:r>
              <a:rPr/>
              <a:t>Lach, Saul, and Daniel Tsiddon. 1992. “The Behavior of Prices and Inflation: An Empirical Analysis of Disaggregat Price Data.” </a:t>
            </a:r>
            <a:r>
              <a:rPr i="1"/>
              <a:t>Journal of Political Economy</a:t>
            </a:r>
            <a:r>
              <a:rPr/>
              <a:t> 100 (2): 349–89. </a:t>
            </a:r>
            <a:r>
              <a:rPr>
                <a:hlinkClick r:id="rId7"/>
              </a:rPr>
              <a:t>https://doi.org/10.1086/261821</a:t>
            </a:r>
            <a:r>
              <a:rPr/>
              <a:t>.</a:t>
            </a:r>
          </a:p>
          <a:p>
            <a:pPr lvl="0" indent="0" marL="0">
              <a:buNone/>
            </a:pPr>
            <a:r>
              <a:rPr/>
              <a:t>Lucas, Robert E. 1973. “Some International Evidence on Output-Inflation Tradeoffs.” </a:t>
            </a:r>
            <a:r>
              <a:rPr i="1"/>
              <a:t>The American Economic Review</a:t>
            </a:r>
            <a:r>
              <a:rPr/>
              <a:t> 63 (3): 326–34. </a:t>
            </a:r>
            <a:r>
              <a:rPr>
                <a:hlinkClick r:id="rId8"/>
              </a:rPr>
              <a:t>https://www.jstor.org/stable/1914364</a:t>
            </a:r>
            <a:r>
              <a:rPr/>
              <a:t>.</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1292-24AE-5F41-8820-196C7D8E36A1}"/>
              </a:ext>
            </a:extLst>
          </p:cNvPr>
          <p:cNvSpPr>
            <a:spLocks noGrp="1"/>
          </p:cNvSpPr>
          <p:nvPr>
            <p:ph type="title"/>
          </p:nvPr>
        </p:nvSpPr>
        <p:spPr>
          <a:xfrm>
            <a:off x="1055553" y="365125"/>
            <a:ext cx="10977744" cy="666233"/>
          </a:xfrm>
        </p:spPr>
        <p:txBody>
          <a:bodyPr/>
          <a:lstStyle/>
          <a:p>
            <a:pPr lvl="0" indent="0" marL="0">
              <a:buNone/>
            </a:pPr>
            <a:r>
              <a:rPr/>
              <a:t>Notes</a:t>
            </a:r>
          </a:p>
        </p:txBody>
      </p:sp>
      <p:sp>
        <p:nvSpPr>
          <p:cNvPr id="3" name="Content Placeholder 2">
            <a:extLst>
              <a:ext uri="{FF2B5EF4-FFF2-40B4-BE49-F238E27FC236}">
                <a16:creationId xmlns:a16="http://schemas.microsoft.com/office/drawing/2014/main" id="{9C966DDB-3364-1B41-9729-DB3686A721C5}"/>
              </a:ext>
            </a:extLst>
          </p:cNvPr>
          <p:cNvSpPr>
            <a:spLocks noGrp="1"/>
          </p:cNvSpPr>
          <p:nvPr>
            <p:ph hasCustomPrompt="1" idx="1"/>
          </p:nvPr>
        </p:nvSpPr>
        <p:spPr/>
        <p:txBody>
          <a:bodyPr/>
          <a:lstStyle/>
          <a:p>
            <a:pPr lvl="0" indent="0" marL="0">
              <a:buNone/>
            </a:pPr>
            <a:r>
              <a:rPr sz="1800"/>
              <a:t>1. The data is available at: http://www.statssa.gov.za/ and the data was seasonally adjusted.</a:t>
            </a:r>
          </a:p>
        </p:txBody>
      </p:sp>
      <p:sp>
        <p:nvSpPr>
          <p:cNvPr id="7" name="Slide Number Placeholder 5">
            <a:extLst>
              <a:ext uri="{FF2B5EF4-FFF2-40B4-BE49-F238E27FC236}">
                <a16:creationId xmlns:a16="http://schemas.microsoft.com/office/drawing/2014/main" id="{FB221DBE-BC54-6C4C-BA1C-95E280B67712}"/>
              </a:ext>
            </a:extLst>
          </p:cNvPr>
          <p:cNvSpPr>
            <a:spLocks noGrp="1"/>
          </p:cNvSpPr>
          <p:nvPr>
            <p:ph idx="12" sz="quarter" type="sldNum"/>
          </p:nvPr>
        </p:nvSpPr>
        <p:spPr>
          <a:xfrm>
            <a:off x="7557977" y="6313820"/>
            <a:ext cx="2743200" cy="365125"/>
          </a:xfrm>
        </p:spPr>
        <p:txBody>
          <a:bodyPr/>
          <a:lstStyle>
            <a:lvl1pPr>
              <a:defRPr sz="1100"/>
            </a:lvl1pPr>
          </a:lstStyle>
          <a:p>
            <a:fld id="{85DA3A08-9E66-614E-AAE5-F810EFDD6885}" type="slidenum">
              <a:rPr lang="en-US" smtClean="0"/>
              <a:pPr/>
              <a:t>‹#›</a:t>
            </a:fld>
            <a:endParaRPr dirty="0" lang="en-US"/>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1671</TotalTime>
  <Words>13</Words>
  <Application>Microsoft Macintosh PowerPoint</Application>
  <PresentationFormat>Widescreen</PresentationFormat>
  <Paragraphs>13</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Relative price dispersion and inflation regimes in South Africa</dc:title>
  <dc:creator>Keagile Lesame and Xolani Sibande | National Treasury of South Africa and South African Reserve Bank</dc:creator>
  <cp:keywords/>
  <dcterms:created xsi:type="dcterms:W3CDTF">2026-02-23T11:39:59Z</dcterms:created>
  <dcterms:modified xsi:type="dcterms:W3CDTF">2026-02-23T11:39:59Z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references.bib</vt:lpwstr>
  </property>
  <property fmtid="{D5CDD505-2E9C-101B-9397-08002B2CF9AE}" pid="5" name="by-author">
    <vt:lpwstr/>
  </property>
  <property fmtid="{D5CDD505-2E9C-101B-9397-08002B2CF9AE}" pid="6" name="crossref">
    <vt:lpwstr/>
  </property>
  <property fmtid="{D5CDD505-2E9C-101B-9397-08002B2CF9AE}" pid="7" name="editor">
    <vt:lpwstr>source</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