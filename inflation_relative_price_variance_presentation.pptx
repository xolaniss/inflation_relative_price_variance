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9" Type="http://schemas.openxmlformats.org/officeDocument/2006/relationships/viewProps" Target="viewProps.xml" /><Relationship Id="rId48" Type="http://schemas.openxmlformats.org/officeDocument/2006/relationships/presProps" Target="presProps.xml" /><Relationship Id="rId1" Type="http://schemas.openxmlformats.org/officeDocument/2006/relationships/slideMaster" Target="slideMasters/slideMaster1.xml" /><Relationship Id="rId51" Type="http://schemas.openxmlformats.org/officeDocument/2006/relationships/tableStyles" Target="tableStyles.xml" /><Relationship Id="rId5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46.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11/j.1538-4616.2010.00307.x" TargetMode="External" /><Relationship Id="rId3" Type="http://schemas.openxmlformats.org/officeDocument/2006/relationships/hyperlink" Target="https://doi.org/10.1111/1468-0335.00195" TargetMode="External" /><Relationship Id="rId4" Type="http://schemas.openxmlformats.org/officeDocument/2006/relationships/hyperlink" Target="https://doi.org/10.1111/j.1468-2354.2005.00333.x" TargetMode="External" /><Relationship Id="rId5" Type="http://schemas.openxmlformats.org/officeDocument/2006/relationships/hyperlink" Target="https://doi.org/10.1086/260968" TargetMode="External" /><Relationship Id="rId6" Type="http://schemas.openxmlformats.org/officeDocument/2006/relationships/hyperlink" Target="https://doi.org/10.1146/annurev-economics-063016-103651" TargetMode="External" /><Relationship Id="rId7" Type="http://schemas.openxmlformats.org/officeDocument/2006/relationships/hyperlink" Target="https://doi.org/10.1086/261821" TargetMode="External" /><Relationship Id="rId8" Type="http://schemas.openxmlformats.org/officeDocument/2006/relationships/hyperlink" Target="https://www.jstor.org/stable/1914364"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Relative price dispersion and inflation regimes in South Africa</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Keagile Lesame and Xolani Sibande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Motivation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sp>
        <p:nvSpPr>
          <p:cNvPr id="3" name="Content Placeholder 2"/>
          <p:cNvSpPr>
            <a:spLocks noGrp="1"/>
          </p:cNvSpPr>
          <p:nvPr>
            <p:ph idx="1"/>
          </p:nvPr>
        </p:nvSpPr>
        <p:spPr/>
        <p:txBody>
          <a:bodyPr/>
          <a:lstStyle/>
          <a:p>
            <a:pPr lvl="0" indent="0" marL="0">
              <a:buNone/>
            </a:pPr>
            <a:r>
              <a:rPr/>
              <a:t>Inflation is known to have adverse welfare effects through its distortion of relative prices which causes the misallocation of resources, production inefficiencies leading to lower real economic activity. This is well supported by both theoretical and empirical studies. This paper contributes to the empirical literature, by examining the relationship between inflation and relative price variability (RPD) in South Africa given the little evidence available and to better understand how this relationship has evolved and the implications for monetary policy.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sp>
        <p:nvSpPr>
          <p:cNvPr id="3" name="Content Placeholder 2"/>
          <p:cNvSpPr>
            <a:spLocks noGrp="1"/>
          </p:cNvSpPr>
          <p:nvPr>
            <p:ph idx="1"/>
          </p:nvPr>
        </p:nvSpPr>
        <p:spPr/>
        <p:txBody>
          <a:bodyPr/>
          <a:lstStyle/>
          <a:p>
            <a:pPr lvl="0" indent="0" marL="0">
              <a:buNone/>
            </a:pPr>
            <a:r>
              <a:rPr/>
              <a:t>The South African context can provide further insights into the relationship between inflation and RPD given the shifts in the inflation targets from 3-6 per cent in 2000 to 4.5 per cent since 2017 as structural changes in inflation can affect the link between inflation and relative price variability (Caglayan and Filiztekin 2003) and that the functional form of relationship is U-shaped and dynamic (Fielding and Mizen 2000; Choi 2010). The latter motivates the estimation of the inflation rate that minimizes relative price distortions since if the relationship was linear then the optimal inflation rate would be zero. Given the inflation target reform towards a 3% in South Africa, this study contributes to the policy discussion on the appropriate inflation target and understating how dynamic relations between inflation and relative price variability has evolved.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sp>
        <p:nvSpPr>
          <p:cNvPr id="3" name="Content Placeholder 2"/>
          <p:cNvSpPr>
            <a:spLocks noGrp="1"/>
          </p:cNvSpPr>
          <p:nvPr>
            <p:ph idx="1"/>
          </p:nvPr>
        </p:nvSpPr>
        <p:spPr/>
        <p:txBody>
          <a:bodyPr/>
          <a:lstStyle/>
          <a:p>
            <a:pPr lvl="0" indent="0" marL="0">
              <a:buNone/>
            </a:pPr>
            <a:r>
              <a:rPr/>
              <a:t>The theoretical literature generally distinguishes between menu-cost and signal extraction models in explaining the positive relation between trend inflation and RPD. In these models’ firms follow a one-sided dynamic pricing rule when setting prices and face fixed non-zero costs of adjusting nominal prices (e.g. printing new menus) when inflation increases as the latter reduces the optimal real price of goods and services. Due to differences in administrative costs, these nominal price adjustment costs vary across firms moreover these adjustments occur at different times which implies staggard price setting behaviour which leads to relative price variability. Menu cost models predict a that higher expected inflation causes an increase in RPD (citations xxx) while Lucas-type signal extraction models (Lucas 1973; Hercowitz 1981; Cukierman 1983) argue unexpected inflation uncertainty causes higher RPD because informational frictions make it difficult to distinguish between idiosyncratic relative shocks or an aggregate (inflationary) shock. Menu cost and signal-extraction models assume a positive and linear relationship making the optimal inflation rate zero, however, recently monetary search models (Head and Kumar 2005) show that this relationship is nonlinear making the optimal inflation rate somewhere between zero and positive inflation rate.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Literature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Relative price dispersion through Lucas’s aggregate supply curve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RPD theoretical framework</a:t>
            </a:r>
          </a:p>
        </p:txBody>
      </p:sp>
      <p:sp>
        <p:nvSpPr>
          <p:cNvPr id="3" name="Content Placeholder 2"/>
          <p:cNvSpPr>
            <a:spLocks noGrp="1"/>
          </p:cNvSpPr>
          <p:nvPr>
            <p:ph idx="1"/>
          </p:nvPr>
        </p:nvSpPr>
        <p:spPr/>
        <p:txBody>
          <a:bodyPr/>
          <a:lstStyle/>
          <a:p>
            <a:pPr lvl="0" indent="0" marL="0">
              <a:buNone/>
            </a:pPr>
            <a:r>
              <a:rPr/>
              <a:t>The concept of relative price dispersion can be abstract and difficult to grasp without a theoretical framework. One of the most influential frameworks for understanding relative price dispersion is the Lucas (1973) aggregate supply curve, which provides insights into how relative price dispersion can explain the output-inflation relationship, otherwise know as the ’natural rate theory. This theory essentially means (in part) that nominal “rigidities” partially dominate short-run supplier behaviour resulting from a lack of information about the some prices relevant to decision making. For our purposes we ignore other aspects of the theoretical framework and emphasis this aspect of the model to provide an understanding relative price dispersion.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RPD theoretical framework</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Lucas (1973) proposes a decomposition of the supply curve, all in logs, into a natural or secular component and a cyclical component as follows:</a:t>
                </a:r>
              </a:p>
              <a:p>
                <a:pPr lvl="0" indent="0" marL="0">
                  <a:buNone/>
                </a:pPr>
                <a14:m>
                  <m:oMathPara xmlns:m="http://schemas.openxmlformats.org/officeDocument/2006/math">
                    <m:oMathParaPr>
                      <m:jc m:val="center"/>
                    </m:oMathParaPr>
                    <m:oMath>
                      <m:sSub>
                        <m:e>
                          <m:r>
                            <m:t>y</m:t>
                          </m:r>
                        </m:e>
                        <m:sub>
                          <m:r>
                            <m:t>t</m:t>
                          </m:r>
                        </m:sub>
                      </m:sSub>
                      <m:d>
                        <m:dPr>
                          <m:begChr m:val="("/>
                          <m:endChr m:val=")"/>
                          <m:sepChr m:val=""/>
                          <m:grow/>
                        </m:dPr>
                        <m:e>
                          <m:r>
                            <m:t>z</m:t>
                          </m:r>
                        </m:e>
                      </m:d>
                      <m:r>
                        <m:rPr>
                          <m:sty m:val="p"/>
                        </m:rPr>
                        <m:t>=</m:t>
                      </m:r>
                      <m:sSub>
                        <m:e>
                          <m:r>
                            <m:t>y</m:t>
                          </m:r>
                        </m:e>
                        <m:sub>
                          <m:r>
                            <m:t>n</m:t>
                          </m:r>
                          <m:r>
                            <m:rPr>
                              <m:sty m:val="p"/>
                            </m:rPr>
                            <m:t>,</m:t>
                          </m:r>
                          <m:r>
                            <m:t>t</m:t>
                          </m:r>
                        </m:sub>
                      </m:sSub>
                      <m:r>
                        <m:rPr>
                          <m:sty m:val="p"/>
                        </m:rPr>
                        <m:t>+</m:t>
                      </m:r>
                      <m:sSub>
                        <m:e>
                          <m:r>
                            <m:t>y</m:t>
                          </m:r>
                        </m:e>
                        <m:sub>
                          <m:r>
                            <m:t>c</m:t>
                          </m:r>
                          <m:r>
                            <m:t>t</m:t>
                          </m:r>
                        </m:sub>
                      </m:sSub>
                      <m:d>
                        <m:dPr>
                          <m:begChr m:val="("/>
                          <m:endChr m:val=")"/>
                          <m:sepChr m:val=""/>
                          <m:grow/>
                        </m:dPr>
                        <m:e>
                          <m:r>
                            <m:t>z</m:t>
                          </m:r>
                        </m:e>
                      </m:d>
                      <m:r>
                        <m:rPr>
                          <m:sty m:val="p"/>
                        </m:rPr>
                        <m:t>,</m:t>
                      </m:r>
                      <m:r>
                        <m:t>  </m:t>
                      </m:r>
                      <m:d>
                        <m:dPr>
                          <m:begChr m:val="("/>
                          <m:endChr m:val=")"/>
                          <m:sepChr m:val=""/>
                          <m:grow/>
                        </m:dPr>
                        <m:e>
                          <m:r>
                            <m:t>1</m:t>
                          </m:r>
                        </m:e>
                      </m:d>
                    </m:oMath>
                  </m:oMathPara>
                </a14:m>
              </a:p>
              <a:p>
                <a:pPr lvl="0" indent="0" marL="0">
                  <a:buNone/>
                </a:pPr>
                <a:r>
                  <a:rPr/>
                  <a:t>where </a:t>
                </a:r>
                <a14:m>
                  <m:oMath xmlns:m="http://schemas.openxmlformats.org/officeDocument/2006/math">
                    <m:sSub>
                      <m:e>
                        <m:r>
                          <m:t>y</m:t>
                        </m:r>
                      </m:e>
                      <m:sub>
                        <m:r>
                          <m:t>t</m:t>
                        </m:r>
                      </m:sub>
                    </m:sSub>
                    <m:d>
                      <m:dPr>
                        <m:begChr m:val="("/>
                        <m:endChr m:val=")"/>
                        <m:sepChr m:val=""/>
                        <m:grow/>
                      </m:dPr>
                      <m:e>
                        <m:r>
                          <m:t>z</m:t>
                        </m:r>
                      </m:e>
                    </m:d>
                  </m:oMath>
                </a14:m>
                <a:r>
                  <a:rPr/>
                  <a:t> is the aggregate supply at time </a:t>
                </a:r>
                <a14:m>
                  <m:oMath xmlns:m="http://schemas.openxmlformats.org/officeDocument/2006/math">
                    <m:r>
                      <m:t>t</m:t>
                    </m:r>
                  </m:oMath>
                </a14:m>
                <a:r>
                  <a:rPr/>
                  <a:t> in market </a:t>
                </a:r>
                <a14:m>
                  <m:oMath xmlns:m="http://schemas.openxmlformats.org/officeDocument/2006/math">
                    <m:r>
                      <m:t>z</m:t>
                    </m:r>
                  </m:oMath>
                </a14:m>
                <a:r>
                  <a:rPr/>
                  <a:t>, </a:t>
                </a:r>
                <a14:m>
                  <m:oMath xmlns:m="http://schemas.openxmlformats.org/officeDocument/2006/math">
                    <m:sSub>
                      <m:e>
                        <m:r>
                          <m:t>y</m:t>
                        </m:r>
                      </m:e>
                      <m:sub>
                        <m:r>
                          <m:t>n</m:t>
                        </m:r>
                        <m:r>
                          <m:rPr>
                            <m:sty m:val="p"/>
                          </m:rPr>
                          <m:t>,</m:t>
                        </m:r>
                        <m:r>
                          <m:t>t</m:t>
                        </m:r>
                      </m:sub>
                    </m:sSub>
                  </m:oMath>
                </a14:m>
                <a:r>
                  <a:rPr/>
                  <a:t> is the natural or secular level of supply at time </a:t>
                </a:r>
                <a14:m>
                  <m:oMath xmlns:m="http://schemas.openxmlformats.org/officeDocument/2006/math">
                    <m:r>
                      <m:t>t</m:t>
                    </m:r>
                  </m:oMath>
                </a14:m>
                <a:r>
                  <a:rPr/>
                  <a:t>, and </a:t>
                </a:r>
                <a14:m>
                  <m:oMath xmlns:m="http://schemas.openxmlformats.org/officeDocument/2006/math">
                    <m:sSub>
                      <m:e>
                        <m:r>
                          <m:t>y</m:t>
                        </m:r>
                      </m:e>
                      <m:sub>
                        <m:r>
                          <m:t>c</m:t>
                        </m:r>
                        <m:r>
                          <m:t>t</m:t>
                        </m:r>
                      </m:sub>
                    </m:sSub>
                  </m:oMath>
                </a14:m>
                <a:r>
                  <a:rPr/>
                  <a:t> is the cyclical component of supply at time </a:t>
                </a:r>
                <a14:m>
                  <m:oMath xmlns:m="http://schemas.openxmlformats.org/officeDocument/2006/math">
                    <m:r>
                      <m:t>t</m:t>
                    </m:r>
                  </m:oMath>
                </a14:m>
                <a:r>
                  <a:rPr/>
                  <a:t>. Competitive markets and a cleared labour market are assumed, meaning that the slope of the supply curve can only reflect the degree of information frictions and the speed of price adjustment related to labour and product markets. Furthermore, the demand for goods in each period is assumed to be unevenly distributed, leading to relative price and general price level movements leading. It is this imperfect information of the suppliers about the general price level that leads to relative price dispersion and the output-inflation relationship.</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RPD theoretical framework</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In addition, the natural or secular level of supply is assumed to follow a linear trend as follows:</a:t>
                </a:r>
              </a:p>
              <a:p>
                <a:pPr lvl="0" indent="0" marL="0">
                  <a:buNone/>
                </a:pPr>
                <a14:m>
                  <m:oMathPara xmlns:m="http://schemas.openxmlformats.org/officeDocument/2006/math">
                    <m:oMathParaPr>
                      <m:jc m:val="center"/>
                    </m:oMathParaPr>
                    <m:oMath>
                      <m:sSub>
                        <m:e>
                          <m:r>
                            <m:t>y</m:t>
                          </m:r>
                        </m:e>
                        <m:sub>
                          <m:r>
                            <m:t>n</m:t>
                          </m:r>
                          <m:r>
                            <m:rPr>
                              <m:sty m:val="p"/>
                            </m:rPr>
                            <m:t>,</m:t>
                          </m:r>
                          <m:r>
                            <m:t>t</m:t>
                          </m:r>
                        </m:sub>
                      </m:sSub>
                      <m:r>
                        <m:rPr>
                          <m:sty m:val="p"/>
                        </m:rPr>
                        <m:t>=</m:t>
                      </m:r>
                      <m:r>
                        <m:t>α</m:t>
                      </m:r>
                      <m:r>
                        <m:rPr>
                          <m:sty m:val="p"/>
                        </m:rPr>
                        <m:t>+</m:t>
                      </m:r>
                      <m:r>
                        <m:t>β</m:t>
                      </m:r>
                      <m:r>
                        <m:t>t</m:t>
                      </m:r>
                      <m:r>
                        <m:rPr>
                          <m:sty m:val="p"/>
                        </m:rPr>
                        <m:t>,</m:t>
                      </m:r>
                      <m:r>
                        <m:t>  </m:t>
                      </m:r>
                      <m:d>
                        <m:dPr>
                          <m:begChr m:val="("/>
                          <m:endChr m:val=")"/>
                          <m:sepChr m:val=""/>
                          <m:grow/>
                        </m:dPr>
                        <m:e>
                          <m:r>
                            <m:t>2</m:t>
                          </m:r>
                        </m:e>
                      </m:d>
                    </m:oMath>
                  </m:oMathPara>
                </a14:m>
              </a:p>
              <a:p>
                <a:pPr lvl="0" indent="0" marL="0">
                  <a:buNone/>
                </a:pPr>
                <a:r>
                  <a:rPr/>
                  <a:t>where </a:t>
                </a:r>
                <a14:m>
                  <m:oMath xmlns:m="http://schemas.openxmlformats.org/officeDocument/2006/math">
                    <m:r>
                      <m:t>α</m:t>
                    </m:r>
                  </m:oMath>
                </a14:m>
                <a:r>
                  <a:rPr/>
                  <a:t> is a constant and </a:t>
                </a:r>
                <a14:m>
                  <m:oMath xmlns:m="http://schemas.openxmlformats.org/officeDocument/2006/math">
                    <m:r>
                      <m:t>β</m:t>
                    </m:r>
                  </m:oMath>
                </a14:m>
                <a:r>
                  <a:rPr/>
                  <a:t> captures the trend growth rate of the natural level of supply.</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RPD theoretical framework</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cyclical component varies with the perceived relative price (the difference between the actual price level and the expected price level) and its lags as follows:</a:t>
                </a:r>
              </a:p>
              <a:p>
                <a:pPr lvl="0" indent="0" marL="0">
                  <a:buNone/>
                </a:pPr>
                <a14:m>
                  <m:oMathPara xmlns:m="http://schemas.openxmlformats.org/officeDocument/2006/math">
                    <m:oMathParaPr>
                      <m:jc m:val="center"/>
                    </m:oMathParaPr>
                    <m:oMath>
                      <m:sSub>
                        <m:e>
                          <m:r>
                            <m:t>y</m:t>
                          </m:r>
                        </m:e>
                        <m:sub>
                          <m:r>
                            <m:t>c</m:t>
                          </m:r>
                          <m:r>
                            <m:t>t</m:t>
                          </m:r>
                        </m:sub>
                      </m:sSub>
                      <m:d>
                        <m:dPr>
                          <m:begChr m:val="("/>
                          <m:endChr m:val=")"/>
                          <m:sepChr m:val=""/>
                          <m:grow/>
                        </m:dPr>
                        <m:e>
                          <m:r>
                            <m:t>z</m:t>
                          </m:r>
                        </m:e>
                      </m:d>
                      <m:r>
                        <m:rPr>
                          <m:sty m:val="p"/>
                        </m:rPr>
                        <m:t>=</m:t>
                      </m:r>
                      <m:r>
                        <m:t>γ</m:t>
                      </m:r>
                      <m:d>
                        <m:dPr>
                          <m:begChr m:val="["/>
                          <m:endChr m:val="]"/>
                          <m:sepChr m:val=""/>
                          <m:grow/>
                        </m:dPr>
                        <m:e>
                          <m:sSub>
                            <m:e>
                              <m:r>
                                <m:t>P</m:t>
                              </m:r>
                            </m:e>
                            <m:sub>
                              <m:r>
                                <m:t>t</m:t>
                              </m:r>
                            </m:sub>
                          </m:sSub>
                          <m:d>
                            <m:dPr>
                              <m:begChr m:val="("/>
                              <m:endChr m:val=")"/>
                              <m:sepChr m:val=""/>
                              <m:grow/>
                            </m:dPr>
                            <m:e>
                              <m:r>
                                <m:t>z</m:t>
                              </m:r>
                            </m:e>
                          </m:d>
                          <m:r>
                            <m:rPr>
                              <m:sty m:val="p"/>
                            </m:rPr>
                            <m:t>−</m:t>
                          </m:r>
                          <m:r>
                            <m:t>E</m:t>
                          </m:r>
                          <m:d>
                            <m:dPr>
                              <m:begChr m:val="("/>
                              <m:endChr m:val=")"/>
                              <m:sepChr m:val=""/>
                              <m:grow/>
                            </m:dPr>
                            <m:e>
                              <m:sSub>
                                <m:e>
                                  <m:r>
                                    <m:t>P</m:t>
                                  </m:r>
                                </m:e>
                                <m:sub>
                                  <m:r>
                                    <m:t>t</m:t>
                                  </m:r>
                                </m:sub>
                              </m:sSub>
                              <m:r>
                                <m:rPr>
                                  <m:sty m:val="p"/>
                                </m:rPr>
                                <m:t>|</m:t>
                              </m:r>
                              <m:sSub>
                                <m:e>
                                  <m:r>
                                    <m:t>I</m:t>
                                  </m:r>
                                </m:e>
                                <m:sub>
                                  <m:r>
                                    <m:t>t</m:t>
                                  </m:r>
                                </m:sub>
                              </m:sSub>
                              <m:d>
                                <m:dPr>
                                  <m:begChr m:val="("/>
                                  <m:endChr m:val=")"/>
                                  <m:sepChr m:val=""/>
                                  <m:grow/>
                                </m:dPr>
                                <m:e>
                                  <m:r>
                                    <m:t>z</m:t>
                                  </m:r>
                                </m:e>
                              </m:d>
                            </m:e>
                          </m:d>
                        </m:e>
                      </m:d>
                      <m:r>
                        <m:rPr>
                          <m:sty m:val="p"/>
                        </m:rPr>
                        <m:t>+</m:t>
                      </m:r>
                      <m:r>
                        <m:t>λ</m:t>
                      </m:r>
                      <m:sSub>
                        <m:e>
                          <m:r>
                            <m:t>y</m:t>
                          </m:r>
                        </m:e>
                        <m:sub>
                          <m:r>
                            <m:t>c</m:t>
                          </m:r>
                          <m:r>
                            <m:rPr>
                              <m:sty m:val="p"/>
                            </m:rPr>
                            <m:t>,</m:t>
                          </m:r>
                          <m:r>
                            <m:t>t</m:t>
                          </m:r>
                          <m:r>
                            <m:rPr>
                              <m:sty m:val="p"/>
                            </m:rPr>
                            <m:t>−</m:t>
                          </m:r>
                          <m:r>
                            <m:t>1</m:t>
                          </m:r>
                        </m:sub>
                      </m:sSub>
                      <m:d>
                        <m:dPr>
                          <m:begChr m:val="("/>
                          <m:endChr m:val=")"/>
                          <m:sepChr m:val=""/>
                          <m:grow/>
                        </m:dPr>
                        <m:e>
                          <m:r>
                            <m:t>z</m:t>
                          </m:r>
                        </m:e>
                      </m:d>
                      <m:r>
                        <m:rPr>
                          <m:sty m:val="p"/>
                        </m:rPr>
                        <m:t>,</m:t>
                      </m:r>
                      <m:r>
                        <m:t>  </m:t>
                      </m:r>
                      <m:d>
                        <m:dPr>
                          <m:begChr m:val="("/>
                          <m:endChr m:val=")"/>
                          <m:sepChr m:val=""/>
                          <m:grow/>
                        </m:dPr>
                        <m:e>
                          <m:r>
                            <m:t>3</m:t>
                          </m:r>
                        </m:e>
                      </m:d>
                    </m:oMath>
                  </m:oMathPara>
                </a14:m>
              </a:p>
              <a:p>
                <a:pPr lvl="0" indent="0" marL="0">
                  <a:buNone/>
                </a:pPr>
                <a:r>
                  <a:rPr/>
                  <a:t>where </a:t>
                </a:r>
                <a14:m>
                  <m:oMath xmlns:m="http://schemas.openxmlformats.org/officeDocument/2006/math">
                    <m:r>
                      <m:t>γ</m:t>
                    </m:r>
                  </m:oMath>
                </a14:m>
                <a:r>
                  <a:rPr/>
                  <a:t> captures the sensitivity of supply to the perceived relative price, </a:t>
                </a:r>
                <a14:m>
                  <m:oMath xmlns:m="http://schemas.openxmlformats.org/officeDocument/2006/math">
                    <m:sSub>
                      <m:e>
                        <m:r>
                          <m:t>P</m:t>
                        </m:r>
                      </m:e>
                      <m:sub>
                        <m:r>
                          <m:t>t</m:t>
                        </m:r>
                      </m:sub>
                    </m:sSub>
                    <m:d>
                      <m:dPr>
                        <m:begChr m:val="("/>
                        <m:endChr m:val=")"/>
                        <m:sepChr m:val=""/>
                        <m:grow/>
                      </m:dPr>
                      <m:e>
                        <m:r>
                          <m:t>z</m:t>
                        </m:r>
                      </m:e>
                    </m:d>
                  </m:oMath>
                </a14:m>
                <a:r>
                  <a:rPr/>
                  <a:t> is the actual price level in market </a:t>
                </a:r>
                <a14:m>
                  <m:oMath xmlns:m="http://schemas.openxmlformats.org/officeDocument/2006/math">
                    <m:r>
                      <m:t>z</m:t>
                    </m:r>
                  </m:oMath>
                </a14:m>
                <a:r>
                  <a:rPr/>
                  <a:t> at time </a:t>
                </a:r>
                <a14:m>
                  <m:oMath xmlns:m="http://schemas.openxmlformats.org/officeDocument/2006/math">
                    <m:r>
                      <m:t>t</m:t>
                    </m:r>
                  </m:oMath>
                </a14:m>
                <a:r>
                  <a:rPr/>
                  <a:t>, </a:t>
                </a:r>
                <a14:m>
                  <m:oMath xmlns:m="http://schemas.openxmlformats.org/officeDocument/2006/math">
                    <m:r>
                      <m:t>E</m:t>
                    </m:r>
                    <m:d>
                      <m:dPr>
                        <m:begChr m:val="("/>
                        <m:endChr m:val=")"/>
                        <m:sepChr m:val=""/>
                        <m:grow/>
                      </m:dPr>
                      <m:e>
                        <m:sSub>
                          <m:e>
                            <m:r>
                              <m:t>P</m:t>
                            </m:r>
                          </m:e>
                          <m:sub>
                            <m:r>
                              <m:t>t</m:t>
                            </m:r>
                          </m:sub>
                        </m:sSub>
                        <m:r>
                          <m:rPr>
                            <m:sty m:val="p"/>
                          </m:rPr>
                          <m:t>|</m:t>
                        </m:r>
                        <m:sSub>
                          <m:e>
                            <m:r>
                              <m:t>I</m:t>
                            </m:r>
                          </m:e>
                          <m:sub>
                            <m:r>
                              <m:t>t</m:t>
                            </m:r>
                          </m:sub>
                        </m:sSub>
                        <m:d>
                          <m:dPr>
                            <m:begChr m:val="("/>
                            <m:endChr m:val=")"/>
                            <m:sepChr m:val=""/>
                            <m:grow/>
                          </m:dPr>
                          <m:e>
                            <m:r>
                              <m:t>z</m:t>
                            </m:r>
                          </m:e>
                        </m:d>
                      </m:e>
                    </m:d>
                  </m:oMath>
                </a14:m>
                <a:r>
                  <a:rPr/>
                  <a:t> is the expected price level based on information available at time </a:t>
                </a:r>
                <a14:m>
                  <m:oMath xmlns:m="http://schemas.openxmlformats.org/officeDocument/2006/math">
                    <m:r>
                      <m:t>t</m:t>
                    </m:r>
                  </m:oMath>
                </a14:m>
                <a:r>
                  <a:rPr/>
                  <a:t> in market </a:t>
                </a:r>
                <a14:m>
                  <m:oMath xmlns:m="http://schemas.openxmlformats.org/officeDocument/2006/math">
                    <m:r>
                      <m:t>z</m:t>
                    </m:r>
                  </m:oMath>
                </a14:m>
                <a:r>
                  <a:rPr/>
                  <a:t>, and </a:t>
                </a:r>
                <a14:m>
                  <m:oMath xmlns:m="http://schemas.openxmlformats.org/officeDocument/2006/math">
                    <m:r>
                      <m:t>λ</m:t>
                    </m:r>
                  </m:oMath>
                </a14:m>
                <a:r>
                  <a:rPr/>
                  <a:t> captures the persistence of the cyclical component and </a:t>
                </a:r>
                <a14:m>
                  <m:oMath xmlns:m="http://schemas.openxmlformats.org/officeDocument/2006/math">
                    <m:d>
                      <m:dPr>
                        <m:begChr m:val="|"/>
                        <m:endChr m:val="|"/>
                        <m:sepChr m:val=""/>
                        <m:grow/>
                      </m:dPr>
                      <m:e>
                        <m:r>
                          <m:t>λ</m:t>
                        </m:r>
                      </m:e>
                    </m:d>
                    <m:r>
                      <m:rPr>
                        <m:sty m:val="p"/>
                      </m:rPr>
                      <m:t>&lt;</m:t>
                    </m:r>
                    <m:r>
                      <m:t>1</m:t>
                    </m:r>
                  </m:oMath>
                </a14:m>
                <a:r>
                  <a:rPr/>
                  <a:t>. </a:t>
                </a:r>
                <a14:m>
                  <m:oMath xmlns:m="http://schemas.openxmlformats.org/officeDocument/2006/math">
                    <m:r>
                      <m:t>E</m:t>
                    </m:r>
                    <m:d>
                      <m:dPr>
                        <m:begChr m:val="("/>
                        <m:endChr m:val=")"/>
                        <m:sepChr m:val=""/>
                        <m:grow/>
                      </m:dPr>
                      <m:e>
                        <m:sSub>
                          <m:e>
                            <m:r>
                              <m:t>P</m:t>
                            </m:r>
                          </m:e>
                          <m:sub>
                            <m:r>
                              <m:t>t</m:t>
                            </m:r>
                          </m:sub>
                        </m:sSub>
                        <m:r>
                          <m:rPr>
                            <m:sty m:val="p"/>
                          </m:rPr>
                          <m:t>|</m:t>
                        </m:r>
                        <m:sSub>
                          <m:e>
                            <m:r>
                              <m:t>I</m:t>
                            </m:r>
                          </m:e>
                          <m:sub>
                            <m:r>
                              <m:t>t</m:t>
                            </m:r>
                          </m:sub>
                        </m:sSub>
                        <m:d>
                          <m:dPr>
                            <m:begChr m:val="("/>
                            <m:endChr m:val=")"/>
                            <m:sepChr m:val=""/>
                            <m:grow/>
                          </m:dPr>
                          <m:e>
                            <m:r>
                              <m:t>z</m:t>
                            </m:r>
                          </m:e>
                        </m:d>
                      </m:e>
                    </m:d>
                  </m:oMath>
                </a14:m>
                <a:r>
                  <a:rPr/>
                  <a:t> is current expected price level conditioned on information that is available at time </a:t>
                </a:r>
                <a14:m>
                  <m:oMath xmlns:m="http://schemas.openxmlformats.org/officeDocument/2006/math">
                    <m:r>
                      <m:t>t</m:t>
                    </m:r>
                  </m:oMath>
                </a14:m>
                <a:r>
                  <a:rPr/>
                  <a:t>, at market </a:t>
                </a:r>
                <a14:m>
                  <m:oMath xmlns:m="http://schemas.openxmlformats.org/officeDocument/2006/math">
                    <m:r>
                      <m:t>z</m:t>
                    </m:r>
                  </m:oMath>
                </a14:m>
                <a:r>
                  <a:rPr/>
                  <a:t>. The available information set (</a:t>
                </a:r>
                <a14:m>
                  <m:oMath xmlns:m="http://schemas.openxmlformats.org/officeDocument/2006/math">
                    <m:sSub>
                      <m:e>
                        <m:r>
                          <m:t>I</m:t>
                        </m:r>
                      </m:e>
                      <m:sub>
                        <m:r>
                          <m:t>t</m:t>
                        </m:r>
                      </m:sub>
                    </m:sSub>
                    <m:d>
                      <m:dPr>
                        <m:begChr m:val="("/>
                        <m:endChr m:val=")"/>
                        <m:sepChr m:val=""/>
                        <m:grow/>
                      </m:dPr>
                      <m:e>
                        <m:r>
                          <m:t>z</m:t>
                        </m:r>
                      </m:e>
                    </m:d>
                  </m:oMath>
                </a14:m>
                <a:r>
                  <a:rPr/>
                  <a:t>) comprises of past demand driven shifts of the secular component (</a:t>
                </a:r>
                <a14:m>
                  <m:oMath xmlns:m="http://schemas.openxmlformats.org/officeDocument/2006/math">
                    <m:sSub>
                      <m:e>
                        <m:r>
                          <m:t>y</m:t>
                        </m:r>
                      </m:e>
                      <m:sub>
                        <m:r>
                          <m:t>n</m:t>
                        </m:r>
                        <m:r>
                          <m:rPr>
                            <m:sty m:val="p"/>
                          </m:rPr>
                          <m:t>,</m:t>
                        </m:r>
                        <m:r>
                          <m:t>t</m:t>
                        </m:r>
                      </m:sub>
                    </m:sSub>
                  </m:oMath>
                </a14:m>
                <a:r>
                  <a:rPr/>
                  <a:t>), and the past deviations of the cyclical component (</a:t>
                </a:r>
                <a14:m>
                  <m:oMath xmlns:m="http://schemas.openxmlformats.org/officeDocument/2006/math">
                    <m:sSub>
                      <m:e>
                        <m:r>
                          <m:t>y</m:t>
                        </m:r>
                      </m:e>
                      <m:sub>
                        <m:r>
                          <m:t>c</m:t>
                        </m:r>
                        <m:r>
                          <m:rPr>
                            <m:sty m:val="p"/>
                          </m:rPr>
                          <m:t>,</m:t>
                        </m:r>
                        <m:r>
                          <m:t>t</m:t>
                        </m:r>
                        <m:r>
                          <m:rPr>
                            <m:sty m:val="p"/>
                          </m:rPr>
                          <m:t>−</m:t>
                        </m:r>
                        <m:r>
                          <m:t>1</m:t>
                        </m:r>
                      </m:sub>
                    </m:sSub>
                    <m:r>
                      <m:rPr>
                        <m:sty m:val="p"/>
                      </m:rPr>
                      <m:t>,</m:t>
                    </m:r>
                    <m:sSub>
                      <m:e>
                        <m:r>
                          <m:t>y</m:t>
                        </m:r>
                      </m:e>
                      <m:sub>
                        <m:r>
                          <m:t>c</m:t>
                        </m:r>
                        <m:r>
                          <m:rPr>
                            <m:sty m:val="p"/>
                          </m:rPr>
                          <m:t>,</m:t>
                        </m:r>
                        <m:r>
                          <m:t>t</m:t>
                        </m:r>
                        <m:r>
                          <m:rPr>
                            <m:sty m:val="p"/>
                          </m:rPr>
                          <m:t>−</m:t>
                        </m:r>
                        <m:r>
                          <m:t>2</m:t>
                        </m:r>
                      </m:sub>
                    </m:sSub>
                    <m:r>
                      <m:rPr>
                        <m:sty m:val="p"/>
                      </m:rPr>
                      <m:t>,</m:t>
                    </m:r>
                    <m:r>
                      <m:rPr>
                        <m:sty m:val="p"/>
                      </m:rPr>
                      <m:t>.</m:t>
                    </m:r>
                    <m:r>
                      <m:rPr>
                        <m:sty m:val="p"/>
                      </m:rPr>
                      <m:t>.</m:t>
                    </m:r>
                    <m:r>
                      <m:rPr>
                        <m:sty m:val="p"/>
                      </m:rPr>
                      <m:t>.</m:t>
                    </m:r>
                  </m:oMath>
                </a14:m>
                <a:r>
                  <a:rPr/>
                  <a:t>) from its natural level.</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RPD theoretical framework</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current general price level (</a:t>
                </a:r>
                <a14:m>
                  <m:oMath xmlns:m="http://schemas.openxmlformats.org/officeDocument/2006/math">
                    <m:sSub>
                      <m:e>
                        <m:r>
                          <m:t>P</m:t>
                        </m:r>
                      </m:e>
                      <m:sub>
                        <m:r>
                          <m:t>t</m:t>
                        </m:r>
                      </m:sub>
                    </m:sSub>
                  </m:oMath>
                </a14:m>
                <a:r>
                  <a:rPr/>
                  <a:t>), which determines ‘prior’ expectations common across all suppliers in all markets, is assumed to be </a:t>
                </a:r>
                <a14:m>
                  <m:oMath xmlns:m="http://schemas.openxmlformats.org/officeDocument/2006/math">
                    <m:sSub>
                      <m:e>
                        <m:r>
                          <m:t>P</m:t>
                        </m:r>
                      </m:e>
                      <m:sub>
                        <m:r>
                          <m:t>t</m:t>
                        </m:r>
                      </m:sub>
                    </m:sSub>
                    <m:r>
                      <m:rPr>
                        <m:sty m:val="p"/>
                      </m:rPr>
                      <m:t>∼</m:t>
                    </m:r>
                    <m:r>
                      <m:t>N</m:t>
                    </m:r>
                    <m:d>
                      <m:dPr>
                        <m:begChr m:val="("/>
                        <m:endChr m:val=")"/>
                        <m:sepChr m:val=""/>
                        <m:grow/>
                      </m:dPr>
                      <m:e>
                        <m:bar>
                          <m:barPr>
                            <m:pos m:val="top"/>
                          </m:barPr>
                          <m:e>
                            <m:sSub>
                              <m:e>
                                <m:r>
                                  <m:t>P</m:t>
                                </m:r>
                              </m:e>
                              <m:sub>
                                <m:r>
                                  <m:t>t</m:t>
                                </m:r>
                              </m:sub>
                            </m:sSub>
                          </m:e>
                        </m:bar>
                        <m:r>
                          <m:rPr>
                            <m:sty m:val="p"/>
                          </m:rPr>
                          <m:t>,</m:t>
                        </m:r>
                        <m:sSup>
                          <m:e>
                            <m:r>
                              <m:t>σ</m:t>
                            </m:r>
                          </m:e>
                          <m:sup>
                            <m:r>
                              <m:t>2</m:t>
                            </m:r>
                          </m:sup>
                        </m:sSup>
                      </m:e>
                    </m:d>
                    <m:r>
                      <m:rPr>
                        <m:sty m:val="p"/>
                      </m:rPr>
                      <m:t>,</m:t>
                    </m:r>
                  </m:oMath>
                </a14:m>
                <a:r>
                  <a:rPr/>
                  <a:t> where </a:t>
                </a:r>
                <a14:m>
                  <m:oMath xmlns:m="http://schemas.openxmlformats.org/officeDocument/2006/math">
                    <m:bar>
                      <m:barPr>
                        <m:pos m:val="top"/>
                      </m:barPr>
                      <m:e>
                        <m:sSub>
                          <m:e>
                            <m:r>
                              <m:t>P</m:t>
                            </m:r>
                          </m:e>
                          <m:sub>
                            <m:r>
                              <m:t>t</m:t>
                            </m:r>
                          </m:sub>
                        </m:sSub>
                      </m:e>
                    </m:bar>
                  </m:oMath>
                </a14:m>
                <a:r>
                  <a:rPr/>
                  <a:t> is the mean price level at time </a:t>
                </a:r>
                <a14:m>
                  <m:oMath xmlns:m="http://schemas.openxmlformats.org/officeDocument/2006/math">
                    <m:r>
                      <m:t>t</m:t>
                    </m:r>
                  </m:oMath>
                </a14:m>
                <a:r>
                  <a:rPr/>
                  <a:t> and </a:t>
                </a:r>
                <a14:m>
                  <m:oMath xmlns:m="http://schemas.openxmlformats.org/officeDocument/2006/math">
                    <m:sSup>
                      <m:e>
                        <m:r>
                          <m:t>σ</m:t>
                        </m:r>
                      </m:e>
                      <m:sup>
                        <m:r>
                          <m:t>2</m:t>
                        </m:r>
                      </m:sup>
                    </m:sSup>
                  </m:oMath>
                </a14:m>
                <a:r>
                  <a:rPr/>
                  <a:t> is the variance of the price level at time </a:t>
                </a:r>
                <a14:m>
                  <m:oMath xmlns:m="http://schemas.openxmlformats.org/officeDocument/2006/math">
                    <m:r>
                      <m:t>t</m:t>
                    </m:r>
                  </m:oMath>
                </a14:m>
                <a:r>
                  <a:rPr/>
                  <a:t>. Furthermore, Lucas (1973) defines </a:t>
                </a:r>
                <a14:m>
                  <m:oMath xmlns:m="http://schemas.openxmlformats.org/officeDocument/2006/math">
                    <m:sSub>
                      <m:e>
                        <m:r>
                          <m:t>z</m:t>
                        </m:r>
                      </m:e>
                      <m:sub>
                        <m:r>
                          <m:t>t</m:t>
                        </m:r>
                      </m:sub>
                    </m:sSub>
                  </m:oMath>
                </a14:m>
                <a:r>
                  <a:rPr/>
                  <a:t> as the percentage deviation of the actual market price from the general price level as </a:t>
                </a:r>
                <a14:m>
                  <m:oMath xmlns:m="http://schemas.openxmlformats.org/officeDocument/2006/math">
                    <m:r>
                      <m:t>z</m:t>
                    </m:r>
                    <m:limUpp>
                      <m:e>
                        <m:r>
                          <m:rPr>
                            <m:sty m:val="p"/>
                          </m:rPr>
                          <m:t>∼</m:t>
                        </m:r>
                      </m:e>
                      <m:lim>
                        <m:r>
                          <m:rPr>
                            <m:nor/>
                            <m:sty m:val="p"/>
                          </m:rPr>
                          <m:t>iid</m:t>
                        </m:r>
                      </m:lim>
                    </m:limUpp>
                    <m:r>
                      <m:t>N</m:t>
                    </m:r>
                    <m:d>
                      <m:dPr>
                        <m:begChr m:val="("/>
                        <m:endChr m:val=")"/>
                        <m:sepChr m:val=""/>
                        <m:grow/>
                      </m:dPr>
                      <m:e>
                        <m:r>
                          <m:t>0</m:t>
                        </m:r>
                        <m:r>
                          <m:rPr>
                            <m:sty m:val="p"/>
                          </m:rPr>
                          <m:t>,</m:t>
                        </m:r>
                        <m:sSup>
                          <m:e>
                            <m:r>
                              <m:t>τ</m:t>
                            </m:r>
                          </m:e>
                          <m:sup>
                            <m:r>
                              <m:t>2</m:t>
                            </m:r>
                          </m:sup>
                        </m:sSup>
                      </m:e>
                    </m:d>
                    <m:r>
                      <m:rPr>
                        <m:sty m:val="p"/>
                      </m:rPr>
                      <m:t>,</m:t>
                    </m:r>
                  </m:oMath>
                </a14:m>
                <a:r>
                  <a:rPr/>
                  <a:t> where </a:t>
                </a:r>
                <a14:m>
                  <m:oMath xmlns:m="http://schemas.openxmlformats.org/officeDocument/2006/math">
                    <m:sSup>
                      <m:e>
                        <m:r>
                          <m:t>τ</m:t>
                        </m:r>
                      </m:e>
                      <m:sup>
                        <m:r>
                          <m:t>2</m:t>
                        </m:r>
                      </m:sup>
                    </m:sSup>
                  </m:oMath>
                </a14:m>
                <a:r>
                  <a:rPr/>
                  <a:t> is the variance of </a:t>
                </a:r>
                <a14:m>
                  <m:oMath xmlns:m="http://schemas.openxmlformats.org/officeDocument/2006/math">
                    <m:r>
                      <m:t>z</m:t>
                    </m:r>
                  </m:oMath>
                </a14:m>
                <a:r>
                  <a:rPr/>
                  <a:t>. Therefore, the actual price level in market </a:t>
                </a:r>
                <a14:m>
                  <m:oMath xmlns:m="http://schemas.openxmlformats.org/officeDocument/2006/math">
                    <m:r>
                      <m:t>z</m:t>
                    </m:r>
                  </m:oMath>
                </a14:m>
                <a:r>
                  <a:rPr/>
                  <a:t> at time </a:t>
                </a:r>
                <a14:m>
                  <m:oMath xmlns:m="http://schemas.openxmlformats.org/officeDocument/2006/math">
                    <m:r>
                      <m:t>t</m:t>
                    </m:r>
                  </m:oMath>
                </a14:m>
                <a:r>
                  <a:rPr/>
                  <a:t> can be expressed as:</a:t>
                </a:r>
              </a:p>
              <a:p>
                <a:pPr lvl="0" indent="0" marL="0">
                  <a:buNone/>
                </a:pPr>
                <a14:m>
                  <m:oMathPara xmlns:m="http://schemas.openxmlformats.org/officeDocument/2006/math">
                    <m:oMathParaPr>
                      <m:jc m:val="center"/>
                    </m:oMathParaPr>
                    <m:oMath>
                      <m:sSub>
                        <m:e>
                          <m:r>
                            <m:t>P</m:t>
                          </m:r>
                        </m:e>
                        <m:sub>
                          <m:r>
                            <m:t>t</m:t>
                          </m:r>
                        </m:sub>
                      </m:sSub>
                      <m:d>
                        <m:dPr>
                          <m:begChr m:val="("/>
                          <m:endChr m:val=")"/>
                          <m:sepChr m:val=""/>
                          <m:grow/>
                        </m:dPr>
                        <m:e>
                          <m:r>
                            <m:t>z</m:t>
                          </m:r>
                        </m:e>
                      </m:d>
                      <m:r>
                        <m:rPr>
                          <m:sty m:val="p"/>
                        </m:rPr>
                        <m:t>=</m:t>
                      </m:r>
                      <m:sSub>
                        <m:e>
                          <m:r>
                            <m:t>P</m:t>
                          </m:r>
                        </m:e>
                        <m:sub>
                          <m:r>
                            <m:t>t</m:t>
                          </m:r>
                        </m:sub>
                      </m:sSub>
                      <m:r>
                        <m:rPr>
                          <m:sty m:val="p"/>
                        </m:rPr>
                        <m:t>+</m:t>
                      </m:r>
                      <m:r>
                        <m:t>z</m:t>
                      </m:r>
                      <m:r>
                        <m:rPr>
                          <m:sty m:val="p"/>
                        </m:rPr>
                        <m:t>,</m:t>
                      </m:r>
                      <m:r>
                        <m:t>  </m:t>
                      </m:r>
                      <m:d>
                        <m:dPr>
                          <m:begChr m:val="("/>
                          <m:endChr m:val=")"/>
                          <m:sepChr m:val=""/>
                          <m:grow/>
                        </m:dPr>
                        <m:e>
                          <m:r>
                            <m:t>4</m:t>
                          </m:r>
                        </m:e>
                      </m:d>
                    </m:oMath>
                  </m:oMathPara>
                </a14:m>
              </a:p>
              <a:p>
                <a:pPr lvl="0" indent="0" marL="0">
                  <a:buNone/>
                </a:pPr>
                <a:r>
                  <a:rPr/>
                  <a:t>where </a:t>
                </a:r>
                <a14:m>
                  <m:oMath xmlns:m="http://schemas.openxmlformats.org/officeDocument/2006/math">
                    <m:sSub>
                      <m:e>
                        <m:r>
                          <m:t>P</m:t>
                        </m:r>
                      </m:e>
                      <m:sub>
                        <m:r>
                          <m:t>t</m:t>
                        </m:r>
                      </m:sub>
                    </m:sSub>
                    <m:d>
                      <m:dPr>
                        <m:begChr m:val="("/>
                        <m:endChr m:val=")"/>
                        <m:sepChr m:val=""/>
                        <m:grow/>
                      </m:dPr>
                      <m:e>
                        <m:r>
                          <m:t>z</m:t>
                        </m:r>
                      </m:e>
                    </m:d>
                  </m:oMath>
                </a14:m>
                <a:r>
                  <a:rPr/>
                  <a:t> is the actual price in market </a:t>
                </a:r>
                <a14:m>
                  <m:oMath xmlns:m="http://schemas.openxmlformats.org/officeDocument/2006/math">
                    <m:r>
                      <m:t>z</m:t>
                    </m:r>
                  </m:oMath>
                </a14:m>
                <a:r>
                  <a:rPr/>
                  <a:t> at time </a:t>
                </a:r>
                <a14:m>
                  <m:oMath xmlns:m="http://schemas.openxmlformats.org/officeDocument/2006/math">
                    <m:r>
                      <m:t>t</m:t>
                    </m:r>
                  </m:oMath>
                </a14:m>
                <a:r>
                  <a:rPr/>
                  <a:t> (that is the markets are indexed to z), </a:t>
                </a:r>
                <a14:m>
                  <m:oMath xmlns:m="http://schemas.openxmlformats.org/officeDocument/2006/math">
                    <m:sSub>
                      <m:e>
                        <m:r>
                          <m:t>P</m:t>
                        </m:r>
                      </m:e>
                      <m:sub>
                        <m:r>
                          <m:t>t</m:t>
                        </m:r>
                      </m:sub>
                    </m:sSub>
                  </m:oMath>
                </a14:m>
                <a:r>
                  <a:rPr/>
                  <a:t> is the current general price level at time </a:t>
                </a:r>
                <a14:m>
                  <m:oMath xmlns:m="http://schemas.openxmlformats.org/officeDocument/2006/math">
                    <m:r>
                      <m:t>t</m:t>
                    </m:r>
                  </m:oMath>
                </a14:m>
                <a:r>
                  <a:rPr/>
                  <a:t>, and </a:t>
                </a:r>
                <a14:m>
                  <m:oMath xmlns:m="http://schemas.openxmlformats.org/officeDocument/2006/math">
                    <m:r>
                      <m:t>z</m:t>
                    </m:r>
                  </m:oMath>
                </a14:m>
                <a:r>
                  <a:rPr/>
                  <a:t> is the percentage deviation of the actual market price from the general price level. However, </a:t>
                </a:r>
                <a14:m>
                  <m:oMath xmlns:m="http://schemas.openxmlformats.org/officeDocument/2006/math">
                    <m:sSub>
                      <m:e>
                        <m:r>
                          <m:t>P</m:t>
                        </m:r>
                      </m:e>
                      <m:sub>
                        <m:r>
                          <m:t>t</m:t>
                        </m:r>
                      </m:sub>
                    </m:sSub>
                  </m:oMath>
                </a14:m>
                <a:r>
                  <a:rPr/>
                  <a:t> is unobserved by traders, and therefore </a:t>
                </a:r>
                <a14:m>
                  <m:oMath xmlns:m="http://schemas.openxmlformats.org/officeDocument/2006/math">
                    <m:sSub>
                      <m:e>
                        <m:r>
                          <m:t>I</m:t>
                        </m:r>
                      </m:e>
                      <m:sub>
                        <m:r>
                          <m:t>t</m:t>
                        </m:r>
                      </m:sub>
                    </m:sSub>
                    <m:d>
                      <m:dPr>
                        <m:begChr m:val="("/>
                        <m:endChr m:val=")"/>
                        <m:sepChr m:val=""/>
                        <m:grow/>
                      </m:dPr>
                      <m:e>
                        <m:r>
                          <m:t>z</m:t>
                        </m:r>
                      </m:e>
                    </m:d>
                  </m:oMath>
                </a14:m>
                <a:r>
                  <a:rPr/>
                  <a:t> is used to estimate the expected price level (</a:t>
                </a:r>
                <a14:m>
                  <m:oMath xmlns:m="http://schemas.openxmlformats.org/officeDocument/2006/math">
                    <m:r>
                      <m:t>E</m:t>
                    </m:r>
                    <m:d>
                      <m:dPr>
                        <m:begChr m:val="("/>
                        <m:endChr m:val=")"/>
                        <m:sepChr m:val=""/>
                        <m:grow/>
                      </m:dPr>
                      <m:e>
                        <m:sSub>
                          <m:e>
                            <m:r>
                              <m:t>P</m:t>
                            </m:r>
                          </m:e>
                          <m:sub>
                            <m:r>
                              <m:t>t</m:t>
                            </m:r>
                          </m:sub>
                        </m:sSub>
                        <m:r>
                          <m:rPr>
                            <m:sty m:val="p"/>
                          </m:rPr>
                          <m:t>|</m:t>
                        </m:r>
                        <m:sSub>
                          <m:e>
                            <m:r>
                              <m:t>I</m:t>
                            </m:r>
                          </m:e>
                          <m:sub>
                            <m:r>
                              <m:t>t</m:t>
                            </m:r>
                          </m:sub>
                        </m:sSub>
                        <m:d>
                          <m:dPr>
                            <m:begChr m:val="("/>
                            <m:endChr m:val=")"/>
                            <m:sepChr m:val=""/>
                            <m:grow/>
                          </m:dPr>
                          <m:e>
                            <m:r>
                              <m:t>z</m:t>
                            </m:r>
                          </m:e>
                        </m:d>
                      </m:e>
                    </m:d>
                  </m:oMath>
                </a14:m>
                <a:r>
                  <a:rPr/>
                  <a: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RPD theoretical framework</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expected price level based on information available at time </a:t>
                </a:r>
                <a14:m>
                  <m:oMath xmlns:m="http://schemas.openxmlformats.org/officeDocument/2006/math">
                    <m:r>
                      <m:t>t</m:t>
                    </m:r>
                  </m:oMath>
                </a14:m>
                <a:r>
                  <a:rPr/>
                  <a:t> in market </a:t>
                </a:r>
                <a14:m>
                  <m:oMath xmlns:m="http://schemas.openxmlformats.org/officeDocument/2006/math">
                    <m:r>
                      <m:t>z</m:t>
                    </m:r>
                  </m:oMath>
                </a14:m>
                <a:r>
                  <a:rPr/>
                  <a:t> can be derived using Bayes’ rule as follows:</a:t>
                </a:r>
              </a:p>
              <a:p>
                <a:pPr lvl="0" indent="0" marL="0">
                  <a:buNone/>
                </a:pPr>
                <a14:m>
                  <m:oMathPara xmlns:m="http://schemas.openxmlformats.org/officeDocument/2006/math">
                    <m:oMathParaPr>
                      <m:jc m:val="center"/>
                    </m:oMathParaPr>
                    <m:oMath>
                      <m:r>
                        <m:t>E</m:t>
                      </m:r>
                      <m:d>
                        <m:dPr>
                          <m:begChr m:val="("/>
                          <m:endChr m:val=")"/>
                          <m:sepChr m:val=""/>
                          <m:grow/>
                        </m:dPr>
                        <m:e>
                          <m:sSub>
                            <m:e>
                              <m:r>
                                <m:t>P</m:t>
                              </m:r>
                            </m:e>
                            <m:sub>
                              <m:r>
                                <m:t>t</m:t>
                              </m:r>
                            </m:sub>
                          </m:sSub>
                          <m:r>
                            <m:rPr>
                              <m:sty m:val="p"/>
                            </m:rPr>
                            <m:t>|</m:t>
                          </m:r>
                          <m:sSub>
                            <m:e>
                              <m:r>
                                <m:t>I</m:t>
                              </m:r>
                            </m:e>
                            <m:sub>
                              <m:r>
                                <m:t>t</m:t>
                              </m:r>
                            </m:sub>
                          </m:sSub>
                          <m:d>
                            <m:dPr>
                              <m:begChr m:val="("/>
                              <m:endChr m:val=")"/>
                              <m:sepChr m:val=""/>
                              <m:grow/>
                            </m:dPr>
                            <m:e>
                              <m:r>
                                <m:t>z</m:t>
                              </m:r>
                            </m:e>
                          </m:d>
                        </m:e>
                      </m:d>
                      <m:r>
                        <m:rPr>
                          <m:sty m:val="p"/>
                        </m:rPr>
                        <m:t>=</m:t>
                      </m:r>
                      <m:r>
                        <m:t>E</m:t>
                      </m:r>
                      <m:d>
                        <m:dPr>
                          <m:begChr m:val="("/>
                          <m:endChr m:val=")"/>
                          <m:sepChr m:val=""/>
                          <m:grow/>
                        </m:dPr>
                        <m:e>
                          <m:sSub>
                            <m:e>
                              <m:r>
                                <m:t>P</m:t>
                              </m:r>
                            </m:e>
                            <m:sub>
                              <m:r>
                                <m:t>t</m:t>
                              </m:r>
                            </m:sub>
                          </m:sSub>
                          <m:r>
                            <m:rPr>
                              <m:sty m:val="p"/>
                            </m:rPr>
                            <m:t>|</m:t>
                          </m:r>
                          <m:sSub>
                            <m:e>
                              <m:r>
                                <m:t>P</m:t>
                              </m:r>
                            </m:e>
                            <m:sub>
                              <m:r>
                                <m:t>t</m:t>
                              </m:r>
                            </m:sub>
                          </m:sSub>
                          <m:d>
                            <m:dPr>
                              <m:begChr m:val="("/>
                              <m:endChr m:val=")"/>
                              <m:sepChr m:val=""/>
                              <m:grow/>
                            </m:dPr>
                            <m:e>
                              <m:r>
                                <m:t>z</m:t>
                              </m:r>
                            </m:e>
                          </m:d>
                          <m:r>
                            <m:rPr>
                              <m:sty m:val="p"/>
                            </m:rPr>
                            <m:t>,</m:t>
                          </m:r>
                          <m:bar>
                            <m:barPr>
                              <m:pos m:val="top"/>
                            </m:barPr>
                            <m:e>
                              <m:sSub>
                                <m:e>
                                  <m:r>
                                    <m:t>P</m:t>
                                  </m:r>
                                </m:e>
                                <m:sub>
                                  <m:r>
                                    <m:t>t</m:t>
                                  </m:r>
                                </m:sub>
                              </m:sSub>
                            </m:e>
                          </m:bar>
                        </m:e>
                      </m:d>
                      <m:r>
                        <m:rPr>
                          <m:sty m:val="p"/>
                        </m:rPr>
                        <m:t>=</m:t>
                      </m:r>
                      <m:d>
                        <m:dPr>
                          <m:begChr m:val="("/>
                          <m:endChr m:val=")"/>
                          <m:sepChr m:val=""/>
                          <m:grow/>
                        </m:dPr>
                        <m:e>
                          <m:r>
                            <m:t>1</m:t>
                          </m:r>
                          <m:r>
                            <m:rPr>
                              <m:sty m:val="p"/>
                            </m:rPr>
                            <m:t>−</m:t>
                          </m:r>
                          <m:r>
                            <m:t>θ</m:t>
                          </m:r>
                        </m:e>
                      </m:d>
                      <m:sSub>
                        <m:e>
                          <m:r>
                            <m:t>P</m:t>
                          </m:r>
                        </m:e>
                        <m:sub>
                          <m:r>
                            <m:t>t</m:t>
                          </m:r>
                        </m:sub>
                      </m:sSub>
                      <m:d>
                        <m:dPr>
                          <m:begChr m:val="("/>
                          <m:endChr m:val=")"/>
                          <m:sepChr m:val=""/>
                          <m:grow/>
                        </m:dPr>
                        <m:e>
                          <m:r>
                            <m:t>z</m:t>
                          </m:r>
                        </m:e>
                      </m:d>
                      <m:r>
                        <m:rPr>
                          <m:sty m:val="p"/>
                        </m:rPr>
                        <m:t>+</m:t>
                      </m:r>
                      <m:r>
                        <m:t>θ</m:t>
                      </m:r>
                      <m:bar>
                        <m:barPr>
                          <m:pos m:val="top"/>
                        </m:barPr>
                        <m:e>
                          <m:r>
                            <m:t>P</m:t>
                          </m:r>
                          <m:r>
                            <m:t>t</m:t>
                          </m:r>
                        </m:e>
                      </m:bar>
                      <m:r>
                        <m:rPr>
                          <m:sty m:val="p"/>
                        </m:rPr>
                        <m:t>,</m:t>
                      </m:r>
                      <m:r>
                        <m:t>  </m:t>
                      </m:r>
                      <m:d>
                        <m:dPr>
                          <m:begChr m:val="("/>
                          <m:endChr m:val=")"/>
                          <m:sepChr m:val=""/>
                          <m:grow/>
                        </m:dPr>
                        <m:e>
                          <m:r>
                            <m:t>5</m:t>
                          </m:r>
                        </m:e>
                      </m:d>
                    </m:oMath>
                  </m:oMathPara>
                </a14:m>
              </a:p>
              <a:p>
                <a:pPr lvl="0" indent="0" marL="0">
                  <a:buNone/>
                </a:pPr>
                <a:r>
                  <a:rPr/>
                  <a:t>where </a:t>
                </a:r>
                <a14:m>
                  <m:oMath xmlns:m="http://schemas.openxmlformats.org/officeDocument/2006/math">
                    <m:r>
                      <m:t>θ</m:t>
                    </m:r>
                    <m:r>
                      <m:rPr>
                        <m:sty m:val="p"/>
                      </m:rPr>
                      <m:t>=</m:t>
                    </m:r>
                    <m:f>
                      <m:fPr>
                        <m:type m:val="bar"/>
                      </m:fPr>
                      <m:num>
                        <m:sSup>
                          <m:e>
                            <m:r>
                              <m:t>τ</m:t>
                            </m:r>
                          </m:e>
                          <m:sup>
                            <m:r>
                              <m:t>2</m:t>
                            </m:r>
                          </m:sup>
                        </m:sSup>
                      </m:num>
                      <m:den>
                        <m:d>
                          <m:dPr>
                            <m:begChr m:val="("/>
                            <m:endChr m:val=")"/>
                            <m:sepChr m:val=""/>
                            <m:grow/>
                          </m:dPr>
                          <m:e>
                            <m:sSup>
                              <m:e>
                                <m:r>
                                  <m:t>σ</m:t>
                                </m:r>
                              </m:e>
                              <m:sup>
                                <m:r>
                                  <m:t>2</m:t>
                                </m:r>
                              </m:sup>
                            </m:sSup>
                            <m:r>
                              <m:rPr>
                                <m:sty m:val="p"/>
                              </m:rPr>
                              <m:t>+</m:t>
                            </m:r>
                            <m:sSup>
                              <m:e>
                                <m:r>
                                  <m:t>τ</m:t>
                                </m:r>
                              </m:e>
                              <m:sup>
                                <m:r>
                                  <m:t>2</m:t>
                                </m:r>
                              </m:sup>
                            </m:sSup>
                          </m:e>
                        </m:d>
                      </m:den>
                    </m:f>
                  </m:oMath>
                </a14:m>
                <a:r>
                  <a:rPr/>
                  <a:t> is the weight placed on the mean price level (</a:t>
                </a:r>
                <a14:m>
                  <m:oMath xmlns:m="http://schemas.openxmlformats.org/officeDocument/2006/math">
                    <m:bar>
                      <m:barPr>
                        <m:pos m:val="top"/>
                      </m:barPr>
                      <m:e>
                        <m:sSub>
                          <m:e>
                            <m:r>
                              <m:t>P</m:t>
                            </m:r>
                          </m:e>
                          <m:sub>
                            <m:r>
                              <m:t>t</m:t>
                            </m:r>
                          </m:sub>
                        </m:sSub>
                      </m:e>
                    </m:bar>
                  </m:oMath>
                </a14:m>
                <a:r>
                  <a:rPr/>
                  <a:t>) in forming expectations.</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RPD theoretical framework</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Combining Equation 1, Equation 4, and Equation 5 by substitution yields the following:</a:t>
                </a:r>
              </a:p>
              <a:p>
                <a:pPr lvl="0" indent="0" marL="0">
                  <a:buNone/>
                </a:pPr>
                <a14:m>
                  <m:oMathPara xmlns:m="http://schemas.openxmlformats.org/officeDocument/2006/math">
                    <m:oMathParaPr>
                      <m:jc m:val="center"/>
                    </m:oMathParaPr>
                    <m:oMath>
                      <m:sSub>
                        <m:e>
                          <m:r>
                            <m:t>y</m:t>
                          </m:r>
                        </m:e>
                        <m:sub>
                          <m:r>
                            <m:t>t</m:t>
                          </m:r>
                        </m:sub>
                      </m:sSub>
                      <m:d>
                        <m:dPr>
                          <m:begChr m:val="("/>
                          <m:endChr m:val=")"/>
                          <m:sepChr m:val=""/>
                          <m:grow/>
                        </m:dPr>
                        <m:e>
                          <m:r>
                            <m:t>z</m:t>
                          </m:r>
                        </m:e>
                      </m:d>
                      <m:r>
                        <m:rPr>
                          <m:sty m:val="p"/>
                        </m:rPr>
                        <m:t>=</m:t>
                      </m:r>
                      <m:sSub>
                        <m:e>
                          <m:r>
                            <m:t>y</m:t>
                          </m:r>
                        </m:e>
                        <m:sub>
                          <m:r>
                            <m:t>n</m:t>
                          </m:r>
                          <m:r>
                            <m:t>t</m:t>
                          </m:r>
                        </m:sub>
                      </m:sSub>
                      <m:r>
                        <m:rPr>
                          <m:sty m:val="p"/>
                        </m:rPr>
                        <m:t>+</m:t>
                      </m:r>
                      <m:r>
                        <m:t>θ</m:t>
                      </m:r>
                      <m:r>
                        <m:t>γ</m:t>
                      </m:r>
                      <m:d>
                        <m:dPr>
                          <m:begChr m:val="["/>
                          <m:endChr m:val="]"/>
                          <m:sepChr m:val=""/>
                          <m:grow/>
                        </m:dPr>
                        <m:e>
                          <m:sSub>
                            <m:e>
                              <m:r>
                                <m:t>P</m:t>
                              </m:r>
                            </m:e>
                            <m:sub>
                              <m:r>
                                <m:t>t</m:t>
                              </m:r>
                            </m:sub>
                          </m:sSub>
                          <m:d>
                            <m:dPr>
                              <m:begChr m:val="("/>
                              <m:endChr m:val=")"/>
                              <m:sepChr m:val=""/>
                              <m:grow/>
                            </m:dPr>
                            <m:e>
                              <m:r>
                                <m:t>z</m:t>
                              </m:r>
                            </m:e>
                          </m:d>
                          <m:r>
                            <m:rPr>
                              <m:sty m:val="p"/>
                            </m:rPr>
                            <m:t>−</m:t>
                          </m:r>
                          <m:bar>
                            <m:barPr>
                              <m:pos m:val="top"/>
                            </m:barPr>
                            <m:e>
                              <m:sSub>
                                <m:e>
                                  <m:r>
                                    <m:t>P</m:t>
                                  </m:r>
                                </m:e>
                                <m:sub>
                                  <m:r>
                                    <m:t>t</m:t>
                                  </m:r>
                                </m:sub>
                              </m:sSub>
                            </m:e>
                          </m:bar>
                        </m:e>
                      </m:d>
                      <m:r>
                        <m:rPr>
                          <m:sty m:val="p"/>
                        </m:rPr>
                        <m:t>+</m:t>
                      </m:r>
                      <m:r>
                        <m:t>λ</m:t>
                      </m:r>
                      <m:sSub>
                        <m:e>
                          <m:r>
                            <m:t>y</m:t>
                          </m:r>
                        </m:e>
                        <m:sub>
                          <m:r>
                            <m:t>c</m:t>
                          </m:r>
                          <m:r>
                            <m:rPr>
                              <m:sty m:val="p"/>
                            </m:rPr>
                            <m:t>,</m:t>
                          </m:r>
                          <m:r>
                            <m:t>t</m:t>
                          </m:r>
                          <m:r>
                            <m:rPr>
                              <m:sty m:val="p"/>
                            </m:rPr>
                            <m:t>−</m:t>
                          </m:r>
                          <m:r>
                            <m:t>1</m:t>
                          </m:r>
                        </m:sub>
                      </m:sSub>
                      <m:r>
                        <m:t>  </m:t>
                      </m:r>
                      <m:d>
                        <m:dPr>
                          <m:begChr m:val="("/>
                          <m:endChr m:val=")"/>
                          <m:sepChr m:val=""/>
                          <m:grow/>
                        </m:dPr>
                        <m:e>
                          <m:r>
                            <m:t>6</m:t>
                          </m:r>
                        </m:e>
                      </m:d>
                    </m:oMath>
                  </m:oMathPara>
                </a14:m>
              </a:p>
              <a:p>
                <a:pPr lvl="0" indent="0" marL="0">
                  <a:buNone/>
                </a:pPr>
                <a:r>
                  <a:rPr/>
                  <a:t>where the current supply in market </a:t>
                </a:r>
                <a14:m>
                  <m:oMath xmlns:m="http://schemas.openxmlformats.org/officeDocument/2006/math">
                    <m:r>
                      <m:t>z</m:t>
                    </m:r>
                  </m:oMath>
                </a14:m>
                <a:r>
                  <a:rPr/>
                  <a:t> at time </a:t>
                </a:r>
                <a14:m>
                  <m:oMath xmlns:m="http://schemas.openxmlformats.org/officeDocument/2006/math">
                    <m:r>
                      <m:t>t</m:t>
                    </m:r>
                  </m:oMath>
                </a14:m>
                <a:r>
                  <a:rPr/>
                  <a:t> is a function of the natural level of supply, the perceived relative price (the difference between the actual price level in market </a:t>
                </a:r>
                <a14:m>
                  <m:oMath xmlns:m="http://schemas.openxmlformats.org/officeDocument/2006/math">
                    <m:r>
                      <m:t>z</m:t>
                    </m:r>
                  </m:oMath>
                </a14:m>
                <a:r>
                  <a:rPr/>
                  <a:t> and the mean price level), and the lagged cyclical component.</a:t>
                </a:r>
              </a:p>
            </p:txBody>
          </p:sp>
        </mc:Choice>
      </mc:AlternateContent>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RPD theoretical framework</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Finally, aggregating across all markets (or integrating over all markets) yields the following aggregate supply curve:</a:t>
                </a:r>
              </a:p>
              <a:p>
                <a:pPr lvl="0" indent="0" marL="0">
                  <a:buNone/>
                </a:pPr>
                <a14:m>
                  <m:oMathPara xmlns:m="http://schemas.openxmlformats.org/officeDocument/2006/math">
                    <m:oMathParaPr>
                      <m:jc m:val="center"/>
                    </m:oMathParaPr>
                    <m:oMath>
                      <m:sSub>
                        <m:e>
                          <m:r>
                            <m:t>y</m:t>
                          </m:r>
                        </m:e>
                        <m:sub>
                          <m:r>
                            <m:t>t</m:t>
                          </m:r>
                        </m:sub>
                      </m:sSub>
                      <m:r>
                        <m:rPr>
                          <m:sty m:val="p"/>
                        </m:rPr>
                        <m:t>=</m:t>
                      </m:r>
                      <m:sSub>
                        <m:e>
                          <m:r>
                            <m:t>y</m:t>
                          </m:r>
                        </m:e>
                        <m:sub>
                          <m:r>
                            <m:t>n</m:t>
                          </m:r>
                          <m:r>
                            <m:t>t</m:t>
                          </m:r>
                        </m:sub>
                      </m:sSub>
                      <m:r>
                        <m:rPr>
                          <m:sty m:val="p"/>
                        </m:rPr>
                        <m:t>+</m:t>
                      </m:r>
                      <m:r>
                        <m:t>θ</m:t>
                      </m:r>
                      <m:r>
                        <m:t>γ</m:t>
                      </m:r>
                      <m:d>
                        <m:dPr>
                          <m:begChr m:val="("/>
                          <m:endChr m:val=")"/>
                          <m:sepChr m:val=""/>
                          <m:grow/>
                        </m:dPr>
                        <m:e>
                          <m:sSub>
                            <m:e>
                              <m:r>
                                <m:t>P</m:t>
                              </m:r>
                            </m:e>
                            <m:sub>
                              <m:r>
                                <m:t>t</m:t>
                              </m:r>
                            </m:sub>
                          </m:sSub>
                          <m:r>
                            <m:rPr>
                              <m:sty m:val="p"/>
                            </m:rPr>
                            <m:t>−</m:t>
                          </m:r>
                          <m:bar>
                            <m:barPr>
                              <m:pos m:val="top"/>
                            </m:barPr>
                            <m:e>
                              <m:sSub>
                                <m:e>
                                  <m:r>
                                    <m:t>P</m:t>
                                  </m:r>
                                </m:e>
                                <m:sub>
                                  <m:r>
                                    <m:t>t</m:t>
                                  </m:r>
                                </m:sub>
                              </m:sSub>
                            </m:e>
                          </m:bar>
                        </m:e>
                      </m:d>
                      <m:r>
                        <m:rPr>
                          <m:sty m:val="p"/>
                        </m:rPr>
                        <m:t>+</m:t>
                      </m:r>
                      <m:r>
                        <m:t>λ</m:t>
                      </m:r>
                      <m:d>
                        <m:dPr>
                          <m:begChr m:val="["/>
                          <m:endChr m:val="]"/>
                          <m:sepChr m:val=""/>
                          <m:grow/>
                        </m:dPr>
                        <m:e>
                          <m:sSub>
                            <m:e>
                              <m:r>
                                <m:t>y</m:t>
                              </m:r>
                            </m:e>
                            <m:sub>
                              <m:r>
                                <m:t>t</m:t>
                              </m:r>
                              <m:r>
                                <m:rPr>
                                  <m:sty m:val="p"/>
                                </m:rPr>
                                <m:t>−</m:t>
                              </m:r>
                              <m:r>
                                <m:t>1</m:t>
                              </m:r>
                            </m:sub>
                          </m:sSub>
                          <m:r>
                            <m:rPr>
                              <m:sty m:val="p"/>
                            </m:rPr>
                            <m:t>−</m:t>
                          </m:r>
                          <m:sSub>
                            <m:e>
                              <m:r>
                                <m:t>y</m:t>
                              </m:r>
                            </m:e>
                            <m:sub>
                              <m:r>
                                <m:t>n</m:t>
                              </m:r>
                              <m:r>
                                <m:rPr>
                                  <m:sty m:val="p"/>
                                </m:rPr>
                                <m:t>,</m:t>
                              </m:r>
                              <m:r>
                                <m:t>t</m:t>
                              </m:r>
                              <m:r>
                                <m:rPr>
                                  <m:sty m:val="p"/>
                                </m:rPr>
                                <m:t>−</m:t>
                              </m:r>
                              <m:r>
                                <m:t>1</m:t>
                              </m:r>
                            </m:sub>
                          </m:sSub>
                        </m:e>
                      </m:d>
                      <m:r>
                        <m:t>  </m:t>
                      </m:r>
                      <m:d>
                        <m:dPr>
                          <m:begChr m:val="("/>
                          <m:endChr m:val=")"/>
                          <m:sepChr m:val=""/>
                          <m:grow/>
                        </m:dPr>
                        <m:e>
                          <m:r>
                            <m:t>7</m:t>
                          </m:r>
                        </m:e>
                      </m:d>
                    </m:oMath>
                  </m:oMathPara>
                </a14:m>
              </a:p>
              <a:p>
                <a:pPr lvl="0" indent="0" marL="0">
                  <a:buNone/>
                </a:pPr>
                <a:r>
                  <a:rPr/>
                  <a:t>From Equation 7, we can clearly demonstrate how the relative price dispersion (</a:t>
                </a:r>
                <a14:m>
                  <m:oMath xmlns:m="http://schemas.openxmlformats.org/officeDocument/2006/math">
                    <m:r>
                      <m:t>θ</m:t>
                    </m:r>
                  </m:oMath>
                </a14:m>
                <a:r>
                  <a:rPr/>
                  <a:t>), which is a fraction of the total individual price dispersion (</a:t>
                </a:r>
                <a14:m>
                  <m:oMath xmlns:m="http://schemas.openxmlformats.org/officeDocument/2006/math">
                    <m:sSup>
                      <m:e>
                        <m:r>
                          <m:t>σ</m:t>
                        </m:r>
                      </m:e>
                      <m:sup>
                        <m:r>
                          <m:t>2</m:t>
                        </m:r>
                      </m:sup>
                    </m:sSup>
                    <m:r>
                      <m:rPr>
                        <m:sty m:val="p"/>
                      </m:rPr>
                      <m:t>+</m:t>
                    </m:r>
                    <m:sSup>
                      <m:e>
                        <m:r>
                          <m:t>τ</m:t>
                        </m:r>
                      </m:e>
                      <m:sup>
                        <m:r>
                          <m:t>2</m:t>
                        </m:r>
                      </m:sup>
                    </m:sSup>
                  </m:oMath>
                </a14:m>
                <a:r>
                  <a:rPr/>
                  <a:t>), affects the aggregate supply curve, and therefore the output-inflation relationship. That is, </a:t>
                </a:r>
                <a14:m>
                  <m:oMath xmlns:m="http://schemas.openxmlformats.org/officeDocument/2006/math">
                    <m:r>
                      <m:t>θ</m:t>
                    </m:r>
                    <m:r>
                      <m:rPr>
                        <m:sty m:val="p"/>
                      </m:rPr>
                      <m:t>↑</m:t>
                    </m:r>
                  </m:oMath>
                </a14:m>
                <a:r>
                  <a:rPr/>
                  <a:t> in </a:t>
                </a:r>
                <a14:m>
                  <m:oMath xmlns:m="http://schemas.openxmlformats.org/officeDocument/2006/math">
                    <m:sSup>
                      <m:e>
                        <m:r>
                          <m:t>τ</m:t>
                        </m:r>
                      </m:e>
                      <m:sup>
                        <m:r>
                          <m:t>2</m:t>
                        </m:r>
                      </m:sup>
                    </m:sSup>
                  </m:oMath>
                </a14:m>
                <a:r>
                  <a:rPr/>
                  <a:t> and </a:t>
                </a:r>
                <a14:m>
                  <m:oMath xmlns:m="http://schemas.openxmlformats.org/officeDocument/2006/math">
                    <m:r>
                      <m:rPr>
                        <m:sty m:val="p"/>
                      </m:rPr>
                      <m:t>↓</m:t>
                    </m:r>
                  </m:oMath>
                </a14:m>
                <a:r>
                  <a:rPr/>
                  <a:t> in </a:t>
                </a:r>
                <a14:m>
                  <m:oMath xmlns:m="http://schemas.openxmlformats.org/officeDocument/2006/math">
                    <m:sSup>
                      <m:e>
                        <m:r>
                          <m:t>σ</m:t>
                        </m:r>
                      </m:e>
                      <m:sup>
                        <m:r>
                          <m:t>2</m:t>
                        </m:r>
                      </m:sup>
                    </m:sSup>
                  </m:oMath>
                </a14:m>
                <a:r>
                  <a:rPr/>
                  <a:t>. Meaning that when </a:t>
                </a:r>
                <a14:m>
                  <m:oMath xmlns:m="http://schemas.openxmlformats.org/officeDocument/2006/math">
                    <m:r>
                      <m:t>θ</m:t>
                    </m:r>
                    <m:r>
                      <m:rPr>
                        <m:sty m:val="p"/>
                      </m:rPr>
                      <m:t>↑</m:t>
                    </m:r>
                  </m:oMath>
                </a14:m>
                <a:r>
                  <a:rPr/>
                  <a:t>, the aggregate supply curve becomes flatter, and the output-inflation relationship becomes stronger. And when </a:t>
                </a:r>
                <a14:m>
                  <m:oMath xmlns:m="http://schemas.openxmlformats.org/officeDocument/2006/math">
                    <m:r>
                      <m:t>θ</m:t>
                    </m:r>
                    <m:r>
                      <m:rPr>
                        <m:sty m:val="p"/>
                      </m:rPr>
                      <m:t>↓</m:t>
                    </m:r>
                  </m:oMath>
                </a14:m>
                <a:r>
                  <a:rPr/>
                  <a:t>, the slope is restricted by </a:t>
                </a:r>
                <a14:m>
                  <m:oMath xmlns:m="http://schemas.openxmlformats.org/officeDocument/2006/math">
                    <m:r>
                      <m:t>γ</m:t>
                    </m:r>
                  </m:oMath>
                </a14:m>
                <a:r>
                  <a:rPr/>
                  <a:t>. Therefore, the relative price variance (</a:t>
                </a:r>
                <a14:m>
                  <m:oMath xmlns:m="http://schemas.openxmlformats.org/officeDocument/2006/math">
                    <m:r>
                      <m:t>θ</m:t>
                    </m:r>
                  </m:oMath>
                </a14:m>
                <a:r>
                  <a:rPr/>
                  <a:t>), in this context, is a key determinant of the slope of the aggregate supply curve and the strength of the output-inflation relationship.</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Empirical literaturer review</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Data and methodology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a:t>
            </a:r>
          </a:p>
        </p:txBody>
      </p:sp>
      <p:sp>
        <p:nvSpPr>
          <p:cNvPr id="3" name="Content Placeholder 2"/>
          <p:cNvSpPr>
            <a:spLocks noGrp="1"/>
          </p:cNvSpPr>
          <p:nvPr>
            <p:ph idx="1"/>
          </p:nvPr>
        </p:nvSpPr>
        <p:spPr/>
        <p:txBody>
          <a:bodyPr/>
          <a:lstStyle/>
          <a:p>
            <a:pPr lvl="0" indent="0" marL="0">
              <a:buNone/>
            </a:pPr>
            <a:r>
              <a:rPr/>
              <a:t>Our analysis uses monthly inflation data on 45 goods categories from January 2009 to November 2025 obtained from Statistics South Africa (Stats SA).</a:t>
            </a:r>
            <a:r>
              <a:rPr baseline="30000">
                <a:hlinkClick r:id="rId2" action="ppaction://hlinksldjump"/>
              </a:rPr>
              <a:t>1</a:t>
            </a:r>
            <a:r>
              <a:rPr/>
              <a:t> . Figure 1 below shows the long term inflation rate in South Africa, and Figure 2 in the appendix shows the various price categories used in the analysis. Table 1 provides the descriptive statistics of the inflation rates for the various price categories used in the analysis.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a:t>
            </a:r>
          </a:p>
        </p:txBody>
      </p:sp>
      <p:pic>
        <p:nvPicPr>
          <p:cNvPr descr="inflation_relative_price_variance_presentation_files/figure-pptx/fig-headline_inflation-1.png" id="0" name="Picture 1"/>
          <p:cNvPicPr>
            <a:picLocks noGrp="1" noChangeAspect="1"/>
          </p:cNvPicPr>
          <p:nvPr/>
        </p:nvPicPr>
        <p:blipFill>
          <a:blip r:embed="rId2"/>
          <a:stretch>
            <a:fillRect/>
          </a:stretch>
        </p:blipFill>
        <p:spPr bwMode="auto">
          <a:xfrm>
            <a:off x="457200" y="1346200"/>
            <a:ext cx="8229600" cy="3086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a:t>
            </a:r>
          </a:p>
        </p:txBody>
      </p:sp>
      <p:pic>
        <p:nvPicPr>
          <p:cNvPr descr="inflation_relative_price_variance_presentation_files/figure-pptx/fig-price_data-1.pn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Methodology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relative price dispersion (RPD) is calculated in line with Lach and Tsiddon (1992) as the weighted standard deviation of individual price inflation rates from the aggregate inflation rate. The RPD is essentially the variability of relative prices of a given product. We first calculate the monthly inflation rate as follows:</a:t>
                </a:r>
              </a:p>
              <a:p>
                <a:pPr lvl="0" indent="0" marL="0">
                  <a:buNone/>
                </a:pPr>
                <a14:m>
                  <m:oMathPara xmlns:m="http://schemas.openxmlformats.org/officeDocument/2006/math">
                    <m:oMathParaPr>
                      <m:jc m:val="center"/>
                    </m:oMathParaPr>
                    <m:oMath>
                      <m:sSub>
                        <m:e>
                          <m:r>
                            <m:t>π</m:t>
                          </m:r>
                        </m:e>
                        <m:sub>
                          <m:r>
                            <m:t>i</m:t>
                          </m:r>
                          <m:r>
                            <m:rPr>
                              <m:sty m:val="p"/>
                            </m:rPr>
                            <m:t>,</m:t>
                          </m:r>
                          <m:r>
                            <m:t>t</m:t>
                          </m:r>
                        </m:sub>
                      </m:sSub>
                      <m:r>
                        <m:rPr>
                          <m:sty m:val="p"/>
                        </m:rPr>
                        <m:t>=</m:t>
                      </m:r>
                      <m:r>
                        <m:t>l</m:t>
                      </m:r>
                      <m:r>
                        <m:t>n</m:t>
                      </m:r>
                      <m:d>
                        <m:dPr>
                          <m:begChr m:val="("/>
                          <m:endChr m:val=")"/>
                          <m:sepChr m:val=""/>
                          <m:grow/>
                        </m:dPr>
                        <m:e>
                          <m:f>
                            <m:fPr>
                              <m:type m:val="bar"/>
                            </m:fPr>
                            <m:num>
                              <m:sSub>
                                <m:e>
                                  <m:r>
                                    <m:t>P</m:t>
                                  </m:r>
                                </m:e>
                                <m:sub>
                                  <m:r>
                                    <m:t>i</m:t>
                                  </m:r>
                                  <m:r>
                                    <m:rPr>
                                      <m:sty m:val="p"/>
                                    </m:rPr>
                                    <m:t>,</m:t>
                                  </m:r>
                                  <m:r>
                                    <m:t>t</m:t>
                                  </m:r>
                                </m:sub>
                              </m:sSub>
                            </m:num>
                            <m:den>
                              <m:sSub>
                                <m:e>
                                  <m:r>
                                    <m:t>P</m:t>
                                  </m:r>
                                </m:e>
                                <m:sub>
                                  <m:r>
                                    <m:t>i</m:t>
                                  </m:r>
                                  <m:r>
                                    <m:rPr>
                                      <m:sty m:val="p"/>
                                    </m:rPr>
                                    <m:t>,</m:t>
                                  </m:r>
                                  <m:r>
                                    <m:t>t</m:t>
                                  </m:r>
                                  <m:r>
                                    <m:rPr>
                                      <m:sty m:val="p"/>
                                    </m:rPr>
                                    <m:t>−</m:t>
                                  </m:r>
                                  <m:r>
                                    <m:t>1</m:t>
                                  </m:r>
                                </m:sub>
                              </m:sSub>
                            </m:den>
                          </m:f>
                        </m:e>
                      </m:d>
                      <m:r>
                        <m:rPr>
                          <m:sty m:val="p"/>
                        </m:rPr>
                        <m:t>*</m:t>
                      </m:r>
                      <m:r>
                        <m:t>100</m:t>
                      </m:r>
                      <m:r>
                        <m:rPr>
                          <m:sty m:val="p"/>
                        </m:rPr>
                        <m:t>,</m:t>
                      </m:r>
                      <m:r>
                        <m:t>  </m:t>
                      </m:r>
                      <m:d>
                        <m:dPr>
                          <m:begChr m:val="("/>
                          <m:endChr m:val=")"/>
                          <m:sepChr m:val=""/>
                          <m:grow/>
                        </m:dPr>
                        <m:e>
                          <m:r>
                            <m:t>8</m:t>
                          </m:r>
                        </m:e>
                      </m:d>
                    </m:oMath>
                  </m:oMathPara>
                </a14:m>
              </a:p>
              <a:p>
                <a:pPr lvl="0" indent="0" marL="0">
                  <a:buNone/>
                </a:pPr>
                <a:r>
                  <a:rPr/>
                  <a:t>where </a:t>
                </a:r>
                <a14:m>
                  <m:oMath xmlns:m="http://schemas.openxmlformats.org/officeDocument/2006/math">
                    <m:sSub>
                      <m:e>
                        <m:r>
                          <m:t>π</m:t>
                        </m:r>
                      </m:e>
                      <m:sub>
                        <m:r>
                          <m:t>i</m:t>
                        </m:r>
                        <m:r>
                          <m:rPr>
                            <m:sty m:val="p"/>
                          </m:rPr>
                          <m:t>,</m:t>
                        </m:r>
                        <m:r>
                          <m:t>t</m:t>
                        </m:r>
                      </m:sub>
                    </m:sSub>
                  </m:oMath>
                </a14:m>
                <a:r>
                  <a:rPr/>
                  <a:t> is the inflation rate of good </a:t>
                </a:r>
                <a14:m>
                  <m:oMath xmlns:m="http://schemas.openxmlformats.org/officeDocument/2006/math">
                    <m:r>
                      <m:t>i</m:t>
                    </m:r>
                  </m:oMath>
                </a14:m>
                <a:r>
                  <a:rPr/>
                  <a:t> at time </a:t>
                </a:r>
                <a14:m>
                  <m:oMath xmlns:m="http://schemas.openxmlformats.org/officeDocument/2006/math">
                    <m:r>
                      <m:t>t</m:t>
                    </m:r>
                  </m:oMath>
                </a14:m>
                <a:r>
                  <a:rPr/>
                  <a:t>, </a:t>
                </a:r>
                <a14:m>
                  <m:oMath xmlns:m="http://schemas.openxmlformats.org/officeDocument/2006/math">
                    <m:sSub>
                      <m:e>
                        <m:r>
                          <m:t>P</m:t>
                        </m:r>
                      </m:e>
                      <m:sub>
                        <m:r>
                          <m:t>i</m:t>
                        </m:r>
                        <m:r>
                          <m:rPr>
                            <m:sty m:val="p"/>
                          </m:rPr>
                          <m:t>,</m:t>
                        </m:r>
                        <m:r>
                          <m:t>t</m:t>
                        </m:r>
                      </m:sub>
                    </m:sSub>
                  </m:oMath>
                </a14:m>
                <a:r>
                  <a:rPr/>
                  <a:t> is the price of good </a:t>
                </a:r>
                <a14:m>
                  <m:oMath xmlns:m="http://schemas.openxmlformats.org/officeDocument/2006/math">
                    <m:r>
                      <m:t>i</m:t>
                    </m:r>
                  </m:oMath>
                </a14:m>
                <a:r>
                  <a:rPr/>
                  <a:t> at time </a:t>
                </a:r>
                <a14:m>
                  <m:oMath xmlns:m="http://schemas.openxmlformats.org/officeDocument/2006/math">
                    <m:r>
                      <m:t>t</m:t>
                    </m:r>
                  </m:oMath>
                </a14:m>
                <a:r>
                  <a:rPr/>
                  <a:t>, and </a:t>
                </a:r>
                <a14:m>
                  <m:oMath xmlns:m="http://schemas.openxmlformats.org/officeDocument/2006/math">
                    <m:sSub>
                      <m:e>
                        <m:r>
                          <m:t>P</m:t>
                        </m:r>
                      </m:e>
                      <m:sub>
                        <m:r>
                          <m:t>i</m:t>
                        </m:r>
                        <m:r>
                          <m:rPr>
                            <m:sty m:val="p"/>
                          </m:rPr>
                          <m:t>,</m:t>
                        </m:r>
                        <m:r>
                          <m:t>t</m:t>
                        </m:r>
                        <m:r>
                          <m:rPr>
                            <m:sty m:val="p"/>
                          </m:rPr>
                          <m:t>−</m:t>
                        </m:r>
                        <m:r>
                          <m:t>1</m:t>
                        </m:r>
                      </m:sub>
                    </m:sSub>
                  </m:oMath>
                </a14:m>
                <a:r>
                  <a:rPr/>
                  <a:t> is the price of good </a:t>
                </a:r>
                <a14:m>
                  <m:oMath xmlns:m="http://schemas.openxmlformats.org/officeDocument/2006/math">
                    <m:r>
                      <m:t>i</m:t>
                    </m:r>
                  </m:oMath>
                </a14:m>
                <a:r>
                  <a:rPr/>
                  <a:t> at time </a:t>
                </a:r>
                <a14:m>
                  <m:oMath xmlns:m="http://schemas.openxmlformats.org/officeDocument/2006/math">
                    <m:r>
                      <m:t>t</m:t>
                    </m:r>
                    <m:r>
                      <m:rPr>
                        <m:sty m:val="p"/>
                      </m:rPr>
                      <m:t>−</m:t>
                    </m:r>
                    <m:r>
                      <m:t>1</m:t>
                    </m:r>
                  </m:oMath>
                </a14:m>
                <a:r>
                  <a:rPr/>
                  <a:t>.</a:t>
                </a:r>
              </a:p>
            </p:txBody>
          </p:sp>
        </mc:Choice>
      </mc:AlternateContent>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Methodology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Then, the RPD is calculated as:</a:t>
                </a:r>
              </a:p>
              <a:p>
                <a:pPr lvl="0" indent="0" marL="0">
                  <a:buNone/>
                </a:pPr>
                <a14:m>
                  <m:oMathPara xmlns:m="http://schemas.openxmlformats.org/officeDocument/2006/math">
                    <m:oMathParaPr>
                      <m:jc m:val="center"/>
                    </m:oMathParaPr>
                    <m:oMath>
                      <m:r>
                        <m:t>R</m:t>
                      </m:r>
                      <m:r>
                        <m:t>P</m:t>
                      </m:r>
                      <m:sSub>
                        <m:e>
                          <m:r>
                            <m:t>D</m:t>
                          </m:r>
                        </m:e>
                        <m:sub>
                          <m:r>
                            <m:t>t</m:t>
                          </m:r>
                        </m:sub>
                      </m:sSub>
                      <m:r>
                        <m:rPr>
                          <m:sty m:val="p"/>
                        </m:rPr>
                        <m:t>=</m:t>
                      </m:r>
                      <m:rad>
                        <m:radPr>
                          <m:degHide m:val="on"/>
                        </m:radPr>
                        <m:deg/>
                        <m:e>
                          <m:nary>
                            <m:naryPr>
                              <m:chr m:val="∑"/>
                              <m:limLoc m:val="undOvr"/>
                              <m:subHide m:val="off"/>
                              <m:supHide m:val="off"/>
                            </m:naryPr>
                            <m:sub>
                              <m:r>
                                <m:t>i</m:t>
                              </m:r>
                              <m:r>
                                <m:rPr>
                                  <m:sty m:val="p"/>
                                </m:rPr>
                                <m:t>=</m:t>
                              </m:r>
                              <m:r>
                                <m:t>1</m:t>
                              </m:r>
                            </m:sub>
                            <m:sup>
                              <m:r>
                                <m:t>n</m:t>
                              </m:r>
                            </m:sup>
                            <m:e>
                              <m:sSub>
                                <m:e>
                                  <m:r>
                                    <m:t>ω</m:t>
                                  </m:r>
                                </m:e>
                                <m:sub>
                                  <m:r>
                                    <m:t>i</m:t>
                                  </m:r>
                                </m:sub>
                              </m:sSub>
                            </m:e>
                          </m:nary>
                          <m:sSup>
                            <m:e>
                              <m:d>
                                <m:dPr>
                                  <m:begChr m:val="("/>
                                  <m:endChr m:val=")"/>
                                  <m:sepChr m:val=""/>
                                  <m:grow/>
                                </m:dPr>
                                <m:e>
                                  <m:sSub>
                                    <m:e>
                                      <m:r>
                                        <m:t>π</m:t>
                                      </m:r>
                                    </m:e>
                                    <m:sub>
                                      <m:r>
                                        <m:t>i</m:t>
                                      </m:r>
                                      <m:r>
                                        <m:rPr>
                                          <m:sty m:val="p"/>
                                        </m:rPr>
                                        <m:t>,</m:t>
                                      </m:r>
                                      <m:r>
                                        <m:t>t</m:t>
                                      </m:r>
                                    </m:sub>
                                  </m:sSub>
                                  <m:r>
                                    <m:rPr>
                                      <m:sty m:val="p"/>
                                    </m:rPr>
                                    <m:t>−</m:t>
                                  </m:r>
                                  <m:sSub>
                                    <m:e>
                                      <m:r>
                                        <m:t>π</m:t>
                                      </m:r>
                                    </m:e>
                                    <m:sub>
                                      <m:r>
                                        <m:t>t</m:t>
                                      </m:r>
                                    </m:sub>
                                  </m:sSub>
                                </m:e>
                              </m:d>
                            </m:e>
                            <m:sup>
                              <m:r>
                                <m:t>2</m:t>
                              </m:r>
                            </m:sup>
                          </m:sSup>
                        </m:e>
                      </m:rad>
                      <m:r>
                        <m:rPr>
                          <m:sty m:val="p"/>
                        </m:rPr>
                        <m:t>,</m:t>
                      </m:r>
                      <m:r>
                        <m:t>  </m:t>
                      </m:r>
                      <m:d>
                        <m:dPr>
                          <m:begChr m:val="("/>
                          <m:endChr m:val=")"/>
                          <m:sepChr m:val=""/>
                          <m:grow/>
                        </m:dPr>
                        <m:e>
                          <m:r>
                            <m:t>9</m:t>
                          </m:r>
                        </m:e>
                      </m:d>
                    </m:oMath>
                  </m:oMathPara>
                </a14:m>
              </a:p>
              <a:p>
                <a:pPr lvl="0" indent="0" marL="0">
                  <a:buNone/>
                </a:pPr>
                <a:r>
                  <a:rPr/>
                  <a:t>where </a:t>
                </a:r>
                <a14:m>
                  <m:oMath xmlns:m="http://schemas.openxmlformats.org/officeDocument/2006/math">
                    <m:sSub>
                      <m:e>
                        <m:r>
                          <m:t>ω</m:t>
                        </m:r>
                      </m:e>
                      <m:sub>
                        <m:r>
                          <m:t>j</m:t>
                        </m:r>
                      </m:sub>
                    </m:sSub>
                  </m:oMath>
                </a14:m>
                <a:r>
                  <a:rPr/>
                  <a:t> is the expenditure share of the </a:t>
                </a:r>
                <a14:m>
                  <m:oMath xmlns:m="http://schemas.openxmlformats.org/officeDocument/2006/math">
                    <m:sSup>
                      <m:e>
                        <m:r>
                          <m:t>j</m:t>
                        </m:r>
                      </m:e>
                      <m:sup>
                        <m:r>
                          <m:t>t</m:t>
                        </m:r>
                        <m:r>
                          <m:t>h</m:t>
                        </m:r>
                      </m:sup>
                    </m:sSup>
                  </m:oMath>
                </a14:m>
                <a:r>
                  <a:rPr/>
                  <a:t> good, </a:t>
                </a:r>
                <a14:m>
                  <m:oMath xmlns:m="http://schemas.openxmlformats.org/officeDocument/2006/math">
                    <m:sSub>
                      <m:e>
                        <m:r>
                          <m:t>π</m:t>
                        </m:r>
                      </m:e>
                      <m:sub>
                        <m:r>
                          <m:t>t</m:t>
                        </m:r>
                      </m:sub>
                    </m:sSub>
                  </m:oMath>
                </a14:m>
                <a:r>
                  <a:rPr/>
                  <a:t> is the headline or aggregate inflation rate at time </a:t>
                </a:r>
                <a14:m>
                  <m:oMath xmlns:m="http://schemas.openxmlformats.org/officeDocument/2006/math">
                    <m:r>
                      <m:t>t</m:t>
                    </m:r>
                  </m:oMath>
                </a14:m>
                <a:r>
                  <a:rPr/>
                  <a:t>, and </a:t>
                </a:r>
                <a14:m>
                  <m:oMath xmlns:m="http://schemas.openxmlformats.org/officeDocument/2006/math">
                    <m:nary>
                      <m:naryPr>
                        <m:chr m:val="∑"/>
                        <m:limLoc m:val="undOvr"/>
                        <m:subHide m:val="off"/>
                        <m:supHide m:val="off"/>
                      </m:naryPr>
                      <m:sub>
                        <m:r>
                          <m:t>i</m:t>
                        </m:r>
                        <m:r>
                          <m:rPr>
                            <m:sty m:val="p"/>
                          </m:rPr>
                          <m:t>=</m:t>
                        </m:r>
                        <m:r>
                          <m:t>1</m:t>
                        </m:r>
                      </m:sub>
                      <m:sup>
                        <m:r>
                          <m:t>n</m:t>
                        </m:r>
                      </m:sup>
                      <m:e>
                        <m:sSub>
                          <m:e>
                            <m:r>
                              <m:t>ω</m:t>
                            </m:r>
                          </m:e>
                          <m:sub>
                            <m:r>
                              <m:t>i</m:t>
                            </m:r>
                          </m:sub>
                        </m:sSub>
                      </m:e>
                    </m:nary>
                    <m:r>
                      <m:rPr>
                        <m:sty m:val="p"/>
                      </m:rPr>
                      <m:t>=</m:t>
                    </m:r>
                    <m:r>
                      <m:t>1</m:t>
                    </m:r>
                  </m:oMath>
                </a14:m>
                <a:r>
                  <a:rPr/>
                  <a:t>. The expenditure weights (</a:t>
                </a:r>
                <a14:m>
                  <m:oMath xmlns:m="http://schemas.openxmlformats.org/officeDocument/2006/math">
                    <m:sSub>
                      <m:e>
                        <m:r>
                          <m:t>ω</m:t>
                        </m:r>
                      </m:e>
                      <m:sub>
                        <m:r>
                          <m:t>i</m:t>
                        </m:r>
                      </m:sub>
                    </m:sSub>
                  </m:oMath>
                </a14:m>
                <a:r>
                  <a:rPr/>
                  <a:t>) used are derived from the Consumer Price Index (CPI) basket provided by Stats SA. Figure 3 shows the RPD calculated using the above formula. We use the 2025 CPI Stats SA weights. The weights are shown in </a:t>
                </a:r>
                <a:r>
                  <a:rPr b="1"/>
                  <a:t>?@fig-weights</a:t>
                </a:r>
                <a:r>
                  <a:rPr/>
                  <a:t> in the appendix.</a:t>
                </a:r>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Methodology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To examine the relationship between inflation and RPD, we estimate the following econometric model:</a:t>
                </a:r>
              </a:p>
              <a:p>
                <a:pPr lvl="0" indent="0" marL="0">
                  <a:buNone/>
                </a:pPr>
                <a14:m>
                  <m:oMathPara xmlns:m="http://schemas.openxmlformats.org/officeDocument/2006/math">
                    <m:oMathParaPr>
                      <m:jc m:val="center"/>
                    </m:oMathParaPr>
                    <m:oMath>
                      <m:r>
                        <m:t>R</m:t>
                      </m:r>
                      <m:r>
                        <m:t>P</m:t>
                      </m:r>
                      <m:sSub>
                        <m:e>
                          <m:r>
                            <m:t>D</m:t>
                          </m:r>
                        </m:e>
                        <m:sub>
                          <m:r>
                            <m:t>t</m:t>
                          </m:r>
                        </m:sub>
                      </m:sSub>
                      <m:r>
                        <m:rPr>
                          <m:sty m:val="p"/>
                        </m:rPr>
                        <m:t>=</m:t>
                      </m:r>
                      <m:sSub>
                        <m:e>
                          <m:r>
                            <m:t>β</m:t>
                          </m:r>
                        </m:e>
                        <m:sub>
                          <m:r>
                            <m:t>0</m:t>
                          </m:r>
                        </m:sub>
                      </m:sSub>
                      <m:r>
                        <m:rPr>
                          <m:sty m:val="p"/>
                        </m:rPr>
                        <m:t>+</m:t>
                      </m:r>
                      <m:sSub>
                        <m:e>
                          <m:r>
                            <m:t>β</m:t>
                          </m:r>
                        </m:e>
                        <m:sub>
                          <m:r>
                            <m:t>1</m:t>
                          </m:r>
                        </m:sub>
                      </m:sSub>
                      <m:d>
                        <m:dPr>
                          <m:begChr m:val="|"/>
                          <m:endChr m:val="|"/>
                          <m:sepChr m:val=""/>
                          <m:grow/>
                        </m:dPr>
                        <m:e>
                          <m:sSub>
                            <m:e>
                              <m:r>
                                <m:t>π</m:t>
                              </m:r>
                            </m:e>
                            <m:sub>
                              <m:r>
                                <m:t>t</m:t>
                              </m:r>
                            </m:sub>
                          </m:sSub>
                        </m:e>
                      </m:d>
                      <m:r>
                        <m:rPr>
                          <m:sty m:val="p"/>
                        </m:rPr>
                        <m:t>+</m:t>
                      </m:r>
                      <m:nary>
                        <m:naryPr>
                          <m:chr m:val="∑"/>
                          <m:limLoc m:val="undOvr"/>
                          <m:subHide m:val="off"/>
                          <m:supHide m:val="off"/>
                        </m:naryPr>
                        <m:sub>
                          <m:r>
                            <m:t>h</m:t>
                          </m:r>
                          <m:r>
                            <m:rPr>
                              <m:sty m:val="p"/>
                            </m:rPr>
                            <m:t>=</m:t>
                          </m:r>
                          <m:r>
                            <m:t>1</m:t>
                          </m:r>
                        </m:sub>
                        <m:sup>
                          <m:r>
                            <m:t>3</m:t>
                          </m:r>
                        </m:sup>
                        <m:e>
                          <m:sSub>
                            <m:e>
                              <m:r>
                                <m:t>ω</m:t>
                              </m:r>
                            </m:e>
                            <m:sub>
                              <m:r>
                                <m:t>h</m:t>
                              </m:r>
                            </m:sub>
                          </m:sSub>
                        </m:e>
                      </m:nary>
                      <m:r>
                        <m:t>R</m:t>
                      </m:r>
                      <m:r>
                        <m:t>P</m:t>
                      </m:r>
                      <m:sSub>
                        <m:e>
                          <m:r>
                            <m:t>D</m:t>
                          </m:r>
                        </m:e>
                        <m:sub>
                          <m:r>
                            <m:t>t</m:t>
                          </m:r>
                          <m:r>
                            <m:rPr>
                              <m:sty m:val="p"/>
                            </m:rPr>
                            <m:t>−</m:t>
                          </m:r>
                          <m:r>
                            <m:t>h</m:t>
                          </m:r>
                        </m:sub>
                      </m:sSub>
                      <m:r>
                        <m:rPr>
                          <m:sty m:val="p"/>
                        </m:rPr>
                        <m:t>+</m:t>
                      </m:r>
                      <m:sSub>
                        <m:e>
                          <m:r>
                            <m:t>μ</m:t>
                          </m:r>
                        </m:e>
                        <m:sub>
                          <m:r>
                            <m:t>t</m:t>
                          </m:r>
                        </m:sub>
                      </m:sSub>
                      <m:r>
                        <m:rPr>
                          <m:sty m:val="p"/>
                        </m:rPr>
                        <m:t>,</m:t>
                      </m:r>
                      <m:r>
                        <m:t>  </m:t>
                      </m:r>
                      <m:d>
                        <m:dPr>
                          <m:begChr m:val="("/>
                          <m:endChr m:val=")"/>
                          <m:sepChr m:val=""/>
                          <m:grow/>
                        </m:dPr>
                        <m:e>
                          <m:r>
                            <m:t>10</m:t>
                          </m:r>
                        </m:e>
                      </m:d>
                    </m:oMath>
                  </m:oMathPara>
                </a14:m>
              </a:p>
              <a:p>
                <a:pPr lvl="0" indent="0" marL="0">
                  <a:buNone/>
                </a:pPr>
                <a:r>
                  <a:rPr/>
                  <a:t>where </a:t>
                </a:r>
                <a14:m>
                  <m:oMath xmlns:m="http://schemas.openxmlformats.org/officeDocument/2006/math">
                    <m:r>
                      <m:t>R</m:t>
                    </m:r>
                    <m:r>
                      <m:t>P</m:t>
                    </m:r>
                    <m:sSub>
                      <m:e>
                        <m:r>
                          <m:t>D</m:t>
                        </m:r>
                      </m:e>
                      <m:sub>
                        <m:r>
                          <m:t>t</m:t>
                        </m:r>
                      </m:sub>
                    </m:sSub>
                  </m:oMath>
                </a14:m>
                <a:r>
                  <a:rPr/>
                  <a:t> is the relative price variance at time </a:t>
                </a:r>
                <a14:m>
                  <m:oMath xmlns:m="http://schemas.openxmlformats.org/officeDocument/2006/math">
                    <m:r>
                      <m:t>t</m:t>
                    </m:r>
                  </m:oMath>
                </a14:m>
                <a:r>
                  <a:rPr/>
                  <a:t>, </a:t>
                </a:r>
                <a14:m>
                  <m:oMath xmlns:m="http://schemas.openxmlformats.org/officeDocument/2006/math">
                    <m:d>
                      <m:dPr>
                        <m:begChr m:val="|"/>
                        <m:endChr m:val="|"/>
                        <m:sepChr m:val=""/>
                        <m:grow/>
                      </m:dPr>
                      <m:e>
                        <m:sSub>
                          <m:e>
                            <m:r>
                              <m:t>π</m:t>
                            </m:r>
                          </m:e>
                          <m:sub>
                            <m:r>
                              <m:t>t</m:t>
                            </m:r>
                          </m:sub>
                        </m:sSub>
                      </m:e>
                    </m:d>
                  </m:oMath>
                </a14:m>
                <a:r>
                  <a:rPr/>
                  <a:t> is the absolute value of aggregate inflation rate at time </a:t>
                </a:r>
                <a14:m>
                  <m:oMath xmlns:m="http://schemas.openxmlformats.org/officeDocument/2006/math">
                    <m:r>
                      <m:t>t</m:t>
                    </m:r>
                  </m:oMath>
                </a14:m>
                <a:r>
                  <a:rPr/>
                  <a:t>, </a:t>
                </a:r>
                <a14:m>
                  <m:oMath xmlns:m="http://schemas.openxmlformats.org/officeDocument/2006/math">
                    <m:r>
                      <m:t>R</m:t>
                    </m:r>
                    <m:r>
                      <m:t>P</m:t>
                    </m:r>
                    <m:sSub>
                      <m:e>
                        <m:r>
                          <m:t>D</m:t>
                        </m:r>
                      </m:e>
                      <m:sub>
                        <m:r>
                          <m:t>t</m:t>
                        </m:r>
                        <m:r>
                          <m:rPr>
                            <m:sty m:val="p"/>
                          </m:rPr>
                          <m:t>−</m:t>
                        </m:r>
                        <m:r>
                          <m:t>h</m:t>
                        </m:r>
                      </m:sub>
                    </m:sSub>
                  </m:oMath>
                </a14:m>
                <a:r>
                  <a:rPr/>
                  <a:t> are lagged values of RPD to account for its dynamic nature, and </a:t>
                </a:r>
                <a14:m>
                  <m:oMath xmlns:m="http://schemas.openxmlformats.org/officeDocument/2006/math">
                    <m:sSub>
                      <m:e>
                        <m:r>
                          <m:t>μ</m:t>
                        </m:r>
                      </m:e>
                      <m:sub>
                        <m:r>
                          <m:t>t</m:t>
                        </m:r>
                      </m:sub>
                    </m:sSub>
                  </m:oMath>
                </a14:m>
                <a:r>
                  <a:rPr/>
                  <a:t> is the error term. The coefficient </a:t>
                </a:r>
                <a14:m>
                  <m:oMath xmlns:m="http://schemas.openxmlformats.org/officeDocument/2006/math">
                    <m:sSub>
                      <m:e>
                        <m:r>
                          <m:t>β</m:t>
                        </m:r>
                      </m:e>
                      <m:sub>
                        <m:r>
                          <m:t>1</m:t>
                        </m:r>
                      </m:sub>
                    </m:sSub>
                  </m:oMath>
                </a14:m>
                <a:r>
                  <a:rPr/>
                  <a:t> captures the effect of inflation on RPD. We include three lags of RPD based on Akaike Information Criterion (AIC) (and other tests) and to capture potential persistence in RPD. For robustness, we repeat this estimation using core inflation (excluding food and non-alcoholic beverages, and fuel and electricity) instead of headline inflation to account for the potential volatility in these components.</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Methodology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literature on RPD emphasises that the relationship between inflation and RPD maybe time-varying due to structural changes in the economy, monetary policy regimes, and other factors. To capture potential time variation in the relationship, we also estimate a rolling regression model with a 24-month and 60-month windows as follows:</a:t>
                </a:r>
              </a:p>
              <a:p>
                <a:pPr lvl="0" indent="0" marL="0">
                  <a:buNone/>
                </a:pPr>
                <a14:m>
                  <m:oMathPara xmlns:m="http://schemas.openxmlformats.org/officeDocument/2006/math">
                    <m:oMathParaPr>
                      <m:jc m:val="center"/>
                    </m:oMathParaPr>
                    <m:oMath>
                      <m:r>
                        <m:t>R</m:t>
                      </m:r>
                      <m:r>
                        <m:t>P</m:t>
                      </m:r>
                      <m:sSub>
                        <m:e>
                          <m:r>
                            <m:t>D</m:t>
                          </m:r>
                        </m:e>
                        <m:sub>
                          <m:r>
                            <m:t>t</m:t>
                          </m:r>
                        </m:sub>
                      </m:sSub>
                      <m:r>
                        <m:rPr>
                          <m:sty m:val="p"/>
                        </m:rPr>
                        <m:t>=</m:t>
                      </m:r>
                      <m:sSub>
                        <m:e>
                          <m:r>
                            <m:t>α</m:t>
                          </m:r>
                        </m:e>
                        <m:sub>
                          <m:r>
                            <m:t>t</m:t>
                          </m:r>
                        </m:sub>
                      </m:sSub>
                      <m:r>
                        <m:rPr>
                          <m:sty m:val="p"/>
                        </m:rPr>
                        <m:t>+</m:t>
                      </m:r>
                      <m:sSub>
                        <m:e>
                          <m:r>
                            <m:t>β</m:t>
                          </m:r>
                        </m:e>
                        <m:sub>
                          <m:r>
                            <m:t>1</m:t>
                          </m:r>
                          <m:r>
                            <m:rPr>
                              <m:sty m:val="p"/>
                            </m:rPr>
                            <m:t>,</m:t>
                          </m:r>
                          <m:r>
                            <m:t>t</m:t>
                          </m:r>
                        </m:sub>
                      </m:sSub>
                      <m:d>
                        <m:dPr>
                          <m:begChr m:val="|"/>
                          <m:endChr m:val="|"/>
                          <m:sepChr m:val=""/>
                          <m:grow/>
                        </m:dPr>
                        <m:e>
                          <m:sSub>
                            <m:e>
                              <m:r>
                                <m:t>π</m:t>
                              </m:r>
                            </m:e>
                            <m:sub>
                              <m:r>
                                <m:t>t</m:t>
                              </m:r>
                            </m:sub>
                          </m:sSub>
                        </m:e>
                      </m:d>
                      <m:r>
                        <m:rPr>
                          <m:sty m:val="p"/>
                        </m:rPr>
                        <m:t>+</m:t>
                      </m:r>
                      <m:nary>
                        <m:naryPr>
                          <m:chr m:val="∑"/>
                          <m:limLoc m:val="undOvr"/>
                          <m:subHide m:val="off"/>
                          <m:supHide m:val="off"/>
                        </m:naryPr>
                        <m:sub>
                          <m:r>
                            <m:t>h</m:t>
                          </m:r>
                          <m:r>
                            <m:rPr>
                              <m:sty m:val="p"/>
                            </m:rPr>
                            <m:t>=</m:t>
                          </m:r>
                          <m:r>
                            <m:t>1</m:t>
                          </m:r>
                        </m:sub>
                        <m:sup>
                          <m:r>
                            <m:t>3</m:t>
                          </m:r>
                        </m:sup>
                        <m:e>
                          <m:sSub>
                            <m:e>
                              <m:r>
                                <m:t>ω</m:t>
                              </m:r>
                            </m:e>
                            <m:sub>
                              <m:r>
                                <m:t>h</m:t>
                              </m:r>
                              <m:r>
                                <m:rPr>
                                  <m:sty m:val="p"/>
                                </m:rPr>
                                <m:t>,</m:t>
                              </m:r>
                              <m:r>
                                <m:t>t</m:t>
                              </m:r>
                            </m:sub>
                          </m:sSub>
                        </m:e>
                      </m:nary>
                      <m:r>
                        <m:t>R</m:t>
                      </m:r>
                      <m:r>
                        <m:t>P</m:t>
                      </m:r>
                      <m:sSub>
                        <m:e>
                          <m:r>
                            <m:t>D</m:t>
                          </m:r>
                        </m:e>
                        <m:sub>
                          <m:r>
                            <m:t>t</m:t>
                          </m:r>
                          <m:r>
                            <m:rPr>
                              <m:sty m:val="p"/>
                            </m:rPr>
                            <m:t>−</m:t>
                          </m:r>
                          <m:r>
                            <m:t>h</m:t>
                          </m:r>
                        </m:sub>
                      </m:sSub>
                      <m:r>
                        <m:rPr>
                          <m:sty m:val="p"/>
                        </m:rPr>
                        <m:t>+</m:t>
                      </m:r>
                      <m:sSub>
                        <m:e>
                          <m:r>
                            <m:t>μ</m:t>
                          </m:r>
                        </m:e>
                        <m:sub>
                          <m:r>
                            <m:t>t</m:t>
                          </m:r>
                        </m:sub>
                      </m:sSub>
                      <m:r>
                        <m:rPr>
                          <m:sty m:val="p"/>
                        </m:rPr>
                        <m:t>,</m:t>
                      </m:r>
                      <m:r>
                        <m:t>  </m:t>
                      </m:r>
                      <m:d>
                        <m:dPr>
                          <m:begChr m:val="("/>
                          <m:endChr m:val=")"/>
                          <m:sepChr m:val=""/>
                          <m:grow/>
                        </m:dPr>
                        <m:e>
                          <m:r>
                            <m:t>11</m:t>
                          </m:r>
                        </m:e>
                      </m:d>
                    </m:oMath>
                  </m:oMathPara>
                </a14:m>
              </a:p>
              <a:p>
                <a:pPr lvl="0" indent="0" marL="0">
                  <a:buNone/>
                </a:pPr>
                <a:r>
                  <a:rPr/>
                  <a:t>where the coefficients </a:t>
                </a:r>
                <a14:m>
                  <m:oMath xmlns:m="http://schemas.openxmlformats.org/officeDocument/2006/math">
                    <m:sSub>
                      <m:e>
                        <m:r>
                          <m:t>α</m:t>
                        </m:r>
                      </m:e>
                      <m:sub>
                        <m:r>
                          <m:t>t</m:t>
                        </m:r>
                      </m:sub>
                    </m:sSub>
                  </m:oMath>
                </a14:m>
                <a:r>
                  <a:rPr/>
                  <a:t>, </a:t>
                </a:r>
                <a14:m>
                  <m:oMath xmlns:m="http://schemas.openxmlformats.org/officeDocument/2006/math">
                    <m:sSub>
                      <m:e>
                        <m:r>
                          <m:t>β</m:t>
                        </m:r>
                      </m:e>
                      <m:sub>
                        <m:r>
                          <m:t>1</m:t>
                        </m:r>
                        <m:r>
                          <m:rPr>
                            <m:sty m:val="p"/>
                          </m:rPr>
                          <m:t>,</m:t>
                        </m:r>
                        <m:r>
                          <m:t>t</m:t>
                        </m:r>
                      </m:sub>
                    </m:sSub>
                  </m:oMath>
                </a14:m>
                <a:r>
                  <a:rPr/>
                  <a:t>, and </a:t>
                </a:r>
                <a14:m>
                  <m:oMath xmlns:m="http://schemas.openxmlformats.org/officeDocument/2006/math">
                    <m:sSub>
                      <m:e>
                        <m:r>
                          <m:t>ω</m:t>
                        </m:r>
                      </m:e>
                      <m:sub>
                        <m:r>
                          <m:t>h</m:t>
                        </m:r>
                        <m:r>
                          <m:rPr>
                            <m:sty m:val="p"/>
                          </m:rPr>
                          <m:t>,</m:t>
                        </m:r>
                        <m:r>
                          <m:t>t</m:t>
                        </m:r>
                      </m:sub>
                    </m:sSub>
                  </m:oMath>
                </a14:m>
                <a:r>
                  <a:rPr/>
                  <a:t> vary over time. This approach allows us to observe the stability of the coefficients over time, which is an indicator of non-linearity in the relationship between RPD and inflation.</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Methodology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Next, we utilise a semi-parametric or partially linear approach to estimate the optimal level of inflation given the RPD. This approach allows us to model the relationship between inflation and RPD without imposing a strict functional form. Following the literature, we first specify a quadratic (U-shaped) relationship between inflation and RPD as follows:</a:t>
                </a:r>
              </a:p>
              <a:p>
                <a:pPr lvl="0" indent="0" marL="0">
                  <a:buNone/>
                </a:pPr>
                <a14:m>
                  <m:oMathPara xmlns:m="http://schemas.openxmlformats.org/officeDocument/2006/math">
                    <m:oMathParaPr>
                      <m:jc m:val="center"/>
                    </m:oMathParaPr>
                    <m:oMath>
                      <m:r>
                        <m:t>R</m:t>
                      </m:r>
                      <m:r>
                        <m:t>P</m:t>
                      </m:r>
                      <m:sSub>
                        <m:e>
                          <m:r>
                            <m:t>D</m:t>
                          </m:r>
                        </m:e>
                        <m:sub>
                          <m:r>
                            <m:t>t</m:t>
                          </m:r>
                        </m:sub>
                      </m:sSub>
                      <m:r>
                        <m:rPr>
                          <m:sty m:val="p"/>
                        </m:rPr>
                        <m:t>=</m:t>
                      </m:r>
                      <m:r>
                        <m:t>α</m:t>
                      </m:r>
                      <m:r>
                        <m:rPr>
                          <m:sty m:val="p"/>
                        </m:rPr>
                        <m:t>+</m:t>
                      </m:r>
                      <m:sSub>
                        <m:e>
                          <m:r>
                            <m:t>π</m:t>
                          </m:r>
                        </m:e>
                        <m:sub>
                          <m:r>
                            <m:t>t</m:t>
                          </m:r>
                        </m:sub>
                      </m:sSub>
                      <m:r>
                        <m:rPr>
                          <m:sty m:val="p"/>
                        </m:rPr>
                        <m:t>+</m:t>
                      </m:r>
                      <m:sSub>
                        <m:e>
                          <m:r>
                            <m:t>β</m:t>
                          </m:r>
                        </m:e>
                        <m:sub>
                          <m:r>
                            <m:t>2</m:t>
                          </m:r>
                        </m:sub>
                      </m:sSub>
                      <m:sSubSup>
                        <m:e>
                          <m:r>
                            <m:t>π</m:t>
                          </m:r>
                        </m:e>
                        <m:sub>
                          <m:r>
                            <m:t>t</m:t>
                          </m:r>
                        </m:sub>
                        <m:sup>
                          <m:r>
                            <m:t>2</m:t>
                          </m:r>
                        </m:sup>
                      </m:sSubSup>
                      <m:r>
                        <m:rPr>
                          <m:sty m:val="p"/>
                        </m:rPr>
                        <m:t>+</m:t>
                      </m:r>
                      <m:nary>
                        <m:naryPr>
                          <m:chr m:val="∑"/>
                          <m:limLoc m:val="undOvr"/>
                          <m:subHide m:val="off"/>
                          <m:supHide m:val="off"/>
                        </m:naryPr>
                        <m:sub>
                          <m:r>
                            <m:t>h</m:t>
                          </m:r>
                          <m:r>
                            <m:rPr>
                              <m:sty m:val="p"/>
                            </m:rPr>
                            <m:t>=</m:t>
                          </m:r>
                          <m:r>
                            <m:t>1</m:t>
                          </m:r>
                        </m:sub>
                        <m:sup>
                          <m:r>
                            <m:t>3</m:t>
                          </m:r>
                        </m:sup>
                        <m:e>
                          <m:sSub>
                            <m:e>
                              <m:r>
                                <m:t>ϕ</m:t>
                              </m:r>
                            </m:e>
                            <m:sub>
                              <m:r>
                                <m:t>h</m:t>
                              </m:r>
                            </m:sub>
                          </m:sSub>
                        </m:e>
                      </m:nary>
                      <m:r>
                        <m:t>R</m:t>
                      </m:r>
                      <m:r>
                        <m:t>P</m:t>
                      </m:r>
                      <m:sSub>
                        <m:e>
                          <m:r>
                            <m:t>D</m:t>
                          </m:r>
                        </m:e>
                        <m:sub>
                          <m:r>
                            <m:t>t</m:t>
                          </m:r>
                          <m:r>
                            <m:rPr>
                              <m:sty m:val="p"/>
                            </m:rPr>
                            <m:t>−</m:t>
                          </m:r>
                          <m:r>
                            <m:t>h</m:t>
                          </m:r>
                        </m:sub>
                      </m:sSub>
                      <m:r>
                        <m:rPr>
                          <m:sty m:val="p"/>
                        </m:rPr>
                        <m:t>+</m:t>
                      </m:r>
                      <m:sSub>
                        <m:e>
                          <m:r>
                            <m:t>ϵ</m:t>
                          </m:r>
                        </m:e>
                        <m:sub>
                          <m:r>
                            <m:t>t</m:t>
                          </m:r>
                        </m:sub>
                      </m:sSub>
                      <m:r>
                        <m:rPr>
                          <m:sty m:val="p"/>
                        </m:rPr>
                        <m:t>,</m:t>
                      </m:r>
                      <m:r>
                        <m:t>  </m:t>
                      </m:r>
                      <m:d>
                        <m:dPr>
                          <m:begChr m:val="("/>
                          <m:endChr m:val=")"/>
                          <m:sepChr m:val=""/>
                          <m:grow/>
                        </m:dPr>
                        <m:e>
                          <m:r>
                            <m:t>12</m:t>
                          </m:r>
                        </m:e>
                      </m:d>
                    </m:oMath>
                  </m:oMathPara>
                </a14:m>
              </a:p>
              <a:p>
                <a:pPr lvl="0" indent="0" marL="0">
                  <a:buNone/>
                </a:pPr>
                <a:r>
                  <a:rPr/>
                  <a:t>where </a:t>
                </a:r>
                <a14:m>
                  <m:oMath xmlns:m="http://schemas.openxmlformats.org/officeDocument/2006/math">
                    <m:sSub>
                      <m:e>
                        <m:r>
                          <m:t>β</m:t>
                        </m:r>
                      </m:e>
                      <m:sub>
                        <m:r>
                          <m:t>2</m:t>
                        </m:r>
                      </m:sub>
                    </m:sSub>
                  </m:oMath>
                </a14:m>
                <a:r>
                  <a:rPr/>
                  <a:t> captures the curvature of the relationship between inflation and RPD. The optimal inflation rate that minimizes RPD can be derived by taking the first derivative of the equation with respect to </a:t>
                </a:r>
                <a14:m>
                  <m:oMath xmlns:m="http://schemas.openxmlformats.org/officeDocument/2006/math">
                    <m:sSub>
                      <m:e>
                        <m:r>
                          <m:t>π</m:t>
                        </m:r>
                      </m:e>
                      <m:sub>
                        <m:r>
                          <m:t>t</m:t>
                        </m:r>
                      </m:sub>
                    </m:sSub>
                  </m:oMath>
                </a14:m>
                <a:r>
                  <a:rPr/>
                  <a:t> and setting it to zero, yielding:</a:t>
                </a:r>
              </a:p>
              <a:p>
                <a:pPr lvl="0" indent="0" marL="0">
                  <a:buNone/>
                </a:pPr>
                <a14:m>
                  <m:oMathPara xmlns:m="http://schemas.openxmlformats.org/officeDocument/2006/math">
                    <m:oMathParaPr>
                      <m:jc m:val="center"/>
                    </m:oMathParaPr>
                    <m:oMath>
                      <m:sSubSup>
                        <m:e>
                          <m:r>
                            <m:t>π</m:t>
                          </m:r>
                        </m:e>
                        <m:sub>
                          <m:r>
                            <m:t>t</m:t>
                          </m:r>
                        </m:sub>
                        <m:sup>
                          <m:r>
                            <m:rPr>
                              <m:sty m:val="p"/>
                            </m:rPr>
                            <m:t>*</m:t>
                          </m:r>
                        </m:sup>
                      </m:sSubSup>
                      <m:r>
                        <m:rPr>
                          <m:sty m:val="p"/>
                        </m:rPr>
                        <m:t>=</m:t>
                      </m:r>
                      <m:r>
                        <m:rPr>
                          <m:sty m:val="p"/>
                        </m:rPr>
                        <m:t>−</m:t>
                      </m:r>
                      <m:f>
                        <m:fPr>
                          <m:type m:val="bar"/>
                        </m:fPr>
                        <m:num>
                          <m:r>
                            <m:t>1</m:t>
                          </m:r>
                        </m:num>
                        <m:den>
                          <m:r>
                            <m:t>2</m:t>
                          </m:r>
                          <m:sSub>
                            <m:e>
                              <m:r>
                                <m:t>β</m:t>
                              </m:r>
                            </m:e>
                            <m:sub>
                              <m:r>
                                <m:t>2</m:t>
                              </m:r>
                            </m:sub>
                          </m:sSub>
                        </m:den>
                      </m:f>
                      <m:r>
                        <m:rPr>
                          <m:sty m:val="p"/>
                        </m:rPr>
                        <m:t>.</m:t>
                      </m:r>
                      <m:r>
                        <m:t>  </m:t>
                      </m:r>
                      <m:d>
                        <m:dPr>
                          <m:begChr m:val="("/>
                          <m:endChr m:val=")"/>
                          <m:sepChr m:val=""/>
                          <m:grow/>
                        </m:dPr>
                        <m:e>
                          <m:r>
                            <m:t>13</m:t>
                          </m:r>
                        </m:e>
                      </m:d>
                    </m:oMath>
                  </m:oMathPara>
                </a14:m>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Methodology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To estimate this optiomal inflation we implement a semi parametric approach as follows:</a:t>
                </a:r>
              </a:p>
              <a:p>
                <a:pPr lvl="0" indent="0" marL="0">
                  <a:buNone/>
                </a:pPr>
                <a14:m>
                  <m:oMathPara xmlns:m="http://schemas.openxmlformats.org/officeDocument/2006/math">
                    <m:oMathParaPr>
                      <m:jc m:val="center"/>
                    </m:oMathParaPr>
                    <m:oMath>
                      <m:r>
                        <m:t>R</m:t>
                      </m:r>
                      <m:r>
                        <m:t>P</m:t>
                      </m:r>
                      <m:sSub>
                        <m:e>
                          <m:r>
                            <m:t>D</m:t>
                          </m:r>
                        </m:e>
                        <m:sub>
                          <m:r>
                            <m:t>t</m:t>
                          </m:r>
                        </m:sub>
                      </m:sSub>
                      <m:r>
                        <m:rPr>
                          <m:sty m:val="p"/>
                        </m:rPr>
                        <m:t>=</m:t>
                      </m:r>
                      <m:r>
                        <m:t>f</m:t>
                      </m:r>
                      <m:d>
                        <m:dPr>
                          <m:begChr m:val="("/>
                          <m:endChr m:val=")"/>
                          <m:sepChr m:val=""/>
                          <m:grow/>
                        </m:dPr>
                        <m:e>
                          <m:sSub>
                            <m:e>
                              <m:r>
                                <m:t>π</m:t>
                              </m:r>
                            </m:e>
                            <m:sub>
                              <m:r>
                                <m:t>t</m:t>
                              </m:r>
                            </m:sub>
                          </m:sSub>
                        </m:e>
                      </m:d>
                      <m:r>
                        <m:rPr>
                          <m:sty m:val="p"/>
                        </m:rPr>
                        <m:t>+</m:t>
                      </m:r>
                      <m:nary>
                        <m:naryPr>
                          <m:chr m:val="∑"/>
                          <m:limLoc m:val="undOvr"/>
                          <m:subHide m:val="off"/>
                          <m:supHide m:val="off"/>
                        </m:naryPr>
                        <m:sub>
                          <m:r>
                            <m:t>h</m:t>
                          </m:r>
                          <m:r>
                            <m:rPr>
                              <m:sty m:val="p"/>
                            </m:rPr>
                            <m:t>=</m:t>
                          </m:r>
                          <m:r>
                            <m:t>1</m:t>
                          </m:r>
                        </m:sub>
                        <m:sup>
                          <m:r>
                            <m:t>3</m:t>
                          </m:r>
                        </m:sup>
                        <m:e>
                          <m:sSub>
                            <m:e>
                              <m:r>
                                <m:t>ϕ</m:t>
                              </m:r>
                            </m:e>
                            <m:sub>
                              <m:r>
                                <m:t>h</m:t>
                              </m:r>
                            </m:sub>
                          </m:sSub>
                        </m:e>
                      </m:nary>
                      <m:r>
                        <m:t>R</m:t>
                      </m:r>
                      <m:r>
                        <m:t>P</m:t>
                      </m:r>
                      <m:sSub>
                        <m:e>
                          <m:r>
                            <m:t>D</m:t>
                          </m:r>
                        </m:e>
                        <m:sub>
                          <m:r>
                            <m:t>t</m:t>
                          </m:r>
                          <m:r>
                            <m:rPr>
                              <m:sty m:val="p"/>
                            </m:rPr>
                            <m:t>−</m:t>
                          </m:r>
                          <m:r>
                            <m:t>h</m:t>
                          </m:r>
                        </m:sub>
                      </m:sSub>
                      <m:r>
                        <m:rPr>
                          <m:sty m:val="p"/>
                        </m:rPr>
                        <m:t>+</m:t>
                      </m:r>
                      <m:sSub>
                        <m:e>
                          <m:r>
                            <m:t>ϵ</m:t>
                          </m:r>
                        </m:e>
                        <m:sub>
                          <m:r>
                            <m:t>t</m:t>
                          </m:r>
                        </m:sub>
                      </m:sSub>
                      <m:r>
                        <m:rPr>
                          <m:sty m:val="p"/>
                        </m:rPr>
                        <m:t>,</m:t>
                      </m:r>
                      <m:r>
                        <m:t>  </m:t>
                      </m:r>
                      <m:d>
                        <m:dPr>
                          <m:begChr m:val="("/>
                          <m:endChr m:val=")"/>
                          <m:sepChr m:val=""/>
                          <m:grow/>
                        </m:dPr>
                        <m:e>
                          <m:r>
                            <m:t>14</m:t>
                          </m:r>
                        </m:e>
                      </m:d>
                    </m:oMath>
                  </m:oMathPara>
                </a14:m>
              </a:p>
              <a:p>
                <a:pPr lvl="0" indent="0" marL="0">
                  <a:buNone/>
                </a:pPr>
                <a:r>
                  <a:rPr/>
                  <a:t>where </a:t>
                </a:r>
                <a14:m>
                  <m:oMath xmlns:m="http://schemas.openxmlformats.org/officeDocument/2006/math">
                    <m:r>
                      <m:t>f</m:t>
                    </m:r>
                    <m:d>
                      <m:dPr>
                        <m:begChr m:val="("/>
                        <m:endChr m:val=")"/>
                        <m:sepChr m:val=""/>
                        <m:grow/>
                      </m:dPr>
                      <m:e>
                        <m:sSub>
                          <m:e>
                            <m:r>
                              <m:t>π</m:t>
                            </m:r>
                          </m:e>
                          <m:sub>
                            <m:r>
                              <m:t>t</m:t>
                            </m:r>
                          </m:sub>
                        </m:sSub>
                      </m:e>
                    </m:d>
                  </m:oMath>
                </a14:m>
                <a:r>
                  <a:rPr/>
                  <a:t> is a non-linear smooth differentiable function of inflation and the RPD. Therefore, the optimal inflation rate can be obtained by finding the minimum of the estimated </a:t>
                </a:r>
                <a14:m>
                  <m:oMath xmlns:m="http://schemas.openxmlformats.org/officeDocument/2006/math">
                    <m:r>
                      <m:t>f</m:t>
                    </m:r>
                    <m:d>
                      <m:dPr>
                        <m:begChr m:val="("/>
                        <m:endChr m:val=")"/>
                        <m:sepChr m:val=""/>
                        <m:grow/>
                      </m:dPr>
                      <m:e>
                        <m:sSub>
                          <m:e>
                            <m:r>
                              <m:t>π</m:t>
                            </m:r>
                          </m:e>
                          <m:sub>
                            <m:r>
                              <m:t>t</m:t>
                            </m:r>
                          </m:sub>
                        </m:sSub>
                      </m:e>
                    </m:d>
                  </m:oMath>
                </a14:m>
                <a:r>
                  <a:rPr/>
                  <a:t> function. </a:t>
                </a:r>
                <a14:m>
                  <m:oMath xmlns:m="http://schemas.openxmlformats.org/officeDocument/2006/math">
                    <m:r>
                      <m:t>f</m:t>
                    </m:r>
                    <m:d>
                      <m:dPr>
                        <m:begChr m:val="("/>
                        <m:endChr m:val=")"/>
                        <m:sepChr m:val=""/>
                        <m:grow/>
                      </m:dPr>
                      <m:e>
                        <m:sSub>
                          <m:e>
                            <m:r>
                              <m:t>π</m:t>
                            </m:r>
                          </m:e>
                          <m:sub>
                            <m:r>
                              <m:t>t</m:t>
                            </m:r>
                          </m:sub>
                        </m:sSub>
                      </m:e>
                    </m:d>
                  </m:oMath>
                </a14:m>
                <a:r>
                  <a:rPr/>
                  <a:t> is estimated in two stages.</a:t>
                </a:r>
              </a:p>
            </p:txBody>
          </p:sp>
        </mc:Choice>
      </mc:AlternateContent>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Methodology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we estimate </a:t>
                </a:r>
                <a14:m>
                  <m:oMath xmlns:m="http://schemas.openxmlformats.org/officeDocument/2006/math">
                    <m:sSub>
                      <m:e>
                        <m:r>
                          <m:t>λ</m:t>
                        </m:r>
                      </m:e>
                      <m:sub>
                        <m:r>
                          <m:t>h</m:t>
                        </m:r>
                      </m:sub>
                    </m:sSub>
                  </m:oMath>
                </a14:m>
                <a:r>
                  <a:rPr/>
                  <a:t> as follows:</a:t>
                </a:r>
              </a:p>
              <a:p>
                <a:pPr lvl="0" indent="0" marL="0">
                  <a:buNone/>
                </a:pPr>
                <a14:m>
                  <m:oMathPara xmlns:m="http://schemas.openxmlformats.org/officeDocument/2006/math">
                    <m:oMathParaPr>
                      <m:jc m:val="center"/>
                    </m:oMathParaPr>
                    <m:oMath>
                      <m:r>
                        <m:t>R</m:t>
                      </m:r>
                      <m:r>
                        <m:t>P</m:t>
                      </m:r>
                      <m:sSub>
                        <m:e>
                          <m:r>
                            <m:t>D</m:t>
                          </m:r>
                        </m:e>
                        <m:sub>
                          <m:r>
                            <m:t>t</m:t>
                          </m:r>
                        </m:sub>
                      </m:sSub>
                      <m:r>
                        <m:rPr>
                          <m:sty m:val="p"/>
                        </m:rPr>
                        <m:t>=</m:t>
                      </m:r>
                      <m:nary>
                        <m:naryPr>
                          <m:chr m:val="∑"/>
                          <m:limLoc m:val="undOvr"/>
                          <m:subHide m:val="off"/>
                          <m:supHide m:val="off"/>
                        </m:naryPr>
                        <m:sub>
                          <m:r>
                            <m:t>h</m:t>
                          </m:r>
                          <m:r>
                            <m:rPr>
                              <m:sty m:val="p"/>
                            </m:rPr>
                            <m:t>=</m:t>
                          </m:r>
                          <m:r>
                            <m:t>1</m:t>
                          </m:r>
                        </m:sub>
                        <m:sup>
                          <m:r>
                            <m:t>3</m:t>
                          </m:r>
                        </m:sup>
                        <m:e>
                          <m:sSub>
                            <m:e>
                              <m:r>
                                <m:t>λ</m:t>
                              </m:r>
                            </m:e>
                            <m:sub>
                              <m:r>
                                <m:t>h</m:t>
                              </m:r>
                            </m:sub>
                          </m:sSub>
                        </m:e>
                      </m:nary>
                      <m:sSub>
                        <m:e>
                          <m:bar>
                            <m:barPr>
                              <m:pos m:val="top"/>
                            </m:barPr>
                            <m:e>
                              <m:r>
                                <m:t>R</m:t>
                              </m:r>
                              <m:r>
                                <m:t>P</m:t>
                              </m:r>
                              <m:r>
                                <m:t>D</m:t>
                              </m:r>
                            </m:e>
                          </m:bar>
                        </m:e>
                        <m:sub>
                          <m:r>
                            <m:t>t</m:t>
                          </m:r>
                          <m:r>
                            <m:rPr>
                              <m:sty m:val="p"/>
                            </m:rPr>
                            <m:t>−</m:t>
                          </m:r>
                          <m:r>
                            <m:t>h</m:t>
                          </m:r>
                        </m:sub>
                      </m:sSub>
                      <m:r>
                        <m:rPr>
                          <m:sty m:val="p"/>
                        </m:rPr>
                        <m:t>+</m:t>
                      </m:r>
                      <m:sSub>
                        <m:e>
                          <m:r>
                            <m:t>η</m:t>
                          </m:r>
                        </m:e>
                        <m:sub>
                          <m:r>
                            <m:t>t</m:t>
                          </m:r>
                        </m:sub>
                      </m:sSub>
                      <m:r>
                        <m:rPr>
                          <m:sty m:val="p"/>
                        </m:rPr>
                        <m:t>,</m:t>
                      </m:r>
                      <m:r>
                        <m:t>  </m:t>
                      </m:r>
                      <m:d>
                        <m:dPr>
                          <m:begChr m:val="("/>
                          <m:endChr m:val=")"/>
                          <m:sepChr m:val=""/>
                          <m:grow/>
                        </m:dPr>
                        <m:e>
                          <m:r>
                            <m:t>15</m:t>
                          </m:r>
                        </m:e>
                      </m:d>
                    </m:oMath>
                  </m:oMathPara>
                </a14:m>
              </a:p>
              <a:p>
                <a:pPr lvl="0" indent="0" marL="0">
                  <a:buNone/>
                </a:pPr>
                <a:r>
                  <a:rPr/>
                  <a:t>where </a:t>
                </a:r>
                <a14:m>
                  <m:oMath xmlns:m="http://schemas.openxmlformats.org/officeDocument/2006/math">
                    <m:sSub>
                      <m:e>
                        <m:bar>
                          <m:barPr>
                            <m:pos m:val="top"/>
                          </m:barPr>
                          <m:e>
                            <m:r>
                              <m:t>R</m:t>
                            </m:r>
                            <m:r>
                              <m:t>P</m:t>
                            </m:r>
                            <m:r>
                              <m:t>D</m:t>
                            </m:r>
                          </m:e>
                        </m:bar>
                      </m:e>
                      <m:sub>
                        <m:r>
                          <m:t>t</m:t>
                        </m:r>
                        <m:r>
                          <m:rPr>
                            <m:sty m:val="p"/>
                          </m:rPr>
                          <m:t>−</m:t>
                        </m:r>
                        <m:r>
                          <m:t>h</m:t>
                        </m:r>
                      </m:sub>
                    </m:sSub>
                  </m:oMath>
                </a14:m>
                <a:r>
                  <a:rPr/>
                  <a:t> are the residuals from a non-parametric regression of each lag of </a:t>
                </a:r>
                <a14:m>
                  <m:oMath xmlns:m="http://schemas.openxmlformats.org/officeDocument/2006/math">
                    <m:r>
                      <m:t>R</m:t>
                    </m:r>
                    <m:r>
                      <m:t>P</m:t>
                    </m:r>
                    <m:sSub>
                      <m:e>
                        <m:r>
                          <m:t>D</m:t>
                        </m:r>
                      </m:e>
                      <m:sub>
                        <m:r>
                          <m:t>t</m:t>
                        </m:r>
                      </m:sub>
                    </m:sSub>
                  </m:oMath>
                </a14:m>
                <a:r>
                  <a:rPr/>
                  <a:t> on </a:t>
                </a:r>
                <a14:m>
                  <m:oMath xmlns:m="http://schemas.openxmlformats.org/officeDocument/2006/math">
                    <m:sSub>
                      <m:e>
                        <m:r>
                          <m:t>π</m:t>
                        </m:r>
                      </m:e>
                      <m:sub>
                        <m:r>
                          <m:t>t</m:t>
                        </m:r>
                      </m:sub>
                    </m:sSub>
                  </m:oMath>
                </a14:m>
                <a:r>
                  <a:rPr/>
                  <a:t>.</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Methodology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In the second stage, we estimate </a:t>
                </a:r>
                <a14:m>
                  <m:oMath xmlns:m="http://schemas.openxmlformats.org/officeDocument/2006/math">
                    <m:r>
                      <m:t>f</m:t>
                    </m:r>
                    <m:d>
                      <m:dPr>
                        <m:begChr m:val="("/>
                        <m:endChr m:val=")"/>
                        <m:sepChr m:val=""/>
                        <m:grow/>
                      </m:dPr>
                      <m:e>
                        <m:sSub>
                          <m:e>
                            <m:r>
                              <m:t>π</m:t>
                            </m:r>
                          </m:e>
                          <m:sub>
                            <m:r>
                              <m:t>t</m:t>
                            </m:r>
                          </m:sub>
                        </m:sSub>
                      </m:e>
                    </m:d>
                  </m:oMath>
                </a14:m>
                <a:r>
                  <a:rPr/>
                  <a:t> non-parametrically as follows:</a:t>
                </a:r>
              </a:p>
              <a:p>
                <a:pPr lvl="0" indent="0" marL="0">
                  <a:buNone/>
                </a:pPr>
                <a14:m>
                  <m:oMathPara xmlns:m="http://schemas.openxmlformats.org/officeDocument/2006/math">
                    <m:oMathParaPr>
                      <m:jc m:val="center"/>
                    </m:oMathParaPr>
                    <m:oMath>
                      <m:sSub>
                        <m:e>
                          <m:acc>
                            <m:accPr>
                              <m:chr m:val="̂"/>
                            </m:accPr>
                            <m:e>
                              <m:r>
                                <m:t>η</m:t>
                              </m:r>
                            </m:e>
                          </m:acc>
                        </m:e>
                        <m:sub>
                          <m:r>
                            <m:t>t</m:t>
                          </m:r>
                        </m:sub>
                      </m:sSub>
                      <m:r>
                        <m:rPr>
                          <m:sty m:val="p"/>
                        </m:rPr>
                        <m:t>=</m:t>
                      </m:r>
                      <m:r>
                        <m:t>f</m:t>
                      </m:r>
                      <m:d>
                        <m:dPr>
                          <m:begChr m:val="("/>
                          <m:endChr m:val=")"/>
                          <m:sepChr m:val=""/>
                          <m:grow/>
                        </m:dPr>
                        <m:e>
                          <m:sSub>
                            <m:e>
                              <m:r>
                                <m:t>π</m:t>
                              </m:r>
                            </m:e>
                            <m:sub>
                              <m:r>
                                <m:t>t</m:t>
                              </m:r>
                            </m:sub>
                          </m:sSub>
                        </m:e>
                      </m:d>
                      <m:r>
                        <m:rPr>
                          <m:sty m:val="p"/>
                        </m:rPr>
                        <m:t>+</m:t>
                      </m:r>
                      <m:sSub>
                        <m:e>
                          <m:r>
                            <m:t>v</m:t>
                          </m:r>
                        </m:e>
                        <m:sub>
                          <m:r>
                            <m:t>t</m:t>
                          </m:r>
                        </m:sub>
                      </m:sSub>
                      <m:r>
                        <m:rPr>
                          <m:sty m:val="p"/>
                        </m:rPr>
                        <m:t>,</m:t>
                      </m:r>
                      <m:r>
                        <m:t>  </m:t>
                      </m:r>
                      <m:d>
                        <m:dPr>
                          <m:begChr m:val="("/>
                          <m:endChr m:val=")"/>
                          <m:sepChr m:val=""/>
                          <m:grow/>
                        </m:dPr>
                        <m:e>
                          <m:r>
                            <m:t>16</m:t>
                          </m:r>
                        </m:e>
                      </m:d>
                    </m:oMath>
                  </m:oMathPara>
                </a14:m>
              </a:p>
              <a:p>
                <a:pPr lvl="0" indent="0" marL="0">
                  <a:buNone/>
                </a:pPr>
                <a:r>
                  <a:rPr/>
                  <a:t>where </a:t>
                </a:r>
                <a14:m>
                  <m:oMath xmlns:m="http://schemas.openxmlformats.org/officeDocument/2006/math">
                    <m:sSub>
                      <m:e>
                        <m:acc>
                          <m:accPr>
                            <m:chr m:val="̂"/>
                          </m:accPr>
                          <m:e>
                            <m:r>
                              <m:t>η</m:t>
                            </m:r>
                          </m:e>
                        </m:acc>
                      </m:e>
                      <m:sub>
                        <m:r>
                          <m:t>t</m:t>
                        </m:r>
                      </m:sub>
                    </m:sSub>
                  </m:oMath>
                </a14:m>
                <a:r>
                  <a:rPr/>
                  <a:t> are the residuals from Equation 15, and </a:t>
                </a:r>
                <a14:m>
                  <m:oMath xmlns:m="http://schemas.openxmlformats.org/officeDocument/2006/math">
                    <m:r>
                      <m:t>f</m:t>
                    </m:r>
                    <m:d>
                      <m:dPr>
                        <m:begChr m:val="("/>
                        <m:endChr m:val=")"/>
                        <m:sepChr m:val=""/>
                        <m:grow/>
                      </m:dPr>
                      <m:e>
                        <m:sSub>
                          <m:e>
                            <m:r>
                              <m:t>π</m:t>
                            </m:r>
                          </m:e>
                          <m:sub>
                            <m:r>
                              <m:t>t</m:t>
                            </m:r>
                          </m:sub>
                        </m:sSub>
                      </m:e>
                    </m:d>
                  </m:oMath>
                </a14:m>
                <a:r>
                  <a:rPr/>
                  <a:t> is estimated using a kernel regression method. The bandwidth (</a:t>
                </a:r>
                <a14:m>
                  <m:oMath xmlns:m="http://schemas.openxmlformats.org/officeDocument/2006/math">
                    <m:r>
                      <m:t>h</m:t>
                    </m:r>
                  </m:oMath>
                </a14:m>
                <a:r>
                  <a:rPr/>
                  <a:t>) for the kernel estimator is selected using cross-validation to minimize the mean squared error.</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Methodology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As a treatment for extreme values of inflation, we further implement the unbounded Gaussian kernel and the outlier-robust Epanechnikov kernel. In essence, the semi-parametric approach captures the sensitivity of RPD to marginal increases in inflation. In that case, the optimal inflation rate can be obtained by finding the point where the first derivative (</a:t>
                </a:r>
                <a14:m>
                  <m:oMath xmlns:m="http://schemas.openxmlformats.org/officeDocument/2006/math">
                    <m:r>
                      <m:t>f</m:t>
                    </m:r>
                    <m:r>
                      <m:rPr>
                        <m:sty m:val="p"/>
                      </m:rPr>
                      <m:t>′</m:t>
                    </m:r>
                    <m:d>
                      <m:dPr>
                        <m:begChr m:val="("/>
                        <m:endChr m:val=")"/>
                        <m:sepChr m:val=""/>
                        <m:grow/>
                      </m:dPr>
                      <m:e>
                        <m:sSub>
                          <m:e>
                            <m:r>
                              <m:t>π</m:t>
                            </m:r>
                          </m:e>
                          <m:sub>
                            <m:r>
                              <m:t>t</m:t>
                            </m:r>
                          </m:sub>
                        </m:sSub>
                      </m:e>
                    </m:d>
                  </m:oMath>
                </a14:m>
                <a:r>
                  <a:rPr/>
                  <a:t>) is equal to zero. Therefore, if </a:t>
                </a:r>
                <a14:m>
                  <m:oMath xmlns:m="http://schemas.openxmlformats.org/officeDocument/2006/math">
                    <m:r>
                      <m:t>f</m:t>
                    </m:r>
                    <m:r>
                      <m:rPr>
                        <m:sty m:val="p"/>
                      </m:rPr>
                      <m:t>′</m:t>
                    </m:r>
                    <m:d>
                      <m:dPr>
                        <m:begChr m:val="("/>
                        <m:endChr m:val=")"/>
                        <m:sepChr m:val=""/>
                        <m:grow/>
                      </m:dPr>
                      <m:e>
                        <m:sSub>
                          <m:e>
                            <m:r>
                              <m:t>π</m:t>
                            </m:r>
                          </m:e>
                          <m:sub>
                            <m:r>
                              <m:t>t</m:t>
                            </m:r>
                          </m:sub>
                        </m:sSub>
                      </m:e>
                    </m:d>
                    <m:r>
                      <m:rPr>
                        <m:sty m:val="p"/>
                      </m:rPr>
                      <m:t>&gt;</m:t>
                    </m:r>
                    <m:r>
                      <m:t>0</m:t>
                    </m:r>
                  </m:oMath>
                </a14:m>
                <a:r>
                  <a:rPr/>
                  <a:t> (</a:t>
                </a:r>
                <a14:m>
                  <m:oMath xmlns:m="http://schemas.openxmlformats.org/officeDocument/2006/math">
                    <m:r>
                      <m:t>f</m:t>
                    </m:r>
                    <m:r>
                      <m:rPr>
                        <m:sty m:val="p"/>
                      </m:rPr>
                      <m:t>′</m:t>
                    </m:r>
                    <m:d>
                      <m:dPr>
                        <m:begChr m:val="("/>
                        <m:endChr m:val=")"/>
                        <m:sepChr m:val=""/>
                        <m:grow/>
                      </m:dPr>
                      <m:e>
                        <m:sSub>
                          <m:e>
                            <m:r>
                              <m:t>π</m:t>
                            </m:r>
                          </m:e>
                          <m:sub>
                            <m:r>
                              <m:t>t</m:t>
                            </m:r>
                          </m:sub>
                        </m:sSub>
                      </m:e>
                    </m:d>
                    <m:r>
                      <m:rPr>
                        <m:sty m:val="p"/>
                      </m:rPr>
                      <m:t>&lt;</m:t>
                    </m:r>
                    <m:r>
                      <m:t>0</m:t>
                    </m:r>
                  </m:oMath>
                </a14:m>
                <a:r>
                  <a:rPr/>
                  <a:t>), then an increase in inflation (decrease) leads to an increase (decrease) in the RPD. For robustness we estimate the </a:t>
                </a:r>
                <a14:m>
                  <m:oMath xmlns:m="http://schemas.openxmlformats.org/officeDocument/2006/math">
                    <m:r>
                      <m:t>g</m:t>
                    </m:r>
                    <m:d>
                      <m:dPr>
                        <m:begChr m:val="("/>
                        <m:endChr m:val=")"/>
                        <m:sepChr m:val=""/>
                        <m:grow/>
                      </m:dPr>
                      <m:e>
                        <m:r>
                          <m:t>U</m:t>
                        </m:r>
                        <m:r>
                          <m:t>I</m:t>
                        </m:r>
                        <m:sSub>
                          <m:e>
                            <m:r>
                              <m:t>N</m:t>
                            </m:r>
                          </m:e>
                          <m:sub>
                            <m:r>
                              <m:t>t</m:t>
                            </m:r>
                          </m:sub>
                        </m:sSub>
                      </m:e>
                    </m:d>
                  </m:oMath>
                </a14:m>
                <a:r>
                  <a:rPr/>
                  <a:t> with multiple bandwith (</a:t>
                </a:r>
                <a14:m>
                  <m:oMath xmlns:m="http://schemas.openxmlformats.org/officeDocument/2006/math">
                    <m:r>
                      <m:t>h</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Methodology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To further disentangle the effects of RPD on inflation, we decompose headline inflation into its expected and unexpected components. As discussed in the literature section, for example, theory suggests that inflation uncertainty has a more pronounced effect on RPD due to information frictions faced by firms when adjusting prices (Lucas 1973; Hercowitz 1981; Cukierman 1983).</a:t>
                </a:r>
              </a:p>
              <a:p>
                <a:pPr lvl="0" indent="0" marL="0">
                  <a:buNone/>
                </a:pPr>
                <a:r>
                  <a:rPr/>
                  <a:t>We therefore estimate the following model:</a:t>
                </a:r>
              </a:p>
              <a:p>
                <a:pPr lvl="0" indent="0" marL="0">
                  <a:buNone/>
                </a:pPr>
                <a14:m>
                  <m:oMathPara xmlns:m="http://schemas.openxmlformats.org/officeDocument/2006/math">
                    <m:oMathParaPr>
                      <m:jc m:val="center"/>
                    </m:oMathParaPr>
                    <m:oMath>
                      <m:r>
                        <m:t>R</m:t>
                      </m:r>
                      <m:r>
                        <m:t>P</m:t>
                      </m:r>
                      <m:sSub>
                        <m:e>
                          <m:r>
                            <m:t>D</m:t>
                          </m:r>
                        </m:e>
                        <m:sub>
                          <m:r>
                            <m:t>t</m:t>
                          </m:r>
                        </m:sub>
                      </m:sSub>
                      <m:r>
                        <m:rPr>
                          <m:sty m:val="p"/>
                        </m:rPr>
                        <m:t>=</m:t>
                      </m:r>
                      <m:r>
                        <m:t>α</m:t>
                      </m:r>
                      <m:r>
                        <m:rPr>
                          <m:sty m:val="p"/>
                        </m:rPr>
                        <m:t>+</m:t>
                      </m:r>
                      <m:sSub>
                        <m:e>
                          <m:r>
                            <m:t>β</m:t>
                          </m:r>
                        </m:e>
                        <m:sub>
                          <m:r>
                            <m:t>0</m:t>
                          </m:r>
                        </m:sub>
                      </m:sSub>
                      <m:r>
                        <m:t>E</m:t>
                      </m:r>
                      <m:r>
                        <m:t>I</m:t>
                      </m:r>
                      <m:sSub>
                        <m:e>
                          <m:r>
                            <m:t>N</m:t>
                          </m:r>
                        </m:e>
                        <m:sub>
                          <m:r>
                            <m:t>t</m:t>
                          </m:r>
                        </m:sub>
                      </m:sSub>
                      <m:r>
                        <m:rPr>
                          <m:sty m:val="p"/>
                        </m:rPr>
                        <m:t>+</m:t>
                      </m:r>
                      <m:sSub>
                        <m:e>
                          <m:r>
                            <m:t>β</m:t>
                          </m:r>
                        </m:e>
                        <m:sub>
                          <m:r>
                            <m:t>1</m:t>
                          </m:r>
                        </m:sub>
                      </m:sSub>
                      <m:r>
                        <m:t>U</m:t>
                      </m:r>
                      <m:r>
                        <m:t>I</m:t>
                      </m:r>
                      <m:sSub>
                        <m:e>
                          <m:r>
                            <m:t>N</m:t>
                          </m:r>
                        </m:e>
                        <m:sub>
                          <m:r>
                            <m:t>t</m:t>
                          </m:r>
                        </m:sub>
                      </m:sSub>
                      <m:r>
                        <m:rPr>
                          <m:sty m:val="p"/>
                        </m:rPr>
                        <m:t>+</m:t>
                      </m:r>
                      <m:r>
                        <m:t>g</m:t>
                      </m:r>
                      <m:d>
                        <m:dPr>
                          <m:begChr m:val="("/>
                          <m:endChr m:val=")"/>
                          <m:sepChr m:val=""/>
                          <m:grow/>
                        </m:dPr>
                        <m:e>
                          <m:r>
                            <m:t>U</m:t>
                          </m:r>
                          <m:r>
                            <m:t>I</m:t>
                          </m:r>
                          <m:sSub>
                            <m:e>
                              <m:r>
                                <m:t>N</m:t>
                              </m:r>
                            </m:e>
                            <m:sub>
                              <m:r>
                                <m:t>t</m:t>
                              </m:r>
                            </m:sub>
                          </m:sSub>
                        </m:e>
                      </m:d>
                      <m:r>
                        <m:rPr>
                          <m:sty m:val="p"/>
                        </m:rPr>
                        <m:t>+</m:t>
                      </m:r>
                      <m:nary>
                        <m:naryPr>
                          <m:chr m:val="∑"/>
                          <m:limLoc m:val="undOvr"/>
                          <m:subHide m:val="off"/>
                          <m:supHide m:val="off"/>
                        </m:naryPr>
                        <m:sub>
                          <m:r>
                            <m:t>k</m:t>
                          </m:r>
                          <m:r>
                            <m:rPr>
                              <m:sty m:val="p"/>
                            </m:rPr>
                            <m:t>=</m:t>
                          </m:r>
                          <m:r>
                            <m:t>1</m:t>
                          </m:r>
                        </m:sub>
                        <m:sup>
                          <m:r>
                            <m:t>3</m:t>
                          </m:r>
                        </m:sup>
                        <m:e>
                          <m:sSub>
                            <m:e>
                              <m:r>
                                <m:t>λ</m:t>
                              </m:r>
                            </m:e>
                            <m:sub>
                              <m:r>
                                <m:t>k</m:t>
                              </m:r>
                            </m:sub>
                          </m:sSub>
                        </m:e>
                      </m:nary>
                      <m:r>
                        <m:t>R</m:t>
                      </m:r>
                      <m:r>
                        <m:t>P</m:t>
                      </m:r>
                      <m:sSub>
                        <m:e>
                          <m:r>
                            <m:t>D</m:t>
                          </m:r>
                        </m:e>
                        <m:sub>
                          <m:r>
                            <m:t>t</m:t>
                          </m:r>
                          <m:r>
                            <m:rPr>
                              <m:sty m:val="p"/>
                            </m:rPr>
                            <m:t>−</m:t>
                          </m:r>
                          <m:r>
                            <m:t>k</m:t>
                          </m:r>
                        </m:sub>
                      </m:sSub>
                      <m:r>
                        <m:rPr>
                          <m:sty m:val="p"/>
                        </m:rPr>
                        <m:t>+</m:t>
                      </m:r>
                      <m:sSub>
                        <m:e>
                          <m:r>
                            <m:t>ϵ</m:t>
                          </m:r>
                        </m:e>
                        <m:sub>
                          <m:r>
                            <m:t>t</m:t>
                          </m:r>
                        </m:sub>
                      </m:sSub>
                      <m:r>
                        <m:rPr>
                          <m:sty m:val="p"/>
                        </m:rPr>
                        <m:t>,</m:t>
                      </m:r>
                      <m:r>
                        <m:t>  </m:t>
                      </m:r>
                      <m:d>
                        <m:dPr>
                          <m:begChr m:val="("/>
                          <m:endChr m:val=")"/>
                          <m:sepChr m:val=""/>
                          <m:grow/>
                        </m:dPr>
                        <m:e>
                          <m:r>
                            <m:t>17</m:t>
                          </m:r>
                        </m:e>
                      </m:d>
                    </m:oMath>
                  </m:oMathPara>
                </a14:m>
              </a:p>
              <a:p>
                <a:pPr lvl="0" indent="0" marL="0">
                  <a:buNone/>
                </a:pPr>
                <a:r>
                  <a:rPr/>
                  <a:t>where </a:t>
                </a:r>
                <a14:m>
                  <m:oMath xmlns:m="http://schemas.openxmlformats.org/officeDocument/2006/math">
                    <m:r>
                      <m:t>E</m:t>
                    </m:r>
                    <m:r>
                      <m:t>I</m:t>
                    </m:r>
                    <m:sSub>
                      <m:e>
                        <m:r>
                          <m:t>N</m:t>
                        </m:r>
                      </m:e>
                      <m:sub>
                        <m:r>
                          <m:t>t</m:t>
                        </m:r>
                      </m:sub>
                    </m:sSub>
                  </m:oMath>
                </a14:m>
                <a:r>
                  <a:rPr/>
                  <a:t> is the expected inflation rate, </a:t>
                </a:r>
                <a14:m>
                  <m:oMath xmlns:m="http://schemas.openxmlformats.org/officeDocument/2006/math">
                    <m:r>
                      <m:t>U</m:t>
                    </m:r>
                    <m:r>
                      <m:t>I</m:t>
                    </m:r>
                    <m:sSub>
                      <m:e>
                        <m:r>
                          <m:t>N</m:t>
                        </m:r>
                      </m:e>
                      <m:sub>
                        <m:r>
                          <m:t>t</m:t>
                        </m:r>
                      </m:sub>
                    </m:sSub>
                  </m:oMath>
                </a14:m>
                <a:r>
                  <a:rPr/>
                  <a:t> is the unexpected inflation rate, and </a:t>
                </a:r>
                <a14:m>
                  <m:oMath xmlns:m="http://schemas.openxmlformats.org/officeDocument/2006/math">
                    <m:r>
                      <m:t>g</m:t>
                    </m:r>
                    <m:d>
                      <m:dPr>
                        <m:begChr m:val="("/>
                        <m:endChr m:val=")"/>
                        <m:sepChr m:val=""/>
                        <m:grow/>
                      </m:dPr>
                      <m:e>
                        <m:r>
                          <m:t>U</m:t>
                        </m:r>
                        <m:r>
                          <m:t>I</m:t>
                        </m:r>
                        <m:sSub>
                          <m:e>
                            <m:r>
                              <m:t>N</m:t>
                            </m:r>
                          </m:e>
                          <m:sub>
                            <m:r>
                              <m:t>t</m:t>
                            </m:r>
                          </m:sub>
                        </m:sSub>
                      </m:e>
                    </m:d>
                  </m:oMath>
                </a14:m>
                <a:r>
                  <a:rPr/>
                  <a:t> is a non-linear function of unexpected inflation (</a:t>
                </a:r>
                <a14:m>
                  <m:oMath xmlns:m="http://schemas.openxmlformats.org/officeDocument/2006/math">
                    <m:r>
                      <m:t>U</m:t>
                    </m:r>
                    <m:r>
                      <m:t>I</m:t>
                    </m:r>
                    <m:sSub>
                      <m:e>
                        <m:r>
                          <m:t>N</m:t>
                        </m:r>
                      </m:e>
                      <m:sub>
                        <m:r>
                          <m:t>t</m:t>
                        </m:r>
                      </m:sub>
                    </m:sSub>
                  </m:oMath>
                </a14:m>
                <a:r>
                  <a:rPr/>
                  <a:t>). We obtain the expected using </a:t>
                </a:r>
                <a:r>
                  <a:rPr b="1"/>
                  <a:t>a simple moving average of headline inflation, and unexpected inflation as the standard deviation of inflation</a:t>
                </a:r>
                <a:r>
                  <a:rPr/>
                  <a:t>. The estimation of </a:t>
                </a:r>
                <a14:m>
                  <m:oMath xmlns:m="http://schemas.openxmlformats.org/officeDocument/2006/math">
                    <m:r>
                      <m:t>g</m:t>
                    </m:r>
                    <m:d>
                      <m:dPr>
                        <m:begChr m:val="("/>
                        <m:endChr m:val=")"/>
                        <m:sepChr m:val=""/>
                        <m:grow/>
                      </m:dPr>
                      <m:e>
                        <m:r>
                          <m:t>U</m:t>
                        </m:r>
                        <m:r>
                          <m:t>I</m:t>
                        </m:r>
                        <m:sSub>
                          <m:e>
                            <m:r>
                              <m:t>N</m:t>
                            </m:r>
                          </m:e>
                          <m:sub>
                            <m:r>
                              <m:t>t</m:t>
                            </m:r>
                          </m:sub>
                        </m:sSub>
                      </m:e>
                    </m:d>
                  </m:oMath>
                </a14:m>
                <a:r>
                  <a:rPr/>
                  <a:t> follows the same two-stage semi-parametric approach outlined in Equation 15 and Equation 16. The number of lags is the same as in Equation 10.</a:t>
                </a:r>
              </a:p>
              <a:p>
                <a:pPr lvl="0" indent="0" marL="0">
                  <a:buNone/>
                </a:pPr>
                <a:r>
                  <a:rPr/>
                  <a:t>Lastly, and some-what novel to the RPD literature, we employ a quantile on quantile regression approach (Koenker 2017). Quantile on quantile regressions are robust to outliers and allows us to estimate the regime aspects of the relationship between RPD and inflation. For brevity, we explain the quantile on quantile estimation procedure in the Appendix.</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Results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Results</a:t>
            </a:r>
          </a:p>
        </p:txBody>
      </p:sp>
      <p:pic>
        <p:nvPicPr>
          <p:cNvPr descr="inflation_relative_price_variance_presentation_files/figure-pptx/fig-rpd-1.png" id="0" name="Picture 1"/>
          <p:cNvPicPr>
            <a:picLocks noGrp="1" noChangeAspect="1"/>
          </p:cNvPicPr>
          <p:nvPr/>
        </p:nvPicPr>
        <p:blipFill>
          <a:blip r:embed="rId2"/>
          <a:stretch>
            <a:fillRect/>
          </a:stretch>
        </p:blipFill>
        <p:spPr bwMode="auto">
          <a:xfrm>
            <a:off x="1181100" y="1193800"/>
            <a:ext cx="67818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Results</a:t>
            </a:r>
          </a:p>
        </p:txBody>
      </p:sp>
      <p:pic>
        <p:nvPicPr>
          <p:cNvPr descr="inflation_relative_price_variance_presentation_files/figure-pptx/fig-rpd_inflation-1.png" id="0" name="Picture 1"/>
          <p:cNvPicPr>
            <a:picLocks noGrp="1" noChangeAspect="1"/>
          </p:cNvPicPr>
          <p:nvPr/>
        </p:nvPicPr>
        <p:blipFill>
          <a:blip r:embed="rId2"/>
          <a:stretch>
            <a:fillRect/>
          </a:stretch>
        </p:blipFill>
        <p:spPr bwMode="auto">
          <a:xfrm>
            <a:off x="1181100" y="1193800"/>
            <a:ext cx="67818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Results</a:t>
            </a:r>
          </a:p>
        </p:txBody>
      </p:sp>
      <p:pic>
        <p:nvPicPr>
          <p:cNvPr descr="inflation_relative_price_variance_presentation_files/figure-pptx/fig-rolling_coefficients-1.png" id="0" name="Picture 1"/>
          <p:cNvPicPr>
            <a:picLocks noGrp="1" noChangeAspect="1"/>
          </p:cNvPicPr>
          <p:nvPr/>
        </p:nvPicPr>
        <p:blipFill>
          <a:blip r:embed="rId2"/>
          <a:stretch>
            <a:fillRect/>
          </a:stretch>
        </p:blipFill>
        <p:spPr bwMode="auto">
          <a:xfrm>
            <a:off x="2235200" y="1193800"/>
            <a:ext cx="4660900" cy="3390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Results</a:t>
            </a:r>
          </a:p>
        </p:txBody>
      </p:sp>
      <p:pic>
        <p:nvPicPr>
          <p:cNvPr descr="inflation_relative_price_variance_presentation_files/figure-pptx/fig-recursive-1.png" id="0" name="Picture 1"/>
          <p:cNvPicPr>
            <a:picLocks noGrp="1" noChangeAspect="1"/>
          </p:cNvPicPr>
          <p:nvPr/>
        </p:nvPicPr>
        <p:blipFill>
          <a:blip r:embed="rId2"/>
          <a:stretch>
            <a:fillRect/>
          </a:stretch>
        </p:blipFill>
        <p:spPr bwMode="auto">
          <a:xfrm>
            <a:off x="1181100" y="1193800"/>
            <a:ext cx="6781800" cy="3390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Results</a:t>
            </a:r>
          </a:p>
        </p:txBody>
      </p:sp>
      <p:pic>
        <p:nvPicPr>
          <p:cNvPr descr="inflation_relative_price_variance_presentation_files/figure-pptx/fig-semi_parametric-1.png" id="0" name="Picture 1"/>
          <p:cNvPicPr>
            <a:picLocks noGrp="1" noChangeAspect="1"/>
          </p:cNvPicPr>
          <p:nvPr/>
        </p:nvPicPr>
        <p:blipFill>
          <a:blip r:embed="rId2"/>
          <a:stretch>
            <a:fillRect/>
          </a:stretch>
        </p:blipFill>
        <p:spPr bwMode="auto">
          <a:xfrm>
            <a:off x="2235200" y="1193800"/>
            <a:ext cx="46609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Results</a:t>
            </a:r>
          </a:p>
        </p:txBody>
      </p:sp>
      <p:pic>
        <p:nvPicPr>
          <p:cNvPr descr="inflation_relative_price_variance_presentation_files/figure-pptx/fig-semi_parametric_robustness-1.png" id="0" name="Picture 1"/>
          <p:cNvPicPr>
            <a:picLocks noGrp="1" noChangeAspect="1"/>
          </p:cNvPicPr>
          <p:nvPr/>
        </p:nvPicPr>
        <p:blipFill>
          <a:blip r:embed="rId2"/>
          <a:stretch>
            <a:fillRect/>
          </a:stretch>
        </p:blipFill>
        <p:spPr bwMode="auto">
          <a:xfrm>
            <a:off x="2235200" y="1193800"/>
            <a:ext cx="4660900" cy="3390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Results</a:t>
            </a:r>
          </a:p>
        </p:txBody>
      </p:sp>
      <p:pic>
        <p:nvPicPr>
          <p:cNvPr descr="inflation_relative_price_variance_presentation_files/figure-pptx/fig-unexpected_inflation-1.png" id="0" name="Picture 1"/>
          <p:cNvPicPr>
            <a:picLocks noGrp="1" noChangeAspect="1"/>
          </p:cNvPicPr>
          <p:nvPr/>
        </p:nvPicPr>
        <p:blipFill>
          <a:blip r:embed="rId2"/>
          <a:stretch>
            <a:fillRect/>
          </a:stretch>
        </p:blipFill>
        <p:spPr bwMode="auto">
          <a:xfrm>
            <a:off x="2235200" y="1193800"/>
            <a:ext cx="4660900" cy="33909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Results</a:t>
            </a:r>
          </a:p>
        </p:txBody>
      </p:sp>
      <p:pic>
        <p:nvPicPr>
          <p:cNvPr descr="inflation_relative_price_variance_presentation_files/figure-pptx/fig-semi_parametric_unexpected_robustness-1.png" id="0" name="Picture 1"/>
          <p:cNvPicPr>
            <a:picLocks noGrp="1" noChangeAspect="1"/>
          </p:cNvPicPr>
          <p:nvPr/>
        </p:nvPicPr>
        <p:blipFill>
          <a:blip r:embed="rId2"/>
          <a:stretch>
            <a:fillRect/>
          </a:stretch>
        </p:blipFill>
        <p:spPr bwMode="auto">
          <a:xfrm>
            <a:off x="2235200" y="1193800"/>
            <a:ext cx="4660900" cy="33909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Results</a:t>
            </a:r>
          </a:p>
        </p:txBody>
      </p:sp>
      <p:pic>
        <p:nvPicPr>
          <p:cNvPr descr="inflation_relative_price_variance_presentation_files/figure-pptx/fig-quant_reg-1.png" id="0" name="Picture 1"/>
          <p:cNvPicPr>
            <a:picLocks noGrp="1" noChangeAspect="1"/>
          </p:cNvPicPr>
          <p:nvPr/>
        </p:nvPicPr>
        <p:blipFill>
          <a:blip r:embed="rId2"/>
          <a:stretch>
            <a:fillRect/>
          </a:stretch>
        </p:blipFill>
        <p:spPr bwMode="auto">
          <a:xfrm>
            <a:off x="1181100" y="1193800"/>
            <a:ext cx="67818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Results</a:t>
            </a:r>
          </a:p>
        </p:txBody>
      </p:sp>
      <p:pic>
        <p:nvPicPr>
          <p:cNvPr descr="inflation_relative_price_variance_presentation_files/figure-pptx/fig-unif_quant_reg-1.png" id="0" name="Picture 1"/>
          <p:cNvPicPr>
            <a:picLocks noGrp="1" noChangeAspect="1"/>
          </p:cNvPicPr>
          <p:nvPr/>
        </p:nvPicPr>
        <p:blipFill>
          <a:blip r:embed="rId2"/>
          <a:stretch>
            <a:fillRect/>
          </a:stretch>
        </p:blipFill>
        <p:spPr bwMode="auto">
          <a:xfrm>
            <a:off x="1181100" y="1193800"/>
            <a:ext cx="6781800" cy="33909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Conclusions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Caglayan, Mustafa, and Alpay Filiztekin. 2003. “Nonlinear Impact of Inflation on Relative Price Variability.” </a:t>
            </a:r>
            <a:r>
              <a:rPr i="1"/>
              <a:t>Economics Letters</a:t>
            </a:r>
            <a:r>
              <a:rPr/>
              <a:t> 79 (2): 213–18.</a:t>
            </a:r>
          </a:p>
          <a:p>
            <a:pPr lvl="0" indent="0" marL="0">
              <a:buNone/>
            </a:pPr>
            <a:r>
              <a:rPr/>
              <a:t>Choi, Chi-Young. 2010. “Reconsidering the Relationship Between Inflation and Relative Price Variability.” </a:t>
            </a:r>
            <a:r>
              <a:rPr i="1"/>
              <a:t>Journal of Money, Credit and Banking</a:t>
            </a:r>
            <a:r>
              <a:rPr/>
              <a:t> 42 (5): 769–98. </a:t>
            </a:r>
            <a:r>
              <a:rPr>
                <a:hlinkClick r:id="rId2"/>
              </a:rPr>
              <a:t>https://doi.org/10.1111/j.1538-4616.2010.00307.x</a:t>
            </a:r>
            <a:r>
              <a:rPr/>
              <a:t>.</a:t>
            </a:r>
          </a:p>
          <a:p>
            <a:pPr lvl="0" indent="0" marL="0">
              <a:buNone/>
            </a:pPr>
            <a:r>
              <a:rPr/>
              <a:t>Cukierman, Alex. 1983. “Relative Price Variability and Inflation: A Survey and Further Results.” In </a:t>
            </a:r>
            <a:r>
              <a:rPr i="1"/>
              <a:t>Carnegie-Rochester Conference Series on Public Policy</a:t>
            </a:r>
            <a:r>
              <a:rPr/>
              <a:t>, 19:103–57. Elsevier.</a:t>
            </a:r>
          </a:p>
          <a:p>
            <a:pPr lvl="0" indent="0" marL="0">
              <a:buNone/>
            </a:pPr>
            <a:r>
              <a:rPr/>
              <a:t>Fielding, David, and Paul Mizen. 2000. “Relative Price Variability and Inflation in Europe.” </a:t>
            </a:r>
            <a:r>
              <a:rPr i="1"/>
              <a:t>Economica</a:t>
            </a:r>
            <a:r>
              <a:rPr/>
              <a:t> 67 (265): 57–78. </a:t>
            </a:r>
            <a:r>
              <a:rPr>
                <a:hlinkClick r:id="rId3"/>
              </a:rPr>
              <a:t>https://doi.org/10.1111/1468-0335.00195</a:t>
            </a:r>
            <a:r>
              <a:rPr/>
              <a:t>.</a:t>
            </a:r>
          </a:p>
          <a:p>
            <a:pPr lvl="0" indent="0" marL="0">
              <a:buNone/>
            </a:pPr>
            <a:r>
              <a:rPr/>
              <a:t>Head, Allen, and Alok Kumar. 2005. “Price Dispersion, Inflation, and Welfare.” </a:t>
            </a:r>
            <a:r>
              <a:rPr i="1"/>
              <a:t>International Economic Review</a:t>
            </a:r>
            <a:r>
              <a:rPr/>
              <a:t> 46 (2): 533–72. </a:t>
            </a:r>
            <a:r>
              <a:rPr>
                <a:hlinkClick r:id="rId4"/>
              </a:rPr>
              <a:t>https://doi.org/10.1111/j.1468-2354.2005.00333.x</a:t>
            </a:r>
            <a:r>
              <a:rPr/>
              <a:t>.</a:t>
            </a:r>
          </a:p>
          <a:p>
            <a:pPr lvl="0" indent="0" marL="0">
              <a:buNone/>
            </a:pPr>
            <a:r>
              <a:rPr/>
              <a:t>Hercowitz, Zvi. 1981. “Money and the Dispersion of Relative Prices.” </a:t>
            </a:r>
            <a:r>
              <a:rPr i="1"/>
              <a:t>Journal of Political Economy</a:t>
            </a:r>
            <a:r>
              <a:rPr/>
              <a:t> 89 (2): 328–56. </a:t>
            </a:r>
            <a:r>
              <a:rPr>
                <a:hlinkClick r:id="rId5"/>
              </a:rPr>
              <a:t>https://doi.org/10.1086/260968</a:t>
            </a:r>
            <a:r>
              <a:rPr/>
              <a:t>.</a:t>
            </a:r>
          </a:p>
          <a:p>
            <a:pPr lvl="0" indent="0" marL="0">
              <a:buNone/>
            </a:pPr>
            <a:r>
              <a:rPr/>
              <a:t>Koenker, Roger. 2017. “Quantile Regression: 40 Years On.” </a:t>
            </a:r>
            <a:r>
              <a:rPr i="1"/>
              <a:t>Annual Review of Economics</a:t>
            </a:r>
            <a:r>
              <a:rPr/>
              <a:t> 9 (1): 155–76. </a:t>
            </a:r>
            <a:r>
              <a:rPr>
                <a:hlinkClick r:id="rId6"/>
              </a:rPr>
              <a:t>https://doi.org/10.1146/annurev-economics-063016-103651</a:t>
            </a:r>
            <a:r>
              <a:rPr/>
              <a:t>.</a:t>
            </a:r>
          </a:p>
          <a:p>
            <a:pPr lvl="0" indent="0" marL="0">
              <a:buNone/>
            </a:pPr>
            <a:r>
              <a:rPr/>
              <a:t>Lach, Saul, and Daniel Tsiddon. 1992. “The Behavior of Prices and Inflation: An Empirical Analysis of Disaggregat Price Data.” </a:t>
            </a:r>
            <a:r>
              <a:rPr i="1"/>
              <a:t>Journal of Political Economy</a:t>
            </a:r>
            <a:r>
              <a:rPr/>
              <a:t> 100 (2): 349–89. </a:t>
            </a:r>
            <a:r>
              <a:rPr>
                <a:hlinkClick r:id="rId7"/>
              </a:rPr>
              <a:t>https://doi.org/10.1086/261821</a:t>
            </a:r>
            <a:r>
              <a:rPr/>
              <a:t>.</a:t>
            </a:r>
          </a:p>
          <a:p>
            <a:pPr lvl="0" indent="0" marL="0">
              <a:buNone/>
            </a:pPr>
            <a:r>
              <a:rPr/>
              <a:t>Lucas, Robert E. 1973. “Some International Evidence on Output-Inflation Tradeoffs.” </a:t>
            </a:r>
            <a:r>
              <a:rPr i="1"/>
              <a:t>The American Economic Review</a:t>
            </a:r>
            <a:r>
              <a:rPr/>
              <a:t> 63 (3): 326–34. </a:t>
            </a:r>
            <a:r>
              <a:rPr>
                <a:hlinkClick r:id="rId8"/>
              </a:rPr>
              <a:t>https://www.jstor.org/stable/1914364</a:t>
            </a:r>
            <a: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The data is available at: http://www.statssa.gov.za/ and the data was seasonally adjusted.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Relative price dispersion and inflation regimes in South Africa</dc:title>
  <dc:creator>Keagile Lesame and Xolani Sibande</dc:creator>
  <cp:keywords/>
  <dcterms:created xsi:type="dcterms:W3CDTF">2026-02-13T11:40:44Z</dcterms:created>
  <dcterms:modified xsi:type="dcterms:W3CDTF">2026-02-13T11:40:44Z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rossref">
    <vt:lpwstr/>
  </property>
  <property fmtid="{D5CDD505-2E9C-101B-9397-08002B2CF9AE}" pid="7" name="editor">
    <vt:lpwstr>source</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