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8" r:id="rId3"/>
    <p:sldId id="259" r:id="rId4"/>
    <p:sldId id="260" r:id="rId5"/>
    <p:sldId id="261" r:id="rId6"/>
    <p:sldId id="262" r:id="rId7"/>
    <p:sldId id="263" r:id="rId8"/>
    <p:sldId id="264" r:id="rId9"/>
    <p:sldId id="265" r:id="rId10"/>
    <p:sldId id="266" r:id="rId11"/>
    <p:sldId id="268" r:id="rId12"/>
    <p:sldId id="269"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8" r:id="rId29"/>
    <p:sldId id="290" r:id="rId30"/>
    <p:sldId id="292" r:id="rId31"/>
    <p:sldId id="293" r:id="rId32"/>
    <p:sldId id="294" r:id="rId33"/>
    <p:sldId id="295" r:id="rId34"/>
    <p:sldId id="296" r:id="rId35"/>
    <p:sldId id="299" r:id="rId36"/>
    <p:sldId id="297" r:id="rId37"/>
    <p:sldId id="29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9646"/>
    <a:srgbClr val="062C43"/>
    <a:srgbClr val="118581"/>
    <a:srgbClr val="AC2874"/>
    <a:srgbClr val="AD9252"/>
    <a:srgbClr val="FCCC32"/>
    <a:srgbClr val="59A74B"/>
    <a:srgbClr val="F27830"/>
    <a:srgbClr val="21B1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91"/>
    <p:restoredTop sz="94658"/>
  </p:normalViewPr>
  <p:slideViewPr>
    <p:cSldViewPr snapToGrid="0" snapToObjects="1">
      <p:cViewPr varScale="1">
        <p:scale>
          <a:sx n="118" d="100"/>
          <a:sy n="118" d="100"/>
        </p:scale>
        <p:origin x="216" y="24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9" d="100"/>
          <a:sy n="99" d="100"/>
        </p:scale>
        <p:origin x="286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9AE4A-426C-3B4A-89BC-F57F13E2600B}"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F4B45-0810-B149-8299-AA278491F805}" type="slidenum">
              <a:rPr lang="en-US" smtClean="0"/>
              <a:t>‹#›</a:t>
            </a:fld>
            <a:endParaRPr lang="en-US"/>
          </a:p>
        </p:txBody>
      </p:sp>
    </p:spTree>
    <p:extLst>
      <p:ext uri="{BB962C8B-B14F-4D97-AF65-F5344CB8AC3E}">
        <p14:creationId xmlns:p14="http://schemas.microsoft.com/office/powerpoint/2010/main" val="103951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BF4B45-0810-B149-8299-AA278491F805}" type="slidenum">
              <a:rPr lang="en-US" smtClean="0"/>
              <a:t>6</a:t>
            </a:fld>
            <a:endParaRPr lang="en-US"/>
          </a:p>
        </p:txBody>
      </p:sp>
    </p:spTree>
    <p:extLst>
      <p:ext uri="{BB962C8B-B14F-4D97-AF65-F5344CB8AC3E}">
        <p14:creationId xmlns:p14="http://schemas.microsoft.com/office/powerpoint/2010/main" val="2560715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BF4B45-0810-B149-8299-AA278491F805}" type="slidenum">
              <a:rPr lang="en-US" smtClean="0"/>
              <a:t>13</a:t>
            </a:fld>
            <a:endParaRPr lang="en-US"/>
          </a:p>
        </p:txBody>
      </p:sp>
    </p:spTree>
    <p:extLst>
      <p:ext uri="{BB962C8B-B14F-4D97-AF65-F5344CB8AC3E}">
        <p14:creationId xmlns:p14="http://schemas.microsoft.com/office/powerpoint/2010/main" val="40592190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7461840" y="774132"/>
            <a:ext cx="4263136" cy="1879616"/>
          </a:xfrm>
        </p:spPr>
        <p:txBody>
          <a:bodyPr anchor="b">
            <a:normAutofit/>
          </a:bodyPr>
          <a:lstStyle>
            <a:lvl1pPr algn="l">
              <a:defRPr sz="35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D46EA0A7-1E73-F64D-9AC7-B8EFBCA6BAAE}"/>
              </a:ext>
            </a:extLst>
          </p:cNvPr>
          <p:cNvSpPr>
            <a:spLocks noGrp="1"/>
          </p:cNvSpPr>
          <p:nvPr>
            <p:ph type="subTitle" idx="1"/>
          </p:nvPr>
        </p:nvSpPr>
        <p:spPr>
          <a:xfrm>
            <a:off x="7461840" y="3488441"/>
            <a:ext cx="3820634" cy="853003"/>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AF14B05-EF61-4345-AA4C-35FDA321C3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8" name="Picture 7">
            <a:extLst>
              <a:ext uri="{FF2B5EF4-FFF2-40B4-BE49-F238E27FC236}">
                <a16:creationId xmlns:a16="http://schemas.microsoft.com/office/drawing/2014/main" id="{B06511BA-1293-D749-88D7-6A305352B3C9}"/>
              </a:ext>
            </a:extLst>
          </p:cNvPr>
          <p:cNvPicPr>
            <a:picLocks noChangeAspect="1"/>
          </p:cNvPicPr>
          <p:nvPr userDrawn="1"/>
        </p:nvPicPr>
        <p:blipFill>
          <a:blip r:embed="rId3"/>
          <a:srcRect/>
          <a:stretch/>
        </p:blipFill>
        <p:spPr>
          <a:xfrm>
            <a:off x="379946" y="-9427"/>
            <a:ext cx="6792373" cy="6867427"/>
          </a:xfrm>
          <a:prstGeom prst="rect">
            <a:avLst/>
          </a:prstGeom>
        </p:spPr>
      </p:pic>
      <p:sp>
        <p:nvSpPr>
          <p:cNvPr id="9" name="Rectangle 8">
            <a:extLst>
              <a:ext uri="{FF2B5EF4-FFF2-40B4-BE49-F238E27FC236}">
                <a16:creationId xmlns:a16="http://schemas.microsoft.com/office/drawing/2014/main" id="{7AC819E9-38D1-FF48-8369-874ED919D343}"/>
              </a:ext>
            </a:extLst>
          </p:cNvPr>
          <p:cNvSpPr/>
          <p:nvPr userDrawn="1"/>
        </p:nvSpPr>
        <p:spPr>
          <a:xfrm>
            <a:off x="7585187" y="2740442"/>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30AD36D-6FCB-4E49-B2B2-52DB7184E44E}"/>
              </a:ext>
            </a:extLst>
          </p:cNvPr>
          <p:cNvPicPr>
            <a:picLocks noChangeAspect="1"/>
          </p:cNvPicPr>
          <p:nvPr userDrawn="1"/>
        </p:nvPicPr>
        <p:blipFill>
          <a:blip r:embed="rId4"/>
          <a:srcRect/>
          <a:stretch/>
        </p:blipFill>
        <p:spPr>
          <a:xfrm>
            <a:off x="0" y="0"/>
            <a:ext cx="2482576" cy="6858000"/>
          </a:xfrm>
          <a:prstGeom prst="rect">
            <a:avLst/>
          </a:prstGeom>
        </p:spPr>
      </p:pic>
    </p:spTree>
    <p:extLst>
      <p:ext uri="{BB962C8B-B14F-4D97-AF65-F5344CB8AC3E}">
        <p14:creationId xmlns:p14="http://schemas.microsoft.com/office/powerpoint/2010/main" val="586984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531088"/>
            <a:ext cx="10735723" cy="4645875"/>
          </a:xfrm>
        </p:spPr>
        <p:txBody>
          <a:bodyPr/>
          <a:lstStyle>
            <a:lvl1pPr>
              <a:defRPr sz="1800">
                <a:solidFill>
                  <a:schemeClr val="tx1"/>
                </a:solidFill>
              </a:defRPr>
            </a:lvl1pPr>
            <a:lvl2pPr>
              <a:defRPr sz="1400">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5" name="Picture 4">
            <a:extLst>
              <a:ext uri="{FF2B5EF4-FFF2-40B4-BE49-F238E27FC236}">
                <a16:creationId xmlns:a16="http://schemas.microsoft.com/office/drawing/2014/main" id="{32FC56F4-8756-D24E-843C-DEF7012E3D44}"/>
              </a:ext>
            </a:extLst>
          </p:cNvPr>
          <p:cNvPicPr>
            <a:picLocks noChangeAspect="1"/>
          </p:cNvPicPr>
          <p:nvPr userDrawn="1"/>
        </p:nvPicPr>
        <p:blipFill>
          <a:blip r:embed="rId3"/>
          <a:srcRect/>
          <a:stretch/>
        </p:blipFill>
        <p:spPr>
          <a:xfrm>
            <a:off x="-31549" y="-10510"/>
            <a:ext cx="1167955" cy="6912000"/>
          </a:xfrm>
          <a:prstGeom prst="rect">
            <a:avLst/>
          </a:prstGeom>
        </p:spPr>
      </p:pic>
    </p:spTree>
    <p:extLst>
      <p:ext uri="{BB962C8B-B14F-4D97-AF65-F5344CB8AC3E}">
        <p14:creationId xmlns:p14="http://schemas.microsoft.com/office/powerpoint/2010/main" val="419572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7" y="1817520"/>
            <a:ext cx="3540643" cy="1381125"/>
          </a:xfrm>
        </p:spPr>
        <p:txBody>
          <a:bodyPr anchor="b">
            <a:normAutofit/>
          </a:bodyPr>
          <a:lstStyle>
            <a:lvl1pPr algn="l">
              <a:defRPr sz="2400">
                <a:solidFill>
                  <a:schemeClr val="tx1"/>
                </a:solidFill>
              </a:defRPr>
            </a:lvl1pPr>
          </a:lstStyle>
          <a:p>
            <a:r>
              <a:rPr lang="en-US" dirty="0"/>
              <a:t>DIVIDER</a:t>
            </a:r>
            <a:br>
              <a:rPr lang="en-US" dirty="0"/>
            </a:br>
            <a:r>
              <a:rPr lang="en-US" dirty="0"/>
              <a:t>SLIDE</a:t>
            </a:r>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a:extLst>
              <a:ext uri="{FF2B5EF4-FFF2-40B4-BE49-F238E27FC236}">
                <a16:creationId xmlns:a16="http://schemas.microsoft.com/office/drawing/2014/main" id="{936C6409-780F-2E42-A10A-2D119A4CE137}"/>
              </a:ext>
            </a:extLst>
          </p:cNvPr>
          <p:cNvPicPr>
            <a:picLocks noChangeAspect="1"/>
          </p:cNvPicPr>
          <p:nvPr userDrawn="1"/>
        </p:nvPicPr>
        <p:blipFill>
          <a:blip r:embed="rId3"/>
          <a:srcRect/>
          <a:stretch/>
        </p:blipFill>
        <p:spPr>
          <a:xfrm>
            <a:off x="0" y="-21772"/>
            <a:ext cx="2502124" cy="6912000"/>
          </a:xfrm>
          <a:prstGeom prst="rect">
            <a:avLst/>
          </a:prstGeom>
        </p:spPr>
      </p:pic>
      <p:sp>
        <p:nvSpPr>
          <p:cNvPr id="8" name="Rectangle 7">
            <a:extLst>
              <a:ext uri="{FF2B5EF4-FFF2-40B4-BE49-F238E27FC236}">
                <a16:creationId xmlns:a16="http://schemas.microsoft.com/office/drawing/2014/main" id="{DD26ADAA-A976-7E46-9C6E-AAB46C1CD48F}"/>
              </a:ext>
            </a:extLst>
          </p:cNvPr>
          <p:cNvSpPr/>
          <p:nvPr userDrawn="1"/>
        </p:nvSpPr>
        <p:spPr>
          <a:xfrm>
            <a:off x="3117620" y="3275556"/>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095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8D0F3025-A031-3143-B45B-2EBE64C48C12}"/>
              </a:ext>
            </a:extLst>
          </p:cNvPr>
          <p:cNvPicPr>
            <a:picLocks noChangeAspect="1"/>
          </p:cNvPicPr>
          <p:nvPr userDrawn="1"/>
        </p:nvPicPr>
        <p:blipFill>
          <a:blip r:embed="rId2"/>
          <a:stretch>
            <a:fillRect/>
          </a:stretch>
        </p:blipFill>
        <p:spPr>
          <a:xfrm>
            <a:off x="0" y="0"/>
            <a:ext cx="5298067" cy="6858000"/>
          </a:xfrm>
          <a:prstGeom prst="rect">
            <a:avLst/>
          </a:prstGeom>
        </p:spPr>
      </p:pic>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765005" y="1307738"/>
            <a:ext cx="3540643" cy="1381125"/>
          </a:xfrm>
        </p:spPr>
        <p:txBody>
          <a:bodyPr anchor="b" anchorCtr="0">
            <a:normAutofit/>
          </a:bodyPr>
          <a:lstStyle>
            <a:lvl1pPr algn="l">
              <a:defRPr sz="3500">
                <a:solidFill>
                  <a:schemeClr val="bg1"/>
                </a:solidFill>
              </a:defRPr>
            </a:lvl1pPr>
          </a:lstStyle>
          <a:p>
            <a:r>
              <a:rPr lang="en-US" dirty="0"/>
              <a:t>CONTENT</a:t>
            </a:r>
            <a:br>
              <a:rPr lang="en-US" dirty="0"/>
            </a:br>
            <a:r>
              <a:rPr lang="en-US" dirty="0"/>
              <a:t>PAGE</a:t>
            </a:r>
          </a:p>
        </p:txBody>
      </p:sp>
      <p:sp>
        <p:nvSpPr>
          <p:cNvPr id="3" name="Subtitle 2">
            <a:extLst>
              <a:ext uri="{FF2B5EF4-FFF2-40B4-BE49-F238E27FC236}">
                <a16:creationId xmlns:a16="http://schemas.microsoft.com/office/drawing/2014/main" id="{D46EA0A7-1E73-F64D-9AC7-B8EFBCA6BAAE}"/>
              </a:ext>
            </a:extLst>
          </p:cNvPr>
          <p:cNvSpPr>
            <a:spLocks noGrp="1"/>
          </p:cNvSpPr>
          <p:nvPr>
            <p:ph type="subTitle" idx="1" hasCustomPrompt="1"/>
          </p:nvPr>
        </p:nvSpPr>
        <p:spPr>
          <a:xfrm>
            <a:off x="5523651" y="1311609"/>
            <a:ext cx="5903344" cy="4725200"/>
          </a:xfrm>
        </p:spPr>
        <p:txBody>
          <a:bodyPr/>
          <a:lstStyle>
            <a:lvl1pPr marL="457200" indent="-457200" algn="l">
              <a:buFont typeface="+mj-lt"/>
              <a:buAutoNum type="arabicPeriod"/>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content</a:t>
            </a:r>
          </a:p>
          <a:p>
            <a:endParaRPr lang="en-US" dirty="0"/>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a:extLst>
              <a:ext uri="{FF2B5EF4-FFF2-40B4-BE49-F238E27FC236}">
                <a16:creationId xmlns:a16="http://schemas.microsoft.com/office/drawing/2014/main" id="{9D801F86-E697-6C4F-88EA-99A60AD6359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
        <p:nvSpPr>
          <p:cNvPr id="9" name="Rectangle 8">
            <a:extLst>
              <a:ext uri="{FF2B5EF4-FFF2-40B4-BE49-F238E27FC236}">
                <a16:creationId xmlns:a16="http://schemas.microsoft.com/office/drawing/2014/main" id="{C048EE3F-3194-284A-A9A0-E847CB070626}"/>
              </a:ext>
            </a:extLst>
          </p:cNvPr>
          <p:cNvSpPr/>
          <p:nvPr userDrawn="1"/>
        </p:nvSpPr>
        <p:spPr>
          <a:xfrm>
            <a:off x="862792" y="2781983"/>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324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0_Title and Content">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4379495" cy="6858000"/>
          </a:xfrm>
          <a:prstGeom prst="rect">
            <a:avLst/>
          </a:prstGeom>
          <a:solidFill>
            <a:srgbClr val="062C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483579" y="365125"/>
            <a:ext cx="3463388" cy="850217"/>
          </a:xfrm>
        </p:spPr>
        <p:txBody>
          <a:bodyPr anchor="b" anchorCtr="0">
            <a:normAutofit/>
          </a:bodyPr>
          <a:lstStyle>
            <a:lvl1pPr>
              <a:defRPr sz="25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575212" y="1531088"/>
            <a:ext cx="3463388" cy="4782732"/>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5" name="Content Placeholder 2">
            <a:extLst>
              <a:ext uri="{FF2B5EF4-FFF2-40B4-BE49-F238E27FC236}">
                <a16:creationId xmlns:a16="http://schemas.microsoft.com/office/drawing/2014/main" id="{BE566692-5016-B349-BD9B-BB0C554A858F}"/>
              </a:ext>
            </a:extLst>
          </p:cNvPr>
          <p:cNvSpPr>
            <a:spLocks noGrp="1"/>
          </p:cNvSpPr>
          <p:nvPr>
            <p:ph idx="13"/>
          </p:nvPr>
        </p:nvSpPr>
        <p:spPr>
          <a:xfrm>
            <a:off x="4379495" y="0"/>
            <a:ext cx="6026775" cy="6857999"/>
          </a:xfrm>
        </p:spPr>
        <p:txBody>
          <a:bodyPr/>
          <a:lstStyle>
            <a:lvl1pPr marL="0" indent="0">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stStyle>
          <a:p>
            <a:pPr lvl="0"/>
            <a:endParaRPr lang="en-US" dirty="0"/>
          </a:p>
        </p:txBody>
      </p:sp>
      <p:pic>
        <p:nvPicPr>
          <p:cNvPr id="11" name="Picture 10">
            <a:extLst>
              <a:ext uri="{FF2B5EF4-FFF2-40B4-BE49-F238E27FC236}">
                <a16:creationId xmlns:a16="http://schemas.microsoft.com/office/drawing/2014/main" id="{C77E07AA-F835-5247-94AF-8930E4371B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2026258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062C4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537175" y="365125"/>
            <a:ext cx="11061790" cy="666233"/>
          </a:xfrm>
        </p:spPr>
        <p:txBody>
          <a:bodyPr anchor="b" anchorCtr="0"/>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537175" y="1531088"/>
            <a:ext cx="11061790" cy="4645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p:cNvPicPr>
            <a:picLocks noChangeAspect="1"/>
          </p:cNvPicPr>
          <p:nvPr userDrawn="1"/>
        </p:nvPicPr>
        <p:blipFill>
          <a:blip r:embed="rId2"/>
          <a:stretch>
            <a:fillRect/>
          </a:stretch>
        </p:blipFill>
        <p:spPr>
          <a:xfrm>
            <a:off x="10598201" y="5760720"/>
            <a:ext cx="1297072" cy="838708"/>
          </a:xfrm>
          <a:prstGeom prst="rect">
            <a:avLst/>
          </a:prstGeom>
        </p:spPr>
      </p:pic>
    </p:spTree>
    <p:extLst>
      <p:ext uri="{BB962C8B-B14F-4D97-AF65-F5344CB8AC3E}">
        <p14:creationId xmlns:p14="http://schemas.microsoft.com/office/powerpoint/2010/main" val="2112312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6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2004392" y="365125"/>
            <a:ext cx="9962322"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2004392" y="1531088"/>
            <a:ext cx="9962322"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5" name="Picture 4">
            <a:extLst>
              <a:ext uri="{FF2B5EF4-FFF2-40B4-BE49-F238E27FC236}">
                <a16:creationId xmlns:a16="http://schemas.microsoft.com/office/drawing/2014/main" id="{886A0B06-480A-F44A-8B85-346CF183476D}"/>
              </a:ext>
            </a:extLst>
          </p:cNvPr>
          <p:cNvPicPr>
            <a:picLocks noChangeAspect="1"/>
          </p:cNvPicPr>
          <p:nvPr userDrawn="1"/>
        </p:nvPicPr>
        <p:blipFill>
          <a:blip r:embed="rId3"/>
          <a:srcRect/>
          <a:stretch/>
        </p:blipFill>
        <p:spPr>
          <a:xfrm>
            <a:off x="-4652" y="0"/>
            <a:ext cx="1895475" cy="6858000"/>
          </a:xfrm>
          <a:prstGeom prst="rect">
            <a:avLst/>
          </a:prstGeom>
        </p:spPr>
      </p:pic>
    </p:spTree>
    <p:extLst>
      <p:ext uri="{BB962C8B-B14F-4D97-AF65-F5344CB8AC3E}">
        <p14:creationId xmlns:p14="http://schemas.microsoft.com/office/powerpoint/2010/main" val="2479384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A263750-C6D6-9140-B23A-412FC9B93104}"/>
              </a:ext>
            </a:extLst>
          </p:cNvPr>
          <p:cNvSpPr>
            <a:spLocks noGrp="1"/>
          </p:cNvSpPr>
          <p:nvPr>
            <p:ph sz="half" idx="1"/>
          </p:nvPr>
        </p:nvSpPr>
        <p:spPr>
          <a:xfrm>
            <a:off x="1136408" y="1240835"/>
            <a:ext cx="5181600" cy="518123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09DD4EAB-EE77-A640-8BFE-C74B32D55E78}"/>
              </a:ext>
            </a:extLst>
          </p:cNvPr>
          <p:cNvSpPr>
            <a:spLocks noGrp="1"/>
          </p:cNvSpPr>
          <p:nvPr>
            <p:ph sz="half" idx="2"/>
          </p:nvPr>
        </p:nvSpPr>
        <p:spPr>
          <a:xfrm>
            <a:off x="6500533" y="1240835"/>
            <a:ext cx="5181600" cy="518123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94EFE0C0-0926-4B46-A65E-069D8E848CB5}"/>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106F284E-B08A-7047-A440-A30BAA91B409}"/>
              </a:ext>
            </a:extLst>
          </p:cNvPr>
          <p:cNvSpPr>
            <a:spLocks noGrp="1"/>
          </p:cNvSpPr>
          <p:nvPr>
            <p:ph type="title"/>
          </p:nvPr>
        </p:nvSpPr>
        <p:spPr>
          <a:xfrm>
            <a:off x="1136407" y="365125"/>
            <a:ext cx="10545725" cy="666233"/>
          </a:xfrm>
        </p:spPr>
        <p:txBody>
          <a:bodyPr/>
          <a:lstStyle/>
          <a:p>
            <a:r>
              <a:rPr lang="en-US" dirty="0"/>
              <a:t>Click to edit Master title style</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12" name="Picture 11">
            <a:extLst>
              <a:ext uri="{FF2B5EF4-FFF2-40B4-BE49-F238E27FC236}">
                <a16:creationId xmlns:a16="http://schemas.microsoft.com/office/drawing/2014/main" id="{143AEAEB-E192-E44E-BDBB-DB33F7EE65B8}"/>
              </a:ext>
            </a:extLst>
          </p:cNvPr>
          <p:cNvPicPr>
            <a:picLocks noChangeAspect="1"/>
          </p:cNvPicPr>
          <p:nvPr userDrawn="1"/>
        </p:nvPicPr>
        <p:blipFill>
          <a:blip r:embed="rId3"/>
          <a:srcRect/>
          <a:stretch/>
        </p:blipFill>
        <p:spPr>
          <a:xfrm>
            <a:off x="-31549" y="-10510"/>
            <a:ext cx="1167955" cy="6912000"/>
          </a:xfrm>
          <a:prstGeom prst="rect">
            <a:avLst/>
          </a:prstGeom>
        </p:spPr>
      </p:pic>
    </p:spTree>
    <p:extLst>
      <p:ext uri="{BB962C8B-B14F-4D97-AF65-F5344CB8AC3E}">
        <p14:creationId xmlns:p14="http://schemas.microsoft.com/office/powerpoint/2010/main" val="2456399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2004392" y="365125"/>
            <a:ext cx="9962322"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2004392" y="1531088"/>
            <a:ext cx="9962322"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5" name="Picture 4">
            <a:extLst>
              <a:ext uri="{FF2B5EF4-FFF2-40B4-BE49-F238E27FC236}">
                <a16:creationId xmlns:a16="http://schemas.microsoft.com/office/drawing/2014/main" id="{886A0B06-480A-F44A-8B85-346CF183476D}"/>
              </a:ext>
            </a:extLst>
          </p:cNvPr>
          <p:cNvPicPr>
            <a:picLocks noChangeAspect="1"/>
          </p:cNvPicPr>
          <p:nvPr userDrawn="1"/>
        </p:nvPicPr>
        <p:blipFill>
          <a:blip r:embed="rId3"/>
          <a:srcRect/>
          <a:stretch/>
        </p:blipFill>
        <p:spPr>
          <a:xfrm>
            <a:off x="-4653" y="0"/>
            <a:ext cx="1910400" cy="6912000"/>
          </a:xfrm>
          <a:prstGeom prst="rect">
            <a:avLst/>
          </a:prstGeom>
        </p:spPr>
      </p:pic>
    </p:spTree>
    <p:extLst>
      <p:ext uri="{BB962C8B-B14F-4D97-AF65-F5344CB8AC3E}">
        <p14:creationId xmlns:p14="http://schemas.microsoft.com/office/powerpoint/2010/main" val="2955516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9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1055553" y="1531088"/>
            <a:ext cx="10735723"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5" name="Picture 4">
            <a:extLst>
              <a:ext uri="{FF2B5EF4-FFF2-40B4-BE49-F238E27FC236}">
                <a16:creationId xmlns:a16="http://schemas.microsoft.com/office/drawing/2014/main" id="{32FC56F4-8756-D24E-843C-DEF7012E3D44}"/>
              </a:ext>
            </a:extLst>
          </p:cNvPr>
          <p:cNvPicPr>
            <a:picLocks noChangeAspect="1"/>
          </p:cNvPicPr>
          <p:nvPr userDrawn="1"/>
        </p:nvPicPr>
        <p:blipFill>
          <a:blip r:embed="rId3"/>
          <a:srcRect/>
          <a:stretch/>
        </p:blipFill>
        <p:spPr>
          <a:xfrm>
            <a:off x="-31549" y="-5724"/>
            <a:ext cx="1167956" cy="6902428"/>
          </a:xfrm>
          <a:prstGeom prst="rect">
            <a:avLst/>
          </a:prstGeom>
        </p:spPr>
      </p:pic>
    </p:spTree>
    <p:extLst>
      <p:ext uri="{BB962C8B-B14F-4D97-AF65-F5344CB8AC3E}">
        <p14:creationId xmlns:p14="http://schemas.microsoft.com/office/powerpoint/2010/main" val="326021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A263750-C6D6-9140-B23A-412FC9B93104}"/>
              </a:ext>
            </a:extLst>
          </p:cNvPr>
          <p:cNvSpPr>
            <a:spLocks noGrp="1"/>
          </p:cNvSpPr>
          <p:nvPr>
            <p:ph sz="half" idx="1"/>
          </p:nvPr>
        </p:nvSpPr>
        <p:spPr>
          <a:xfrm>
            <a:off x="1136408" y="1240835"/>
            <a:ext cx="5181600" cy="518123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09DD4EAB-EE77-A640-8BFE-C74B32D55E78}"/>
              </a:ext>
            </a:extLst>
          </p:cNvPr>
          <p:cNvSpPr>
            <a:spLocks noGrp="1"/>
          </p:cNvSpPr>
          <p:nvPr>
            <p:ph sz="half" idx="2"/>
          </p:nvPr>
        </p:nvSpPr>
        <p:spPr>
          <a:xfrm>
            <a:off x="6500533" y="1240835"/>
            <a:ext cx="5181600" cy="518123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94EFE0C0-0926-4B46-A65E-069D8E848CB5}"/>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106F284E-B08A-7047-A440-A30BAA91B409}"/>
              </a:ext>
            </a:extLst>
          </p:cNvPr>
          <p:cNvSpPr>
            <a:spLocks noGrp="1"/>
          </p:cNvSpPr>
          <p:nvPr>
            <p:ph type="title"/>
          </p:nvPr>
        </p:nvSpPr>
        <p:spPr>
          <a:xfrm>
            <a:off x="1136407" y="365125"/>
            <a:ext cx="10545725" cy="666233"/>
          </a:xfrm>
        </p:spPr>
        <p:txBody>
          <a:bodyPr/>
          <a:lstStyle/>
          <a:p>
            <a:r>
              <a:rPr lang="en-US" dirty="0"/>
              <a:t>Click to edit Master title style</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12" name="Picture 11">
            <a:extLst>
              <a:ext uri="{FF2B5EF4-FFF2-40B4-BE49-F238E27FC236}">
                <a16:creationId xmlns:a16="http://schemas.microsoft.com/office/drawing/2014/main" id="{47D15360-2D94-AC48-AA2D-C98A0E079A34}"/>
              </a:ext>
            </a:extLst>
          </p:cNvPr>
          <p:cNvPicPr>
            <a:picLocks noChangeAspect="1"/>
          </p:cNvPicPr>
          <p:nvPr userDrawn="1"/>
        </p:nvPicPr>
        <p:blipFill>
          <a:blip r:embed="rId3"/>
          <a:srcRect/>
          <a:stretch/>
        </p:blipFill>
        <p:spPr>
          <a:xfrm>
            <a:off x="-31549" y="-5724"/>
            <a:ext cx="1167956" cy="6902428"/>
          </a:xfrm>
          <a:prstGeom prst="rect">
            <a:avLst/>
          </a:prstGeom>
        </p:spPr>
      </p:pic>
    </p:spTree>
    <p:extLst>
      <p:ext uri="{BB962C8B-B14F-4D97-AF65-F5344CB8AC3E}">
        <p14:creationId xmlns:p14="http://schemas.microsoft.com/office/powerpoint/2010/main" val="2352519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10301177" cy="6858000"/>
          </a:xfrm>
          <a:prstGeom prst="rect">
            <a:avLst/>
          </a:prstGeom>
          <a:solidFill>
            <a:srgbClr val="062C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97B6B1A4-849A-4C4E-B215-DB41876483DA}"/>
              </a:ext>
            </a:extLst>
          </p:cNvPr>
          <p:cNvSpPr>
            <a:spLocks noGrp="1"/>
          </p:cNvSpPr>
          <p:nvPr>
            <p:ph type="sldNum" sz="quarter" idx="12"/>
          </p:nvPr>
        </p:nvSpPr>
        <p:spPr>
          <a:xfrm>
            <a:off x="7557977" y="6313820"/>
            <a:ext cx="2743200" cy="365125"/>
          </a:xfrm>
        </p:spPr>
        <p:txBody>
          <a:bodyPr/>
          <a:lstStyle>
            <a:lvl1pPr>
              <a:defRPr sz="1100">
                <a:solidFill>
                  <a:schemeClr val="bg1"/>
                </a:solidFill>
              </a:defRPr>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31A8B892-E644-5B4F-AB39-6FBAE1EEC925}"/>
              </a:ext>
            </a:extLst>
          </p:cNvPr>
          <p:cNvSpPr>
            <a:spLocks noGrp="1"/>
          </p:cNvSpPr>
          <p:nvPr>
            <p:ph type="title"/>
          </p:nvPr>
        </p:nvSpPr>
        <p:spPr>
          <a:xfrm>
            <a:off x="398026" y="365125"/>
            <a:ext cx="9630558" cy="722895"/>
          </a:xfrm>
        </p:spPr>
        <p:txBody>
          <a:bodyPr anchor="b" anchorCtr="0"/>
          <a:lstStyle>
            <a:lvl1pPr>
              <a:defRPr>
                <a:solidFill>
                  <a:schemeClr val="bg1"/>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D540C788-F559-3848-8492-851BB3AF3A8A}"/>
              </a:ext>
            </a:extLst>
          </p:cNvPr>
          <p:cNvSpPr>
            <a:spLocks noGrp="1"/>
          </p:cNvSpPr>
          <p:nvPr>
            <p:ph sz="half" idx="1"/>
          </p:nvPr>
        </p:nvSpPr>
        <p:spPr>
          <a:xfrm>
            <a:off x="398025" y="1371600"/>
            <a:ext cx="9630558" cy="48602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1315846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wo Conten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393AF17-BFE0-534F-9F37-44A4F67F1949}"/>
              </a:ext>
            </a:extLst>
          </p:cNvPr>
          <p:cNvSpPr>
            <a:spLocks noGrp="1"/>
          </p:cNvSpPr>
          <p:nvPr>
            <p:ph type="pic" sz="quarter" idx="13" hasCustomPrompt="1"/>
          </p:nvPr>
        </p:nvSpPr>
        <p:spPr>
          <a:xfrm>
            <a:off x="0" y="0"/>
            <a:ext cx="10301176" cy="6858000"/>
          </a:xfrm>
        </p:spPr>
        <p:txBody>
          <a:bodyPr/>
          <a:lstStyle>
            <a:lvl1pPr>
              <a:defRPr/>
            </a:lvl1pPr>
          </a:lstStyle>
          <a:p>
            <a:r>
              <a:rPr lang="en-US" dirty="0"/>
              <a:t>Insert your picture here</a:t>
            </a:r>
          </a:p>
        </p:txBody>
      </p:sp>
      <p:sp>
        <p:nvSpPr>
          <p:cNvPr id="8" name="Slide Number Placeholder 5">
            <a:extLst>
              <a:ext uri="{FF2B5EF4-FFF2-40B4-BE49-F238E27FC236}">
                <a16:creationId xmlns:a16="http://schemas.microsoft.com/office/drawing/2014/main" id="{97B6B1A4-849A-4C4E-B215-DB41876483DA}"/>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2894792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69F5C5-D4EE-5445-9306-1D9E7517F24E}"/>
              </a:ext>
            </a:extLst>
          </p:cNvPr>
          <p:cNvSpPr/>
          <p:nvPr userDrawn="1"/>
        </p:nvSpPr>
        <p:spPr>
          <a:xfrm>
            <a:off x="1157469" y="0"/>
            <a:ext cx="11034532" cy="6858000"/>
          </a:xfrm>
          <a:prstGeom prst="rect">
            <a:avLst/>
          </a:prstGeom>
          <a:solidFill>
            <a:srgbClr val="062C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F7E0EDA-5665-EF45-9088-19BB7F8B0117}"/>
              </a:ext>
            </a:extLst>
          </p:cNvPr>
          <p:cNvPicPr>
            <a:picLocks noChangeAspect="1"/>
          </p:cNvPicPr>
          <p:nvPr userDrawn="1"/>
        </p:nvPicPr>
        <p:blipFill>
          <a:blip r:embed="rId2"/>
          <a:stretch>
            <a:fillRect/>
          </a:stretch>
        </p:blipFill>
        <p:spPr>
          <a:xfrm>
            <a:off x="10647252" y="5768053"/>
            <a:ext cx="1224838" cy="792000"/>
          </a:xfrm>
          <a:prstGeom prst="rect">
            <a:avLst/>
          </a:prstGeom>
        </p:spPr>
      </p:pic>
      <p:sp>
        <p:nvSpPr>
          <p:cNvPr id="8" name="TextBox 7">
            <a:extLst>
              <a:ext uri="{FF2B5EF4-FFF2-40B4-BE49-F238E27FC236}">
                <a16:creationId xmlns:a16="http://schemas.microsoft.com/office/drawing/2014/main" id="{CAC46887-13CA-0343-A183-2B7A755173B0}"/>
              </a:ext>
            </a:extLst>
          </p:cNvPr>
          <p:cNvSpPr txBox="1"/>
          <p:nvPr userDrawn="1"/>
        </p:nvSpPr>
        <p:spPr>
          <a:xfrm>
            <a:off x="3717282" y="1815737"/>
            <a:ext cx="7158446" cy="1846659"/>
          </a:xfrm>
          <a:prstGeom prst="rect">
            <a:avLst/>
          </a:prstGeom>
          <a:noFill/>
        </p:spPr>
        <p:txBody>
          <a:bodyPr wrap="square" rtlCol="0">
            <a:spAutoFit/>
          </a:bodyPr>
          <a:lstStyle/>
          <a:p>
            <a:r>
              <a:rPr lang="en-US" sz="5700" b="1" i="0" dirty="0">
                <a:solidFill>
                  <a:schemeClr val="bg1"/>
                </a:solidFill>
                <a:latin typeface="Arial" panose="020B0604020202020204" pitchFamily="34" charset="0"/>
                <a:cs typeface="Arial" panose="020B0604020202020204" pitchFamily="34" charset="0"/>
              </a:rPr>
              <a:t>THANK </a:t>
            </a:r>
            <a:br>
              <a:rPr lang="en-US" sz="5700" b="1" i="0" dirty="0">
                <a:solidFill>
                  <a:schemeClr val="bg1"/>
                </a:solidFill>
                <a:latin typeface="Arial" panose="020B0604020202020204" pitchFamily="34" charset="0"/>
                <a:cs typeface="Arial" panose="020B0604020202020204" pitchFamily="34" charset="0"/>
              </a:rPr>
            </a:br>
            <a:r>
              <a:rPr lang="en-US" sz="5700" b="1" i="0" dirty="0">
                <a:solidFill>
                  <a:schemeClr val="bg1"/>
                </a:solidFill>
                <a:latin typeface="Arial" panose="020B0604020202020204" pitchFamily="34" charset="0"/>
                <a:cs typeface="Arial" panose="020B0604020202020204" pitchFamily="34" charset="0"/>
              </a:rPr>
              <a:t>YOU</a:t>
            </a:r>
          </a:p>
        </p:txBody>
      </p:sp>
      <p:sp>
        <p:nvSpPr>
          <p:cNvPr id="9" name="Rectangle 8">
            <a:extLst>
              <a:ext uri="{FF2B5EF4-FFF2-40B4-BE49-F238E27FC236}">
                <a16:creationId xmlns:a16="http://schemas.microsoft.com/office/drawing/2014/main" id="{7BEA8619-8B4E-C445-A8C2-CDFECA28A025}"/>
              </a:ext>
            </a:extLst>
          </p:cNvPr>
          <p:cNvSpPr/>
          <p:nvPr userDrawn="1"/>
        </p:nvSpPr>
        <p:spPr>
          <a:xfrm>
            <a:off x="3902436" y="3835044"/>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95D4E9A-5D85-8047-8F33-BE3C6F1903D9}"/>
              </a:ext>
            </a:extLst>
          </p:cNvPr>
          <p:cNvPicPr>
            <a:picLocks noChangeAspect="1"/>
          </p:cNvPicPr>
          <p:nvPr userDrawn="1"/>
        </p:nvPicPr>
        <p:blipFill>
          <a:blip r:embed="rId3"/>
          <a:srcRect/>
          <a:stretch/>
        </p:blipFill>
        <p:spPr>
          <a:xfrm>
            <a:off x="0" y="0"/>
            <a:ext cx="2482576" cy="6858000"/>
          </a:xfrm>
          <a:prstGeom prst="rect">
            <a:avLst/>
          </a:prstGeom>
        </p:spPr>
      </p:pic>
    </p:spTree>
    <p:extLst>
      <p:ext uri="{BB962C8B-B14F-4D97-AF65-F5344CB8AC3E}">
        <p14:creationId xmlns:p14="http://schemas.microsoft.com/office/powerpoint/2010/main" val="733692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860D6F-2EF1-E44B-85ED-CB36B7C7FE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9BC75E1-A95E-BC4E-B2D9-ABDFCA087E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6FD388-B48A-CC4B-BDDC-9D8B1FE61D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a:extLst>
              <a:ext uri="{FF2B5EF4-FFF2-40B4-BE49-F238E27FC236}">
                <a16:creationId xmlns:a16="http://schemas.microsoft.com/office/drawing/2014/main" id="{631147A0-10B7-294B-9972-14195E6FC9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TOP SECRET, SECRET, CONFIDENTIAL, RESTRICTED</a:t>
            </a:r>
          </a:p>
        </p:txBody>
      </p:sp>
      <p:sp>
        <p:nvSpPr>
          <p:cNvPr id="6" name="Slide Number Placeholder 5">
            <a:extLst>
              <a:ext uri="{FF2B5EF4-FFF2-40B4-BE49-F238E27FC236}">
                <a16:creationId xmlns:a16="http://schemas.microsoft.com/office/drawing/2014/main" id="{97B40C17-8DDF-6C41-B1A3-244CE11498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85DA3A08-9E66-614E-AAE5-F810EFDD6885}" type="slidenum">
              <a:rPr lang="en-US" smtClean="0"/>
              <a:pPr/>
              <a:t>‹#›</a:t>
            </a:fld>
            <a:endParaRPr lang="en-US"/>
          </a:p>
        </p:txBody>
      </p:sp>
    </p:spTree>
    <p:extLst>
      <p:ext uri="{BB962C8B-B14F-4D97-AF65-F5344CB8AC3E}">
        <p14:creationId xmlns:p14="http://schemas.microsoft.com/office/powerpoint/2010/main" val="2168777543"/>
      </p:ext>
    </p:extLst>
  </p:cSld>
  <p:clrMap bg1="lt1" tx1="dk1" bg2="lt2" tx2="dk2" accent1="accent1" accent2="accent2" accent3="accent3" accent4="accent4" accent5="accent5" accent6="accent6" hlink="hlink" folHlink="folHlink"/>
  <p:sldLayoutIdLst>
    <p:sldLayoutId id="2147483649" r:id="rId1"/>
    <p:sldLayoutId id="2147483678" r:id="rId2"/>
    <p:sldLayoutId id="2147483681" r:id="rId3"/>
    <p:sldLayoutId id="2147483686" r:id="rId4"/>
    <p:sldLayoutId id="2147483661" r:id="rId5"/>
    <p:sldLayoutId id="2147483660" r:id="rId6"/>
    <p:sldLayoutId id="2147483680" r:id="rId7"/>
    <p:sldLayoutId id="2147483682" r:id="rId8"/>
    <p:sldLayoutId id="2147483650" r:id="rId9"/>
    <p:sldLayoutId id="2147483663" r:id="rId10"/>
    <p:sldLayoutId id="2147483671" r:id="rId11"/>
    <p:sldLayoutId id="2147483679" r:id="rId12"/>
    <p:sldLayoutId id="2147483683" r:id="rId13"/>
    <p:sldLayoutId id="2147483684" r:id="rId14"/>
    <p:sldLayoutId id="2147483685" r:id="rId15"/>
    <p:sldLayoutId id="2147483665" r:id="rId16"/>
    <p:sldLayoutId id="2147483675" r:id="rId17"/>
    <p:sldLayoutId id="2147483670" r:id="rId18"/>
  </p:sldLayoutIdLst>
  <p:hf hd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hyperlink" Target="https://www.jstor.org/stable/1914364" TargetMode="External"/><Relationship Id="rId3" Type="http://schemas.openxmlformats.org/officeDocument/2006/relationships/hyperlink" Target="https://doi.org/10.1111/1468-0335.00195" TargetMode="External"/><Relationship Id="rId7" Type="http://schemas.openxmlformats.org/officeDocument/2006/relationships/hyperlink" Target="https://doi.org/10.1086/261821" TargetMode="External"/><Relationship Id="rId2" Type="http://schemas.openxmlformats.org/officeDocument/2006/relationships/hyperlink" Target="https://doi.org/10.1111/j.1538-4616.2010.00307.x" TargetMode="External"/><Relationship Id="rId1" Type="http://schemas.openxmlformats.org/officeDocument/2006/relationships/slideLayout" Target="../slideLayouts/slideLayout2.xml"/><Relationship Id="rId6" Type="http://schemas.openxmlformats.org/officeDocument/2006/relationships/hyperlink" Target="https://doi.org/10.1146/annurev-economics-063016-103651" TargetMode="External"/><Relationship Id="rId5" Type="http://schemas.openxmlformats.org/officeDocument/2006/relationships/hyperlink" Target="https://doi.org/10.1086/260968" TargetMode="External"/><Relationship Id="rId4" Type="http://schemas.openxmlformats.org/officeDocument/2006/relationships/hyperlink" Target="https://doi.org/10.1111/j.1468-2354.2005.00333.x"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7461840" y="774132"/>
            <a:ext cx="4263136" cy="1879616"/>
          </a:xfrm>
        </p:spPr>
        <p:txBody>
          <a:bodyPr>
            <a:normAutofit fontScale="90000"/>
          </a:bodyPr>
          <a:lstStyle/>
          <a:p>
            <a:pPr marL="0" lvl="0" indent="0">
              <a:buNone/>
            </a:pPr>
            <a:r>
              <a:t>Relative price dispersion and inflation regimes in South Africa</a:t>
            </a:r>
          </a:p>
        </p:txBody>
      </p:sp>
      <p:sp>
        <p:nvSpPr>
          <p:cNvPr id="3" name="Subtitle 2">
            <a:extLst>
              <a:ext uri="{FF2B5EF4-FFF2-40B4-BE49-F238E27FC236}">
                <a16:creationId xmlns:a16="http://schemas.microsoft.com/office/drawing/2014/main" id="{D46EA0A7-1E73-F64D-9AC7-B8EFBCA6BAAE}"/>
              </a:ext>
            </a:extLst>
          </p:cNvPr>
          <p:cNvSpPr>
            <a:spLocks noGrp="1"/>
          </p:cNvSpPr>
          <p:nvPr>
            <p:ph type="subTitle" idx="1"/>
          </p:nvPr>
        </p:nvSpPr>
        <p:spPr>
          <a:xfrm>
            <a:off x="7461840" y="3549317"/>
            <a:ext cx="4263136" cy="1504664"/>
          </a:xfrm>
        </p:spPr>
        <p:txBody>
          <a:bodyPr>
            <a:normAutofit fontScale="85000" lnSpcReduction="20000"/>
          </a:bodyPr>
          <a:lstStyle/>
          <a:p>
            <a:pPr marL="0" lvl="0" indent="0">
              <a:buNone/>
            </a:pPr>
            <a:br>
              <a:rPr dirty="0"/>
            </a:br>
            <a:br>
              <a:rPr dirty="0"/>
            </a:br>
            <a:r>
              <a:rPr dirty="0" err="1"/>
              <a:t>Keagile</a:t>
            </a:r>
            <a:r>
              <a:rPr dirty="0"/>
              <a:t> </a:t>
            </a:r>
            <a:r>
              <a:rPr dirty="0" err="1"/>
              <a:t>Lesame</a:t>
            </a:r>
            <a:r>
              <a:rPr lang="en-US" dirty="0"/>
              <a:t> (NT)</a:t>
            </a:r>
            <a:r>
              <a:rPr dirty="0"/>
              <a:t> </a:t>
            </a:r>
            <a:endParaRPr lang="en-US" dirty="0"/>
          </a:p>
          <a:p>
            <a:pPr marL="0" lvl="0" indent="0">
              <a:buNone/>
            </a:pPr>
            <a:r>
              <a:rPr lang="en-US" dirty="0"/>
              <a:t>	</a:t>
            </a:r>
            <a:r>
              <a:rPr dirty="0"/>
              <a:t>and </a:t>
            </a:r>
            <a:endParaRPr lang="en-US" dirty="0"/>
          </a:p>
          <a:p>
            <a:pPr marL="0" lvl="0" indent="0">
              <a:buNone/>
            </a:pPr>
            <a:r>
              <a:rPr dirty="0"/>
              <a:t>Xolani Sibande </a:t>
            </a:r>
            <a:r>
              <a:rPr lang="en-US" dirty="0"/>
              <a:t>(SARB)</a:t>
            </a:r>
            <a:endParaRPr lang="en-ZA" dirty="0"/>
          </a:p>
          <a:p>
            <a:pPr marL="0" lv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The recent target reform raises questions about RDP</a:t>
            </a:r>
            <a:endParaRPr dirty="0"/>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349651"/>
            <a:ext cx="10842936" cy="4964169"/>
          </a:xfrm>
        </p:spPr>
        <p:txBody>
          <a:bodyPr>
            <a:normAutofit/>
          </a:bodyPr>
          <a:lstStyle/>
          <a:p>
            <a:pPr lvl="0"/>
            <a:r>
              <a:rPr dirty="0"/>
              <a:t>Inflation is known to have adverse welfare effects through its distortion of relative price</a:t>
            </a:r>
            <a:r>
              <a:rPr lang="en-US" dirty="0"/>
              <a:t> dispersion</a:t>
            </a:r>
            <a:r>
              <a:rPr dirty="0"/>
              <a:t> which causes the misallocation of resources, production inefficiencies leading to lower real economic activity</a:t>
            </a:r>
          </a:p>
          <a:p>
            <a:pPr lvl="0"/>
            <a:r>
              <a:rPr dirty="0"/>
              <a:t>This is well supported by both theoretical and empirical studies</a:t>
            </a:r>
            <a:r>
              <a:rPr lang="en-US" dirty="0"/>
              <a:t> (</a:t>
            </a:r>
            <a:r>
              <a:rPr lang="en-ZA" dirty="0"/>
              <a:t>Nakamura </a:t>
            </a:r>
            <a:r>
              <a:rPr lang="en-ZA" i="1" dirty="0"/>
              <a:t>et al</a:t>
            </a:r>
            <a:r>
              <a:rPr lang="en-ZA" dirty="0"/>
              <a:t>., 2018; Head and Kumar, 2005; Adam </a:t>
            </a:r>
            <a:r>
              <a:rPr lang="en-ZA" i="1" dirty="0"/>
              <a:t>et al</a:t>
            </a:r>
            <a:r>
              <a:rPr lang="en-ZA" dirty="0"/>
              <a:t>., 2024</a:t>
            </a:r>
            <a:r>
              <a:rPr lang="en-US" dirty="0"/>
              <a:t>)</a:t>
            </a:r>
            <a:endParaRPr dirty="0"/>
          </a:p>
          <a:p>
            <a:pPr lvl="0"/>
            <a:r>
              <a:rPr dirty="0"/>
              <a:t>This paper contributes to the empirical literature, by examining the relationship between inflation and relative price variability (RPD) in South Africa given the little evidence available and to better understand how this relationship has evolved and the implications for monetary policy</a:t>
            </a:r>
          </a:p>
          <a:p>
            <a:pPr lvl="0"/>
            <a:r>
              <a:rPr dirty="0"/>
              <a:t>The South African context can provide further insights into the relationship between inflation and RPD given the shifts in the inflation targets from 3-6 per cent in 2000 to 4.5 per cent since 2017 as structural changes in inflation can affect the link between inflation and relative price variability (Caglayan and </a:t>
            </a:r>
            <a:r>
              <a:rPr dirty="0" err="1"/>
              <a:t>Filiztekin</a:t>
            </a:r>
            <a:r>
              <a:rPr dirty="0"/>
              <a:t> 2003)</a:t>
            </a:r>
            <a:endParaRPr lang="en-US" dirty="0"/>
          </a:p>
          <a:p>
            <a:pPr lvl="0"/>
            <a:endParaRPr dirty="0"/>
          </a:p>
          <a:p>
            <a:pPr lvl="0"/>
            <a:r>
              <a:rPr dirty="0"/>
              <a:t>Given the inflation target reform towards a 3% in South Africa, this study contributes to the policy discussion on the appropriate inflation target and understating how dynamic relations between inflation and relative price variability has evolved</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6" y="1817520"/>
            <a:ext cx="7082991" cy="1381125"/>
          </a:xfrm>
        </p:spPr>
        <p:txBody>
          <a:bodyPr>
            <a:normAutofit/>
          </a:bodyPr>
          <a:lstStyle/>
          <a:p>
            <a:pPr marL="0" lvl="0" indent="0">
              <a:buNone/>
            </a:pPr>
            <a:r>
              <a:rPr dirty="0"/>
              <a:t>RPD through Lucas’s aggregate supply curve</a:t>
            </a:r>
            <a:r>
              <a:rPr lang="en-US" dirty="0"/>
              <a:t> (but what is RPD?)</a:t>
            </a:r>
            <a:endParaRPr dirty="0"/>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RDP has many explanations or theoretical underpinnings</a:t>
            </a:r>
            <a:endParaRPr dirty="0"/>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lvl="0"/>
            <a:r>
              <a:rPr dirty="0"/>
              <a:t>The theoretical literature generally distinguishes between menu-cost and signal extraction models in explaining the positive relation between trend inflation and RPD.</a:t>
            </a:r>
          </a:p>
          <a:p>
            <a:pPr lvl="0"/>
            <a:r>
              <a:rPr dirty="0"/>
              <a:t>Due to differences in administrative costs, these nominal price adjustment costs vary across firms moreover these adjustments occur at different times which implies staggard price setting </a:t>
            </a:r>
            <a:r>
              <a:rPr dirty="0" err="1"/>
              <a:t>behaviour</a:t>
            </a:r>
            <a:r>
              <a:rPr dirty="0"/>
              <a:t> which leads to relative price variability.</a:t>
            </a:r>
          </a:p>
          <a:p>
            <a:pPr lvl="0"/>
            <a:r>
              <a:rPr dirty="0"/>
              <a:t>Menu cost models predict a that higher expected inflation causes an increase in RPD while Lucas-type signal extraction models (Lucas 1973; </a:t>
            </a:r>
            <a:r>
              <a:rPr dirty="0" err="1"/>
              <a:t>Hercowitz</a:t>
            </a:r>
            <a:r>
              <a:rPr dirty="0"/>
              <a:t> 1981; Cukierman 1983) argue unexpected inflation uncertainty causes higher RPD because informational frictions make it difficult to distinguish between idiosyncratic relative shocks or an aggregate (inflationary) shock.</a:t>
            </a:r>
          </a:p>
          <a:p>
            <a:pPr lvl="0"/>
            <a:r>
              <a:rPr dirty="0"/>
              <a:t>Menu cost and signal-extraction models assume a positive and linear relationship making the optimal inflation rate zero, however, recently monetary search models (Head and Kumar</a:t>
            </a:r>
            <a:r>
              <a:rPr lang="en-US" dirty="0"/>
              <a:t>,</a:t>
            </a:r>
            <a:r>
              <a:rPr dirty="0"/>
              <a:t> 2005) show that this relationship is nonlinear making the optimal inflation rate somewhere between zero and positive inflation rate.</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As a thought experiment, we focus of Lucas’s supply curve </a:t>
            </a:r>
            <a:endParaRPr dirty="0"/>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lvl="0"/>
            <a:r>
              <a:rPr dirty="0"/>
              <a:t>The concept of relative price dispersion can be abstract and difficult to grasp without a theoretical framework.</a:t>
            </a:r>
          </a:p>
          <a:p>
            <a:pPr lvl="0"/>
            <a:r>
              <a:rPr dirty="0"/>
              <a:t>One of the most influential frameworks for understanding relative price dispersion is the Lucas (1973) aggregate supply curve, which provides insights into how relative price dispersion can explain the </a:t>
            </a:r>
            <a:r>
              <a:rPr b="1" dirty="0"/>
              <a:t>output-inflation relationship</a:t>
            </a:r>
            <a:r>
              <a:rPr dirty="0"/>
              <a:t>.</a:t>
            </a:r>
          </a:p>
          <a:p>
            <a:pPr lvl="0"/>
            <a:r>
              <a:rPr dirty="0"/>
              <a:t>This theory essentially means (in part) that nominal “rigidities” partially dominate short-run supplier </a:t>
            </a:r>
            <a:r>
              <a:rPr dirty="0" err="1"/>
              <a:t>behaviour</a:t>
            </a:r>
            <a:r>
              <a:rPr dirty="0"/>
              <a:t> resulting from a lack of information about the some prices relevant to decision making.</a:t>
            </a:r>
          </a:p>
          <a:p>
            <a:pPr lvl="0"/>
            <a:r>
              <a:rPr dirty="0"/>
              <a:t>For our purposes we ignore other aspects of the theoretical framework and emphasis this aspect of the model to provide an understanding relative price dispersion.</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US" dirty="0"/>
              <a:t>Lucas’s supply curve</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normAutofit lnSpcReduction="10000"/>
              </a:bodyPr>
              <a:lstStyle/>
              <a:p>
                <a:pPr marL="0" lvl="0" indent="0">
                  <a:buNone/>
                </a:pPr>
                <a:r>
                  <a:rPr dirty="0"/>
                  <a:t>Lucas (1973) proposes a decomposition of the supply curve, all in logs, into a natural or secular component and a cyclical component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m:t>
                          </m:r>
                        </m:e>
                      </m:d>
                    </m:oMath>
                  </m:oMathPara>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oMath>
                </a14:m>
                <a:r>
                  <a:rPr dirty="0"/>
                  <a:t> is the aggregate supply at time </a:t>
                </a:r>
                <a14:m>
                  <m:oMath xmlns:m="http://schemas.openxmlformats.org/officeDocument/2006/math">
                    <m:r>
                      <a:rPr>
                        <a:latin typeface="Cambria Math" panose="02040503050406030204" pitchFamily="18" charset="0"/>
                      </a:rPr>
                      <m:t>𝑡</m:t>
                    </m:r>
                  </m:oMath>
                </a14:m>
                <a:r>
                  <a:rPr dirty="0"/>
                  <a:t> in market </a:t>
                </a:r>
                <a14:m>
                  <m:oMath xmlns:m="http://schemas.openxmlformats.org/officeDocument/2006/math">
                    <m:r>
                      <a:rPr>
                        <a:latin typeface="Cambria Math" panose="02040503050406030204" pitchFamily="18" charset="0"/>
                      </a:rPr>
                      <m:t>𝑧</m:t>
                    </m:r>
                  </m:oMath>
                </a14:m>
                <a:r>
                  <a:rPr dirty="0"/>
                  <a: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𝑡</m:t>
                        </m:r>
                      </m:sub>
                    </m:sSub>
                  </m:oMath>
                </a14:m>
                <a:r>
                  <a:rPr dirty="0"/>
                  <a:t> is the natural or secular level of supply at time </a:t>
                </a:r>
                <a14:m>
                  <m:oMath xmlns:m="http://schemas.openxmlformats.org/officeDocument/2006/math">
                    <m:r>
                      <a:rPr>
                        <a:latin typeface="Cambria Math" panose="02040503050406030204" pitchFamily="18" charset="0"/>
                      </a:rPr>
                      <m:t>𝑡</m:t>
                    </m:r>
                  </m:oMath>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𝑐𝑡</m:t>
                        </m:r>
                      </m:sub>
                    </m:sSub>
                  </m:oMath>
                </a14:m>
                <a:r>
                  <a:rPr dirty="0"/>
                  <a:t> is the cyclical component of supply at time </a:t>
                </a:r>
                <a14:m>
                  <m:oMath xmlns:m="http://schemas.openxmlformats.org/officeDocument/2006/math">
                    <m:r>
                      <a:rPr>
                        <a:latin typeface="Cambria Math" panose="02040503050406030204" pitchFamily="18" charset="0"/>
                      </a:rPr>
                      <m:t>𝑡</m:t>
                    </m:r>
                  </m:oMath>
                </a14:m>
                <a:r>
                  <a:rPr dirty="0"/>
                  <a:t>.</a:t>
                </a:r>
              </a:p>
              <a:p>
                <a:pPr lvl="0"/>
                <a:r>
                  <a:rPr dirty="0"/>
                  <a:t>Competitive markets and a cleared </a:t>
                </a:r>
                <a:r>
                  <a:rPr dirty="0" err="1"/>
                  <a:t>labour</a:t>
                </a:r>
                <a:r>
                  <a:rPr dirty="0"/>
                  <a:t> market are assumed</a:t>
                </a:r>
              </a:p>
              <a:p>
                <a:pPr lvl="0"/>
                <a:r>
                  <a:rPr dirty="0"/>
                  <a:t>Leading to relative price and general price level movements leading.</a:t>
                </a:r>
              </a:p>
              <a:p>
                <a:pPr lvl="0"/>
                <a:r>
                  <a:rPr dirty="0"/>
                  <a:t>Imperfect information of the suppliers about the general price level that leads to relative price dispersion and the output-inflation relationship.</a:t>
                </a:r>
              </a:p>
              <a:p>
                <a:pPr marL="0" lvl="0" indent="0">
                  <a:buNone/>
                </a:pPr>
                <a:r>
                  <a:rPr dirty="0"/>
                  <a:t>In addition, the natural or secular level of supply is assumed to follow a linear trend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𝛽</m:t>
                      </m:r>
                      <m:r>
                        <a:rPr>
                          <a:latin typeface="Cambria Math" panose="02040503050406030204" pitchFamily="18" charset="0"/>
                        </a:rPr>
                        <m:t>𝑡</m:t>
                      </m:r>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2</m:t>
                          </m:r>
                        </m:e>
                      </m:d>
                    </m:oMath>
                  </m:oMathPara>
                </a14:m>
                <a:endParaRPr dirty="0"/>
              </a:p>
              <a:p>
                <a:pPr marL="0" lvl="0" indent="0">
                  <a:buNone/>
                </a:pPr>
                <a:r>
                  <a:rPr dirty="0"/>
                  <a:t>where </a:t>
                </a:r>
                <a14:m>
                  <m:oMath xmlns:m="http://schemas.openxmlformats.org/officeDocument/2006/math">
                    <m:r>
                      <a:rPr>
                        <a:latin typeface="Cambria Math" panose="02040503050406030204" pitchFamily="18" charset="0"/>
                      </a:rPr>
                      <m:t>𝛼</m:t>
                    </m:r>
                  </m:oMath>
                </a14:m>
                <a:r>
                  <a:rPr dirty="0"/>
                  <a:t> is a constant and </a:t>
                </a:r>
                <a14:m>
                  <m:oMath xmlns:m="http://schemas.openxmlformats.org/officeDocument/2006/math">
                    <m:r>
                      <a:rPr>
                        <a:latin typeface="Cambria Math" panose="02040503050406030204" pitchFamily="18" charset="0"/>
                      </a:rPr>
                      <m:t>𝛽</m:t>
                    </m:r>
                  </m:oMath>
                </a14:m>
                <a:r>
                  <a:rPr dirty="0"/>
                  <a:t> captures the trend growth rate of the natural level of supply.</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3"/>
                <a:stretch>
                  <a:fillRect l="-473" t="-1907" b="-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US" dirty="0"/>
              <a:t>Lucas’s supply curve: Information asymmetry</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The cyclical component varies with the perceived relative price (the difference between the actual price level and the expected price level) and its lags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r>
                        <a:rPr>
                          <a:latin typeface="Cambria Math" panose="02040503050406030204" pitchFamily="18" charset="0"/>
                        </a:rPr>
                        <m:t>𝛾</m:t>
                      </m:r>
                      <m:d>
                        <m:dPr>
                          <m:begChr m:val="["/>
                          <m:endChr m:val="]"/>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e>
                          </m:d>
                        </m:e>
                      </m:d>
                      <m:r>
                        <a:rPr>
                          <a:latin typeface="Cambria Math" panose="02040503050406030204" pitchFamily="18" charset="0"/>
                        </a:rPr>
                        <m:t>+</m:t>
                      </m:r>
                      <m:r>
                        <a:rPr>
                          <a:latin typeface="Cambria Math" panose="02040503050406030204" pitchFamily="18" charset="0"/>
                        </a:rPr>
                        <m:t>𝜆</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3</m:t>
                          </m:r>
                        </m:e>
                      </m:d>
                    </m:oMath>
                  </m:oMathPara>
                </a14:m>
                <a:endParaRPr dirty="0"/>
              </a:p>
              <a:p>
                <a:pPr lvl="0"/>
                <a14:m>
                  <m:oMath xmlns:m="http://schemas.openxmlformats.org/officeDocument/2006/math">
                    <m:r>
                      <a:rPr>
                        <a:latin typeface="Cambria Math" panose="02040503050406030204" pitchFamily="18" charset="0"/>
                      </a:rPr>
                      <m:t>𝛾</m:t>
                    </m:r>
                  </m:oMath>
                </a14:m>
                <a:r>
                  <a:rPr dirty="0"/>
                  <a:t> captures the sensitivity of supply to the perceived relative price,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oMath>
                </a14:m>
                <a:r>
                  <a:rPr dirty="0"/>
                  <a:t> is the actual price level in market </a:t>
                </a:r>
                <a14:m>
                  <m:oMath xmlns:m="http://schemas.openxmlformats.org/officeDocument/2006/math">
                    <m:r>
                      <a:rPr>
                        <a:latin typeface="Cambria Math" panose="02040503050406030204" pitchFamily="18" charset="0"/>
                      </a:rPr>
                      <m:t>𝑧</m:t>
                    </m:r>
                  </m:oMath>
                </a14:m>
                <a:r>
                  <a:rPr dirty="0"/>
                  <a:t> at time </a:t>
                </a:r>
                <a14:m>
                  <m:oMath xmlns:m="http://schemas.openxmlformats.org/officeDocument/2006/math">
                    <m:r>
                      <a:rPr>
                        <a:latin typeface="Cambria Math" panose="02040503050406030204" pitchFamily="18" charset="0"/>
                      </a:rPr>
                      <m:t>𝑡</m:t>
                    </m:r>
                  </m:oMath>
                </a14:m>
                <a:r>
                  <a:rPr dirty="0"/>
                  <a:t>,</a:t>
                </a:r>
              </a:p>
              <a:p>
                <a:pPr lvl="0"/>
                <a14:m>
                  <m:oMath xmlns:m="http://schemas.openxmlformats.org/officeDocument/2006/math">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e>
                    </m:d>
                  </m:oMath>
                </a14:m>
                <a:r>
                  <a:rPr dirty="0"/>
                  <a:t> is the expected price level based on information available at time </a:t>
                </a:r>
                <a14:m>
                  <m:oMath xmlns:m="http://schemas.openxmlformats.org/officeDocument/2006/math">
                    <m:r>
                      <a:rPr>
                        <a:latin typeface="Cambria Math" panose="02040503050406030204" pitchFamily="18" charset="0"/>
                      </a:rPr>
                      <m:t>𝑡</m:t>
                    </m:r>
                  </m:oMath>
                </a14:m>
                <a:r>
                  <a:rPr dirty="0"/>
                  <a:t> in market </a:t>
                </a:r>
                <a14:m>
                  <m:oMath xmlns:m="http://schemas.openxmlformats.org/officeDocument/2006/math">
                    <m:r>
                      <a:rPr>
                        <a:latin typeface="Cambria Math" panose="02040503050406030204" pitchFamily="18" charset="0"/>
                      </a:rPr>
                      <m:t>𝑧</m:t>
                    </m:r>
                  </m:oMath>
                </a14:m>
                <a:endParaRPr dirty="0"/>
              </a:p>
              <a:p>
                <a:pPr lvl="0"/>
                <a14:m>
                  <m:oMath xmlns:m="http://schemas.openxmlformats.org/officeDocument/2006/math">
                    <m:r>
                      <a:rPr>
                        <a:latin typeface="Cambria Math" panose="02040503050406030204" pitchFamily="18" charset="0"/>
                      </a:rPr>
                      <m:t>𝜆</m:t>
                    </m:r>
                  </m:oMath>
                </a14:m>
                <a:r>
                  <a:rPr dirty="0"/>
                  <a:t> captures the persistence of the cyclical component and </a:t>
                </a:r>
                <a14:m>
                  <m:oMath xmlns:m="http://schemas.openxmlformats.org/officeDocument/2006/math">
                    <m:d>
                      <m:dPr>
                        <m:begChr m:val="|"/>
                        <m:endChr m:val="|"/>
                        <m:ctrlPr>
                          <a:rPr i="1">
                            <a:latin typeface="Cambria Math" panose="02040503050406030204" pitchFamily="18" charset="0"/>
                          </a:rPr>
                        </m:ctrlPr>
                      </m:dPr>
                      <m:e>
                        <m:r>
                          <a:rPr>
                            <a:latin typeface="Cambria Math" panose="02040503050406030204" pitchFamily="18" charset="0"/>
                          </a:rPr>
                          <m:t>𝜆</m:t>
                        </m:r>
                      </m:e>
                    </m:d>
                    <m:r>
                      <a:rPr>
                        <a:latin typeface="Cambria Math" panose="02040503050406030204" pitchFamily="18" charset="0"/>
                      </a:rPr>
                      <m:t>&lt;1</m:t>
                    </m:r>
                  </m:oMath>
                </a14:m>
                <a:r>
                  <a:rPr dirty="0"/>
                  <a:t>. </a:t>
                </a:r>
                <a14:m>
                  <m:oMath xmlns:m="http://schemas.openxmlformats.org/officeDocument/2006/math">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e>
                    </m:d>
                  </m:oMath>
                </a14:m>
                <a:r>
                  <a:rPr dirty="0"/>
                  <a:t> is current expected price level conditioned on information that is available at time </a:t>
                </a:r>
                <a14:m>
                  <m:oMath xmlns:m="http://schemas.openxmlformats.org/officeDocument/2006/math">
                    <m:r>
                      <a:rPr>
                        <a:latin typeface="Cambria Math" panose="02040503050406030204" pitchFamily="18" charset="0"/>
                      </a:rPr>
                      <m:t>𝑡</m:t>
                    </m:r>
                  </m:oMath>
                </a14:m>
                <a:r>
                  <a:rPr dirty="0"/>
                  <a:t>, at market </a:t>
                </a:r>
                <a14:m>
                  <m:oMath xmlns:m="http://schemas.openxmlformats.org/officeDocument/2006/math">
                    <m:r>
                      <a:rPr>
                        <a:latin typeface="Cambria Math" panose="02040503050406030204" pitchFamily="18" charset="0"/>
                      </a:rPr>
                      <m:t>𝑧</m:t>
                    </m:r>
                  </m:oMath>
                </a14:m>
                <a:r>
                  <a:rPr dirty="0"/>
                  <a:t>.</a:t>
                </a:r>
              </a:p>
              <a:p>
                <a:pPr lvl="0"/>
                <a:r>
                  <a:rPr dirty="0"/>
                  <a:t>The available information set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oMath>
                </a14:m>
                <a:r>
                  <a:rPr dirty="0"/>
                  <a:t>) comprises of past demand driven shifts of the secular component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𝑡</m:t>
                        </m:r>
                      </m:sub>
                    </m:sSub>
                  </m:oMath>
                </a14:m>
                <a:r>
                  <a:rPr dirty="0"/>
                  <a:t>),</a:t>
                </a:r>
              </a:p>
              <a:p>
                <a:pPr lvl="0"/>
                <a:r>
                  <a:rPr dirty="0"/>
                  <a:t>Past deviations of the cyclical component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−2</m:t>
                        </m:r>
                      </m:sub>
                    </m:sSub>
                    <m:r>
                      <a:rPr>
                        <a:latin typeface="Cambria Math" panose="02040503050406030204" pitchFamily="18" charset="0"/>
                      </a:rPr>
                      <m:t>,...</m:t>
                    </m:r>
                  </m:oMath>
                </a14:m>
                <a:r>
                  <a:rPr dirty="0"/>
                  <a:t>) from its natural level.</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r="-709"/>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US" dirty="0"/>
              <a:t>Lucas’s supply curve: General price level</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lvl="0"/>
                <a:r>
                  <a:rPr dirty="0"/>
                  <a:t>The current general price level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oMath>
                </a14:m>
                <a:r>
                  <a:rPr dirty="0"/>
                  <a:t>), which determines ‘prior’ expectations common across all suppliers in all markets, is assumed to be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𝑁</m:t>
                    </m:r>
                    <m:d>
                      <m:dPr>
                        <m:ctrlPr>
                          <a:rPr i="1">
                            <a:latin typeface="Cambria Math" panose="02040503050406030204" pitchFamily="18" charset="0"/>
                          </a:rPr>
                        </m:ctrlPr>
                      </m:dPr>
                      <m:e>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e>
                    </m:d>
                  </m:oMath>
                </a14:m>
                <a:endParaRPr dirty="0"/>
              </a:p>
              <a:p>
                <a:pPr lvl="0"/>
                <a14:m>
                  <m:oMath xmlns:m="http://schemas.openxmlformats.org/officeDocument/2006/math">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oMath>
                </a14:m>
                <a:r>
                  <a:rPr dirty="0"/>
                  <a:t> is the mean price level at time </a:t>
                </a:r>
                <a14:m>
                  <m:oMath xmlns:m="http://schemas.openxmlformats.org/officeDocument/2006/math">
                    <m:r>
                      <a:rPr>
                        <a:latin typeface="Cambria Math" panose="02040503050406030204" pitchFamily="18" charset="0"/>
                      </a:rPr>
                      <m:t>𝑡</m:t>
                    </m:r>
                  </m:oMath>
                </a14:m>
                <a:r>
                  <a:rPr dirty="0"/>
                  <a:t> and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rPr dirty="0"/>
                  <a:t> is the variance of the price level at time </a:t>
                </a:r>
                <a14:m>
                  <m:oMath xmlns:m="http://schemas.openxmlformats.org/officeDocument/2006/math">
                    <m:r>
                      <a:rPr>
                        <a:latin typeface="Cambria Math" panose="02040503050406030204" pitchFamily="18" charset="0"/>
                      </a:rPr>
                      <m:t>𝑡</m:t>
                    </m:r>
                  </m:oMath>
                </a14:m>
                <a:r>
                  <a:rPr dirty="0"/>
                  <a:t>.</a:t>
                </a:r>
              </a:p>
              <a:p>
                <a:pPr lvl="0"/>
                <a:r>
                  <a:rPr dirty="0"/>
                  <a:t>Furthermore, Lucas (1973) defines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𝑡</m:t>
                        </m:r>
                      </m:sub>
                    </m:sSub>
                  </m:oMath>
                </a14:m>
                <a:r>
                  <a:rPr dirty="0"/>
                  <a:t> as the percentage deviation of the actual market price from the general price level as </a:t>
                </a:r>
                <a14:m>
                  <m:oMath xmlns:m="http://schemas.openxmlformats.org/officeDocument/2006/math">
                    <m:r>
                      <a:rPr>
                        <a:latin typeface="Cambria Math" panose="02040503050406030204" pitchFamily="18" charset="0"/>
                      </a:rPr>
                      <m:t>𝑧</m:t>
                    </m:r>
                    <m:limUpp>
                      <m:limUppPr>
                        <m:ctrlPr>
                          <a:rPr i="1">
                            <a:latin typeface="Cambria Math" panose="02040503050406030204" pitchFamily="18" charset="0"/>
                          </a:rPr>
                        </m:ctrlPr>
                      </m:limUppPr>
                      <m:e>
                        <m:r>
                          <a:rPr>
                            <a:latin typeface="Cambria Math" panose="02040503050406030204" pitchFamily="18" charset="0"/>
                          </a:rPr>
                          <m:t>∼</m:t>
                        </m:r>
                      </m:e>
                      <m:lim>
                        <m:r>
                          <m:rPr>
                            <m:nor/>
                          </m:rPr>
                          <a:rPr/>
                          <m:t>iid</m:t>
                        </m:r>
                      </m:lim>
                    </m:limUpp>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0,</m:t>
                        </m:r>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e>
                    </m:d>
                    <m:r>
                      <a:rPr>
                        <a:latin typeface="Cambria Math" panose="02040503050406030204" pitchFamily="18" charset="0"/>
                      </a:rPr>
                      <m:t>,</m:t>
                    </m:r>
                  </m:oMath>
                </a14:m>
                <a:r>
                  <a:rPr dirty="0"/>
                  <a:t> where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oMath>
                </a14:m>
                <a:r>
                  <a:rPr dirty="0"/>
                  <a:t> is the variance of </a:t>
                </a:r>
                <a14:m>
                  <m:oMath xmlns:m="http://schemas.openxmlformats.org/officeDocument/2006/math">
                    <m:r>
                      <a:rPr>
                        <a:latin typeface="Cambria Math" panose="02040503050406030204" pitchFamily="18" charset="0"/>
                      </a:rPr>
                      <m:t>𝑧</m:t>
                    </m:r>
                  </m:oMath>
                </a14:m>
                <a:r>
                  <a:rPr dirty="0"/>
                  <a:t>.</a:t>
                </a:r>
              </a:p>
              <a:p>
                <a:pPr marL="0" lvl="0" indent="0">
                  <a:buNone/>
                </a:pPr>
                <a:r>
                  <a:rPr dirty="0"/>
                  <a:t>Therefore, the actual price level in market </a:t>
                </a:r>
                <a14:m>
                  <m:oMath xmlns:m="http://schemas.openxmlformats.org/officeDocument/2006/math">
                    <m:r>
                      <a:rPr>
                        <a:latin typeface="Cambria Math" panose="02040503050406030204" pitchFamily="18" charset="0"/>
                      </a:rPr>
                      <m:t>𝑧</m:t>
                    </m:r>
                  </m:oMath>
                </a14:m>
                <a:r>
                  <a:rPr dirty="0"/>
                  <a:t> at time </a:t>
                </a:r>
                <a14:m>
                  <m:oMath xmlns:m="http://schemas.openxmlformats.org/officeDocument/2006/math">
                    <m:r>
                      <a:rPr>
                        <a:latin typeface="Cambria Math" panose="02040503050406030204" pitchFamily="18" charset="0"/>
                      </a:rPr>
                      <m:t>𝑡</m:t>
                    </m:r>
                  </m:oMath>
                </a14:m>
                <a:r>
                  <a:rPr dirty="0"/>
                  <a:t> can be expressed as: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𝑧</m:t>
                      </m:r>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4</m:t>
                          </m:r>
                        </m:e>
                      </m:d>
                    </m:oMath>
                  </m:oMathPara>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oMath>
                </a14:m>
                <a:r>
                  <a:rPr dirty="0"/>
                  <a:t> is the actual price in market </a:t>
                </a:r>
                <a14:m>
                  <m:oMath xmlns:m="http://schemas.openxmlformats.org/officeDocument/2006/math">
                    <m:r>
                      <a:rPr>
                        <a:latin typeface="Cambria Math" panose="02040503050406030204" pitchFamily="18" charset="0"/>
                      </a:rPr>
                      <m:t>𝑧</m:t>
                    </m:r>
                  </m:oMath>
                </a14:m>
                <a:r>
                  <a:rPr dirty="0"/>
                  <a:t> at time </a:t>
                </a:r>
                <a14:m>
                  <m:oMath xmlns:m="http://schemas.openxmlformats.org/officeDocument/2006/math">
                    <m:r>
                      <a:rPr>
                        <a:latin typeface="Cambria Math" panose="02040503050406030204" pitchFamily="18" charset="0"/>
                      </a:rPr>
                      <m:t>𝑡</m:t>
                    </m:r>
                  </m:oMath>
                </a14:m>
                <a:r>
                  <a:rPr dirty="0"/>
                  <a:t> (that is the markets are indexed to z),</a:t>
                </a:r>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oMath>
                </a14:m>
                <a:r>
                  <a:rPr dirty="0"/>
                  <a:t> is the current general price level at time </a:t>
                </a:r>
                <a14:m>
                  <m:oMath xmlns:m="http://schemas.openxmlformats.org/officeDocument/2006/math">
                    <m:r>
                      <a:rPr>
                        <a:latin typeface="Cambria Math" panose="02040503050406030204" pitchFamily="18" charset="0"/>
                      </a:rPr>
                      <m:t>𝑡</m:t>
                    </m:r>
                  </m:oMath>
                </a14:m>
                <a:r>
                  <a:rPr dirty="0"/>
                  <a:t>, and </a:t>
                </a:r>
                <a14:m>
                  <m:oMath xmlns:m="http://schemas.openxmlformats.org/officeDocument/2006/math">
                    <m:r>
                      <a:rPr>
                        <a:latin typeface="Cambria Math" panose="02040503050406030204" pitchFamily="18" charset="0"/>
                      </a:rPr>
                      <m:t>𝑧</m:t>
                    </m:r>
                  </m:oMath>
                </a14:m>
                <a:r>
                  <a:rPr dirty="0"/>
                  <a:t> is the percentage deviation of the actual market price from the general price level.</a:t>
                </a:r>
              </a:p>
              <a:p>
                <a:pPr lvl="0"/>
                <a:r>
                  <a:rPr dirty="0"/>
                  <a:t>However,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oMath>
                </a14:m>
                <a:r>
                  <a:rPr dirty="0"/>
                  <a:t> is unobserved by traders, and therefore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oMath>
                </a14:m>
                <a:r>
                  <a:rPr dirty="0"/>
                  <a:t> is used to estimate the expected price level (</a:t>
                </a:r>
                <a14:m>
                  <m:oMath xmlns:m="http://schemas.openxmlformats.org/officeDocument/2006/math">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e>
                    </m:d>
                  </m:oMath>
                </a14:m>
                <a:r>
                  <a:rPr dirty="0"/>
                  <a:t>).</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r="-236"/>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US" dirty="0"/>
              <a:t>Lucas’s supply curve: Weight on formatting expectations</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The expected price level based on information available at time </a:t>
                </a:r>
                <a14:m>
                  <m:oMath xmlns:m="http://schemas.openxmlformats.org/officeDocument/2006/math">
                    <m:r>
                      <a:rPr>
                        <a:latin typeface="Cambria Math" panose="02040503050406030204" pitchFamily="18" charset="0"/>
                      </a:rPr>
                      <m:t>𝑡</m:t>
                    </m:r>
                  </m:oMath>
                </a14:m>
                <a:r>
                  <a:rPr dirty="0"/>
                  <a:t> in market </a:t>
                </a:r>
                <a14:m>
                  <m:oMath xmlns:m="http://schemas.openxmlformats.org/officeDocument/2006/math">
                    <m:r>
                      <a:rPr>
                        <a:latin typeface="Cambria Math" panose="02040503050406030204" pitchFamily="18" charset="0"/>
                      </a:rPr>
                      <m:t>𝑧</m:t>
                    </m:r>
                  </m:oMath>
                </a14:m>
                <a:r>
                  <a:rPr dirty="0"/>
                  <a:t> can be derived using Bayes’ rule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e>
                      </m:d>
                      <m:r>
                        <a:rPr>
                          <a:latin typeface="Cambria Math" panose="02040503050406030204" pitchFamily="18" charset="0"/>
                        </a:rPr>
                        <m:t>=</m:t>
                      </m:r>
                      <m:r>
                        <a:rPr>
                          <a:latin typeface="Cambria Math" panose="02040503050406030204" pitchFamily="18" charset="0"/>
                        </a:rPr>
                        <m:t>𝐸</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e>
                      </m:d>
                      <m:r>
                        <a:rPr>
                          <a:latin typeface="Cambria Math" panose="02040503050406030204" pitchFamily="18" charset="0"/>
                        </a:rPr>
                        <m:t>=</m:t>
                      </m:r>
                      <m:d>
                        <m:dPr>
                          <m:ctrlPr>
                            <a:rPr i="1">
                              <a:latin typeface="Cambria Math" panose="02040503050406030204" pitchFamily="18" charset="0"/>
                            </a:rPr>
                          </m:ctrlPr>
                        </m:dPr>
                        <m:e>
                          <m:r>
                            <a:rPr>
                              <a:latin typeface="Cambria Math" panose="02040503050406030204" pitchFamily="18" charset="0"/>
                            </a:rPr>
                            <m:t>1−</m:t>
                          </m:r>
                          <m:r>
                            <a:rPr>
                              <a:latin typeface="Cambria Math" panose="02040503050406030204" pitchFamily="18" charset="0"/>
                            </a:rPr>
                            <m:t>𝜃</m:t>
                          </m:r>
                        </m:e>
                      </m:d>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r>
                        <a:rPr>
                          <a:latin typeface="Cambria Math" panose="02040503050406030204" pitchFamily="18" charset="0"/>
                        </a:rPr>
                        <m:t>𝜃</m:t>
                      </m:r>
                      <m:bar>
                        <m:barPr>
                          <m:pos m:val="top"/>
                          <m:ctrlPr>
                            <a:rPr i="1">
                              <a:latin typeface="Cambria Math" panose="02040503050406030204" pitchFamily="18" charset="0"/>
                            </a:rPr>
                          </m:ctrlPr>
                        </m:barPr>
                        <m:e>
                          <m:r>
                            <a:rPr>
                              <a:latin typeface="Cambria Math" panose="02040503050406030204" pitchFamily="18" charset="0"/>
                            </a:rPr>
                            <m:t>𝑃𝑡</m:t>
                          </m:r>
                        </m:e>
                      </m:bar>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5</m:t>
                          </m:r>
                        </m:e>
                      </m:d>
                    </m:oMath>
                  </m:oMathPara>
                </a14:m>
                <a:endParaRPr dirty="0"/>
              </a:p>
              <a:p>
                <a:pPr lvl="0"/>
                <a14:m>
                  <m:oMath xmlns:m="http://schemas.openxmlformats.org/officeDocument/2006/math">
                    <m:r>
                      <a:rPr>
                        <a:latin typeface="Cambria Math" panose="02040503050406030204" pitchFamily="18" charset="0"/>
                      </a:rPr>
                      <m:t>𝜃</m:t>
                    </m:r>
                    <m:r>
                      <a:rPr>
                        <a:latin typeface="Cambria Math" panose="02040503050406030204" pitchFamily="18" charset="0"/>
                      </a:rPr>
                      <m:t>=</m:t>
                    </m:r>
                    <m:f>
                      <m:fPr>
                        <m:ctrlPr>
                          <a:rPr i="1">
                            <a:latin typeface="Cambria Math" panose="02040503050406030204" pitchFamily="18" charset="0"/>
                          </a:rPr>
                        </m:ctrlPr>
                      </m:fPr>
                      <m:num>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num>
                      <m:den>
                        <m:d>
                          <m:dPr>
                            <m:ctrlPr>
                              <a:rPr i="1">
                                <a:latin typeface="Cambria Math" panose="02040503050406030204" pitchFamily="18" charset="0"/>
                              </a:rPr>
                            </m:ctrlPr>
                          </m:dPr>
                          <m:e>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e>
                        </m:d>
                      </m:den>
                    </m:f>
                  </m:oMath>
                </a14:m>
                <a:r>
                  <a:rPr dirty="0"/>
                  <a:t> is the weight placed on the mean price level (</a:t>
                </a:r>
                <a14:m>
                  <m:oMath xmlns:m="http://schemas.openxmlformats.org/officeDocument/2006/math">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oMath>
                </a14:m>
                <a:r>
                  <a:rPr dirty="0"/>
                  <a:t>) in forming expectations.</a:t>
                </a:r>
              </a:p>
              <a:p>
                <a:pPr marL="0" lvl="0" indent="0">
                  <a:buNone/>
                </a:pPr>
                <a:r>
                  <a:rPr dirty="0"/>
                  <a:t>Combining Equation 1, Equation 4, and Equation 5 by substitution yields the following:</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𝑛𝑡</m:t>
                          </m:r>
                        </m:sub>
                      </m:sSub>
                      <m:r>
                        <a:rPr>
                          <a:latin typeface="Cambria Math" panose="02040503050406030204" pitchFamily="18" charset="0"/>
                        </a:rPr>
                        <m:t>+</m:t>
                      </m:r>
                      <m:r>
                        <a:rPr>
                          <a:latin typeface="Cambria Math" panose="02040503050406030204" pitchFamily="18" charset="0"/>
                        </a:rPr>
                        <m:t>𝜃𝛾</m:t>
                      </m:r>
                      <m:d>
                        <m:dPr>
                          <m:begChr m:val="["/>
                          <m:endChr m:val="]"/>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e>
                      </m:d>
                      <m:r>
                        <a:rPr>
                          <a:latin typeface="Cambria Math" panose="02040503050406030204" pitchFamily="18" charset="0"/>
                        </a:rPr>
                        <m:t>+</m:t>
                      </m:r>
                      <m:r>
                        <a:rPr>
                          <a:latin typeface="Cambria Math" panose="02040503050406030204" pitchFamily="18" charset="0"/>
                        </a:rPr>
                        <m:t>𝜆</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6</m:t>
                          </m:r>
                        </m:e>
                      </m:d>
                    </m:oMath>
                  </m:oMathPara>
                </a14:m>
                <a:endParaRPr dirty="0"/>
              </a:p>
              <a:p>
                <a:pPr lvl="0"/>
                <a:r>
                  <a:rPr dirty="0"/>
                  <a:t>current supply in market </a:t>
                </a:r>
                <a14:m>
                  <m:oMath xmlns:m="http://schemas.openxmlformats.org/officeDocument/2006/math">
                    <m:r>
                      <a:rPr>
                        <a:latin typeface="Cambria Math" panose="02040503050406030204" pitchFamily="18" charset="0"/>
                      </a:rPr>
                      <m:t>𝑧</m:t>
                    </m:r>
                  </m:oMath>
                </a14:m>
                <a:r>
                  <a:rPr dirty="0"/>
                  <a:t> at time </a:t>
                </a:r>
                <a14:m>
                  <m:oMath xmlns:m="http://schemas.openxmlformats.org/officeDocument/2006/math">
                    <m:r>
                      <a:rPr>
                        <a:latin typeface="Cambria Math" panose="02040503050406030204" pitchFamily="18" charset="0"/>
                      </a:rPr>
                      <m:t>𝑡</m:t>
                    </m:r>
                  </m:oMath>
                </a14:m>
                <a:r>
                  <a:rPr dirty="0"/>
                  <a:t> is a function of the natural level of supply, the perceived relative price (the difference between the actual price level in market </a:t>
                </a:r>
                <a14:m>
                  <m:oMath xmlns:m="http://schemas.openxmlformats.org/officeDocument/2006/math">
                    <m:r>
                      <a:rPr>
                        <a:latin typeface="Cambria Math" panose="02040503050406030204" pitchFamily="18" charset="0"/>
                      </a:rPr>
                      <m:t>𝑧</m:t>
                    </m:r>
                  </m:oMath>
                </a14:m>
                <a:r>
                  <a:rPr dirty="0"/>
                  <a:t> and the mean price level), and the lagged cyclical component.</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US" dirty="0"/>
              <a:t>Lucas’s supply curve: Relative price dispersion (RPD)</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Finally, aggregating across all markets (or integrating over all markets) yields the following aggregate supply curve:</a:t>
                </a:r>
                <a:br>
                  <a:rPr lang="en-US" dirty="0"/>
                </a:b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𝑛𝑡</m:t>
                          </m:r>
                        </m:sub>
                      </m:sSub>
                      <m:r>
                        <a:rPr>
                          <a:latin typeface="Cambria Math" panose="02040503050406030204" pitchFamily="18" charset="0"/>
                        </a:rPr>
                        <m:t>+</m:t>
                      </m:r>
                      <m:r>
                        <a:rPr>
                          <a:latin typeface="Cambria Math" panose="02040503050406030204" pitchFamily="18" charset="0"/>
                        </a:rPr>
                        <m:t>𝜃𝛾</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r>
                            <a:rPr>
                              <a:latin typeface="Cambria Math" panose="02040503050406030204" pitchFamily="18" charset="0"/>
                            </a:rPr>
                            <m:t>−</m:t>
                          </m:r>
                          <m:bar>
                            <m:barPr>
                              <m:pos m:val="top"/>
                              <m:ctrlPr>
                                <a:rPr i="1">
                                  <a:latin typeface="Cambria Math" panose="02040503050406030204" pitchFamily="18" charset="0"/>
                                </a:rPr>
                              </m:ctrlPr>
                            </m:bar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𝑡</m:t>
                                  </m:r>
                                </m:sub>
                              </m:sSub>
                            </m:e>
                          </m:bar>
                        </m:e>
                      </m:d>
                      <m:r>
                        <a:rPr>
                          <a:latin typeface="Cambria Math" panose="02040503050406030204" pitchFamily="18" charset="0"/>
                        </a:rPr>
                        <m:t>+</m:t>
                      </m:r>
                      <m:r>
                        <a:rPr>
                          <a:latin typeface="Cambria Math" panose="02040503050406030204" pitchFamily="18" charset="0"/>
                        </a:rPr>
                        <m:t>𝜆</m:t>
                      </m:r>
                      <m:d>
                        <m:dPr>
                          <m:begChr m:val="["/>
                          <m:endChr m:val="]"/>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𝑡</m:t>
                              </m:r>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e>
                      </m:d>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7</m:t>
                          </m:r>
                        </m:e>
                      </m:d>
                    </m:oMath>
                  </m:oMathPara>
                </a14:m>
                <a:endParaRPr dirty="0"/>
              </a:p>
              <a:p>
                <a:pPr marL="0" lvl="0" indent="0">
                  <a:buNone/>
                </a:pPr>
                <a:r>
                  <a:rPr dirty="0"/>
                  <a:t>From Equation 7, we can clearly demonstrate how the relative price dispersion (</a:t>
                </a:r>
                <a14:m>
                  <m:oMath xmlns:m="http://schemas.openxmlformats.org/officeDocument/2006/math">
                    <m:r>
                      <a:rPr>
                        <a:latin typeface="Cambria Math" panose="02040503050406030204" pitchFamily="18" charset="0"/>
                      </a:rPr>
                      <m:t>𝜃</m:t>
                    </m:r>
                  </m:oMath>
                </a14:m>
                <a:r>
                  <a:rPr dirty="0"/>
                  <a:t>) is a fraction of the total individual price dispersion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oMath>
                </a14:m>
                <a:r>
                  <a:rPr dirty="0"/>
                  <a:t>), affects the aggregate supply curve, and therefore the output-inflation relationship.</a:t>
                </a:r>
              </a:p>
              <a:p>
                <a:pPr lvl="0"/>
                <a:r>
                  <a:rPr dirty="0"/>
                  <a:t>That is, </a:t>
                </a:r>
                <a14:m>
                  <m:oMath xmlns:m="http://schemas.openxmlformats.org/officeDocument/2006/math">
                    <m:r>
                      <a:rPr>
                        <a:latin typeface="Cambria Math" panose="02040503050406030204" pitchFamily="18" charset="0"/>
                      </a:rPr>
                      <m:t>𝜃</m:t>
                    </m:r>
                    <m:r>
                      <a:rPr>
                        <a:latin typeface="Cambria Math" panose="02040503050406030204" pitchFamily="18" charset="0"/>
                      </a:rPr>
                      <m:t>↑</m:t>
                    </m:r>
                  </m:oMath>
                </a14:m>
                <a:r>
                  <a:rPr dirty="0"/>
                  <a:t> in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𝜏</m:t>
                        </m:r>
                      </m:e>
                      <m:sup>
                        <m:r>
                          <a:rPr>
                            <a:latin typeface="Cambria Math" panose="02040503050406030204" pitchFamily="18" charset="0"/>
                          </a:rPr>
                          <m:t>2</m:t>
                        </m:r>
                      </m:sup>
                    </m:sSup>
                  </m:oMath>
                </a14:m>
                <a:r>
                  <a:rPr dirty="0"/>
                  <a:t> and </a:t>
                </a:r>
                <a14:m>
                  <m:oMath xmlns:m="http://schemas.openxmlformats.org/officeDocument/2006/math">
                    <m:r>
                      <a:rPr>
                        <a:latin typeface="Cambria Math" panose="02040503050406030204" pitchFamily="18" charset="0"/>
                      </a:rPr>
                      <m:t>↓</m:t>
                    </m:r>
                  </m:oMath>
                </a14:m>
                <a:r>
                  <a:rPr dirty="0"/>
                  <a:t> in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𝜎</m:t>
                        </m:r>
                      </m:e>
                      <m:sup>
                        <m:r>
                          <a:rPr>
                            <a:latin typeface="Cambria Math" panose="02040503050406030204" pitchFamily="18" charset="0"/>
                          </a:rPr>
                          <m:t>2</m:t>
                        </m:r>
                      </m:sup>
                    </m:sSup>
                  </m:oMath>
                </a14:m>
                <a:r>
                  <a:rPr dirty="0"/>
                  <a:t>.</a:t>
                </a:r>
              </a:p>
              <a:p>
                <a:pPr lvl="0"/>
                <a:r>
                  <a:rPr dirty="0"/>
                  <a:t>Meaning that when </a:t>
                </a:r>
                <a14:m>
                  <m:oMath xmlns:m="http://schemas.openxmlformats.org/officeDocument/2006/math">
                    <m:r>
                      <a:rPr>
                        <a:latin typeface="Cambria Math" panose="02040503050406030204" pitchFamily="18" charset="0"/>
                      </a:rPr>
                      <m:t>𝜃</m:t>
                    </m:r>
                    <m:r>
                      <a:rPr>
                        <a:latin typeface="Cambria Math" panose="02040503050406030204" pitchFamily="18" charset="0"/>
                      </a:rPr>
                      <m:t>↑</m:t>
                    </m:r>
                  </m:oMath>
                </a14:m>
                <a:r>
                  <a:rPr dirty="0"/>
                  <a:t>, the aggregate supply curve becomes flatter, and the output-inflation relationship becomes stronger.</a:t>
                </a:r>
              </a:p>
              <a:p>
                <a:pPr lvl="0"/>
                <a:r>
                  <a:rPr dirty="0"/>
                  <a:t>And when </a:t>
                </a:r>
                <a14:m>
                  <m:oMath xmlns:m="http://schemas.openxmlformats.org/officeDocument/2006/math">
                    <m:r>
                      <a:rPr>
                        <a:latin typeface="Cambria Math" panose="02040503050406030204" pitchFamily="18" charset="0"/>
                      </a:rPr>
                      <m:t>𝜃</m:t>
                    </m:r>
                    <m:r>
                      <a:rPr>
                        <a:latin typeface="Cambria Math" panose="02040503050406030204" pitchFamily="18" charset="0"/>
                      </a:rPr>
                      <m:t>↓</m:t>
                    </m:r>
                  </m:oMath>
                </a14:m>
                <a:r>
                  <a:rPr dirty="0"/>
                  <a:t>, the slope is restricted by </a:t>
                </a:r>
                <a14:m>
                  <m:oMath xmlns:m="http://schemas.openxmlformats.org/officeDocument/2006/math">
                    <m:r>
                      <a:rPr>
                        <a:latin typeface="Cambria Math" panose="02040503050406030204" pitchFamily="18" charset="0"/>
                      </a:rPr>
                      <m:t>𝛾</m:t>
                    </m:r>
                  </m:oMath>
                </a14:m>
                <a:r>
                  <a:rPr dirty="0"/>
                  <a:t>.</a:t>
                </a:r>
              </a:p>
              <a:p>
                <a:pPr lvl="0"/>
                <a:r>
                  <a:rPr dirty="0"/>
                  <a:t>Therefore, the relative price variance (</a:t>
                </a:r>
                <a14:m>
                  <m:oMath xmlns:m="http://schemas.openxmlformats.org/officeDocument/2006/math">
                    <m:r>
                      <a:rPr>
                        <a:latin typeface="Cambria Math" panose="02040503050406030204" pitchFamily="18" charset="0"/>
                      </a:rPr>
                      <m:t>𝜃</m:t>
                    </m:r>
                  </m:oMath>
                </a14:m>
                <a:r>
                  <a:rPr dirty="0"/>
                  <a:t>), in this context, is a key determinant of the slope of the aggregate supply curve and the strength of the output-inflation relationship.</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7" y="1817520"/>
            <a:ext cx="6225035" cy="1381125"/>
          </a:xfrm>
        </p:spPr>
        <p:txBody>
          <a:bodyPr/>
          <a:lstStyle/>
          <a:p>
            <a:pPr marL="0" lvl="0" indent="0">
              <a:buNone/>
            </a:pPr>
            <a:r>
              <a:rPr dirty="0"/>
              <a:t>Data and methodology</a:t>
            </a:r>
            <a:r>
              <a:rPr lang="en-US" dirty="0"/>
              <a:t> (what did we do?)</a:t>
            </a:r>
            <a:endParaRPr dirty="0"/>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253759"/>
            <a:ext cx="10977744" cy="666233"/>
          </a:xfrm>
        </p:spPr>
        <p:txBody>
          <a:bodyPr/>
          <a:lstStyle/>
          <a:p>
            <a:pPr marL="0" lvl="0" indent="0">
              <a:buNone/>
            </a:pPr>
            <a:r>
              <a:rPr lang="en-US" dirty="0"/>
              <a:t>We rely entirely on Stats SA CPI data, …</a:t>
            </a:r>
            <a:endParaRPr dirty="0"/>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106062"/>
            <a:ext cx="10735723" cy="4645875"/>
          </a:xfrm>
        </p:spPr>
        <p:txBody>
          <a:bodyPr/>
          <a:lstStyle/>
          <a:p>
            <a:pPr lvl="0"/>
            <a:r>
              <a:rPr dirty="0"/>
              <a:t>Our analysis uses monthly inflation data on 45 goods categories from January 2009 to November 2025 obtained from Statistics South Africa (Stats SA).</a:t>
            </a:r>
            <a:r>
              <a:rPr baseline="30000" dirty="0">
                <a:hlinkClick r:id="rId2" action="ppaction://hlinksldjump"/>
              </a:rPr>
              <a:t>1</a:t>
            </a:r>
            <a:br>
              <a:rPr dirty="0"/>
            </a:br>
            <a:endParaRPr dirty="0"/>
          </a:p>
          <a:p>
            <a:pPr lvl="0"/>
            <a:r>
              <a:rPr dirty="0"/>
              <a:t>Figure 1 below shows the long term inflation rate in South Africa, and Figure 2 shows</a:t>
            </a:r>
            <a:r>
              <a:rPr lang="en-US" dirty="0"/>
              <a:t> some of</a:t>
            </a:r>
            <a:r>
              <a:rPr dirty="0"/>
              <a:t> the various price categories used in the analysis</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12</a:t>
            </a:fld>
            <a:endParaRPr lang="en-US" dirty="0"/>
          </a:p>
        </p:txBody>
      </p:sp>
      <p:pic>
        <p:nvPicPr>
          <p:cNvPr id="4" name="Picture 1" descr="inflation_relative_price_variance_presentation_files/figure-pptx/fig-headline_inflation-1.png">
            <a:extLst>
              <a:ext uri="{FF2B5EF4-FFF2-40B4-BE49-F238E27FC236}">
                <a16:creationId xmlns:a16="http://schemas.microsoft.com/office/drawing/2014/main" id="{8BEADC35-2D0F-17C3-A19A-BB6806AD9916}"/>
              </a:ext>
            </a:extLst>
          </p:cNvPr>
          <p:cNvPicPr>
            <a:picLocks noGrp="1" noChangeAspect="1"/>
          </p:cNvPicPr>
          <p:nvPr/>
        </p:nvPicPr>
        <p:blipFill>
          <a:blip r:embed="rId3"/>
          <a:stretch>
            <a:fillRect/>
          </a:stretch>
        </p:blipFill>
        <p:spPr bwMode="auto">
          <a:xfrm>
            <a:off x="1168549" y="3515369"/>
            <a:ext cx="5641326" cy="2236568"/>
          </a:xfrm>
          <a:prstGeom prst="rect">
            <a:avLst/>
          </a:prstGeom>
          <a:noFill/>
          <a:ln w="9525">
            <a:noFill/>
            <a:headEnd/>
            <a:tailEnd/>
          </a:ln>
        </p:spPr>
      </p:pic>
      <p:pic>
        <p:nvPicPr>
          <p:cNvPr id="5" name="Picture 4">
            <a:extLst>
              <a:ext uri="{FF2B5EF4-FFF2-40B4-BE49-F238E27FC236}">
                <a16:creationId xmlns:a16="http://schemas.microsoft.com/office/drawing/2014/main" id="{31B52B3A-E646-715F-A7A3-3A3754F22C26}"/>
              </a:ext>
            </a:extLst>
          </p:cNvPr>
          <p:cNvPicPr>
            <a:picLocks noChangeAspect="1"/>
          </p:cNvPicPr>
          <p:nvPr/>
        </p:nvPicPr>
        <p:blipFill>
          <a:blip r:embed="rId4"/>
          <a:srcRect l="-1" r="3293"/>
          <a:stretch>
            <a:fillRect/>
          </a:stretch>
        </p:blipFill>
        <p:spPr>
          <a:xfrm>
            <a:off x="7105942" y="3241696"/>
            <a:ext cx="3917509" cy="2600585"/>
          </a:xfrm>
          <a:prstGeom prst="rect">
            <a:avLst/>
          </a:prstGeom>
        </p:spPr>
      </p:pic>
      <p:sp>
        <p:nvSpPr>
          <p:cNvPr id="6" name="TextBox 5">
            <a:extLst>
              <a:ext uri="{FF2B5EF4-FFF2-40B4-BE49-F238E27FC236}">
                <a16:creationId xmlns:a16="http://schemas.microsoft.com/office/drawing/2014/main" id="{3DC6BDCB-F187-29CB-B33E-A2D42113B74D}"/>
              </a:ext>
            </a:extLst>
          </p:cNvPr>
          <p:cNvSpPr txBox="1"/>
          <p:nvPr/>
        </p:nvSpPr>
        <p:spPr>
          <a:xfrm>
            <a:off x="1168549" y="2964697"/>
            <a:ext cx="3155095"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1: Headline inflation overtime</a:t>
            </a:r>
          </a:p>
        </p:txBody>
      </p:sp>
      <p:sp>
        <p:nvSpPr>
          <p:cNvPr id="8" name="TextBox 7">
            <a:extLst>
              <a:ext uri="{FF2B5EF4-FFF2-40B4-BE49-F238E27FC236}">
                <a16:creationId xmlns:a16="http://schemas.microsoft.com/office/drawing/2014/main" id="{CD487B9E-06F5-AFA1-9F18-5B4DFA91A473}"/>
              </a:ext>
            </a:extLst>
          </p:cNvPr>
          <p:cNvSpPr txBox="1"/>
          <p:nvPr/>
        </p:nvSpPr>
        <p:spPr>
          <a:xfrm>
            <a:off x="7105942" y="2964696"/>
            <a:ext cx="3155095"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2: Inflation categories overtime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 and calculate inflation in the standard way</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456660"/>
                <a:ext cx="10735723" cy="4645875"/>
              </a:xfrm>
            </p:spPr>
            <p:txBody>
              <a:bodyPr/>
              <a:lstStyle/>
              <a:p>
                <a:pPr marL="0" lvl="0" indent="0">
                  <a:buNone/>
                </a:pPr>
                <a:r>
                  <a:rPr dirty="0"/>
                  <a:t>We first calculate the monthly inflation rate as follows:</a:t>
                </a:r>
                <a:endParaRPr lang="en-US" dirty="0"/>
              </a:p>
              <a:p>
                <a:pPr marL="0" lvl="0" indent="0">
                  <a:buNone/>
                </a:pPr>
                <a:endParaRPr lang="en-US"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𝑙𝑛</m:t>
                      </m:r>
                      <m:d>
                        <m:dPr>
                          <m:ctrlPr>
                            <a:rPr i="1">
                              <a:latin typeface="Cambria Math" panose="02040503050406030204" pitchFamily="18" charset="0"/>
                            </a:rPr>
                          </m:ctrlPr>
                        </m:dPr>
                        <m:e>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sub>
                              </m:sSub>
                            </m:num>
                            <m:den>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den>
                          </m:f>
                        </m:e>
                      </m:d>
                      <m:r>
                        <a:rPr>
                          <a:latin typeface="Cambria Math" panose="02040503050406030204" pitchFamily="18" charset="0"/>
                        </a:rPr>
                        <m:t>∗100,  </m:t>
                      </m:r>
                      <m:d>
                        <m:dPr>
                          <m:ctrlPr>
                            <a:rPr i="1">
                              <a:latin typeface="Cambria Math" panose="02040503050406030204" pitchFamily="18" charset="0"/>
                            </a:rPr>
                          </m:ctrlPr>
                        </m:dPr>
                        <m:e>
                          <m:r>
                            <a:rPr>
                              <a:latin typeface="Cambria Math" panose="02040503050406030204" pitchFamily="18" charset="0"/>
                            </a:rPr>
                            <m:t>8</m:t>
                          </m:r>
                        </m:e>
                      </m:d>
                    </m:oMath>
                  </m:oMathPara>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sub>
                    </m:sSub>
                  </m:oMath>
                </a14:m>
                <a:r>
                  <a:rPr dirty="0"/>
                  <a:t> is the inflation rate of good </a:t>
                </a:r>
                <a14:m>
                  <m:oMath xmlns:m="http://schemas.openxmlformats.org/officeDocument/2006/math">
                    <m:r>
                      <a:rPr>
                        <a:latin typeface="Cambria Math" panose="02040503050406030204" pitchFamily="18" charset="0"/>
                      </a:rPr>
                      <m:t>𝑖</m:t>
                    </m:r>
                  </m:oMath>
                </a14:m>
                <a:r>
                  <a:rPr dirty="0"/>
                  <a:t> at time </a:t>
                </a:r>
                <a14:m>
                  <m:oMath xmlns:m="http://schemas.openxmlformats.org/officeDocument/2006/math">
                    <m:r>
                      <a:rPr>
                        <a:latin typeface="Cambria Math" panose="02040503050406030204" pitchFamily="18" charset="0"/>
                      </a:rPr>
                      <m:t>𝑡</m:t>
                    </m:r>
                  </m:oMath>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sub>
                    </m:sSub>
                  </m:oMath>
                </a14:m>
                <a:r>
                  <a:rPr dirty="0"/>
                  <a:t> is the price of good </a:t>
                </a:r>
                <a14:m>
                  <m:oMath xmlns:m="http://schemas.openxmlformats.org/officeDocument/2006/math">
                    <m:r>
                      <a:rPr>
                        <a:latin typeface="Cambria Math" panose="02040503050406030204" pitchFamily="18" charset="0"/>
                      </a:rPr>
                      <m:t>𝑖</m:t>
                    </m:r>
                  </m:oMath>
                </a14:m>
                <a:r>
                  <a:rPr dirty="0"/>
                  <a:t> at time </a:t>
                </a:r>
                <a14:m>
                  <m:oMath xmlns:m="http://schemas.openxmlformats.org/officeDocument/2006/math">
                    <m:r>
                      <a:rPr>
                        <a:latin typeface="Cambria Math" panose="02040503050406030204" pitchFamily="18" charset="0"/>
                      </a:rPr>
                      <m:t>𝑡</m:t>
                    </m:r>
                  </m:oMath>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m:t>
                        </m:r>
                      </m:sub>
                    </m:sSub>
                  </m:oMath>
                </a14:m>
                <a:r>
                  <a:rPr dirty="0"/>
                  <a:t> is the price of good </a:t>
                </a:r>
                <a14:m>
                  <m:oMath xmlns:m="http://schemas.openxmlformats.org/officeDocument/2006/math">
                    <m:r>
                      <a:rPr>
                        <a:latin typeface="Cambria Math" panose="02040503050406030204" pitchFamily="18" charset="0"/>
                      </a:rPr>
                      <m:t>𝑖</m:t>
                    </m:r>
                  </m:oMath>
                </a14:m>
                <a:r>
                  <a:rPr dirty="0"/>
                  <a:t> at time </a:t>
                </a:r>
                <a14:m>
                  <m:oMath xmlns:m="http://schemas.openxmlformats.org/officeDocument/2006/math">
                    <m:r>
                      <a:rPr>
                        <a:latin typeface="Cambria Math" panose="02040503050406030204" pitchFamily="18" charset="0"/>
                      </a:rPr>
                      <m:t>𝑡</m:t>
                    </m:r>
                    <m:r>
                      <a:rPr>
                        <a:latin typeface="Cambria Math" panose="02040503050406030204" pitchFamily="18" charset="0"/>
                      </a:rPr>
                      <m:t>−1</m:t>
                    </m:r>
                  </m:oMath>
                </a14:m>
                <a:endParaRPr dirty="0"/>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xfrm>
                <a:off x="1055553" y="1456660"/>
                <a:ext cx="10735723" cy="4645875"/>
              </a:xfrm>
              <a:blipFill>
                <a:blip r:embed="rId3"/>
                <a:stretch>
                  <a:fillRect l="-473"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179055"/>
            <a:ext cx="10977744" cy="666233"/>
          </a:xfrm>
        </p:spPr>
        <p:txBody>
          <a:bodyPr/>
          <a:lstStyle/>
          <a:p>
            <a:pPr marL="0" lvl="0" indent="0">
              <a:buNone/>
            </a:pPr>
            <a:r>
              <a:rPr lang="en-US" dirty="0"/>
              <a:t>The definition of RPD is well understood in the literature</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329070"/>
                <a:ext cx="10735723" cy="4847893"/>
              </a:xfrm>
            </p:spPr>
            <p:txBody>
              <a:bodyPr>
                <a:normAutofit/>
              </a:bodyPr>
              <a:lstStyle/>
              <a:p>
                <a:pPr marL="0" indent="0">
                  <a:buNone/>
                </a:pPr>
                <a:r>
                  <a:rPr lang="en-ZA" dirty="0"/>
                  <a:t>RPD is calculated in line with Lach and </a:t>
                </a:r>
                <a:r>
                  <a:rPr lang="en-ZA" dirty="0" err="1"/>
                  <a:t>Tsiddon</a:t>
                </a:r>
                <a:r>
                  <a:rPr lang="en-ZA" dirty="0"/>
                  <a:t> (1992) as the weighted standard deviation of individual price inflation rates from the aggregate inflation rate. The RPD is essentially the variability of relative prices of a given product. </a:t>
                </a:r>
                <a:r>
                  <a:rPr lang="en-US" dirty="0"/>
                  <a:t> </a:t>
                </a:r>
                <a:r>
                  <a:rPr dirty="0"/>
                  <a:t>RPD is calculated as: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r>
                        <a:rPr>
                          <a:latin typeface="Cambria Math" panose="02040503050406030204" pitchFamily="18" charset="0"/>
                        </a:rPr>
                        <m:t>=</m:t>
                      </m:r>
                      <m:rad>
                        <m:radPr>
                          <m:degHide m:val="on"/>
                          <m:ctrlPr>
                            <a:rPr i="1">
                              <a:latin typeface="Cambria Math" panose="02040503050406030204" pitchFamily="18" charset="0"/>
                            </a:rPr>
                          </m:ctrlPr>
                        </m:radPr>
                        <m:deg/>
                        <m:e>
                          <m:nary>
                            <m:naryPr>
                              <m:chr m:val="∑"/>
                              <m:limLoc m:val="undOvr"/>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𝑖</m:t>
                                  </m:r>
                                </m:sub>
                              </m:sSub>
                            </m:e>
                          </m:nary>
                          <m:sSup>
                            <m:sSupPr>
                              <m:ctrlPr>
                                <a:rPr i="1">
                                  <a:latin typeface="Cambria Math" panose="02040503050406030204" pitchFamily="18" charset="0"/>
                                </a:rPr>
                              </m:ctrlPr>
                            </m:sSupPr>
                            <m:e>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e>
                            <m:sup>
                              <m:r>
                                <a:rPr>
                                  <a:latin typeface="Cambria Math" panose="02040503050406030204" pitchFamily="18" charset="0"/>
                                </a:rPr>
                                <m:t>2</m:t>
                              </m:r>
                            </m:sup>
                          </m:sSup>
                        </m:e>
                      </m:rad>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9</m:t>
                          </m:r>
                        </m:e>
                      </m:d>
                    </m:oMath>
                  </m:oMathPara>
                </a14:m>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𝑗</m:t>
                        </m:r>
                      </m:sub>
                    </m:sSub>
                  </m:oMath>
                </a14:m>
                <a:r>
                  <a:rPr dirty="0"/>
                  <a:t> is the expenditure share of the </a:t>
                </a:r>
                <a14:m>
                  <m:oMath xmlns:m="http://schemas.openxmlformats.org/officeDocument/2006/math">
                    <m:sSup>
                      <m:sSupPr>
                        <m:ctrlPr>
                          <a:rPr i="1">
                            <a:latin typeface="Cambria Math" panose="02040503050406030204" pitchFamily="18" charset="0"/>
                          </a:rPr>
                        </m:ctrlPr>
                      </m:sSupPr>
                      <m:e>
                        <m:r>
                          <a:rPr>
                            <a:latin typeface="Cambria Math" panose="02040503050406030204" pitchFamily="18" charset="0"/>
                          </a:rPr>
                          <m:t>𝑗</m:t>
                        </m:r>
                      </m:e>
                      <m:sup>
                        <m:r>
                          <a:rPr>
                            <a:latin typeface="Cambria Math" panose="02040503050406030204" pitchFamily="18" charset="0"/>
                          </a:rPr>
                          <m:t>𝑡h</m:t>
                        </m:r>
                      </m:sup>
                    </m:sSup>
                  </m:oMath>
                </a14:m>
                <a:r>
                  <a:rPr dirty="0"/>
                  <a:t> good</a:t>
                </a:r>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oMath>
                </a14:m>
                <a:r>
                  <a:rPr dirty="0"/>
                  <a:t> is the headline or aggregate inflation rate at time </a:t>
                </a:r>
                <a14:m>
                  <m:oMath xmlns:m="http://schemas.openxmlformats.org/officeDocument/2006/math">
                    <m:r>
                      <a:rPr>
                        <a:latin typeface="Cambria Math" panose="02040503050406030204" pitchFamily="18" charset="0"/>
                      </a:rPr>
                      <m:t>𝑡</m:t>
                    </m:r>
                  </m:oMath>
                </a14:m>
                <a:endParaRPr dirty="0"/>
              </a:p>
              <a:p>
                <a:pPr lvl="0"/>
                <a14:m>
                  <m:oMath xmlns:m="http://schemas.openxmlformats.org/officeDocument/2006/math">
                    <m:nary>
                      <m:naryPr>
                        <m:chr m:val="∑"/>
                        <m:limLoc m:val="undOvr"/>
                        <m:ctrlPr>
                          <a:rPr i="1">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𝑛</m:t>
                        </m:r>
                      </m:sup>
                      <m:e>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𝑖</m:t>
                            </m:r>
                          </m:sub>
                        </m:sSub>
                      </m:e>
                    </m:nary>
                    <m:r>
                      <a:rPr>
                        <a:latin typeface="Cambria Math" panose="02040503050406030204" pitchFamily="18" charset="0"/>
                      </a:rPr>
                      <m:t>=1</m:t>
                    </m:r>
                  </m:oMath>
                </a14:m>
                <a:endParaRPr dirty="0"/>
              </a:p>
              <a:p>
                <a:pPr lvl="0"/>
                <a:r>
                  <a:rPr dirty="0"/>
                  <a:t>The expenditure weights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𝑖</m:t>
                        </m:r>
                      </m:sub>
                    </m:sSub>
                  </m:oMath>
                </a14:m>
                <a:r>
                  <a:rPr dirty="0"/>
                  <a:t>) used are derived from the Consumer Price Index (CPI) basket provided by Stats SA</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xfrm>
                <a:off x="1055553" y="1329070"/>
                <a:ext cx="10735723" cy="4847893"/>
              </a:xfrm>
              <a:blipFill>
                <a:blip r:embed="rId2"/>
                <a:stretch>
                  <a:fillRect l="-946" t="-1305"/>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ormAutofit fontScale="90000"/>
          </a:bodyPr>
          <a:lstStyle/>
          <a:p>
            <a:pPr marL="0" lvl="0" indent="0">
              <a:buNone/>
            </a:pPr>
            <a:r>
              <a:rPr lang="en-US" dirty="0"/>
              <a:t>Our main purpose in to estimate the relationship between RPD and inflation</a:t>
            </a:r>
            <a:endParaRPr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To examine the relationship between inflation and RPD, we estimate the following econometric model:</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𝑅𝑃</m:t>
                      </m:r>
                      <m:sSub>
                        <m:sSubPr>
                          <m:ctrlPr>
                            <a:rPr lang="ar-AE" i="1">
                              <a:latin typeface="Cambria Math" panose="02040503050406030204" pitchFamily="18" charset="0"/>
                            </a:rPr>
                          </m:ctrlPr>
                        </m:sSubPr>
                        <m:e>
                          <m:r>
                            <a:rPr lang="ar-AE">
                              <a:latin typeface="Cambria Math" panose="02040503050406030204" pitchFamily="18" charset="0"/>
                            </a:rPr>
                            <m:t>𝐷</m:t>
                          </m:r>
                        </m:e>
                        <m:sub>
                          <m:r>
                            <a:rPr lang="ar-AE">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𝛽</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𝛽</m:t>
                          </m:r>
                        </m:e>
                        <m:sub>
                          <m:r>
                            <a:rPr lang="ar-AE">
                              <a:latin typeface="Cambria Math" panose="02040503050406030204" pitchFamily="18" charset="0"/>
                            </a:rPr>
                            <m:t>1</m:t>
                          </m:r>
                        </m:sub>
                      </m:sSub>
                      <m:sSub>
                        <m:sSubPr>
                          <m:ctrlPr>
                            <a:rPr lang="ar-AE" i="1">
                              <a:latin typeface="Cambria Math" panose="02040503050406030204" pitchFamily="18" charset="0"/>
                            </a:rPr>
                          </m:ctrlPr>
                        </m:sSubPr>
                        <m:e>
                          <m:r>
                            <a:rPr lang="ar-AE">
                              <a:latin typeface="Cambria Math" panose="02040503050406030204" pitchFamily="18" charset="0"/>
                            </a:rPr>
                            <m:t>𝜋</m:t>
                          </m:r>
                        </m:e>
                        <m:sub>
                          <m:r>
                            <a:rPr lang="ar-AE">
                              <a:latin typeface="Cambria Math" panose="02040503050406030204" pitchFamily="18" charset="0"/>
                            </a:rPr>
                            <m:t>𝑡</m:t>
                          </m:r>
                        </m:sub>
                      </m:sSub>
                      <m:r>
                        <a:rPr lang="ar-AE">
                          <a:latin typeface="Cambria Math" panose="02040503050406030204" pitchFamily="18" charset="0"/>
                        </a:rPr>
                        <m:t>+</m:t>
                      </m:r>
                      <m:nary>
                        <m:naryPr>
                          <m:chr m:val="∑"/>
                          <m:limLoc m:val="undOvr"/>
                          <m:ctrlPr>
                            <a:rPr lang="ar-AE" i="1">
                              <a:latin typeface="Cambria Math" panose="02040503050406030204" pitchFamily="18" charset="0"/>
                            </a:rPr>
                          </m:ctrlPr>
                        </m:naryPr>
                        <m:sub>
                          <m:r>
                            <a:rPr lang="ar-AE">
                              <a:latin typeface="Cambria Math" panose="02040503050406030204" pitchFamily="18" charset="0"/>
                            </a:rPr>
                            <m:t>h</m:t>
                          </m:r>
                          <m:r>
                            <a:rPr lang="ar-AE">
                              <a:latin typeface="Cambria Math" panose="02040503050406030204" pitchFamily="18" charset="0"/>
                            </a:rPr>
                            <m:t>=1</m:t>
                          </m:r>
                        </m:sub>
                        <m:sup>
                          <m:r>
                            <a:rPr lang="ar-AE">
                              <a:latin typeface="Cambria Math" panose="02040503050406030204" pitchFamily="18" charset="0"/>
                            </a:rPr>
                            <m:t>3</m:t>
                          </m:r>
                        </m:sup>
                        <m:e>
                          <m:sSub>
                            <m:sSubPr>
                              <m:ctrlPr>
                                <a:rPr lang="ar-AE" i="1">
                                  <a:latin typeface="Cambria Math" panose="02040503050406030204" pitchFamily="18" charset="0"/>
                                </a:rPr>
                              </m:ctrlPr>
                            </m:sSubPr>
                            <m:e>
                              <m:r>
                                <a:rPr lang="ar-AE">
                                  <a:latin typeface="Cambria Math" panose="02040503050406030204" pitchFamily="18" charset="0"/>
                                </a:rPr>
                                <m:t>𝜔</m:t>
                              </m:r>
                            </m:e>
                            <m:sub>
                              <m:r>
                                <a:rPr lang="ar-AE">
                                  <a:latin typeface="Cambria Math" panose="02040503050406030204" pitchFamily="18" charset="0"/>
                                </a:rPr>
                                <m:t>h</m:t>
                              </m:r>
                            </m:sub>
                          </m:sSub>
                        </m:e>
                      </m:nary>
                      <m:r>
                        <a:rPr lang="ar-AE">
                          <a:latin typeface="Cambria Math" panose="02040503050406030204" pitchFamily="18" charset="0"/>
                        </a:rPr>
                        <m:t>𝑅𝑃</m:t>
                      </m:r>
                      <m:sSub>
                        <m:sSubPr>
                          <m:ctrlPr>
                            <a:rPr lang="ar-AE" i="1">
                              <a:latin typeface="Cambria Math" panose="02040503050406030204" pitchFamily="18" charset="0"/>
                            </a:rPr>
                          </m:ctrlPr>
                        </m:sSubPr>
                        <m:e>
                          <m:r>
                            <a:rPr lang="ar-AE">
                              <a:latin typeface="Cambria Math" panose="02040503050406030204" pitchFamily="18" charset="0"/>
                            </a:rPr>
                            <m:t>𝐷</m:t>
                          </m:r>
                        </m:e>
                        <m:sub>
                          <m:r>
                            <a:rPr lang="ar-AE">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h</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𝜇</m:t>
                          </m:r>
                        </m:e>
                        <m:sub>
                          <m:r>
                            <a:rPr lang="ar-AE">
                              <a:latin typeface="Cambria Math" panose="02040503050406030204" pitchFamily="18" charset="0"/>
                            </a:rPr>
                            <m:t>𝑡</m:t>
                          </m:r>
                        </m:sub>
                      </m:sSub>
                      <m:r>
                        <a:rPr lang="ar-AE">
                          <a:latin typeface="Cambria Math" panose="02040503050406030204" pitchFamily="18" charset="0"/>
                        </a:rPr>
                        <m:t>,  </m:t>
                      </m:r>
                      <m:d>
                        <m:dPr>
                          <m:ctrlPr>
                            <a:rPr lang="ar-AE" i="1">
                              <a:latin typeface="Cambria Math" panose="02040503050406030204" pitchFamily="18" charset="0"/>
                            </a:rPr>
                          </m:ctrlPr>
                        </m:dPr>
                        <m:e>
                          <m:r>
                            <a:rPr lang="ar-AE">
                              <a:latin typeface="Cambria Math" panose="02040503050406030204" pitchFamily="18" charset="0"/>
                            </a:rPr>
                            <m:t>10</m:t>
                          </m:r>
                        </m:e>
                      </m:d>
                    </m:oMath>
                  </m:oMathPara>
                </a14:m>
                <a:endParaRPr lang="ar-AE" dirty="0"/>
              </a:p>
              <a:p>
                <a:pPr lvl="0"/>
                <a14:m>
                  <m:oMath xmlns:m="http://schemas.openxmlformats.org/officeDocument/2006/math">
                    <m:r>
                      <a:rPr lang="ar-AE">
                        <a:latin typeface="Cambria Math" panose="02040503050406030204" pitchFamily="18" charset="0"/>
                      </a:rPr>
                      <m:t>𝑅𝑃</m:t>
                    </m:r>
                    <m:sSub>
                      <m:sSubPr>
                        <m:ctrlPr>
                          <a:rPr lang="ar-AE" i="1">
                            <a:latin typeface="Cambria Math" panose="02040503050406030204" pitchFamily="18" charset="0"/>
                          </a:rPr>
                        </m:ctrlPr>
                      </m:sSubPr>
                      <m:e>
                        <m:r>
                          <a:rPr lang="ar-AE">
                            <a:latin typeface="Cambria Math" panose="02040503050406030204" pitchFamily="18" charset="0"/>
                          </a:rPr>
                          <m:t>𝐷</m:t>
                        </m:r>
                      </m:e>
                      <m:sub>
                        <m:r>
                          <a:rPr lang="ar-AE">
                            <a:latin typeface="Cambria Math" panose="02040503050406030204" pitchFamily="18" charset="0"/>
                          </a:rPr>
                          <m:t>𝑡</m:t>
                        </m:r>
                      </m:sub>
                    </m:sSub>
                  </m:oMath>
                </a14:m>
                <a:r>
                  <a:rPr lang="ar-AE" dirty="0"/>
                  <a:t> </a:t>
                </a:r>
                <a:r>
                  <a:rPr lang="en-ZA" dirty="0"/>
                  <a:t>is the relative price variance at time </a:t>
                </a:r>
                <a14:m>
                  <m:oMath xmlns:m="http://schemas.openxmlformats.org/officeDocument/2006/math">
                    <m:r>
                      <a:rPr lang="en-ZA">
                        <a:latin typeface="Cambria Math" panose="02040503050406030204" pitchFamily="18" charset="0"/>
                      </a:rPr>
                      <m:t>𝑡</m:t>
                    </m:r>
                  </m:oMath>
                </a14:m>
                <a:endParaRPr lang="en-ZA" dirty="0"/>
              </a:p>
              <a:p>
                <a:pPr lvl="0"/>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𝜋</m:t>
                        </m:r>
                      </m:e>
                      <m:sub>
                        <m:r>
                          <a:rPr lang="ar-AE">
                            <a:latin typeface="Cambria Math" panose="02040503050406030204" pitchFamily="18" charset="0"/>
                          </a:rPr>
                          <m:t>𝑡</m:t>
                        </m:r>
                      </m:sub>
                    </m:sSub>
                  </m:oMath>
                </a14:m>
                <a:r>
                  <a:rPr lang="ar-AE" dirty="0"/>
                  <a:t> </a:t>
                </a:r>
                <a:r>
                  <a:rPr lang="en-ZA" dirty="0"/>
                  <a:t>is the aggregate inflation rate at time </a:t>
                </a:r>
                <a14:m>
                  <m:oMath xmlns:m="http://schemas.openxmlformats.org/officeDocument/2006/math">
                    <m:r>
                      <a:rPr lang="en-ZA">
                        <a:latin typeface="Cambria Math" panose="02040503050406030204" pitchFamily="18" charset="0"/>
                      </a:rPr>
                      <m:t>𝑡</m:t>
                    </m:r>
                  </m:oMath>
                </a14:m>
                <a:endParaRPr lang="en-ZA" dirty="0"/>
              </a:p>
              <a:p>
                <a:pPr lvl="0"/>
                <a14:m>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h</m:t>
                        </m:r>
                      </m:sub>
                    </m:sSub>
                  </m:oMath>
                </a14:m>
                <a:r>
                  <a:rPr dirty="0"/>
                  <a:t> are lagged values of RPD to account for its dynamic nature, and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𝑡</m:t>
                        </m:r>
                      </m:sub>
                    </m:sSub>
                  </m:oMath>
                </a14:m>
                <a:r>
                  <a:rPr dirty="0"/>
                  <a:t> is the error term</a:t>
                </a:r>
              </a:p>
              <a:p>
                <a:pPr lvl="0"/>
                <a:r>
                  <a:rPr dirty="0"/>
                  <a:t>The coefficient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oMath>
                </a14:m>
                <a:r>
                  <a:rPr dirty="0"/>
                  <a:t> captures the effect of inflation on RPD. We include three lags of RPD based on Akaike Information Criterion (AIC) (and other tests) and to capture potential persistence in RPD.</a:t>
                </a:r>
              </a:p>
            </p:txBody>
          </p:sp>
        </mc:Choice>
        <mc:Fallback>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5995"/>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However, this relationship can be time varying, …</a:t>
            </a:r>
            <a:endParaRPr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The literature on RPD emphasizes that the relationship between inflation and RPD maybe time-varying due to structural changes in the economy, monetary policy regimes, and other factors. To capture potential time variation in the relationship, we also estimate a rolling regression model with a 24-month and 60-month windows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𝑅𝑃</m:t>
                      </m:r>
                      <m:sSub>
                        <m:sSubPr>
                          <m:ctrlPr>
                            <a:rPr lang="ar-AE" i="1">
                              <a:latin typeface="Cambria Math" panose="02040503050406030204" pitchFamily="18" charset="0"/>
                            </a:rPr>
                          </m:ctrlPr>
                        </m:sSubPr>
                        <m:e>
                          <m:r>
                            <a:rPr lang="ar-AE">
                              <a:latin typeface="Cambria Math" panose="02040503050406030204" pitchFamily="18" charset="0"/>
                            </a:rPr>
                            <m:t>𝐷</m:t>
                          </m:r>
                        </m:e>
                        <m:sub>
                          <m:r>
                            <a:rPr lang="ar-AE">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𝛼</m:t>
                          </m:r>
                        </m:e>
                        <m:sub>
                          <m:r>
                            <a:rPr lang="ar-AE">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𝛽</m:t>
                          </m:r>
                        </m:e>
                        <m:sub>
                          <m:r>
                            <a:rPr lang="ar-AE">
                              <a:latin typeface="Cambria Math" panose="02040503050406030204" pitchFamily="18" charset="0"/>
                            </a:rPr>
                            <m:t>1,</m:t>
                          </m:r>
                          <m:r>
                            <a:rPr lang="ar-AE">
                              <a:latin typeface="Cambria Math" panose="02040503050406030204" pitchFamily="18" charset="0"/>
                            </a:rPr>
                            <m:t>𝑡</m:t>
                          </m:r>
                        </m:sub>
                      </m:sSub>
                      <m:sSub>
                        <m:sSubPr>
                          <m:ctrlPr>
                            <a:rPr lang="ar-AE" i="1">
                              <a:latin typeface="Cambria Math" panose="02040503050406030204" pitchFamily="18" charset="0"/>
                            </a:rPr>
                          </m:ctrlPr>
                        </m:sSubPr>
                        <m:e>
                          <m:r>
                            <a:rPr lang="ar-AE">
                              <a:latin typeface="Cambria Math" panose="02040503050406030204" pitchFamily="18" charset="0"/>
                            </a:rPr>
                            <m:t>𝜋</m:t>
                          </m:r>
                        </m:e>
                        <m:sub>
                          <m:r>
                            <a:rPr lang="ar-AE">
                              <a:latin typeface="Cambria Math" panose="02040503050406030204" pitchFamily="18" charset="0"/>
                            </a:rPr>
                            <m:t>𝑡</m:t>
                          </m:r>
                        </m:sub>
                      </m:sSub>
                      <m:r>
                        <a:rPr lang="ar-AE">
                          <a:latin typeface="Cambria Math" panose="02040503050406030204" pitchFamily="18" charset="0"/>
                        </a:rPr>
                        <m:t>+</m:t>
                      </m:r>
                      <m:nary>
                        <m:naryPr>
                          <m:chr m:val="∑"/>
                          <m:limLoc m:val="undOvr"/>
                          <m:ctrlPr>
                            <a:rPr lang="ar-AE" i="1">
                              <a:latin typeface="Cambria Math" panose="02040503050406030204" pitchFamily="18" charset="0"/>
                            </a:rPr>
                          </m:ctrlPr>
                        </m:naryPr>
                        <m:sub>
                          <m:r>
                            <a:rPr lang="ar-AE">
                              <a:latin typeface="Cambria Math" panose="02040503050406030204" pitchFamily="18" charset="0"/>
                            </a:rPr>
                            <m:t>h</m:t>
                          </m:r>
                          <m:r>
                            <a:rPr lang="ar-AE">
                              <a:latin typeface="Cambria Math" panose="02040503050406030204" pitchFamily="18" charset="0"/>
                            </a:rPr>
                            <m:t>=1</m:t>
                          </m:r>
                        </m:sub>
                        <m:sup>
                          <m:r>
                            <a:rPr lang="ar-AE">
                              <a:latin typeface="Cambria Math" panose="02040503050406030204" pitchFamily="18" charset="0"/>
                            </a:rPr>
                            <m:t>3</m:t>
                          </m:r>
                        </m:sup>
                        <m:e>
                          <m:sSub>
                            <m:sSubPr>
                              <m:ctrlPr>
                                <a:rPr lang="ar-AE" i="1">
                                  <a:latin typeface="Cambria Math" panose="02040503050406030204" pitchFamily="18" charset="0"/>
                                </a:rPr>
                              </m:ctrlPr>
                            </m:sSubPr>
                            <m:e>
                              <m:r>
                                <a:rPr lang="ar-AE">
                                  <a:latin typeface="Cambria Math" panose="02040503050406030204" pitchFamily="18" charset="0"/>
                                </a:rPr>
                                <m:t>𝜔</m:t>
                              </m:r>
                            </m:e>
                            <m:sub>
                              <m:r>
                                <a:rPr lang="ar-AE">
                                  <a:latin typeface="Cambria Math" panose="02040503050406030204" pitchFamily="18" charset="0"/>
                                </a:rPr>
                                <m:t>h</m:t>
                              </m:r>
                              <m:r>
                                <a:rPr lang="ar-AE">
                                  <a:latin typeface="Cambria Math" panose="02040503050406030204" pitchFamily="18" charset="0"/>
                                </a:rPr>
                                <m:t>,</m:t>
                              </m:r>
                              <m:r>
                                <a:rPr lang="ar-AE">
                                  <a:latin typeface="Cambria Math" panose="02040503050406030204" pitchFamily="18" charset="0"/>
                                </a:rPr>
                                <m:t>𝑡</m:t>
                              </m:r>
                            </m:sub>
                          </m:sSub>
                        </m:e>
                      </m:nary>
                      <m:r>
                        <a:rPr lang="ar-AE">
                          <a:latin typeface="Cambria Math" panose="02040503050406030204" pitchFamily="18" charset="0"/>
                        </a:rPr>
                        <m:t>𝑅𝑃</m:t>
                      </m:r>
                      <m:sSub>
                        <m:sSubPr>
                          <m:ctrlPr>
                            <a:rPr lang="ar-AE" i="1">
                              <a:latin typeface="Cambria Math" panose="02040503050406030204" pitchFamily="18" charset="0"/>
                            </a:rPr>
                          </m:ctrlPr>
                        </m:sSubPr>
                        <m:e>
                          <m:r>
                            <a:rPr lang="ar-AE">
                              <a:latin typeface="Cambria Math" panose="02040503050406030204" pitchFamily="18" charset="0"/>
                            </a:rPr>
                            <m:t>𝐷</m:t>
                          </m:r>
                        </m:e>
                        <m:sub>
                          <m:r>
                            <a:rPr lang="ar-AE">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h</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𝜇</m:t>
                          </m:r>
                        </m:e>
                        <m:sub>
                          <m:r>
                            <a:rPr lang="ar-AE">
                              <a:latin typeface="Cambria Math" panose="02040503050406030204" pitchFamily="18" charset="0"/>
                            </a:rPr>
                            <m:t>𝑡</m:t>
                          </m:r>
                        </m:sub>
                      </m:sSub>
                      <m:r>
                        <a:rPr lang="ar-AE">
                          <a:latin typeface="Cambria Math" panose="02040503050406030204" pitchFamily="18" charset="0"/>
                        </a:rPr>
                        <m:t>,  </m:t>
                      </m:r>
                      <m:d>
                        <m:dPr>
                          <m:ctrlPr>
                            <a:rPr lang="ar-AE" i="1">
                              <a:latin typeface="Cambria Math" panose="02040503050406030204" pitchFamily="18" charset="0"/>
                            </a:rPr>
                          </m:ctrlPr>
                        </m:dPr>
                        <m:e>
                          <m:r>
                            <a:rPr lang="ar-AE">
                              <a:latin typeface="Cambria Math" panose="02040503050406030204" pitchFamily="18" charset="0"/>
                            </a:rPr>
                            <m:t>11</m:t>
                          </m:r>
                        </m:e>
                      </m:d>
                    </m:oMath>
                  </m:oMathPara>
                </a14:m>
                <a:endParaRPr lang="en-US" dirty="0"/>
              </a:p>
              <a:p>
                <a:pPr marL="0" lvl="0" indent="0">
                  <a:buNone/>
                </a:pPr>
                <a:endParaRPr dirty="0"/>
              </a:p>
              <a:p>
                <a:pPr lvl="0"/>
                <a:r>
                  <a:rPr dirty="0"/>
                  <a:t>The coefficients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𝑡</m:t>
                        </m:r>
                      </m:sub>
                    </m:sSub>
                  </m:oMath>
                </a14:m>
                <a:r>
                  <a:rPr dirty="0"/>
                  <a: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r>
                          <a:rPr>
                            <a:latin typeface="Cambria Math" panose="02040503050406030204" pitchFamily="18" charset="0"/>
                          </a:rPr>
                          <m:t>𝑡</m:t>
                        </m:r>
                      </m:sub>
                    </m:sSub>
                  </m:oMath>
                </a14:m>
                <a:r>
                  <a:rPr dirty="0"/>
                  <a:t>, and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h</m:t>
                        </m:r>
                        <m:r>
                          <a:rPr>
                            <a:latin typeface="Cambria Math" panose="02040503050406030204" pitchFamily="18" charset="0"/>
                          </a:rPr>
                          <m:t>,</m:t>
                        </m:r>
                        <m:r>
                          <a:rPr>
                            <a:latin typeface="Cambria Math" panose="02040503050406030204" pitchFamily="18" charset="0"/>
                          </a:rPr>
                          <m:t>𝑡</m:t>
                        </m:r>
                      </m:sub>
                    </m:sSub>
                  </m:oMath>
                </a14:m>
                <a:r>
                  <a:rPr dirty="0"/>
                  <a:t> vary over time.</a:t>
                </a:r>
              </a:p>
              <a:p>
                <a:pPr lvl="0"/>
                <a:r>
                  <a:rPr dirty="0"/>
                  <a:t>This approach allows us to observe the stability of the coefficients over time, which is an indicator of non-linearity in the relationship between RPD and inflation.</a:t>
                </a:r>
              </a:p>
            </p:txBody>
          </p:sp>
        </mc:Choice>
        <mc:Fallback>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 or even quadratic in nature</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Next, we </a:t>
                </a:r>
                <a:r>
                  <a:rPr dirty="0" err="1"/>
                  <a:t>utilise</a:t>
                </a:r>
                <a:r>
                  <a:rPr dirty="0"/>
                  <a:t> a semi-parametric or partially linear approach to estimate the optimal level of inflation given the RPD. This approach allows us to model the relationship between inflation and RPD without imposing a strict functional form. Following the literature, we first specify a quadratic (U-shaped) relationship between inflation and RPD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sSubSup>
                        <m:sSubSupPr>
                          <m:ctrlPr>
                            <a:rPr i="1">
                              <a:latin typeface="Cambria Math" panose="02040503050406030204" pitchFamily="18" charset="0"/>
                            </a:rPr>
                          </m:ctrlPr>
                        </m:sSubSupPr>
                        <m:e>
                          <m:r>
                            <a:rPr>
                              <a:latin typeface="Cambria Math" panose="02040503050406030204" pitchFamily="18" charset="0"/>
                            </a:rPr>
                            <m:t>𝜋</m:t>
                          </m:r>
                        </m:e>
                        <m:sub>
                          <m:r>
                            <a:rPr>
                              <a:latin typeface="Cambria Math" panose="02040503050406030204" pitchFamily="18" charset="0"/>
                            </a:rPr>
                            <m:t>𝑡</m:t>
                          </m:r>
                        </m:sub>
                        <m:sup>
                          <m:r>
                            <a:rPr>
                              <a:latin typeface="Cambria Math" panose="02040503050406030204" pitchFamily="18" charset="0"/>
                            </a:rPr>
                            <m:t>2</m:t>
                          </m:r>
                        </m:sup>
                      </m:sSubSup>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h</m:t>
                          </m:r>
                          <m:r>
                            <a:rPr>
                              <a:latin typeface="Cambria Math" panose="02040503050406030204" pitchFamily="18" charset="0"/>
                            </a:rPr>
                            <m:t>=1</m:t>
                          </m:r>
                        </m:sub>
                        <m:sup>
                          <m:r>
                            <a:rPr>
                              <a:latin typeface="Cambria Math" panose="02040503050406030204" pitchFamily="18" charset="0"/>
                            </a:rPr>
                            <m:t>3</m:t>
                          </m:r>
                        </m:sup>
                        <m:e>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h</m:t>
                              </m:r>
                            </m:sub>
                          </m:sSub>
                        </m:e>
                      </m:nary>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h</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𝜖</m:t>
                          </m:r>
                        </m:e>
                        <m:sub>
                          <m:r>
                            <a:rPr>
                              <a:latin typeface="Cambria Math" panose="02040503050406030204" pitchFamily="18" charset="0"/>
                            </a:rPr>
                            <m:t>𝑡</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12</m:t>
                          </m:r>
                        </m:e>
                      </m:d>
                    </m:oMath>
                  </m:oMathPara>
                </a14:m>
                <a:endParaRPr lang="en-US" dirty="0"/>
              </a:p>
              <a:p>
                <a:pPr marL="0" lvl="0" indent="0">
                  <a:buNone/>
                </a:pPr>
                <a:endParaRPr dirty="0"/>
              </a:p>
              <a:p>
                <a:pPr lvl="0"/>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oMath>
                </a14:m>
                <a:r>
                  <a:rPr dirty="0"/>
                  <a:t> captures the curvature of the relationship between inflation and RPD</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This enables use to estimate RPD minimizing inflation, … </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lang="en-ZA" dirty="0"/>
                  <a:t>The optimal inflation rate that minimizes RPD can be derived by taking the first derivative of the equation with respect to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𝜋</m:t>
                        </m:r>
                      </m:e>
                      <m:sub>
                        <m:r>
                          <a:rPr lang="ar-AE">
                            <a:latin typeface="Cambria Math" panose="02040503050406030204" pitchFamily="18" charset="0"/>
                          </a:rPr>
                          <m:t>𝑡</m:t>
                        </m:r>
                      </m:sub>
                    </m:sSub>
                  </m:oMath>
                </a14:m>
                <a:r>
                  <a:rPr lang="ar-AE" dirty="0"/>
                  <a:t> </a:t>
                </a:r>
                <a:r>
                  <a:rPr lang="en-ZA" dirty="0"/>
                  <a:t>and setting it to zero, yielding:</a:t>
                </a:r>
              </a:p>
              <a:p>
                <a:pPr lvl="0"/>
                <a:endParaRPr lang="en-ZA" dirty="0"/>
              </a:p>
              <a:p>
                <a:pPr marL="0" lvl="0" indent="0">
                  <a:buNone/>
                </a:pPr>
                <a14:m>
                  <m:oMathPara xmlns:m="http://schemas.openxmlformats.org/officeDocument/2006/math">
                    <m:oMathParaPr>
                      <m:jc m:val="center"/>
                    </m:oMathParaPr>
                    <m:oMath xmlns:m="http://schemas.openxmlformats.org/officeDocument/2006/math">
                      <m:sSubSup>
                        <m:sSubSupPr>
                          <m:ctrlPr>
                            <a:rPr lang="ar-AE" i="1">
                              <a:latin typeface="Cambria Math" panose="02040503050406030204" pitchFamily="18" charset="0"/>
                            </a:rPr>
                          </m:ctrlPr>
                        </m:sSubSupPr>
                        <m:e>
                          <m:r>
                            <a:rPr lang="ar-AE">
                              <a:latin typeface="Cambria Math" panose="02040503050406030204" pitchFamily="18" charset="0"/>
                            </a:rPr>
                            <m:t>𝜋</m:t>
                          </m:r>
                        </m:e>
                        <m:sub>
                          <m:r>
                            <a:rPr lang="ar-AE">
                              <a:latin typeface="Cambria Math" panose="02040503050406030204" pitchFamily="18" charset="0"/>
                            </a:rPr>
                            <m:t>𝑡</m:t>
                          </m:r>
                        </m:sub>
                        <m:sup>
                          <m:r>
                            <a:rPr lang="ar-AE">
                              <a:latin typeface="Cambria Math" panose="02040503050406030204" pitchFamily="18" charset="0"/>
                            </a:rPr>
                            <m:t>∗</m:t>
                          </m:r>
                        </m:sup>
                      </m:sSubSup>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sSub>
                            <m:sSubPr>
                              <m:ctrlPr>
                                <a:rPr lang="ar-AE" i="1">
                                  <a:latin typeface="Cambria Math" panose="02040503050406030204" pitchFamily="18" charset="0"/>
                                </a:rPr>
                              </m:ctrlPr>
                            </m:sSubPr>
                            <m:e>
                              <m:r>
                                <a:rPr lang="ar-AE">
                                  <a:latin typeface="Cambria Math" panose="02040503050406030204" pitchFamily="18" charset="0"/>
                                </a:rPr>
                                <m:t>𝛽</m:t>
                              </m:r>
                            </m:e>
                            <m:sub>
                              <m:r>
                                <a:rPr lang="ar-AE">
                                  <a:latin typeface="Cambria Math" panose="02040503050406030204" pitchFamily="18" charset="0"/>
                                </a:rPr>
                                <m:t>2</m:t>
                              </m:r>
                            </m:sub>
                          </m:sSub>
                        </m:den>
                      </m:f>
                      <m:r>
                        <a:rPr lang="ar-AE">
                          <a:latin typeface="Cambria Math" panose="02040503050406030204" pitchFamily="18" charset="0"/>
                        </a:rPr>
                        <m:t>  </m:t>
                      </m:r>
                      <m:d>
                        <m:dPr>
                          <m:ctrlPr>
                            <a:rPr lang="ar-AE" i="1">
                              <a:latin typeface="Cambria Math" panose="02040503050406030204" pitchFamily="18" charset="0"/>
                            </a:rPr>
                          </m:ctrlPr>
                        </m:dPr>
                        <m:e>
                          <m:r>
                            <a:rPr lang="ar-AE">
                              <a:latin typeface="Cambria Math" panose="02040503050406030204" pitchFamily="18" charset="0"/>
                            </a:rPr>
                            <m:t>13</m:t>
                          </m:r>
                        </m:e>
                      </m:d>
                    </m:oMath>
                  </m:oMathPara>
                </a14:m>
                <a:endParaRPr lang="ar-AE" dirty="0"/>
              </a:p>
              <a:p>
                <a:pPr marL="0" lvl="0" indent="0">
                  <a:buNone/>
                </a:pPr>
                <a:endParaRPr lang="en-ZA" dirty="0"/>
              </a:p>
              <a:p>
                <a:pPr marL="0" lvl="0" indent="0">
                  <a:buNone/>
                </a:pPr>
                <a:r>
                  <a:rPr dirty="0"/>
                  <a:t>To estimate this optimal inflation we implement a semi-parametric approach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h</m:t>
                          </m:r>
                          <m:r>
                            <a:rPr>
                              <a:latin typeface="Cambria Math" panose="02040503050406030204" pitchFamily="18" charset="0"/>
                            </a:rPr>
                            <m:t>=1</m:t>
                          </m:r>
                        </m:sub>
                        <m:sup>
                          <m:r>
                            <a:rPr>
                              <a:latin typeface="Cambria Math" panose="02040503050406030204" pitchFamily="18" charset="0"/>
                            </a:rPr>
                            <m:t>3</m:t>
                          </m:r>
                        </m:sup>
                        <m:e>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h</m:t>
                              </m:r>
                            </m:sub>
                          </m:sSub>
                        </m:e>
                      </m:nary>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h</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𝜖</m:t>
                          </m:r>
                        </m:e>
                        <m:sub>
                          <m:r>
                            <a:rPr>
                              <a:latin typeface="Cambria Math" panose="02040503050406030204" pitchFamily="18" charset="0"/>
                            </a:rPr>
                            <m:t>𝑡</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14</m:t>
                          </m:r>
                        </m:e>
                      </m:d>
                    </m:oMath>
                  </m:oMathPara>
                </a14:m>
                <a:endParaRPr dirty="0"/>
              </a:p>
              <a:p>
                <a:pPr lvl="0"/>
                <a14:m>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is a non-linear smooth differentiable function of inflation and the RPD.</a:t>
                </a:r>
              </a:p>
              <a:p>
                <a:pPr lvl="0"/>
                <a:r>
                  <a:rPr dirty="0"/>
                  <a:t>Therefore, the optimal inflation rate can be obtained by finding the minimum of the estimated </a:t>
                </a:r>
                <a14:m>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function. </a:t>
                </a:r>
                <a14:m>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is estimated in two stages.</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r="-946"/>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 using semi-parametric (kernel-based) methods</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First we estimate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h</m:t>
                        </m:r>
                      </m:sub>
                    </m:sSub>
                  </m:oMath>
                </a14:m>
                <a:r>
                  <a:rPr dirty="0"/>
                  <a:t>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h</m:t>
                          </m:r>
                          <m:r>
                            <a:rPr>
                              <a:latin typeface="Cambria Math" panose="02040503050406030204" pitchFamily="18" charset="0"/>
                            </a:rPr>
                            <m:t>=1</m:t>
                          </m:r>
                        </m:sub>
                        <m:sup>
                          <m:r>
                            <a:rPr>
                              <a:latin typeface="Cambria Math" panose="02040503050406030204" pitchFamily="18" charset="0"/>
                            </a:rPr>
                            <m:t>3</m:t>
                          </m:r>
                        </m:sup>
                        <m:e>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h</m:t>
                              </m:r>
                            </m:sub>
                          </m:sSub>
                        </m:e>
                      </m:nary>
                      <m:sSub>
                        <m:sSubPr>
                          <m:ctrlPr>
                            <a:rPr i="1">
                              <a:latin typeface="Cambria Math" panose="02040503050406030204" pitchFamily="18" charset="0"/>
                            </a:rPr>
                          </m:ctrlPr>
                        </m:sSubPr>
                        <m:e>
                          <m:bar>
                            <m:barPr>
                              <m:pos m:val="top"/>
                              <m:ctrlPr>
                                <a:rPr i="1">
                                  <a:latin typeface="Cambria Math" panose="02040503050406030204" pitchFamily="18" charset="0"/>
                                </a:rPr>
                              </m:ctrlPr>
                            </m:barPr>
                            <m:e>
                              <m:r>
                                <a:rPr>
                                  <a:latin typeface="Cambria Math" panose="02040503050406030204" pitchFamily="18" charset="0"/>
                                </a:rPr>
                                <m:t>𝑅𝑃𝐷</m:t>
                              </m:r>
                            </m:e>
                          </m:ba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h</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𝜂</m:t>
                          </m:r>
                        </m:e>
                        <m:sub>
                          <m:r>
                            <a:rPr>
                              <a:latin typeface="Cambria Math" panose="02040503050406030204" pitchFamily="18" charset="0"/>
                            </a:rPr>
                            <m:t>𝑡</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15</m:t>
                          </m:r>
                        </m:e>
                      </m:d>
                    </m:oMath>
                  </m:oMathPara>
                </a14:m>
                <a:endParaRPr dirty="0"/>
              </a:p>
              <a:p>
                <a:pPr lvl="0"/>
                <a14:m>
                  <m:oMath xmlns:m="http://schemas.openxmlformats.org/officeDocument/2006/math">
                    <m:sSub>
                      <m:sSubPr>
                        <m:ctrlPr>
                          <a:rPr i="1">
                            <a:latin typeface="Cambria Math" panose="02040503050406030204" pitchFamily="18" charset="0"/>
                          </a:rPr>
                        </m:ctrlPr>
                      </m:sSubPr>
                      <m:e>
                        <m:bar>
                          <m:barPr>
                            <m:pos m:val="top"/>
                            <m:ctrlPr>
                              <a:rPr i="1">
                                <a:latin typeface="Cambria Math" panose="02040503050406030204" pitchFamily="18" charset="0"/>
                              </a:rPr>
                            </m:ctrlPr>
                          </m:barPr>
                          <m:e>
                            <m:r>
                              <a:rPr>
                                <a:latin typeface="Cambria Math" panose="02040503050406030204" pitchFamily="18" charset="0"/>
                              </a:rPr>
                              <m:t>𝑅𝑃𝐷</m:t>
                            </m:r>
                          </m:e>
                        </m:ba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h</m:t>
                        </m:r>
                      </m:sub>
                    </m:sSub>
                  </m:oMath>
                </a14:m>
                <a:r>
                  <a:rPr dirty="0"/>
                  <a:t> are the residuals from a non-parametric regression of each lag of </a:t>
                </a:r>
                <a14:m>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oMath>
                </a14:m>
                <a:r>
                  <a:rPr dirty="0"/>
                  <a:t> on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oMath>
                </a14:m>
                <a:endParaRPr lang="en-US" dirty="0"/>
              </a:p>
              <a:p>
                <a:pPr marL="0" lvl="0" indent="0">
                  <a:buNone/>
                </a:pPr>
                <a:endParaRPr dirty="0"/>
              </a:p>
              <a:p>
                <a:pPr marL="0" lvl="0" indent="0">
                  <a:buNone/>
                </a:pPr>
                <a:r>
                  <a:rPr dirty="0"/>
                  <a:t>In the second stage, we estimate </a:t>
                </a:r>
                <a14:m>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non-parametrically as follows:</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𝜂</m:t>
                              </m:r>
                            </m:e>
                          </m:acc>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𝑡</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16</m:t>
                          </m:r>
                        </m:e>
                      </m:d>
                    </m:oMath>
                  </m:oMathPara>
                </a14:m>
                <a:endParaRPr dirty="0"/>
              </a:p>
              <a:p>
                <a:pPr lvl="0"/>
                <a14:m>
                  <m:oMath xmlns:m="http://schemas.openxmlformats.org/officeDocument/2006/math">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𝜂</m:t>
                            </m:r>
                          </m:e>
                        </m:acc>
                      </m:e>
                      <m:sub>
                        <m:r>
                          <a:rPr>
                            <a:latin typeface="Cambria Math" panose="02040503050406030204" pitchFamily="18" charset="0"/>
                          </a:rPr>
                          <m:t>𝑡</m:t>
                        </m:r>
                      </m:sub>
                    </m:sSub>
                  </m:oMath>
                </a14:m>
                <a:r>
                  <a:rPr dirty="0"/>
                  <a:t> are the residuals from Equation 15</a:t>
                </a:r>
              </a:p>
              <a:p>
                <a:pPr lvl="0"/>
                <a14:m>
                  <m:oMath xmlns:m="http://schemas.openxmlformats.org/officeDocument/2006/math">
                    <m:r>
                      <a:rPr>
                        <a:latin typeface="Cambria Math" panose="02040503050406030204" pitchFamily="18" charset="0"/>
                      </a:rPr>
                      <m:t>𝑓</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is estimated using a kernel regression method</a:t>
                </a:r>
              </a:p>
              <a:p>
                <a:pPr lvl="0"/>
                <a:r>
                  <a:rPr dirty="0"/>
                  <a:t>The bandwidth (</a:t>
                </a:r>
                <a14:m>
                  <m:oMath xmlns:m="http://schemas.openxmlformats.org/officeDocument/2006/math">
                    <m:r>
                      <a:rPr>
                        <a:latin typeface="Cambria Math" panose="02040503050406030204" pitchFamily="18" charset="0"/>
                      </a:rPr>
                      <m:t>h</m:t>
                    </m:r>
                  </m:oMath>
                </a14:m>
                <a:r>
                  <a:rPr dirty="0"/>
                  <a:t>) for the kernel estimator is selected using cross-validation to minimize the mean squared error.</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5995"/>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dirty="0"/>
              <a:t>M</a:t>
            </a:r>
            <a:r>
              <a:rPr lang="en-US" dirty="0"/>
              <a:t>ainly the Gaussian and </a:t>
            </a:r>
            <a:r>
              <a:rPr lang="en-ZA" dirty="0" err="1"/>
              <a:t>Epanechnikov</a:t>
            </a:r>
            <a:r>
              <a:rPr lang="en-ZA" dirty="0"/>
              <a:t> kernel were used</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lvl="0"/>
                <a:r>
                  <a:rPr dirty="0"/>
                  <a:t>As a treatment for extreme values of inflation, we further implement the unbounded Gaussian kernel and the outlier-robust </a:t>
                </a:r>
                <a:r>
                  <a:rPr dirty="0" err="1"/>
                  <a:t>Epanechnikov</a:t>
                </a:r>
                <a:r>
                  <a:rPr dirty="0"/>
                  <a:t> kernel.</a:t>
                </a:r>
              </a:p>
              <a:p>
                <a:pPr lvl="0"/>
                <a:r>
                  <a:rPr dirty="0"/>
                  <a:t>In essence, the semi-parametric approach captures the sensitivity of RPD to marginal increases in inflation.</a:t>
                </a:r>
              </a:p>
              <a:p>
                <a:pPr lvl="0"/>
                <a:r>
                  <a:rPr dirty="0"/>
                  <a:t>In that case, the optimal inflation rate can be obtained by finding the point where the first derivative (</a:t>
                </a:r>
                <a14:m>
                  <m:oMath xmlns:m="http://schemas.openxmlformats.org/officeDocument/2006/math">
                    <m:r>
                      <a:rPr>
                        <a:latin typeface="Cambria Math" panose="02040503050406030204" pitchFamily="18" charset="0"/>
                      </a:rPr>
                      <m:t>𝑓</m:t>
                    </m:r>
                    <m:r>
                      <a:rPr>
                        <a:latin typeface="Cambria Math" panose="02040503050406030204" pitchFamily="18" charset="0"/>
                      </a:rPr>
                      <m: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oMath>
                </a14:m>
                <a:r>
                  <a:rPr dirty="0"/>
                  <a:t>) is equal to zero.</a:t>
                </a:r>
              </a:p>
              <a:p>
                <a:pPr lvl="0"/>
                <a:r>
                  <a:rPr dirty="0"/>
                  <a:t>Therefore, if </a:t>
                </a:r>
                <a14:m>
                  <m:oMath xmlns:m="http://schemas.openxmlformats.org/officeDocument/2006/math">
                    <m:r>
                      <a:rPr>
                        <a:latin typeface="Cambria Math" panose="02040503050406030204" pitchFamily="18" charset="0"/>
                      </a:rPr>
                      <m:t>𝑓</m:t>
                    </m:r>
                    <m:r>
                      <a:rPr>
                        <a:latin typeface="Cambria Math" panose="02040503050406030204" pitchFamily="18" charset="0"/>
                      </a:rPr>
                      <m: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r>
                      <a:rPr>
                        <a:latin typeface="Cambria Math" panose="02040503050406030204" pitchFamily="18" charset="0"/>
                      </a:rPr>
                      <m:t>&gt;0</m:t>
                    </m:r>
                  </m:oMath>
                </a14:m>
                <a:r>
                  <a:rPr dirty="0"/>
                  <a:t> (</a:t>
                </a:r>
                <a14:m>
                  <m:oMath xmlns:m="http://schemas.openxmlformats.org/officeDocument/2006/math">
                    <m:r>
                      <a:rPr>
                        <a:latin typeface="Cambria Math" panose="02040503050406030204" pitchFamily="18" charset="0"/>
                      </a:rPr>
                      <m:t>𝑓</m:t>
                    </m:r>
                    <m:r>
                      <a:rPr>
                        <a:latin typeface="Cambria Math" panose="02040503050406030204" pitchFamily="18" charset="0"/>
                      </a:rPr>
                      <m:t>′</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𝑡</m:t>
                            </m:r>
                          </m:sub>
                        </m:sSub>
                      </m:e>
                    </m:d>
                    <m:r>
                      <a:rPr>
                        <a:latin typeface="Cambria Math" panose="02040503050406030204" pitchFamily="18" charset="0"/>
                      </a:rPr>
                      <m:t>&lt;0</m:t>
                    </m:r>
                  </m:oMath>
                </a14:m>
                <a:r>
                  <a:rPr dirty="0"/>
                  <a:t>), then an increase in inflation (decrease) leads to an increase (decrease) in the RPD. For robustness we estimate the </a:t>
                </a:r>
                <a14:m>
                  <m:oMath xmlns:m="http://schemas.openxmlformats.org/officeDocument/2006/math">
                    <m:r>
                      <a:rPr>
                        <a:latin typeface="Cambria Math" panose="02040503050406030204" pitchFamily="18" charset="0"/>
                      </a:rPr>
                      <m:t>𝑔</m:t>
                    </m:r>
                    <m:d>
                      <m:dPr>
                        <m:ctrlPr>
                          <a:rPr i="1">
                            <a:latin typeface="Cambria Math" panose="02040503050406030204" pitchFamily="18" charset="0"/>
                          </a:rPr>
                        </m:ctrlPr>
                      </m:dPr>
                      <m:e>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e>
                    </m:d>
                  </m:oMath>
                </a14:m>
                <a:r>
                  <a:rPr dirty="0"/>
                  <a:t> with multiple bandwidth (</a:t>
                </a:r>
                <a14:m>
                  <m:oMath xmlns:m="http://schemas.openxmlformats.org/officeDocument/2006/math">
                    <m:r>
                      <a:rPr>
                        <a:latin typeface="Cambria Math" panose="02040503050406030204" pitchFamily="18" charset="0"/>
                      </a:rPr>
                      <m:t>h</m:t>
                    </m:r>
                  </m:oMath>
                </a14:m>
                <a:r>
                  <a:rPr dirty="0"/>
                  <a:t>).</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355" t="-1362"/>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ormAutofit fontScale="90000"/>
          </a:bodyPr>
          <a:lstStyle/>
          <a:p>
            <a:pPr marL="0" lvl="0" indent="0">
              <a:buNone/>
            </a:pPr>
            <a:r>
              <a:rPr lang="en-US" dirty="0"/>
              <a:t>As outlined before, there is an important distinction between expected and unexpected inflation</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dirty="0"/>
                  <a:t>To further disentangle the effects of RPD on inflation, we decompose headline inflation into its expected and unexpected components. As discussed in the literature section, for example, theory suggests that inflation uncertainty has a more pronounced effect on RPD due to information frictions faced by firms when adjusting prices (Lucas 1973; </a:t>
                </a:r>
                <a:r>
                  <a:rPr dirty="0" err="1"/>
                  <a:t>Hercowitz</a:t>
                </a:r>
                <a:r>
                  <a:rPr dirty="0"/>
                  <a:t> 1981; Cukierman 1983)</a:t>
                </a:r>
              </a:p>
              <a:p>
                <a:pPr marL="0" lvl="0" indent="0">
                  <a:buNone/>
                </a:pPr>
                <a:r>
                  <a:rPr dirty="0"/>
                  <a:t>We therefore estimate the following model:</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0</m:t>
                          </m:r>
                        </m:sub>
                      </m:sSub>
                      <m:r>
                        <a:rPr>
                          <a:latin typeface="Cambria Math" panose="02040503050406030204" pitchFamily="18" charset="0"/>
                        </a:rPr>
                        <m:t>𝐸𝐼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𝑔</m:t>
                      </m:r>
                      <m:d>
                        <m:dPr>
                          <m:ctrlPr>
                            <a:rPr i="1">
                              <a:latin typeface="Cambria Math" panose="02040503050406030204" pitchFamily="18" charset="0"/>
                            </a:rPr>
                          </m:ctrlPr>
                        </m:dPr>
                        <m:e>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e>
                      </m:d>
                      <m:r>
                        <a:rPr>
                          <a:latin typeface="Cambria Math" panose="02040503050406030204" pitchFamily="18" charset="0"/>
                        </a:rPr>
                        <m:t>+</m:t>
                      </m:r>
                      <m:nary>
                        <m:naryPr>
                          <m:chr m:val="∑"/>
                          <m:limLoc m:val="undOvr"/>
                          <m:ctrlPr>
                            <a:rPr i="1">
                              <a:latin typeface="Cambria Math" panose="02040503050406030204" pitchFamily="18" charset="0"/>
                            </a:rPr>
                          </m:ctrlPr>
                        </m:naryPr>
                        <m:sub>
                          <m:r>
                            <a:rPr>
                              <a:latin typeface="Cambria Math" panose="02040503050406030204" pitchFamily="18" charset="0"/>
                            </a:rPr>
                            <m:t>𝑘</m:t>
                          </m:r>
                          <m:r>
                            <a:rPr>
                              <a:latin typeface="Cambria Math" panose="02040503050406030204" pitchFamily="18" charset="0"/>
                            </a:rPr>
                            <m:t>=1</m:t>
                          </m:r>
                        </m:sub>
                        <m:sup>
                          <m:r>
                            <a:rPr>
                              <a:latin typeface="Cambria Math" panose="02040503050406030204" pitchFamily="18" charset="0"/>
                            </a:rPr>
                            <m:t>3</m:t>
                          </m:r>
                        </m:sup>
                        <m:e>
                          <m:sSub>
                            <m:sSubPr>
                              <m:ctrlPr>
                                <a:rPr i="1">
                                  <a:latin typeface="Cambria Math" panose="02040503050406030204" pitchFamily="18" charset="0"/>
                                </a:rPr>
                              </m:ctrlPr>
                            </m:sSubPr>
                            <m:e>
                              <m:r>
                                <a:rPr>
                                  <a:latin typeface="Cambria Math" panose="02040503050406030204" pitchFamily="18" charset="0"/>
                                </a:rPr>
                                <m:t>𝜆</m:t>
                              </m:r>
                            </m:e>
                            <m:sub>
                              <m:r>
                                <a:rPr>
                                  <a:latin typeface="Cambria Math" panose="02040503050406030204" pitchFamily="18" charset="0"/>
                                </a:rPr>
                                <m:t>𝑘</m:t>
                              </m:r>
                            </m:sub>
                          </m:sSub>
                        </m:e>
                      </m:nary>
                      <m:r>
                        <a:rPr>
                          <a:latin typeface="Cambria Math" panose="02040503050406030204" pitchFamily="18" charset="0"/>
                        </a:rPr>
                        <m:t>𝑅𝑃</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𝑘</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𝜖</m:t>
                          </m:r>
                        </m:e>
                        <m:sub>
                          <m:r>
                            <a:rPr>
                              <a:latin typeface="Cambria Math" panose="02040503050406030204" pitchFamily="18" charset="0"/>
                            </a:rPr>
                            <m:t>𝑡</m:t>
                          </m:r>
                        </m:sub>
                      </m:sSub>
                      <m:r>
                        <a:rPr>
                          <a:latin typeface="Cambria Math" panose="02040503050406030204" pitchFamily="18" charset="0"/>
                        </a:rPr>
                        <m:t>,  </m:t>
                      </m:r>
                      <m:d>
                        <m:dPr>
                          <m:ctrlPr>
                            <a:rPr i="1">
                              <a:latin typeface="Cambria Math" panose="02040503050406030204" pitchFamily="18" charset="0"/>
                            </a:rPr>
                          </m:ctrlPr>
                        </m:dPr>
                        <m:e>
                          <m:r>
                            <a:rPr>
                              <a:latin typeface="Cambria Math" panose="02040503050406030204" pitchFamily="18" charset="0"/>
                            </a:rPr>
                            <m:t>17</m:t>
                          </m:r>
                        </m:e>
                      </m:d>
                    </m:oMath>
                  </m:oMathPara>
                </a14:m>
                <a:endParaRPr dirty="0"/>
              </a:p>
              <a:p>
                <a:pPr lvl="0"/>
                <a14:m>
                  <m:oMath xmlns:m="http://schemas.openxmlformats.org/officeDocument/2006/math">
                    <m:r>
                      <a:rPr>
                        <a:latin typeface="Cambria Math" panose="02040503050406030204" pitchFamily="18" charset="0"/>
                      </a:rPr>
                      <m:t>𝐸𝐼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oMath>
                </a14:m>
                <a:r>
                  <a:rPr dirty="0"/>
                  <a:t> is the expected inflation rate and </a:t>
                </a:r>
                <a14:m>
                  <m:oMath xmlns:m="http://schemas.openxmlformats.org/officeDocument/2006/math">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oMath>
                </a14:m>
                <a:r>
                  <a:rPr dirty="0"/>
                  <a:t> is the unexpected inflation rate</a:t>
                </a:r>
              </a:p>
              <a:p>
                <a:pPr lvl="0"/>
                <a14:m>
                  <m:oMath xmlns:m="http://schemas.openxmlformats.org/officeDocument/2006/math">
                    <m:r>
                      <a:rPr>
                        <a:latin typeface="Cambria Math" panose="02040503050406030204" pitchFamily="18" charset="0"/>
                      </a:rPr>
                      <m:t>𝑔</m:t>
                    </m:r>
                    <m:d>
                      <m:dPr>
                        <m:ctrlPr>
                          <a:rPr i="1">
                            <a:latin typeface="Cambria Math" panose="02040503050406030204" pitchFamily="18" charset="0"/>
                          </a:rPr>
                        </m:ctrlPr>
                      </m:dPr>
                      <m:e>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e>
                    </m:d>
                  </m:oMath>
                </a14:m>
                <a:r>
                  <a:rPr dirty="0"/>
                  <a:t> is a non-linear function of unexpected inflation (</a:t>
                </a:r>
                <a14:m>
                  <m:oMath xmlns:m="http://schemas.openxmlformats.org/officeDocument/2006/math">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oMath>
                </a14:m>
                <a:r>
                  <a:rPr dirty="0"/>
                  <a:t>).</a:t>
                </a:r>
              </a:p>
              <a:p>
                <a:pPr lvl="0"/>
                <a:r>
                  <a:rPr dirty="0"/>
                  <a:t>We obtain the expected using a simple moving average of headline inflation, and unexpected inflation as the</a:t>
                </a:r>
                <a:r>
                  <a:rPr lang="en-US" dirty="0"/>
                  <a:t> rolling</a:t>
                </a:r>
                <a:r>
                  <a:rPr dirty="0"/>
                  <a:t> standard deviation of inflation. The estimation of </a:t>
                </a:r>
                <a14:m>
                  <m:oMath xmlns:m="http://schemas.openxmlformats.org/officeDocument/2006/math">
                    <m:r>
                      <a:rPr>
                        <a:latin typeface="Cambria Math" panose="02040503050406030204" pitchFamily="18" charset="0"/>
                      </a:rPr>
                      <m:t>𝑔</m:t>
                    </m:r>
                    <m:d>
                      <m:dPr>
                        <m:ctrlPr>
                          <a:rPr i="1">
                            <a:latin typeface="Cambria Math" panose="02040503050406030204" pitchFamily="18" charset="0"/>
                          </a:rPr>
                        </m:ctrlPr>
                      </m:dPr>
                      <m:e>
                        <m:r>
                          <a:rPr>
                            <a:latin typeface="Cambria Math" panose="02040503050406030204" pitchFamily="18" charset="0"/>
                          </a:rPr>
                          <m:t>𝑈𝐼</m:t>
                        </m:r>
                        <m:sSub>
                          <m:sSubPr>
                            <m:ctrlPr>
                              <a:rPr i="1">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𝑡</m:t>
                            </m:r>
                          </m:sub>
                        </m:sSub>
                      </m:e>
                    </m:d>
                  </m:oMath>
                </a14:m>
                <a:r>
                  <a:rPr dirty="0"/>
                  <a:t> follows the same two-stage semi-parametric approach outlined in Equation 15 and Equation 16. The number of lags is the same as in Equation 10.</a:t>
                </a:r>
              </a:p>
            </p:txBody>
          </p:sp>
        </mc:Choice>
        <mc:Fallback xmlns="">
          <p:sp>
            <p:nvSpPr>
              <p:cNvPr id="3" name="Content Placeholder 2">
                <a:extLst>
                  <a:ext uri="{FF2B5EF4-FFF2-40B4-BE49-F238E27FC236}">
                    <a16:creationId xmlns:a16="http://schemas.microsoft.com/office/drawing/2014/main" id="{9C966DDB-3364-1B41-9729-DB3686A721C5}"/>
                  </a:ext>
                </a:extLst>
              </p:cNvPr>
              <p:cNvSpPr>
                <a:spLocks noGrp="1" noRot="1" noChangeAspect="1" noMove="1" noResize="1" noEditPoints="1" noAdjustHandles="1" noChangeArrowheads="1" noChangeShapeType="1" noTextEdit="1"/>
              </p:cNvSpPr>
              <p:nvPr>
                <p:ph idx="1" hasCustomPrompt="1"/>
              </p:nvPr>
            </p:nvSpPr>
            <p:spPr>
              <a:blipFill>
                <a:blip r:embed="rId2"/>
                <a:stretch>
                  <a:fillRect l="-473" t="-1362" r="-355"/>
                </a:stretch>
              </a:blipFill>
            </p:spPr>
            <p:txBody>
              <a:bodyPr/>
              <a:lstStyle/>
              <a:p>
                <a:r>
                  <a:rPr lang="en-US">
                    <a:noFill/>
                  </a:rPr>
                  <a:t> </a:t>
                </a:r>
              </a:p>
            </p:txBody>
          </p:sp>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Lastly, we estimate RPD-Inflation regimes using QQR</a:t>
            </a:r>
            <a:endParaRPr dirty="0"/>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r>
              <a:rPr dirty="0"/>
              <a:t>Lastly, and some-what novel to the RPD literature, we employ a quantile on quantile regression</a:t>
            </a:r>
            <a:r>
              <a:rPr lang="en-US" dirty="0"/>
              <a:t> (QQR)</a:t>
            </a:r>
            <a:r>
              <a:rPr dirty="0"/>
              <a:t> approach (</a:t>
            </a:r>
            <a:r>
              <a:rPr dirty="0" err="1"/>
              <a:t>Koenker</a:t>
            </a:r>
            <a:r>
              <a:rPr dirty="0"/>
              <a:t> 2017). </a:t>
            </a:r>
            <a:endParaRPr lang="en-US" dirty="0"/>
          </a:p>
          <a:p>
            <a:r>
              <a:rPr lang="en-US" dirty="0"/>
              <a:t>QQRs </a:t>
            </a:r>
            <a:r>
              <a:rPr dirty="0"/>
              <a:t>are robust to outliers and allows us to estimate the regime aspects of the relationship between RPD and inflation.</a:t>
            </a:r>
          </a:p>
          <a:p>
            <a:r>
              <a:rPr dirty="0"/>
              <a:t>For brevity, we do not explain the </a:t>
            </a:r>
            <a:r>
              <a:rPr lang="en-US" dirty="0"/>
              <a:t>QQR </a:t>
            </a:r>
            <a:r>
              <a:rPr dirty="0"/>
              <a:t>procedure</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7" y="1817520"/>
            <a:ext cx="5242902" cy="1381125"/>
          </a:xfrm>
        </p:spPr>
        <p:txBody>
          <a:bodyPr/>
          <a:lstStyle/>
          <a:p>
            <a:pPr marL="0" lvl="0" indent="0">
              <a:buNone/>
            </a:pPr>
            <a:r>
              <a:rPr dirty="0"/>
              <a:t>Results</a:t>
            </a:r>
            <a:r>
              <a:rPr lang="en-US" dirty="0"/>
              <a:t> (what did we find?)</a:t>
            </a:r>
            <a:endParaRPr dirty="0"/>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ZA" dirty="0"/>
              <a:t>RDP tends to rise rapidly with high inflation shocks</a:t>
            </a:r>
            <a:endParaRPr dirty="0"/>
          </a:p>
        </p:txBody>
      </p:sp>
      <p:pic>
        <p:nvPicPr>
          <p:cNvPr id="3" name="Picture 1" descr="inflation_relative_price_variance_presentation_files/figure-pptx/fig-rpd-1.png"/>
          <p:cNvPicPr>
            <a:picLocks noGrp="1" noChangeAspect="1"/>
          </p:cNvPicPr>
          <p:nvPr/>
        </p:nvPicPr>
        <p:blipFill>
          <a:blip r:embed="rId2"/>
          <a:stretch>
            <a:fillRect/>
          </a:stretch>
        </p:blipFill>
        <p:spPr bwMode="auto">
          <a:xfrm>
            <a:off x="1778000" y="1524000"/>
            <a:ext cx="9026358" cy="4513179"/>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24</a:t>
            </a:fld>
            <a:endParaRPr lang="en-US" dirty="0"/>
          </a:p>
        </p:txBody>
      </p:sp>
      <p:sp>
        <p:nvSpPr>
          <p:cNvPr id="4" name="TextBox 3">
            <a:extLst>
              <a:ext uri="{FF2B5EF4-FFF2-40B4-BE49-F238E27FC236}">
                <a16:creationId xmlns:a16="http://schemas.microsoft.com/office/drawing/2014/main" id="{C478F715-E4B2-AA97-4296-4C5FD552B3BC}"/>
              </a:ext>
            </a:extLst>
          </p:cNvPr>
          <p:cNvSpPr txBox="1"/>
          <p:nvPr/>
        </p:nvSpPr>
        <p:spPr>
          <a:xfrm>
            <a:off x="2006051" y="1247001"/>
            <a:ext cx="2398481"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3: RPD over-time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a:r>
              <a:rPr lang="en-ZA" dirty="0"/>
              <a:t>Empirically, the RPD suggests lower optimal inflation</a:t>
            </a:r>
            <a:endParaRPr dirty="0"/>
          </a:p>
        </p:txBody>
      </p:sp>
      <p:pic>
        <p:nvPicPr>
          <p:cNvPr id="3" name="Picture 1" descr="inflation_relative_price_variance_presentation_files/figure-pptx/fig-rpd_inflation-1.png"/>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25</a:t>
            </a:fld>
            <a:endParaRPr lang="en-US" dirty="0"/>
          </a:p>
        </p:txBody>
      </p:sp>
      <p:sp>
        <p:nvSpPr>
          <p:cNvPr id="4" name="TextBox 3">
            <a:extLst>
              <a:ext uri="{FF2B5EF4-FFF2-40B4-BE49-F238E27FC236}">
                <a16:creationId xmlns:a16="http://schemas.microsoft.com/office/drawing/2014/main" id="{A86264BF-2D82-14E9-0EE5-7759A3EBAB4E}"/>
              </a:ext>
            </a:extLst>
          </p:cNvPr>
          <p:cNvSpPr txBox="1"/>
          <p:nvPr/>
        </p:nvSpPr>
        <p:spPr>
          <a:xfrm>
            <a:off x="2006051" y="1247001"/>
            <a:ext cx="3043027"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4: RDP vs headline inflation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rPr lang="en-US" dirty="0"/>
              <a:t>The baseline results suggests a non-linear relationship</a:t>
            </a:r>
            <a:endParaRPr dirty="0"/>
          </a:p>
        </p:txBody>
      </p:sp>
      <mc:AlternateContent xmlns:mc="http://schemas.openxmlformats.org/markup-compatibility/2006" xmlns:a14="http://schemas.microsoft.com/office/drawing/2010/main">
        <mc:Choice Requires="a14">
          <p:graphicFrame>
            <p:nvGraphicFramePr>
              <p:cNvPr id="434235368" name="Table 434235367"/>
              <p:cNvGraphicFramePr>
                <a:graphicFrameLocks noGrp="1"/>
              </p:cNvGraphicFramePr>
              <p:nvPr>
                <p:extLst>
                  <p:ext uri="{D42A27DB-BD31-4B8C-83A1-F6EECF244321}">
                    <p14:modId xmlns:p14="http://schemas.microsoft.com/office/powerpoint/2010/main" val="901234089"/>
                  </p:ext>
                </p:extLst>
              </p:nvPr>
            </p:nvGraphicFramePr>
            <p:xfrm>
              <a:off x="1174898" y="1532141"/>
              <a:ext cx="9842204" cy="4540927"/>
            </p:xfrm>
            <a:graphic>
              <a:graphicData uri="http://schemas.openxmlformats.org/drawingml/2006/table">
                <a:tbl>
                  <a:tblPr/>
                  <a:tblGrid>
                    <a:gridCol w="1527936">
                      <a:extLst>
                        <a:ext uri="{9D8B030D-6E8A-4147-A177-3AD203B41FA5}">
                          <a16:colId xmlns:a16="http://schemas.microsoft.com/office/drawing/2014/main" val="20000"/>
                        </a:ext>
                      </a:extLst>
                    </a:gridCol>
                    <a:gridCol w="1086662">
                      <a:extLst>
                        <a:ext uri="{9D8B030D-6E8A-4147-A177-3AD203B41FA5}">
                          <a16:colId xmlns:a16="http://schemas.microsoft.com/office/drawing/2014/main" val="20001"/>
                        </a:ext>
                      </a:extLst>
                    </a:gridCol>
                    <a:gridCol w="979014">
                      <a:extLst>
                        <a:ext uri="{9D8B030D-6E8A-4147-A177-3AD203B41FA5}">
                          <a16:colId xmlns:a16="http://schemas.microsoft.com/office/drawing/2014/main" val="20002"/>
                        </a:ext>
                      </a:extLst>
                    </a:gridCol>
                    <a:gridCol w="1018225">
                      <a:extLst>
                        <a:ext uri="{9D8B030D-6E8A-4147-A177-3AD203B41FA5}">
                          <a16:colId xmlns:a16="http://schemas.microsoft.com/office/drawing/2014/main" val="20003"/>
                        </a:ext>
                      </a:extLst>
                    </a:gridCol>
                    <a:gridCol w="1802150">
                      <a:extLst>
                        <a:ext uri="{9D8B030D-6E8A-4147-A177-3AD203B41FA5}">
                          <a16:colId xmlns:a16="http://schemas.microsoft.com/office/drawing/2014/main" val="20004"/>
                        </a:ext>
                      </a:extLst>
                    </a:gridCol>
                    <a:gridCol w="1694503">
                      <a:extLst>
                        <a:ext uri="{9D8B030D-6E8A-4147-A177-3AD203B41FA5}">
                          <a16:colId xmlns:a16="http://schemas.microsoft.com/office/drawing/2014/main" val="20005"/>
                        </a:ext>
                      </a:extLst>
                    </a:gridCol>
                    <a:gridCol w="1733714">
                      <a:extLst>
                        <a:ext uri="{9D8B030D-6E8A-4147-A177-3AD203B41FA5}">
                          <a16:colId xmlns:a16="http://schemas.microsoft.com/office/drawing/2014/main" val="20006"/>
                        </a:ext>
                      </a:extLst>
                    </a:gridCol>
                  </a:tblGrid>
                  <a:tr h="258989">
                    <a:tc>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Full Sample</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Pre 2017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Post 2017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Full Sample: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Pre 2017: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Post 2017: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0"/>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𝝅</m:t>
                                    </m:r>
                                  </m:e>
                                  <m:sub>
                                    <m:r>
                                      <a:rPr sz="1000" b="1" i="1">
                                        <a:latin typeface="Cambria Math" panose="02040503050406030204" pitchFamily="18" charset="0"/>
                                      </a:rPr>
                                      <m:t>𝒕</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0.009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0.032***</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-0.104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-0.033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1"/>
                      </a:ext>
                    </a:extLst>
                  </a:tr>
                  <a:tr h="352147">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Sup>
                                  <m:sSubSupPr>
                                    <m:ctrlPr>
                                      <a:rPr sz="1000" b="1" i="1">
                                        <a:latin typeface="Cambria Math" panose="02040503050406030204" pitchFamily="18" charset="0"/>
                                      </a:rPr>
                                    </m:ctrlPr>
                                  </m:sSubSupPr>
                                  <m:e>
                                    <m:r>
                                      <a:rPr sz="1000" b="1" i="1">
                                        <a:latin typeface="Cambria Math" panose="02040503050406030204" pitchFamily="18" charset="0"/>
                                      </a:rPr>
                                      <m:t>𝝅</m:t>
                                    </m:r>
                                  </m:e>
                                  <m:sub>
                                    <m:r>
                                      <a:rPr sz="1000" b="1" i="1">
                                        <a:latin typeface="Cambria Math" panose="02040503050406030204" pitchFamily="18" charset="0"/>
                                      </a:rPr>
                                      <m:t>𝒕</m:t>
                                    </m:r>
                                  </m:sub>
                                  <m:sup>
                                    <m:r>
                                      <a:rPr sz="1000" b="1" i="1">
                                        <a:latin typeface="Cambria Math" panose="02040503050406030204" pitchFamily="18" charset="0"/>
                                      </a:rPr>
                                      <m:t>𝟐</m:t>
                                    </m:r>
                                  </m:sup>
                                </m:sSubSup>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dirty="0">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0.007*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2"/>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r>
                                  <a:rPr sz="1000" b="1" i="1">
                                    <a:latin typeface="Cambria Math" panose="02040503050406030204" pitchFamily="18" charset="0"/>
                                  </a:rPr>
                                  <m:t>𝐑𝐏</m:t>
                                </m:r>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𝐭</m:t>
                                    </m:r>
                                    <m:r>
                                      <a:rPr sz="1000" b="1">
                                        <a:latin typeface="Cambria Math" panose="02040503050406030204" pitchFamily="18" charset="0"/>
                                      </a:rPr>
                                      <m:t>−</m:t>
                                    </m:r>
                                    <m:r>
                                      <a:rPr sz="1000" b="1" i="1">
                                        <a:latin typeface="Cambria Math" panose="02040503050406030204" pitchFamily="18" charset="0"/>
                                      </a:rPr>
                                      <m:t>𝟑</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0.244***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0.173*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0.248**</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0.234***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0.154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0.209**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3"/>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r>
                                  <a:rPr sz="1000" b="1" i="1">
                                    <a:latin typeface="Cambria Math" panose="02040503050406030204" pitchFamily="18" charset="0"/>
                                  </a:rPr>
                                  <m:t>𝐑𝐏</m:t>
                                </m:r>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𝐭</m:t>
                                    </m:r>
                                    <m:r>
                                      <a:rPr sz="1000" b="1">
                                        <a:latin typeface="Cambria Math" panose="02040503050406030204" pitchFamily="18" charset="0"/>
                                      </a:rPr>
                                      <m:t>−</m:t>
                                    </m:r>
                                    <m:r>
                                      <a:rPr sz="1000" b="1" i="1">
                                        <a:latin typeface="Cambria Math" panose="02040503050406030204" pitchFamily="18" charset="0"/>
                                      </a:rPr>
                                      <m:t>𝟐</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-0.382***</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-0.645***</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-0.363***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-0.111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-0.609***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4"/>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r>
                                  <a:rPr sz="1000" b="1" i="1">
                                    <a:latin typeface="Cambria Math" panose="02040503050406030204" pitchFamily="18" charset="0"/>
                                  </a:rPr>
                                  <m:t>𝐑𝐏</m:t>
                                </m:r>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𝐭</m:t>
                                    </m:r>
                                    <m:r>
                                      <a:rPr sz="1000" b="1">
                                        <a:latin typeface="Cambria Math" panose="02040503050406030204" pitchFamily="18" charset="0"/>
                                      </a:rPr>
                                      <m:t>−</m:t>
                                    </m:r>
                                    <m:r>
                                      <a:rPr sz="1000" b="1" i="1">
                                        <a:latin typeface="Cambria Math" panose="02040503050406030204" pitchFamily="18" charset="0"/>
                                      </a:rPr>
                                      <m:t>𝟏</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1.039***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0.896***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1.116***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1.017***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0.864***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1.063***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5"/>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𝟐𝟎𝟐𝟐</m:t>
                                    </m:r>
                                    <m:r>
                                      <a:rPr sz="1000" b="1" i="1">
                                        <a:latin typeface="Cambria Math" panose="02040503050406030204" pitchFamily="18" charset="0"/>
                                      </a:rPr>
                                      <m:t>𝒎</m:t>
                                    </m:r>
                                    <m:r>
                                      <a:rPr sz="1000" b="1" i="1">
                                        <a:latin typeface="Cambria Math" panose="02040503050406030204" pitchFamily="18" charset="0"/>
                                      </a:rPr>
                                      <m:t>𝟖</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-0.001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6"/>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𝟐𝟎𝟐𝟎</m:t>
                                    </m:r>
                                    <m:r>
                                      <a:rPr sz="1000" b="1" i="1">
                                        <a:latin typeface="Cambria Math" panose="02040503050406030204" pitchFamily="18" charset="0"/>
                                      </a:rPr>
                                      <m:t>𝒎</m:t>
                                    </m:r>
                                    <m:r>
                                      <a:rPr sz="1000" b="1" i="1">
                                        <a:latin typeface="Cambria Math" panose="02040503050406030204" pitchFamily="18" charset="0"/>
                                      </a:rPr>
                                      <m:t>𝟐</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-0.213**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-0.106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-0.205**</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7"/>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𝟐𝟎𝟏𝟕</m:t>
                                    </m:r>
                                    <m:r>
                                      <a:rPr sz="1000" b="1" i="1">
                                        <a:latin typeface="Cambria Math" panose="02040503050406030204" pitchFamily="18" charset="0"/>
                                      </a:rPr>
                                      <m:t>𝒎</m:t>
                                    </m:r>
                                    <m:r>
                                      <a:rPr sz="1000" b="1" i="1">
                                        <a:latin typeface="Cambria Math" panose="02040503050406030204" pitchFamily="18" charset="0"/>
                                      </a:rPr>
                                      <m:t>𝟕</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0.156*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0.161*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dirty="0">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8"/>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𝟐𝟎𝟏𝟒</m:t>
                                    </m:r>
                                    <m:r>
                                      <a:rPr sz="1000" b="1" i="1">
                                        <a:latin typeface="Cambria Math" panose="02040503050406030204" pitchFamily="18" charset="0"/>
                                      </a:rPr>
                                      <m:t>𝒎</m:t>
                                    </m:r>
                                    <m:r>
                                      <a:rPr sz="1000" b="1" i="1">
                                        <a:latin typeface="Cambria Math" panose="02040503050406030204" pitchFamily="18" charset="0"/>
                                      </a:rPr>
                                      <m:t>𝟕</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-0.098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-0.087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-0.105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-0.096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9"/>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sSub>
                                  <m:sSubPr>
                                    <m:ctrlPr>
                                      <a:rPr sz="1000" b="1" i="1">
                                        <a:latin typeface="Cambria Math" panose="02040503050406030204" pitchFamily="18" charset="0"/>
                                      </a:rPr>
                                    </m:ctrlPr>
                                  </m:sSubPr>
                                  <m:e>
                                    <m:r>
                                      <a:rPr sz="1000" b="1" i="1">
                                        <a:latin typeface="Cambria Math" panose="02040503050406030204" pitchFamily="18" charset="0"/>
                                      </a:rPr>
                                      <m:t>𝑫</m:t>
                                    </m:r>
                                  </m:e>
                                  <m:sub>
                                    <m:r>
                                      <a:rPr sz="1000" b="1" i="1">
                                        <a:latin typeface="Cambria Math" panose="02040503050406030204" pitchFamily="18" charset="0"/>
                                      </a:rPr>
                                      <m:t>𝟐𝟎𝟏𝟏</m:t>
                                    </m:r>
                                    <m:r>
                                      <a:rPr sz="1000" b="1" i="1">
                                        <a:latin typeface="Cambria Math" panose="02040503050406030204" pitchFamily="18" charset="0"/>
                                      </a:rPr>
                                      <m:t>𝒎</m:t>
                                    </m:r>
                                    <m:r>
                                      <a:rPr sz="1000" b="1" i="1">
                                        <a:latin typeface="Cambria Math" panose="02040503050406030204" pitchFamily="18" charset="0"/>
                                      </a:rPr>
                                      <m:t>𝟏𝟐</m:t>
                                    </m:r>
                                  </m:sub>
                                </m:sSub>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0.037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10"/>
                      </a:ext>
                    </a:extLst>
                  </a:tr>
                  <a:tr h="350806">
                    <a:tc>
                      <a:txBody>
                        <a:bodyPr/>
                        <a:lstStyle/>
                        <a:p>
                          <a:pPr marL="63500" marR="63500" algn="l">
                            <a:lnSpc>
                              <a:spcPct val="100000"/>
                            </a:lnSpc>
                            <a:spcBef>
                              <a:spcPts val="500"/>
                            </a:spcBef>
                            <a:spcAft>
                              <a:spcPts val="500"/>
                            </a:spcAft>
                            <a:buNone/>
                          </a:pPr>
                          <a14:m>
                            <m:oMathPara xmlns:m="http://schemas.openxmlformats.org/officeDocument/2006/math">
                              <m:oMathParaPr>
                                <m:jc m:val="centerGroup"/>
                              </m:oMathParaPr>
                              <m:oMath xmlns:m="http://schemas.openxmlformats.org/officeDocument/2006/math">
                                <m:r>
                                  <a:rPr sz="1000" b="1" i="1">
                                    <a:latin typeface="Cambria Math" panose="02040503050406030204" pitchFamily="18" charset="0"/>
                                  </a:rPr>
                                  <m:t>𝐂</m:t>
                                </m:r>
                              </m:oMath>
                            </m:oMathPara>
                          </a14:m>
                          <a:endParaRPr sz="1000" b="1" dirty="0"/>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0.184**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0.326*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0.304**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176361">
                    <a:tc gridSpan="7">
                      <a:txBody>
                        <a:bodyPr/>
                        <a:lstStyle/>
                        <a:p>
                          <a:pPr marL="63500" marR="63500" algn="l">
                            <a:lnSpc>
                              <a:spcPct val="100000"/>
                            </a:lnSpc>
                            <a:spcBef>
                              <a:spcPts val="500"/>
                            </a:spcBef>
                            <a:spcAft>
                              <a:spcPts val="500"/>
                            </a:spcAft>
                            <a:buNone/>
                          </a:pPr>
                          <a:r>
                            <a:rPr sz="800" b="0" i="0" u="none" strike="noStrike" cap="none" dirty="0">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mc:Choice>
        <mc:Fallback xmlns="">
          <p:graphicFrame>
            <p:nvGraphicFramePr>
              <p:cNvPr id="434235368" name="Table 434235367"/>
              <p:cNvGraphicFramePr>
                <a:graphicFrameLocks noGrp="1"/>
              </p:cNvGraphicFramePr>
              <p:nvPr>
                <p:extLst>
                  <p:ext uri="{D42A27DB-BD31-4B8C-83A1-F6EECF244321}">
                    <p14:modId xmlns:p14="http://schemas.microsoft.com/office/powerpoint/2010/main" val="901234089"/>
                  </p:ext>
                </p:extLst>
              </p:nvPr>
            </p:nvGraphicFramePr>
            <p:xfrm>
              <a:off x="1174898" y="1532141"/>
              <a:ext cx="9842204" cy="4540927"/>
            </p:xfrm>
            <a:graphic>
              <a:graphicData uri="http://schemas.openxmlformats.org/drawingml/2006/table">
                <a:tbl>
                  <a:tblPr/>
                  <a:tblGrid>
                    <a:gridCol w="1527936">
                      <a:extLst>
                        <a:ext uri="{9D8B030D-6E8A-4147-A177-3AD203B41FA5}">
                          <a16:colId xmlns:a16="http://schemas.microsoft.com/office/drawing/2014/main" val="20000"/>
                        </a:ext>
                      </a:extLst>
                    </a:gridCol>
                    <a:gridCol w="1086662">
                      <a:extLst>
                        <a:ext uri="{9D8B030D-6E8A-4147-A177-3AD203B41FA5}">
                          <a16:colId xmlns:a16="http://schemas.microsoft.com/office/drawing/2014/main" val="20001"/>
                        </a:ext>
                      </a:extLst>
                    </a:gridCol>
                    <a:gridCol w="979014">
                      <a:extLst>
                        <a:ext uri="{9D8B030D-6E8A-4147-A177-3AD203B41FA5}">
                          <a16:colId xmlns:a16="http://schemas.microsoft.com/office/drawing/2014/main" val="20002"/>
                        </a:ext>
                      </a:extLst>
                    </a:gridCol>
                    <a:gridCol w="1018225">
                      <a:extLst>
                        <a:ext uri="{9D8B030D-6E8A-4147-A177-3AD203B41FA5}">
                          <a16:colId xmlns:a16="http://schemas.microsoft.com/office/drawing/2014/main" val="20003"/>
                        </a:ext>
                      </a:extLst>
                    </a:gridCol>
                    <a:gridCol w="1802150">
                      <a:extLst>
                        <a:ext uri="{9D8B030D-6E8A-4147-A177-3AD203B41FA5}">
                          <a16:colId xmlns:a16="http://schemas.microsoft.com/office/drawing/2014/main" val="20004"/>
                        </a:ext>
                      </a:extLst>
                    </a:gridCol>
                    <a:gridCol w="1694503">
                      <a:extLst>
                        <a:ext uri="{9D8B030D-6E8A-4147-A177-3AD203B41FA5}">
                          <a16:colId xmlns:a16="http://schemas.microsoft.com/office/drawing/2014/main" val="20005"/>
                        </a:ext>
                      </a:extLst>
                    </a:gridCol>
                    <a:gridCol w="1733714">
                      <a:extLst>
                        <a:ext uri="{9D8B030D-6E8A-4147-A177-3AD203B41FA5}">
                          <a16:colId xmlns:a16="http://schemas.microsoft.com/office/drawing/2014/main" val="20006"/>
                        </a:ext>
                      </a:extLst>
                    </a:gridCol>
                  </a:tblGrid>
                  <a:tr h="431800">
                    <a:tc>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Full Sample</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Pre 2017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Post 2017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Full Sample: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Pre 2017: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Post 2017: Squared Inflation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alpha val="100000"/>
                            </a:srgbClr>
                          </a:solid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0"/>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blipFill>
                          <a:blip r:embed="rId2"/>
                          <a:stretch>
                            <a:fillRect l="-833" t="-121429" r="-547500" b="-1064286"/>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0.009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0.032***</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-0.104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-0.033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000000"/>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1"/>
                      </a:ext>
                    </a:extLst>
                  </a:tr>
                  <a:tr h="352147">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221429" r="-547500" b="-964286"/>
                          </a:stretch>
                        </a:blip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dirty="0">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0.007*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2"/>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333333" r="-547500" b="-900000"/>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0.244***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0.173*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0.248**</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0.234***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0.154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0.209**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3"/>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417857" r="-547500" b="-767857"/>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-0.382***</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-0.645***</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-0.363***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-0.111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-0.609***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4"/>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517857" r="-547500" b="-667857"/>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1.039***</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0.896***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1.116***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1.017***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0.864***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1.063***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5"/>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617857" r="-547500" b="-567857"/>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-0.001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6"/>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744444" r="-547500" b="-488889"/>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-0.213**</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-0.106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-0.205**</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7"/>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814286" r="-547500" b="-371429"/>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0.156*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0.161*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dirty="0">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8"/>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914286" r="-547500" b="-271429"/>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-0.098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-0.087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-0.105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-0.096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9"/>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blipFill>
                          <a:blip r:embed="rId2"/>
                          <a:stretch>
                            <a:fillRect l="-833" t="-1014286" r="-547500" b="-171429"/>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0.027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0.037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000" b="0" i="0" u="none" strike="noStrike" cap="none">
                            <a:solidFill>
                              <a:srgbClr val="000000">
                                <a:alpha val="100000"/>
                              </a:srgbClr>
                            </a:solidFill>
                            <a:latin typeface="Arial"/>
                            <a:cs typeface="Helvetica"/>
                            <a:sym typeface="Helvetica"/>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10"/>
                      </a:ext>
                    </a:extLst>
                  </a:tr>
                  <a:tr h="350806">
                    <a:tc>
                      <a:txBody>
                        <a:bodyPr/>
                        <a:lstStyle/>
                        <a:p>
                          <a:endParaRPr lang="en-US"/>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blipFill>
                          <a:blip r:embed="rId2"/>
                          <a:stretch>
                            <a:fillRect l="-833" t="-1155556" r="-547500" b="-77778"/>
                          </a:stretch>
                        </a:blip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0.044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0.012 </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a:solidFill>
                                <a:srgbClr val="000000">
                                  <a:alpha val="100000"/>
                                </a:srgbClr>
                              </a:solidFill>
                              <a:latin typeface="Arial"/>
                              <a:cs typeface="Helvetica"/>
                              <a:sym typeface="Helvetica"/>
                            </a:rPr>
                            <a:t>0.117***</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0.184**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0.326*</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0" i="0" u="none" strike="noStrike" cap="none" dirty="0">
                              <a:solidFill>
                                <a:srgbClr val="000000">
                                  <a:alpha val="100000"/>
                                </a:srgbClr>
                              </a:solidFill>
                              <a:latin typeface="Arial"/>
                              <a:cs typeface="Helvetica"/>
                              <a:sym typeface="Helvetica"/>
                            </a:rPr>
                            <a:t>0.304**</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248920">
                    <a:tc gridSpan="7">
                      <a:txBody>
                        <a:bodyPr/>
                        <a:lstStyle/>
                        <a:p>
                          <a:pPr marL="63500" marR="63500" algn="l">
                            <a:lnSpc>
                              <a:spcPct val="100000"/>
                            </a:lnSpc>
                            <a:spcBef>
                              <a:spcPts val="500"/>
                            </a:spcBef>
                            <a:spcAft>
                              <a:spcPts val="500"/>
                            </a:spcAft>
                            <a:buNone/>
                          </a:pPr>
                          <a:r>
                            <a:rPr sz="800" b="0" i="0" u="none" strike="noStrike" cap="none" dirty="0">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700" b="0" i="0" u="none" strike="noStrike" cap="none">
                              <a:solidFill>
                                <a:srgbClr val="000000">
                                  <a:alpha val="100000"/>
                                </a:srgbClr>
                              </a:solidFill>
                              <a:latin typeface="Arial"/>
                              <a:cs typeface="Helvetica"/>
                              <a:sym typeface="Helvetica"/>
                            </a:rPr>
                            <a:t>Note: *** = p value &lt; 0.01, ** = 0.01 &lt; p value &lt; 0.05, * = 0.05 &lt; p value &lt; 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mc:Fallback>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26</a:t>
            </a:fld>
            <a:endParaRPr lang="en-US" dirty="0"/>
          </a:p>
        </p:txBody>
      </p:sp>
      <p:sp>
        <p:nvSpPr>
          <p:cNvPr id="3" name="TextBox 2">
            <a:extLst>
              <a:ext uri="{FF2B5EF4-FFF2-40B4-BE49-F238E27FC236}">
                <a16:creationId xmlns:a16="http://schemas.microsoft.com/office/drawing/2014/main" id="{54AC87C6-8323-D40B-46C5-54491D0F012A}"/>
              </a:ext>
            </a:extLst>
          </p:cNvPr>
          <p:cNvSpPr txBox="1"/>
          <p:nvPr/>
        </p:nvSpPr>
        <p:spPr>
          <a:xfrm>
            <a:off x="1139777" y="1222969"/>
            <a:ext cx="2398481"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Table 1: Baseline regressions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169826"/>
            <a:ext cx="10977744" cy="666233"/>
          </a:xfrm>
        </p:spPr>
        <p:txBody>
          <a:bodyPr/>
          <a:lstStyle/>
          <a:p>
            <a:pPr marL="0" lvl="0" indent="0">
              <a:buNone/>
            </a:pPr>
            <a:r>
              <a:rPr lang="en-US" dirty="0"/>
              <a:t>Supported by significant time-varying results</a:t>
            </a:r>
            <a:endParaRPr dirty="0"/>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27</a:t>
            </a:fld>
            <a:endParaRPr lang="en-US" dirty="0"/>
          </a:p>
        </p:txBody>
      </p:sp>
      <p:pic>
        <p:nvPicPr>
          <p:cNvPr id="4" name="Picture 3">
            <a:extLst>
              <a:ext uri="{FF2B5EF4-FFF2-40B4-BE49-F238E27FC236}">
                <a16:creationId xmlns:a16="http://schemas.microsoft.com/office/drawing/2014/main" id="{BAF8D204-7C98-DFF3-CE0E-611B29EABB13}"/>
              </a:ext>
            </a:extLst>
          </p:cNvPr>
          <p:cNvPicPr>
            <a:picLocks noChangeAspect="1"/>
          </p:cNvPicPr>
          <p:nvPr/>
        </p:nvPicPr>
        <p:blipFill>
          <a:blip r:embed="rId2"/>
          <a:srcRect r="7688"/>
          <a:stretch>
            <a:fillRect/>
          </a:stretch>
        </p:blipFill>
        <p:spPr>
          <a:xfrm>
            <a:off x="2282806" y="1325085"/>
            <a:ext cx="7174832" cy="5353860"/>
          </a:xfrm>
          <a:prstGeom prst="rect">
            <a:avLst/>
          </a:prstGeom>
        </p:spPr>
      </p:pic>
      <p:sp>
        <p:nvSpPr>
          <p:cNvPr id="5" name="TextBox 4">
            <a:extLst>
              <a:ext uri="{FF2B5EF4-FFF2-40B4-BE49-F238E27FC236}">
                <a16:creationId xmlns:a16="http://schemas.microsoft.com/office/drawing/2014/main" id="{C9F22426-336D-7479-D350-3CC16DC96898}"/>
              </a:ext>
            </a:extLst>
          </p:cNvPr>
          <p:cNvSpPr txBox="1"/>
          <p:nvPr/>
        </p:nvSpPr>
        <p:spPr>
          <a:xfrm>
            <a:off x="2734362" y="1048086"/>
            <a:ext cx="3183221"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5: Rolling window regressions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67584" y="-4482"/>
            <a:ext cx="10977744" cy="666233"/>
          </a:xfrm>
        </p:spPr>
        <p:txBody>
          <a:bodyPr/>
          <a:lstStyle/>
          <a:p>
            <a:pPr marL="0" lvl="0" indent="0">
              <a:buNone/>
            </a:pPr>
            <a:r>
              <a:rPr dirty="0"/>
              <a:t>Resul</a:t>
            </a:r>
            <a:r>
              <a:rPr lang="en-US" dirty="0"/>
              <a:t>ts suggests an optimal inflation in the range of 2-3%</a:t>
            </a:r>
            <a:endParaRPr dirty="0"/>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28</a:t>
            </a:fld>
            <a:endParaRPr lang="en-US" dirty="0"/>
          </a:p>
        </p:txBody>
      </p:sp>
      <p:sp>
        <p:nvSpPr>
          <p:cNvPr id="5" name="TextBox 4">
            <a:extLst>
              <a:ext uri="{FF2B5EF4-FFF2-40B4-BE49-F238E27FC236}">
                <a16:creationId xmlns:a16="http://schemas.microsoft.com/office/drawing/2014/main" id="{0D2E5AD9-3B86-7F33-01F7-3A53B51AA131}"/>
              </a:ext>
            </a:extLst>
          </p:cNvPr>
          <p:cNvSpPr txBox="1"/>
          <p:nvPr/>
        </p:nvSpPr>
        <p:spPr>
          <a:xfrm>
            <a:off x="1454400" y="811846"/>
            <a:ext cx="3775055"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6: Semi-parametric regressions</a:t>
            </a:r>
          </a:p>
        </p:txBody>
      </p:sp>
      <p:sp>
        <p:nvSpPr>
          <p:cNvPr id="8" name="TextBox 7">
            <a:extLst>
              <a:ext uri="{FF2B5EF4-FFF2-40B4-BE49-F238E27FC236}">
                <a16:creationId xmlns:a16="http://schemas.microsoft.com/office/drawing/2014/main" id="{6430AB6B-C052-83B9-D85A-8222A224D656}"/>
              </a:ext>
            </a:extLst>
          </p:cNvPr>
          <p:cNvSpPr txBox="1"/>
          <p:nvPr/>
        </p:nvSpPr>
        <p:spPr>
          <a:xfrm>
            <a:off x="7942162" y="1529295"/>
            <a:ext cx="4047028" cy="738664"/>
          </a:xfrm>
          <a:prstGeom prst="rect">
            <a:avLst/>
          </a:prstGeom>
          <a:noFill/>
        </p:spPr>
        <p:txBody>
          <a:bodyPr wrap="square">
            <a:spAutoFit/>
          </a:bodyPr>
          <a:lstStyle/>
          <a:p>
            <a:r>
              <a:rPr lang="en-ZA" sz="1400" b="0" i="0" dirty="0">
                <a:effectLst/>
                <a:latin typeface="Arial" panose="020B0604020202020204" pitchFamily="34" charset="0"/>
              </a:rPr>
              <a:t>Full sample, the relationship shows a U-shaped profile in line with the theoretical predictions of Head and Kumar(2005)</a:t>
            </a:r>
            <a:endParaRPr lang="en-US" sz="1400" dirty="0"/>
          </a:p>
        </p:txBody>
      </p:sp>
      <p:sp>
        <p:nvSpPr>
          <p:cNvPr id="9" name="Heptagon 8">
            <a:extLst>
              <a:ext uri="{FF2B5EF4-FFF2-40B4-BE49-F238E27FC236}">
                <a16:creationId xmlns:a16="http://schemas.microsoft.com/office/drawing/2014/main" id="{99C5AAF4-3255-783B-AC04-431887598FB3}"/>
              </a:ext>
            </a:extLst>
          </p:cNvPr>
          <p:cNvSpPr/>
          <p:nvPr/>
        </p:nvSpPr>
        <p:spPr>
          <a:xfrm>
            <a:off x="7454671" y="1769520"/>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 name="Heptagon 9">
            <a:extLst>
              <a:ext uri="{FF2B5EF4-FFF2-40B4-BE49-F238E27FC236}">
                <a16:creationId xmlns:a16="http://schemas.microsoft.com/office/drawing/2014/main" id="{2355586F-BBB6-989E-F709-98A1C610D8A1}"/>
              </a:ext>
            </a:extLst>
          </p:cNvPr>
          <p:cNvSpPr/>
          <p:nvPr/>
        </p:nvSpPr>
        <p:spPr>
          <a:xfrm>
            <a:off x="7454671" y="3565529"/>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 name="TextBox 11">
            <a:extLst>
              <a:ext uri="{FF2B5EF4-FFF2-40B4-BE49-F238E27FC236}">
                <a16:creationId xmlns:a16="http://schemas.microsoft.com/office/drawing/2014/main" id="{322C108C-5BB7-A537-AB65-78ED0BA43818}"/>
              </a:ext>
            </a:extLst>
          </p:cNvPr>
          <p:cNvSpPr txBox="1"/>
          <p:nvPr/>
        </p:nvSpPr>
        <p:spPr>
          <a:xfrm>
            <a:off x="7808458" y="3238306"/>
            <a:ext cx="4047028" cy="954107"/>
          </a:xfrm>
          <a:prstGeom prst="rect">
            <a:avLst/>
          </a:prstGeom>
          <a:noFill/>
        </p:spPr>
        <p:txBody>
          <a:bodyPr wrap="square">
            <a:spAutoFit/>
          </a:bodyPr>
          <a:lstStyle/>
          <a:p>
            <a:r>
              <a:rPr lang="en-ZA" sz="1400" dirty="0">
                <a:latin typeface="Arial" panose="020B0604020202020204" pitchFamily="34" charset="0"/>
              </a:rPr>
              <a:t>S</a:t>
            </a:r>
            <a:r>
              <a:rPr lang="en-ZA" sz="1400" b="0" i="0" dirty="0">
                <a:effectLst/>
                <a:latin typeface="Arial" panose="020B0604020202020204" pitchFamily="34" charset="0"/>
              </a:rPr>
              <a:t>mall positive effects on RPD for an inflation range of 2-3 percent, moreover RPD is at its lowest in this range suggesting this would be the optimal inflation range as RPD is not amplified</a:t>
            </a:r>
            <a:endParaRPr lang="en-US" sz="1400" dirty="0"/>
          </a:p>
        </p:txBody>
      </p:sp>
      <p:sp>
        <p:nvSpPr>
          <p:cNvPr id="13" name="Heptagon 12">
            <a:extLst>
              <a:ext uri="{FF2B5EF4-FFF2-40B4-BE49-F238E27FC236}">
                <a16:creationId xmlns:a16="http://schemas.microsoft.com/office/drawing/2014/main" id="{0F727EDE-AF4B-39FB-B2C7-95410123FB63}"/>
              </a:ext>
            </a:extLst>
          </p:cNvPr>
          <p:cNvSpPr/>
          <p:nvPr/>
        </p:nvSpPr>
        <p:spPr>
          <a:xfrm>
            <a:off x="7454671" y="5361537"/>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 name="TextBox 13">
            <a:extLst>
              <a:ext uri="{FF2B5EF4-FFF2-40B4-BE49-F238E27FC236}">
                <a16:creationId xmlns:a16="http://schemas.microsoft.com/office/drawing/2014/main" id="{D02E4ED9-9750-78CA-590B-7240D290869D}"/>
              </a:ext>
            </a:extLst>
          </p:cNvPr>
          <p:cNvSpPr txBox="1"/>
          <p:nvPr/>
        </p:nvSpPr>
        <p:spPr>
          <a:xfrm>
            <a:off x="7942162" y="5162760"/>
            <a:ext cx="4047028" cy="523220"/>
          </a:xfrm>
          <a:prstGeom prst="rect">
            <a:avLst/>
          </a:prstGeom>
          <a:noFill/>
        </p:spPr>
        <p:txBody>
          <a:bodyPr wrap="square">
            <a:spAutoFit/>
          </a:bodyPr>
          <a:lstStyle/>
          <a:p>
            <a:r>
              <a:rPr lang="en-ZA" sz="1400" dirty="0">
                <a:latin typeface="Arial" panose="020B0604020202020204" pitchFamily="34" charset="0"/>
                <a:cs typeface="Arial" panose="020B0604020202020204" pitchFamily="34" charset="0"/>
              </a:rPr>
              <a:t>The post 2017 sub-samples results indicate less rapid response in RPD for a change in inflation</a:t>
            </a: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B19106B-C96C-2776-ED60-CD9C5F77335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272994" y="1291638"/>
            <a:ext cx="5150956" cy="502218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43521" y="32008"/>
            <a:ext cx="10977744" cy="666233"/>
          </a:xfrm>
        </p:spPr>
        <p:txBody>
          <a:bodyPr/>
          <a:lstStyle/>
          <a:p>
            <a:pPr marL="0" lvl="0" indent="0">
              <a:buNone/>
            </a:pPr>
            <a:r>
              <a:rPr lang="en-US" dirty="0"/>
              <a:t>Interestingly, severe inflation shocks compressed RDP</a:t>
            </a:r>
            <a:endParaRPr dirty="0"/>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29</a:t>
            </a:fld>
            <a:endParaRPr lang="en-US" dirty="0"/>
          </a:p>
        </p:txBody>
      </p:sp>
      <p:sp>
        <p:nvSpPr>
          <p:cNvPr id="5" name="TextBox 4">
            <a:extLst>
              <a:ext uri="{FF2B5EF4-FFF2-40B4-BE49-F238E27FC236}">
                <a16:creationId xmlns:a16="http://schemas.microsoft.com/office/drawing/2014/main" id="{1E71234F-1A42-3E41-21F5-E1F0D0E13FA1}"/>
              </a:ext>
            </a:extLst>
          </p:cNvPr>
          <p:cNvSpPr txBox="1"/>
          <p:nvPr/>
        </p:nvSpPr>
        <p:spPr>
          <a:xfrm>
            <a:off x="1372872" y="980064"/>
            <a:ext cx="4892216"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Figure 7: Semi-parametric regressions for unexpected inflation</a:t>
            </a:r>
          </a:p>
        </p:txBody>
      </p:sp>
      <p:sp>
        <p:nvSpPr>
          <p:cNvPr id="3" name="Heptagon 2">
            <a:extLst>
              <a:ext uri="{FF2B5EF4-FFF2-40B4-BE49-F238E27FC236}">
                <a16:creationId xmlns:a16="http://schemas.microsoft.com/office/drawing/2014/main" id="{84731970-70DD-97AB-EE3C-A2E6CE555745}"/>
              </a:ext>
            </a:extLst>
          </p:cNvPr>
          <p:cNvSpPr/>
          <p:nvPr/>
        </p:nvSpPr>
        <p:spPr>
          <a:xfrm>
            <a:off x="7292622" y="1769520"/>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Heptagon 7">
            <a:extLst>
              <a:ext uri="{FF2B5EF4-FFF2-40B4-BE49-F238E27FC236}">
                <a16:creationId xmlns:a16="http://schemas.microsoft.com/office/drawing/2014/main" id="{8A1B9574-4290-1D91-8F2B-4BEC1858956D}"/>
              </a:ext>
            </a:extLst>
          </p:cNvPr>
          <p:cNvSpPr/>
          <p:nvPr/>
        </p:nvSpPr>
        <p:spPr>
          <a:xfrm>
            <a:off x="7292621" y="3602641"/>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Heptagon 8">
            <a:extLst>
              <a:ext uri="{FF2B5EF4-FFF2-40B4-BE49-F238E27FC236}">
                <a16:creationId xmlns:a16="http://schemas.microsoft.com/office/drawing/2014/main" id="{9B0AE799-F817-D69E-F56B-7850239E99CC}"/>
              </a:ext>
            </a:extLst>
          </p:cNvPr>
          <p:cNvSpPr/>
          <p:nvPr/>
        </p:nvSpPr>
        <p:spPr>
          <a:xfrm>
            <a:off x="7292622" y="5103323"/>
            <a:ext cx="265355" cy="258215"/>
          </a:xfrm>
          <a:prstGeom prst="hept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 name="TextBox 10">
            <a:extLst>
              <a:ext uri="{FF2B5EF4-FFF2-40B4-BE49-F238E27FC236}">
                <a16:creationId xmlns:a16="http://schemas.microsoft.com/office/drawing/2014/main" id="{F3704DA0-0E60-4947-0684-3EE9D4C2B8C6}"/>
              </a:ext>
            </a:extLst>
          </p:cNvPr>
          <p:cNvSpPr txBox="1"/>
          <p:nvPr/>
        </p:nvSpPr>
        <p:spPr>
          <a:xfrm>
            <a:off x="7762662" y="1392309"/>
            <a:ext cx="4258603" cy="1169551"/>
          </a:xfrm>
          <a:prstGeom prst="rect">
            <a:avLst/>
          </a:prstGeom>
          <a:noFill/>
        </p:spPr>
        <p:txBody>
          <a:bodyPr wrap="square">
            <a:spAutoFit/>
          </a:bodyPr>
          <a:lstStyle/>
          <a:p>
            <a:r>
              <a:rPr lang="en-ZA" sz="1400" b="0" i="0" dirty="0">
                <a:effectLst/>
                <a:latin typeface="Arial" panose="020B0604020202020204" pitchFamily="34" charset="0"/>
              </a:rPr>
              <a:t>Full and pre-2017 samples, the intuition is that inflation surprises create informational noise as a result firms confuse aggregate price shocks with relative shocks leading to higher relative price variability consistent with the misperception models</a:t>
            </a:r>
            <a:endParaRPr lang="en-US" sz="1400" dirty="0"/>
          </a:p>
        </p:txBody>
      </p:sp>
      <p:sp>
        <p:nvSpPr>
          <p:cNvPr id="13" name="TextBox 12">
            <a:extLst>
              <a:ext uri="{FF2B5EF4-FFF2-40B4-BE49-F238E27FC236}">
                <a16:creationId xmlns:a16="http://schemas.microsoft.com/office/drawing/2014/main" id="{1DBC03F6-A035-1827-5635-0C3DFF2A0AAF}"/>
              </a:ext>
            </a:extLst>
          </p:cNvPr>
          <p:cNvSpPr txBox="1"/>
          <p:nvPr/>
        </p:nvSpPr>
        <p:spPr>
          <a:xfrm>
            <a:off x="7762662" y="3429000"/>
            <a:ext cx="4258603" cy="954107"/>
          </a:xfrm>
          <a:prstGeom prst="rect">
            <a:avLst/>
          </a:prstGeom>
          <a:noFill/>
        </p:spPr>
        <p:txBody>
          <a:bodyPr wrap="square">
            <a:spAutoFit/>
          </a:bodyPr>
          <a:lstStyle/>
          <a:p>
            <a:r>
              <a:rPr lang="en-ZA" sz="1400" b="0" i="0" dirty="0">
                <a:effectLst/>
                <a:latin typeface="Arial" panose="020B0604020202020204" pitchFamily="34" charset="0"/>
              </a:rPr>
              <a:t>The post-2017 period is characterised by significant global shocks to inflation from the COVID-2019 Pandemic in 2020 and associated supply chain disruptions</a:t>
            </a:r>
            <a:endParaRPr lang="en-US" sz="1400" dirty="0"/>
          </a:p>
        </p:txBody>
      </p:sp>
      <p:sp>
        <p:nvSpPr>
          <p:cNvPr id="15" name="TextBox 14">
            <a:extLst>
              <a:ext uri="{FF2B5EF4-FFF2-40B4-BE49-F238E27FC236}">
                <a16:creationId xmlns:a16="http://schemas.microsoft.com/office/drawing/2014/main" id="{AFAAD64C-E022-6C47-DD6D-0E1488A80046}"/>
              </a:ext>
            </a:extLst>
          </p:cNvPr>
          <p:cNvSpPr txBox="1"/>
          <p:nvPr/>
        </p:nvSpPr>
        <p:spPr>
          <a:xfrm>
            <a:off x="7762662" y="4871410"/>
            <a:ext cx="4339027" cy="954107"/>
          </a:xfrm>
          <a:prstGeom prst="rect">
            <a:avLst/>
          </a:prstGeom>
          <a:noFill/>
        </p:spPr>
        <p:txBody>
          <a:bodyPr wrap="square">
            <a:spAutoFit/>
          </a:bodyPr>
          <a:lstStyle/>
          <a:p>
            <a:r>
              <a:rPr lang="en-ZA" sz="1400" b="0" i="0" dirty="0">
                <a:effectLst/>
                <a:latin typeface="Arial" panose="020B0604020202020204" pitchFamily="34" charset="0"/>
              </a:rPr>
              <a:t>These common unexpected shocks would’ve induced a similar price setting behavioural response in the same direction therefore compressing price dispersion (Nakamura et al., 2018)</a:t>
            </a:r>
            <a:endParaRPr lang="en-US" sz="1400" dirty="0"/>
          </a:p>
        </p:txBody>
      </p:sp>
      <p:pic>
        <p:nvPicPr>
          <p:cNvPr id="10" name="Picture 9">
            <a:extLst>
              <a:ext uri="{FF2B5EF4-FFF2-40B4-BE49-F238E27FC236}">
                <a16:creationId xmlns:a16="http://schemas.microsoft.com/office/drawing/2014/main" id="{B4DD9BBD-04CC-1E2E-61EA-D9C28E37A9E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72872" y="1229753"/>
            <a:ext cx="5618237" cy="5352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976595" y="115917"/>
            <a:ext cx="11125093" cy="714102"/>
          </a:xfrm>
        </p:spPr>
        <p:txBody>
          <a:bodyPr>
            <a:normAutofit fontScale="90000"/>
          </a:bodyPr>
          <a:lstStyle/>
          <a:p>
            <a:pPr marL="0" lvl="0" indent="0">
              <a:buNone/>
            </a:pPr>
            <a:r>
              <a:rPr lang="en-US" dirty="0"/>
              <a:t>Three distinct regimes emerged further enhancing the initial results</a:t>
            </a:r>
            <a:endParaRPr dirty="0"/>
          </a:p>
        </p:txBody>
      </p:sp>
      <p:pic>
        <p:nvPicPr>
          <p:cNvPr id="3" name="Picture 1" descr="inflation_relative_price_variance_presentation_files/figure-pptx/fig-quant_reg-1.png"/>
          <p:cNvPicPr>
            <a:picLocks noGrp="1" noChangeAspect="1"/>
          </p:cNvPicPr>
          <p:nvPr/>
        </p:nvPicPr>
        <p:blipFill>
          <a:blip r:embed="rId2"/>
          <a:stretch>
            <a:fillRect/>
          </a:stretch>
        </p:blipFill>
        <p:spPr bwMode="auto">
          <a:xfrm>
            <a:off x="1756735" y="1258186"/>
            <a:ext cx="9271000" cy="4635500"/>
          </a:xfrm>
          <a:prstGeom prst="rect">
            <a:avLst/>
          </a:prstGeom>
          <a:noFill/>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30</a:t>
            </a:fld>
            <a:endParaRPr lang="en-US" dirty="0"/>
          </a:p>
        </p:txBody>
      </p:sp>
      <p:sp>
        <p:nvSpPr>
          <p:cNvPr id="4" name="TextBox 3">
            <a:extLst>
              <a:ext uri="{FF2B5EF4-FFF2-40B4-BE49-F238E27FC236}">
                <a16:creationId xmlns:a16="http://schemas.microsoft.com/office/drawing/2014/main" id="{B71D642E-7D4C-F657-5755-5AB54DD4BF77}"/>
              </a:ext>
            </a:extLst>
          </p:cNvPr>
          <p:cNvSpPr txBox="1"/>
          <p:nvPr/>
        </p:nvSpPr>
        <p:spPr>
          <a:xfrm>
            <a:off x="1903202" y="1317197"/>
            <a:ext cx="6462088" cy="400110"/>
          </a:xfrm>
          <a:prstGeom prst="rect">
            <a:avLst/>
          </a:prstGeom>
          <a:noFill/>
        </p:spPr>
        <p:txBody>
          <a:bodyPr wrap="square" rtlCol="0">
            <a:spAutoFit/>
          </a:bodyPr>
          <a:lstStyle>
            <a:defPPr>
              <a:defRPr lang="en-US"/>
            </a:defPPr>
            <a:lvl1pPr>
              <a:defRPr sz="1200" b="1">
                <a:latin typeface="Arial" panose="020B0604020202020204" pitchFamily="34" charset="0"/>
                <a:cs typeface="Arial" panose="020B0604020202020204" pitchFamily="34" charset="0"/>
              </a:defRPr>
            </a:lvl1pPr>
          </a:lstStyle>
          <a:p>
            <a:r>
              <a:rPr lang="en-US" dirty="0"/>
              <a:t>Figure 8: </a:t>
            </a:r>
            <a:r>
              <a:rPr lang="en-ZA" dirty="0"/>
              <a:t>Quantile on quantile regressions for headline inflation</a:t>
            </a:r>
          </a:p>
          <a:p>
            <a:endParaRPr lang="en-US" dirty="0"/>
          </a:p>
        </p:txBody>
      </p:sp>
      <p:sp>
        <p:nvSpPr>
          <p:cNvPr id="10" name="TextBox 9">
            <a:extLst>
              <a:ext uri="{FF2B5EF4-FFF2-40B4-BE49-F238E27FC236}">
                <a16:creationId xmlns:a16="http://schemas.microsoft.com/office/drawing/2014/main" id="{1779D5F3-F6D3-1523-64F1-2E6BA60C9A13}"/>
              </a:ext>
            </a:extLst>
          </p:cNvPr>
          <p:cNvSpPr txBox="1"/>
          <p:nvPr/>
        </p:nvSpPr>
        <p:spPr>
          <a:xfrm>
            <a:off x="1903202" y="5781760"/>
            <a:ext cx="9124533" cy="246221"/>
          </a:xfrm>
          <a:prstGeom prst="rect">
            <a:avLst/>
          </a:prstGeom>
          <a:noFill/>
        </p:spPr>
        <p:txBody>
          <a:bodyPr wrap="square">
            <a:spAutoFit/>
          </a:bodyPr>
          <a:lstStyle/>
          <a:p>
            <a:pPr>
              <a:buNone/>
            </a:pPr>
            <a:r>
              <a:rPr lang="en-ZA" sz="1000" dirty="0">
                <a:solidFill>
                  <a:srgbClr val="000000"/>
                </a:solidFill>
                <a:effectLst/>
                <a:latin typeface="Arial" panose="020B0604020202020204" pitchFamily="34" charset="0"/>
                <a:cs typeface="Arial" panose="020B0604020202020204" pitchFamily="34" charset="0"/>
              </a:rPr>
              <a:t>Note: The x-axis represents the quantiles of headline inflation, while the y-axis represents the quantiles of RPD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211063"/>
            <a:ext cx="10977744" cy="666233"/>
          </a:xfrm>
        </p:spPr>
        <p:txBody>
          <a:bodyPr/>
          <a:lstStyle/>
          <a:p>
            <a:pPr marL="0" lvl="0" indent="0">
              <a:buNone/>
            </a:pPr>
            <a:r>
              <a:rPr lang="en-US" dirty="0"/>
              <a:t>Expect post 2017, RPD was well anchored</a:t>
            </a:r>
            <a:endParaRPr dirty="0"/>
          </a:p>
        </p:txBody>
      </p:sp>
      <p:pic>
        <p:nvPicPr>
          <p:cNvPr id="3" name="Picture 1" descr="inflation_relative_price_variance_presentation_files/figure-pptx/fig-unif_quant_reg-1.png"/>
          <p:cNvPicPr>
            <a:picLocks noGrp="1" noChangeAspect="1"/>
          </p:cNvPicPr>
          <p:nvPr/>
        </p:nvPicPr>
        <p:blipFill>
          <a:blip r:embed="rId2"/>
          <a:stretch>
            <a:fillRect/>
          </a:stretch>
        </p:blipFill>
        <p:spPr bwMode="auto">
          <a:xfrm>
            <a:off x="1788633" y="111125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31</a:t>
            </a:fld>
            <a:endParaRPr lang="en-US" dirty="0"/>
          </a:p>
        </p:txBody>
      </p:sp>
      <p:sp>
        <p:nvSpPr>
          <p:cNvPr id="4" name="TextBox 3">
            <a:extLst>
              <a:ext uri="{FF2B5EF4-FFF2-40B4-BE49-F238E27FC236}">
                <a16:creationId xmlns:a16="http://schemas.microsoft.com/office/drawing/2014/main" id="{16C68806-18BD-8564-04F3-3B8E141F70BB}"/>
              </a:ext>
            </a:extLst>
          </p:cNvPr>
          <p:cNvSpPr txBox="1"/>
          <p:nvPr/>
        </p:nvSpPr>
        <p:spPr>
          <a:xfrm>
            <a:off x="2006051" y="1247001"/>
            <a:ext cx="8295126" cy="400110"/>
          </a:xfrm>
          <a:prstGeom prst="rect">
            <a:avLst/>
          </a:prstGeom>
          <a:noFill/>
        </p:spPr>
        <p:txBody>
          <a:bodyPr wrap="square" rtlCol="0">
            <a:spAutoFit/>
          </a:bodyPr>
          <a:lstStyle>
            <a:defPPr>
              <a:defRPr lang="en-US"/>
            </a:defPPr>
            <a:lvl1pPr>
              <a:defRPr sz="1200" b="1">
                <a:latin typeface="Arial" panose="020B0604020202020204" pitchFamily="34" charset="0"/>
                <a:cs typeface="Arial" panose="020B0604020202020204" pitchFamily="34" charset="0"/>
              </a:defRPr>
            </a:lvl1pPr>
          </a:lstStyle>
          <a:p>
            <a:r>
              <a:rPr lang="en-US" dirty="0"/>
              <a:t>Figure 9: </a:t>
            </a:r>
            <a:r>
              <a:rPr lang="en-ZA" dirty="0"/>
              <a:t>Quantile on quantile regressions for the unexpected component of inflation.</a:t>
            </a:r>
          </a:p>
          <a:p>
            <a:endParaRPr lang="en-US" dirty="0"/>
          </a:p>
        </p:txBody>
      </p:sp>
      <p:sp>
        <p:nvSpPr>
          <p:cNvPr id="6" name="TextBox 5">
            <a:extLst>
              <a:ext uri="{FF2B5EF4-FFF2-40B4-BE49-F238E27FC236}">
                <a16:creationId xmlns:a16="http://schemas.microsoft.com/office/drawing/2014/main" id="{5B6E747C-A788-B085-DF9F-044C548F3B8B}"/>
              </a:ext>
            </a:extLst>
          </p:cNvPr>
          <p:cNvSpPr txBox="1"/>
          <p:nvPr/>
        </p:nvSpPr>
        <p:spPr>
          <a:xfrm>
            <a:off x="1788632" y="5430121"/>
            <a:ext cx="9124533" cy="246221"/>
          </a:xfrm>
          <a:prstGeom prst="rect">
            <a:avLst/>
          </a:prstGeom>
          <a:noFill/>
        </p:spPr>
        <p:txBody>
          <a:bodyPr wrap="square">
            <a:spAutoFit/>
          </a:bodyPr>
          <a:lstStyle/>
          <a:p>
            <a:pPr>
              <a:buNone/>
            </a:pPr>
            <a:r>
              <a:rPr lang="en-ZA" sz="1000" dirty="0">
                <a:solidFill>
                  <a:srgbClr val="000000"/>
                </a:solidFill>
                <a:effectLst/>
                <a:latin typeface="Arial" panose="020B0604020202020204" pitchFamily="34" charset="0"/>
                <a:cs typeface="Arial" panose="020B0604020202020204" pitchFamily="34" charset="0"/>
              </a:rPr>
              <a:t>Note: The x-axis represents the quantiles of the unexpected component of headline inflation, while the y-axis represents the quantiles of RPD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6" y="1817520"/>
            <a:ext cx="6394369" cy="1381125"/>
          </a:xfrm>
        </p:spPr>
        <p:txBody>
          <a:bodyPr/>
          <a:lstStyle/>
          <a:p>
            <a:pPr marL="0" lvl="0" indent="0">
              <a:buNone/>
            </a:pPr>
            <a:r>
              <a:rPr dirty="0"/>
              <a:t>Conclusions</a:t>
            </a:r>
            <a:r>
              <a:rPr lang="en-US" dirty="0"/>
              <a:t> (what are we saying?)</a:t>
            </a:r>
            <a:endParaRPr dirty="0"/>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t>Conclusion</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33</a:t>
            </a:fld>
            <a:endParaRPr lang="en-US" dirty="0"/>
          </a:p>
        </p:txBody>
      </p:sp>
      <p:sp>
        <p:nvSpPr>
          <p:cNvPr id="5" name="Content Placeholder 2">
            <a:extLst>
              <a:ext uri="{FF2B5EF4-FFF2-40B4-BE49-F238E27FC236}">
                <a16:creationId xmlns:a16="http://schemas.microsoft.com/office/drawing/2014/main" id="{33E8DDA6-66E4-2C34-3CB2-BE03E2C035AE}"/>
              </a:ext>
            </a:extLst>
          </p:cNvPr>
          <p:cNvSpPr>
            <a:spLocks noGrp="1"/>
          </p:cNvSpPr>
          <p:nvPr>
            <p:ph idx="1" hasCustomPrompt="1"/>
          </p:nvPr>
        </p:nvSpPr>
        <p:spPr>
          <a:xfrm>
            <a:off x="1055553" y="1349651"/>
            <a:ext cx="10278491" cy="4645875"/>
          </a:xfrm>
        </p:spPr>
        <p:txBody>
          <a:bodyPr/>
          <a:lstStyle/>
          <a:p>
            <a:pPr lvl="0"/>
            <a:r>
              <a:rPr lang="en-US" dirty="0"/>
              <a:t>SA presents an interesting case given its target reform over the last decade</a:t>
            </a:r>
          </a:p>
          <a:p>
            <a:pPr lvl="0"/>
            <a:r>
              <a:rPr lang="en-US" dirty="0"/>
              <a:t>We find that the RDP Inflation dynamic in SA inline with the literature and with </a:t>
            </a:r>
            <a:r>
              <a:rPr lang="en-US" b="1" dirty="0"/>
              <a:t>significant regimes</a:t>
            </a:r>
          </a:p>
          <a:p>
            <a:pPr lvl="0"/>
            <a:r>
              <a:rPr lang="en-US" dirty="0"/>
              <a:t>The results suggest that the optimal inflation declined post 2017</a:t>
            </a:r>
          </a:p>
          <a:p>
            <a:pPr lvl="0"/>
            <a:r>
              <a:rPr lang="en-US" dirty="0"/>
              <a:t>In the main we suggest that post the 2017 target change, the response of RDP to changes inflation </a:t>
            </a:r>
            <a:r>
              <a:rPr lang="en-US" b="1" dirty="0"/>
              <a:t>declined compared to pre-2017</a:t>
            </a:r>
          </a:p>
          <a:p>
            <a:pPr lvl="0"/>
            <a:r>
              <a:rPr lang="en-US" dirty="0"/>
              <a:t>Suggests that the policy path is more predictable (maybe policy more credible)</a:t>
            </a:r>
          </a:p>
          <a:p>
            <a:pPr lvl="0"/>
            <a:r>
              <a:rPr lang="en-US" dirty="0"/>
              <a:t>We cannot discount the role of the recent inflation shocks – possible that we are in a transitory period</a:t>
            </a:r>
          </a:p>
          <a:p>
            <a:pPr lvl="0"/>
            <a:r>
              <a:rPr lang="en-US" dirty="0"/>
              <a:t>But given the further reform in the target, the RDP inflation profile may settle in a more desirable equilibrium </a:t>
            </a:r>
          </a:p>
          <a:p>
            <a:pPr lvl="0"/>
            <a:r>
              <a:rPr lang="en-US" dirty="0"/>
              <a:t>This is as recent evidence suggests that the recent change in the target is resulting in lower expectations in general (</a:t>
            </a:r>
            <a:r>
              <a:rPr lang="en-US" dirty="0" err="1"/>
              <a:t>Foresto</a:t>
            </a:r>
            <a:r>
              <a:rPr lang="en-US" dirty="0"/>
              <a:t> </a:t>
            </a:r>
            <a:r>
              <a:rPr lang="en-US" i="1" dirty="0"/>
              <a:t>et al., </a:t>
            </a:r>
            <a:r>
              <a:rPr lang="en-US" dirty="0"/>
              <a:t>forthcoming; Amaral </a:t>
            </a:r>
            <a:r>
              <a:rPr lang="en-US" i="1" dirty="0"/>
              <a:t>et al., </a:t>
            </a:r>
            <a:r>
              <a:rPr lang="en-US" dirty="0"/>
              <a:t> forthcoming</a:t>
            </a:r>
            <a:r>
              <a:rPr lang="en-US" i="1" dirty="0"/>
              <a:t>)</a:t>
            </a:r>
            <a:endParaRPr i="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5425534" y="3661218"/>
            <a:ext cx="10977744" cy="666233"/>
          </a:xfrm>
        </p:spPr>
        <p:txBody>
          <a:bodyPr>
            <a:normAutofit fontScale="90000"/>
          </a:bodyPr>
          <a:lstStyle/>
          <a:p>
            <a:r>
              <a:rPr dirty="0"/>
              <a:t>Thank You!</a:t>
            </a:r>
            <a:br>
              <a:rPr lang="en-US" dirty="0"/>
            </a:br>
            <a:br>
              <a:rPr lang="en-ZA" dirty="0"/>
            </a:br>
            <a:br>
              <a:rPr lang="en-US" dirty="0"/>
            </a:br>
            <a:r>
              <a:rPr lang="en-ZA" dirty="0"/>
              <a:t>Questions?</a:t>
            </a:r>
            <a:br>
              <a:rPr lang="en-ZA" dirty="0"/>
            </a:br>
            <a:endParaRPr dirty="0"/>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5296-3129-3C75-0681-18EA52968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051FA-1CCD-FC5B-D1F0-58C10EA04FEA}"/>
              </a:ext>
            </a:extLst>
          </p:cNvPr>
          <p:cNvSpPr>
            <a:spLocks noGrp="1"/>
          </p:cNvSpPr>
          <p:nvPr>
            <p:ph type="ctrTitle" hasCustomPrompt="1"/>
          </p:nvPr>
        </p:nvSpPr>
        <p:spPr>
          <a:xfrm>
            <a:off x="2997987" y="1817520"/>
            <a:ext cx="3540643" cy="1381125"/>
          </a:xfrm>
        </p:spPr>
        <p:txBody>
          <a:bodyPr/>
          <a:lstStyle/>
          <a:p>
            <a:pPr marL="0" lvl="0" indent="0">
              <a:buNone/>
            </a:pPr>
            <a:r>
              <a:rPr lang="en-US" dirty="0"/>
              <a:t>Appendix: Robustness </a:t>
            </a:r>
            <a:endParaRPr dirty="0"/>
          </a:p>
        </p:txBody>
      </p:sp>
      <p:sp>
        <p:nvSpPr>
          <p:cNvPr id="9" name="Slide Number Placeholder 5">
            <a:extLst>
              <a:ext uri="{FF2B5EF4-FFF2-40B4-BE49-F238E27FC236}">
                <a16:creationId xmlns:a16="http://schemas.microsoft.com/office/drawing/2014/main" id="{5536945A-338D-B5F5-6DC1-7BD1013FCF1A}"/>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35</a:t>
            </a:fld>
            <a:endParaRPr lang="en-US" dirty="0"/>
          </a:p>
        </p:txBody>
      </p:sp>
    </p:spTree>
    <p:extLst>
      <p:ext uri="{BB962C8B-B14F-4D97-AF65-F5344CB8AC3E}">
        <p14:creationId xmlns:p14="http://schemas.microsoft.com/office/powerpoint/2010/main" val="1783195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t>References</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153986" y="1196358"/>
            <a:ext cx="10575170" cy="5117462"/>
          </a:xfrm>
        </p:spPr>
        <p:txBody>
          <a:bodyPr>
            <a:normAutofit fontScale="85000" lnSpcReduction="20000"/>
          </a:bodyPr>
          <a:lstStyle/>
          <a:p>
            <a:pPr marL="0" lvl="0" indent="0">
              <a:buNone/>
            </a:pPr>
            <a:r>
              <a:rPr dirty="0"/>
              <a:t>Caglayan, Mustafa, and Alpay </a:t>
            </a:r>
            <a:r>
              <a:rPr dirty="0" err="1"/>
              <a:t>Filiztekin</a:t>
            </a:r>
            <a:r>
              <a:rPr dirty="0"/>
              <a:t>. 2003. “Nonlinear Impact of Inflation on Relative Price Variability.” </a:t>
            </a:r>
            <a:r>
              <a:rPr i="1" dirty="0"/>
              <a:t>Economics Letters</a:t>
            </a:r>
            <a:r>
              <a:rPr dirty="0"/>
              <a:t> 79 (2): 213–18.</a:t>
            </a:r>
          </a:p>
          <a:p>
            <a:pPr marL="0" lvl="0" indent="0">
              <a:buNone/>
            </a:pPr>
            <a:r>
              <a:rPr dirty="0"/>
              <a:t>Choi, Chi-Young. 2010. “Reconsidering the Relationship Between Inflation and Relative Price Variability.” </a:t>
            </a:r>
            <a:r>
              <a:rPr i="1" dirty="0"/>
              <a:t>Journal of Money, Credit and Banking</a:t>
            </a:r>
            <a:r>
              <a:rPr dirty="0"/>
              <a:t> 42 (5): 769–98. </a:t>
            </a:r>
            <a:r>
              <a:rPr dirty="0">
                <a:hlinkClick r:id="rId2"/>
              </a:rPr>
              <a:t>https://doi.org/10.1111/j.1538-4616.2010.00307.x</a:t>
            </a:r>
            <a:r>
              <a:rPr dirty="0"/>
              <a:t>.</a:t>
            </a:r>
          </a:p>
          <a:p>
            <a:pPr marL="0" lvl="0" indent="0">
              <a:buNone/>
            </a:pPr>
            <a:r>
              <a:rPr dirty="0"/>
              <a:t>Cukierman, Alex. 1983. “Relative Price Variability and Inflation: A Survey and Further Results.” In </a:t>
            </a:r>
            <a:r>
              <a:rPr i="1" dirty="0"/>
              <a:t>Carnegie-Rochester Conference Series on Public Policy</a:t>
            </a:r>
            <a:r>
              <a:rPr dirty="0"/>
              <a:t>, 19:103–57. Elsevier.</a:t>
            </a:r>
          </a:p>
          <a:p>
            <a:pPr marL="0" lvl="0" indent="0">
              <a:buNone/>
            </a:pPr>
            <a:r>
              <a:rPr dirty="0"/>
              <a:t>Fielding, David, and Paul Mizen. 2000. “Relative Price Variability and Inflation in Europe.” </a:t>
            </a:r>
            <a:r>
              <a:rPr i="1" dirty="0"/>
              <a:t>Economica</a:t>
            </a:r>
            <a:r>
              <a:rPr dirty="0"/>
              <a:t> 67 (265): 57–78. </a:t>
            </a:r>
            <a:r>
              <a:rPr dirty="0">
                <a:hlinkClick r:id="rId3"/>
              </a:rPr>
              <a:t>https://doi.org/10.1111/1468-0335.00195</a:t>
            </a:r>
            <a:r>
              <a:rPr dirty="0"/>
              <a:t>.</a:t>
            </a:r>
            <a:endParaRPr lang="en-US" dirty="0"/>
          </a:p>
          <a:p>
            <a:pPr marL="0" indent="0">
              <a:buNone/>
            </a:pPr>
            <a:r>
              <a:rPr lang="en-US" dirty="0" err="1"/>
              <a:t>Foresto</a:t>
            </a:r>
            <a:r>
              <a:rPr lang="en-US" dirty="0"/>
              <a:t>, Anis, Reid, Monique, </a:t>
            </a:r>
            <a:r>
              <a:rPr lang="en-US" dirty="0" err="1"/>
              <a:t>Mosoma</a:t>
            </a:r>
            <a:r>
              <a:rPr lang="en-US" dirty="0"/>
              <a:t>, </a:t>
            </a:r>
            <a:r>
              <a:rPr lang="en-US" dirty="0" err="1"/>
              <a:t>Pabalelo</a:t>
            </a:r>
            <a:r>
              <a:rPr lang="en-US" dirty="0"/>
              <a:t>. Forthcoming. ”BER Special Question: Do firms know about the new inflation target? Implications for the path to 3%. South African Reserve Bank Working Paper Series</a:t>
            </a:r>
          </a:p>
          <a:p>
            <a:pPr marL="0" lvl="0" indent="0">
              <a:buNone/>
            </a:pPr>
            <a:r>
              <a:rPr lang="en-US" dirty="0"/>
              <a:t>Amaral, Ayrton, </a:t>
            </a:r>
            <a:r>
              <a:rPr lang="en-US" dirty="0" err="1"/>
              <a:t>Foresto</a:t>
            </a:r>
            <a:r>
              <a:rPr lang="en-US" dirty="0"/>
              <a:t>, Anis, </a:t>
            </a:r>
            <a:r>
              <a:rPr lang="en-US" dirty="0" err="1"/>
              <a:t>Mosoma</a:t>
            </a:r>
            <a:r>
              <a:rPr lang="en-US" dirty="0"/>
              <a:t>, </a:t>
            </a:r>
            <a:r>
              <a:rPr lang="en-US" dirty="0" err="1"/>
              <a:t>Pabalelo</a:t>
            </a:r>
            <a:r>
              <a:rPr lang="en-US" dirty="0"/>
              <a:t>. Forthcoming. “Finding the anchor: An assessment of the anchoring of inflation expectations in South Africa” South African Reserve Bank Working Paper Series</a:t>
            </a:r>
            <a:endParaRPr dirty="0"/>
          </a:p>
          <a:p>
            <a:pPr marL="0" lvl="0" indent="0">
              <a:buNone/>
            </a:pPr>
            <a:r>
              <a:rPr dirty="0"/>
              <a:t>Head, Allen, and Alok Kumar. 2005. “Price Dispersion, Inflation, and Welfare.” </a:t>
            </a:r>
            <a:r>
              <a:rPr i="1" dirty="0"/>
              <a:t>International Economic Review</a:t>
            </a:r>
            <a:r>
              <a:rPr dirty="0"/>
              <a:t> 46 (2): 533–72. </a:t>
            </a:r>
            <a:r>
              <a:rPr dirty="0">
                <a:hlinkClick r:id="rId4"/>
              </a:rPr>
              <a:t>https://doi.org/10.1111/j.1468-2354.2005.00333.x</a:t>
            </a:r>
            <a:r>
              <a:rPr dirty="0"/>
              <a:t>.</a:t>
            </a:r>
          </a:p>
          <a:p>
            <a:pPr marL="0" lvl="0" indent="0">
              <a:buNone/>
            </a:pPr>
            <a:r>
              <a:rPr dirty="0" err="1"/>
              <a:t>Hercowitz</a:t>
            </a:r>
            <a:r>
              <a:rPr dirty="0"/>
              <a:t>, Zvi. 1981. “Money and the Dispersion of Relative Prices.” </a:t>
            </a:r>
            <a:r>
              <a:rPr i="1" dirty="0"/>
              <a:t>Journal of Political Economy</a:t>
            </a:r>
            <a:r>
              <a:rPr dirty="0"/>
              <a:t> 89 (2): 328–56. </a:t>
            </a:r>
            <a:r>
              <a:rPr dirty="0">
                <a:hlinkClick r:id="rId5"/>
              </a:rPr>
              <a:t>https://doi.org/10.1086/260968</a:t>
            </a:r>
            <a:r>
              <a:rPr dirty="0"/>
              <a:t>.</a:t>
            </a:r>
          </a:p>
          <a:p>
            <a:pPr marL="0" lvl="0" indent="0">
              <a:buNone/>
            </a:pPr>
            <a:r>
              <a:rPr dirty="0" err="1"/>
              <a:t>Koenker</a:t>
            </a:r>
            <a:r>
              <a:rPr dirty="0"/>
              <a:t>, Roger. 2017. “Quantile Regression: 40 Years On.” </a:t>
            </a:r>
            <a:r>
              <a:rPr i="1" dirty="0"/>
              <a:t>Annual Review of Economics</a:t>
            </a:r>
            <a:r>
              <a:rPr dirty="0"/>
              <a:t> 9 (1): 155–76. </a:t>
            </a:r>
            <a:r>
              <a:rPr dirty="0">
                <a:hlinkClick r:id="rId6"/>
              </a:rPr>
              <a:t>https://doi.org/10.1146/annurev-economics-063016-103651</a:t>
            </a:r>
            <a:r>
              <a:rPr dirty="0"/>
              <a:t>.</a:t>
            </a:r>
          </a:p>
          <a:p>
            <a:pPr marL="0" lvl="0" indent="0">
              <a:buNone/>
            </a:pPr>
            <a:r>
              <a:rPr dirty="0"/>
              <a:t>Lach, Saul, and Daniel </a:t>
            </a:r>
            <a:r>
              <a:rPr dirty="0" err="1"/>
              <a:t>Tsiddon</a:t>
            </a:r>
            <a:r>
              <a:rPr dirty="0"/>
              <a:t>. 1992. “The Behavior of Prices and Inflation: An Empirical Analysis of </a:t>
            </a:r>
            <a:r>
              <a:rPr dirty="0" err="1"/>
              <a:t>Disaggregat</a:t>
            </a:r>
            <a:r>
              <a:rPr dirty="0"/>
              <a:t> Price Data.” </a:t>
            </a:r>
            <a:r>
              <a:rPr i="1" dirty="0"/>
              <a:t>Journal of Political Economy</a:t>
            </a:r>
            <a:r>
              <a:rPr dirty="0"/>
              <a:t> 100 (2): 349–89. </a:t>
            </a:r>
            <a:r>
              <a:rPr dirty="0">
                <a:hlinkClick r:id="rId7"/>
              </a:rPr>
              <a:t>https://doi.org/10.1086/261821</a:t>
            </a:r>
            <a:r>
              <a:rPr dirty="0"/>
              <a:t>.</a:t>
            </a:r>
          </a:p>
          <a:p>
            <a:pPr marL="0" lvl="0" indent="0">
              <a:buNone/>
            </a:pPr>
            <a:r>
              <a:rPr dirty="0"/>
              <a:t>Lucas, Robert E. 1973. “Some International Evidence on Output-Inflation Tradeoffs.” </a:t>
            </a:r>
            <a:r>
              <a:rPr i="1" dirty="0"/>
              <a:t>The American Economic Review</a:t>
            </a:r>
            <a:r>
              <a:rPr dirty="0"/>
              <a:t> 63 (3): 326–34. </a:t>
            </a:r>
            <a:r>
              <a:rPr dirty="0">
                <a:hlinkClick r:id="rId8"/>
              </a:rPr>
              <a:t>https://www.jstor.org/stable/1914364</a:t>
            </a:r>
            <a:r>
              <a:rPr dirty="0"/>
              <a:t>.</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marL="0" lvl="0" indent="0">
              <a:buNone/>
            </a:pPr>
            <a:r>
              <a:t>Notes</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p:txBody>
          <a:bodyPr/>
          <a:lstStyle/>
          <a:p>
            <a:pPr marL="0" lvl="0" indent="0">
              <a:buNone/>
            </a:pPr>
            <a:r>
              <a:rPr sz="1800"/>
              <a:t>1. The data is available at: http://www.statssa.gov.za/ and the data was seasonally adjusted.</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37</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c52299-74de-4dfd-b117-c9c408edfa50}" enabled="1" method="Standard" siteId="{853cbaab-a620-4178-8933-88d76414184a}" contentBits="0" removed="0"/>
</clbl:labelList>
</file>

<file path=docProps/app.xml><?xml version="1.0" encoding="utf-8"?>
<Properties xmlns="http://schemas.openxmlformats.org/officeDocument/2006/extended-properties" xmlns:vt="http://schemas.openxmlformats.org/officeDocument/2006/docPropsVTypes">
  <TotalTime>242</TotalTime>
  <Words>3659</Words>
  <Application>Microsoft Macintosh PowerPoint</Application>
  <PresentationFormat>Widescreen</PresentationFormat>
  <Paragraphs>317</Paragraphs>
  <Slides>37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Arial</vt:lpstr>
      <vt:lpstr>Cambria Math</vt:lpstr>
      <vt:lpstr>Office Theme</vt:lpstr>
      <vt:lpstr>Relative price dispersion and inflation regimes in South Africa</vt:lpstr>
      <vt:lpstr>The recent target reform raises questions about RDP</vt:lpstr>
      <vt:lpstr>RPD through Lucas’s aggregate supply curve (but what is RPD?)</vt:lpstr>
      <vt:lpstr>RDP has many explanations or theoretical underpinnings</vt:lpstr>
      <vt:lpstr>As a thought experiment, we focus of Lucas’s supply curve </vt:lpstr>
      <vt:lpstr>Lucas’s supply curve</vt:lpstr>
      <vt:lpstr>Lucas’s supply curve: Information asymmetry</vt:lpstr>
      <vt:lpstr>Lucas’s supply curve: General price level</vt:lpstr>
      <vt:lpstr>Lucas’s supply curve: Weight on formatting expectations</vt:lpstr>
      <vt:lpstr>Lucas’s supply curve: Relative price dispersion (RPD)</vt:lpstr>
      <vt:lpstr>Data and methodology (what did we do?)</vt:lpstr>
      <vt:lpstr>We rely entirely on Stats SA CPI data, …</vt:lpstr>
      <vt:lpstr>… and calculate inflation in the standard way</vt:lpstr>
      <vt:lpstr>The definition of RPD is well understood in the literature</vt:lpstr>
      <vt:lpstr>Our main purpose in to estimate the relationship between RPD and inflation</vt:lpstr>
      <vt:lpstr>However, this relationship can be time varying, …</vt:lpstr>
      <vt:lpstr>… or even quadratic in nature</vt:lpstr>
      <vt:lpstr>This enables use to estimate RPD minimizing inflation, … </vt:lpstr>
      <vt:lpstr>… using semi-parametric (kernel-based) methods</vt:lpstr>
      <vt:lpstr>Mainly the Gaussian and Epanechnikov kernel were used</vt:lpstr>
      <vt:lpstr>As outlined before, there is an important distinction between expected and unexpected inflation</vt:lpstr>
      <vt:lpstr>Lastly, we estimate RPD-Inflation regimes using QQR</vt:lpstr>
      <vt:lpstr>Results (what did we find?)</vt:lpstr>
      <vt:lpstr>RDP tends to rise rapidly with high inflation shocks</vt:lpstr>
      <vt:lpstr>Empirically, the RPD suggests lower optimal inflation</vt:lpstr>
      <vt:lpstr>The baseline results suggests a non-linear relationship</vt:lpstr>
      <vt:lpstr>Supported by significant time-varying results</vt:lpstr>
      <vt:lpstr>Results suggests an optimal inflation in the range of 2-3%</vt:lpstr>
      <vt:lpstr>Interestingly, severe inflation shocks compressed RDP</vt:lpstr>
      <vt:lpstr>Three distinct regimes emerged further enhancing the initial results</vt:lpstr>
      <vt:lpstr>Expect post 2017, RPD was well anchored</vt:lpstr>
      <vt:lpstr>Conclusions (what are we saying?)</vt:lpstr>
      <vt:lpstr>Conclusion</vt:lpstr>
      <vt:lpstr>Thank You!   Questions? </vt:lpstr>
      <vt:lpstr>Appendix: Robustness </vt:lpstr>
      <vt:lpstr>References</vt:lpstr>
      <vt:lpstr>Notes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1671</TotalTime>
  <Words>13</Words>
  <Application>Microsoft Macintosh PowerPoint</Application>
  <PresentationFormat>Widescreen</PresentationFormat>
  <Paragraphs>13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Relative price dispersion and inflation regimes in South Africa</dc:title>
  <dc:creator>Keagile Lesame and Xolani Sibande | National Treasury of South Africa and South African Reserve Bank</dc:creator>
  <cp:keywords/>
  <cp:lastModifiedBy>Xolani Sibande</cp:lastModifiedBy>
  <cp:revision>11</cp:revision>
  <dcterms:created xsi:type="dcterms:W3CDTF">2026-02-16T09:03:38Z</dcterms:created>
  <dcterms:modified xsi:type="dcterms:W3CDTF">2026-02-23T11:41:07Z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rossref">
    <vt:lpwstr/>
  </property>
  <property fmtid="{D5CDD505-2E9C-101B-9397-08002B2CF9AE}" pid="7" name="editor">
    <vt:lpwstr>source</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