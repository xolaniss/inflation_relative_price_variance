
<file path=[Content_Types].xml><?xml version="1.0" encoding="utf-8"?>
<Types xmlns="http://schemas.openxmlformats.org/package/2006/content-types">
  <Default Extension="emf" ContentType="image/x-emf"/>
  <Default Extension="jp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Override PartName="/docProps/app0.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6" Type="http://schemas.openxmlformats.org/package/2006/relationships/metadata/extended-properties" Target="docProps/app0.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8"/>
  </p:notesMasterIdLst>
  <p:sldIdLst>
    <p:sldId id="256" r:id="rId2"/>
    <p:sldId id="258" r:id="rId3"/>
    <p:sldId id="259" r:id="rId4"/>
    <p:sldId id="260" r:id="rId5"/>
    <p:sldId id="261" r:id="rId6"/>
    <p:sldId id="262" r:id="rId7"/>
    <p:sldId id="263" r:id="rId8"/>
    <p:sldId id="264" r:id="rId9"/>
    <p:sldId id="265" r:id="rId10"/>
    <p:sldId id="266" r:id="rId11"/>
    <p:sldId id="268" r:id="rId12"/>
    <p:sldId id="269" r:id="rId13"/>
    <p:sldId id="272" r:id="rId14"/>
    <p:sldId id="273" r:id="rId15"/>
    <p:sldId id="274" r:id="rId16"/>
    <p:sldId id="275" r:id="rId17"/>
    <p:sldId id="276" r:id="rId18"/>
    <p:sldId id="277" r:id="rId19"/>
    <p:sldId id="278" r:id="rId20"/>
    <p:sldId id="279" r:id="rId21"/>
    <p:sldId id="280" r:id="rId22"/>
    <p:sldId id="281" r:id="rId23"/>
    <p:sldId id="282" r:id="rId24"/>
    <p:sldId id="283" r:id="rId25"/>
    <p:sldId id="284" r:id="rId26"/>
    <p:sldId id="285" r:id="rId27"/>
    <p:sldId id="286" r:id="rId28"/>
    <p:sldId id="288" r:id="rId29"/>
    <p:sldId id="290" r:id="rId30"/>
    <p:sldId id="292" r:id="rId31"/>
    <p:sldId id="293" r:id="rId32"/>
    <p:sldId id="294" r:id="rId33"/>
    <p:sldId id="295" r:id="rId34"/>
    <p:sldId id="296" r:id="rId35"/>
    <p:sldId id="297" r:id="rId36"/>
    <p:sldId id="298" r:id="rId3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D8375D61-5C81-655C-6BC3-0CD22E4E39A1}" name="Keagile Lesame" initials="KL" userId="S::Keagile.Lesame@Treasury.gov.za::94fcf722-6566-4cee-af57-5f181b313f1c"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5A9646"/>
    <a:srgbClr val="062C43"/>
    <a:srgbClr val="118581"/>
    <a:srgbClr val="AC2874"/>
    <a:srgbClr val="AD9252"/>
    <a:srgbClr val="FCCC32"/>
    <a:srgbClr val="59A74B"/>
    <a:srgbClr val="F27830"/>
    <a:srgbClr val="21B1A8"/>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9794"/>
    <p:restoredTop sz="94682"/>
  </p:normalViewPr>
  <p:slideViewPr>
    <p:cSldViewPr snapToGrid="0" snapToObjects="1">
      <p:cViewPr varScale="1">
        <p:scale>
          <a:sx n="106" d="100"/>
          <a:sy n="106" d="100"/>
        </p:scale>
        <p:origin x="184" y="640"/>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snapToObjects="1">
      <p:cViewPr varScale="1">
        <p:scale>
          <a:sx n="99" d="100"/>
          <a:sy n="99" d="100"/>
        </p:scale>
        <p:origin x="2864" y="184"/>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presProps" Target="presProps.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microsoft.com/office/2018/10/relationships/authors" Target="author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079AE4A-426C-3B4A-89BC-F57F13E2600B}" type="datetimeFigureOut">
              <a:rPr lang="en-US" smtClean="0"/>
              <a:t>2/24/26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DBF4B45-0810-B149-8299-AA278491F805}" type="slidenum">
              <a:rPr lang="en-US" smtClean="0"/>
              <a:t>‹#›</a:t>
            </a:fld>
            <a:endParaRPr lang="en-US"/>
          </a:p>
        </p:txBody>
      </p:sp>
    </p:spTree>
    <p:extLst>
      <p:ext uri="{BB962C8B-B14F-4D97-AF65-F5344CB8AC3E}">
        <p14:creationId xmlns:p14="http://schemas.microsoft.com/office/powerpoint/2010/main" val="10395193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DBF4B45-0810-B149-8299-AA278491F805}" type="slidenum">
              <a:rPr lang="en-US" smtClean="0"/>
              <a:t>6</a:t>
            </a:fld>
            <a:endParaRPr lang="en-US"/>
          </a:p>
        </p:txBody>
      </p:sp>
    </p:spTree>
    <p:extLst>
      <p:ext uri="{BB962C8B-B14F-4D97-AF65-F5344CB8AC3E}">
        <p14:creationId xmlns:p14="http://schemas.microsoft.com/office/powerpoint/2010/main" val="256071582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DBF4B45-0810-B149-8299-AA278491F805}" type="slidenum">
              <a:rPr lang="en-US" smtClean="0"/>
              <a:t>13</a:t>
            </a:fld>
            <a:endParaRPr lang="en-US"/>
          </a:p>
        </p:txBody>
      </p:sp>
    </p:spTree>
    <p:extLst>
      <p:ext uri="{BB962C8B-B14F-4D97-AF65-F5344CB8AC3E}">
        <p14:creationId xmlns:p14="http://schemas.microsoft.com/office/powerpoint/2010/main" val="4059219078"/>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g"/><Relationship Id="rId1" Type="http://schemas.openxmlformats.org/officeDocument/2006/relationships/slideMaster" Target="../slideMasters/slideMaster1.xml"/><Relationship Id="rId4"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7.emf"/><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7.emf"/><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806118-0840-574D-AD0F-62FBB748D13C}"/>
              </a:ext>
            </a:extLst>
          </p:cNvPr>
          <p:cNvSpPr>
            <a:spLocks noGrp="1"/>
          </p:cNvSpPr>
          <p:nvPr>
            <p:ph type="ctrTitle" hasCustomPrompt="1"/>
          </p:nvPr>
        </p:nvSpPr>
        <p:spPr>
          <a:xfrm>
            <a:off x="7461840" y="774132"/>
            <a:ext cx="4263136" cy="1879616"/>
          </a:xfrm>
        </p:spPr>
        <p:txBody>
          <a:bodyPr anchor="b">
            <a:normAutofit/>
          </a:bodyPr>
          <a:lstStyle>
            <a:lvl1pPr algn="l">
              <a:defRPr sz="3500">
                <a:solidFill>
                  <a:schemeClr val="tx1"/>
                </a:solidFill>
              </a:defRPr>
            </a:lvl1pPr>
          </a:lstStyle>
          <a:p>
            <a:r>
              <a:rPr lang="en-US" dirty="0"/>
              <a:t>CLICK TO EDIT MASTER TITLE STYLE</a:t>
            </a:r>
          </a:p>
        </p:txBody>
      </p:sp>
      <p:sp>
        <p:nvSpPr>
          <p:cNvPr id="3" name="Subtitle 2">
            <a:extLst>
              <a:ext uri="{FF2B5EF4-FFF2-40B4-BE49-F238E27FC236}">
                <a16:creationId xmlns:a16="http://schemas.microsoft.com/office/drawing/2014/main" id="{D46EA0A7-1E73-F64D-9AC7-B8EFBCA6BAAE}"/>
              </a:ext>
            </a:extLst>
          </p:cNvPr>
          <p:cNvSpPr>
            <a:spLocks noGrp="1"/>
          </p:cNvSpPr>
          <p:nvPr>
            <p:ph type="subTitle" idx="1"/>
          </p:nvPr>
        </p:nvSpPr>
        <p:spPr>
          <a:xfrm>
            <a:off x="7461840" y="3488441"/>
            <a:ext cx="3820634" cy="853003"/>
          </a:xfrm>
        </p:spPr>
        <p:txBody>
          <a:bodyPr/>
          <a:lstStyle>
            <a:lvl1pPr marL="0" indent="0" algn="l">
              <a:buNone/>
              <a:defRPr sz="240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7" name="Rectangle 6">
            <a:extLst>
              <a:ext uri="{FF2B5EF4-FFF2-40B4-BE49-F238E27FC236}">
                <a16:creationId xmlns:a16="http://schemas.microsoft.com/office/drawing/2014/main" id="{871947E7-DACC-CA46-9951-175FD059B99E}"/>
              </a:ext>
            </a:extLst>
          </p:cNvPr>
          <p:cNvSpPr/>
          <p:nvPr userDrawn="1"/>
        </p:nvSpPr>
        <p:spPr>
          <a:xfrm>
            <a:off x="627321" y="-1786270"/>
            <a:ext cx="914400" cy="9144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Picture 5">
            <a:extLst>
              <a:ext uri="{FF2B5EF4-FFF2-40B4-BE49-F238E27FC236}">
                <a16:creationId xmlns:a16="http://schemas.microsoft.com/office/drawing/2014/main" id="{4AF14B05-EF61-4345-AA4C-35FDA321C317}"/>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526761" y="5696053"/>
            <a:ext cx="1439953" cy="936000"/>
          </a:xfrm>
          <a:prstGeom prst="rect">
            <a:avLst/>
          </a:prstGeom>
        </p:spPr>
      </p:pic>
      <p:pic>
        <p:nvPicPr>
          <p:cNvPr id="8" name="Picture 7">
            <a:extLst>
              <a:ext uri="{FF2B5EF4-FFF2-40B4-BE49-F238E27FC236}">
                <a16:creationId xmlns:a16="http://schemas.microsoft.com/office/drawing/2014/main" id="{B06511BA-1293-D749-88D7-6A305352B3C9}"/>
              </a:ext>
            </a:extLst>
          </p:cNvPr>
          <p:cNvPicPr>
            <a:picLocks noChangeAspect="1"/>
          </p:cNvPicPr>
          <p:nvPr userDrawn="1"/>
        </p:nvPicPr>
        <p:blipFill>
          <a:blip r:embed="rId3"/>
          <a:srcRect/>
          <a:stretch/>
        </p:blipFill>
        <p:spPr>
          <a:xfrm>
            <a:off x="379946" y="-9427"/>
            <a:ext cx="6792373" cy="6867427"/>
          </a:xfrm>
          <a:prstGeom prst="rect">
            <a:avLst/>
          </a:prstGeom>
        </p:spPr>
      </p:pic>
      <p:sp>
        <p:nvSpPr>
          <p:cNvPr id="9" name="Rectangle 8">
            <a:extLst>
              <a:ext uri="{FF2B5EF4-FFF2-40B4-BE49-F238E27FC236}">
                <a16:creationId xmlns:a16="http://schemas.microsoft.com/office/drawing/2014/main" id="{7AC819E9-38D1-FF48-8369-874ED919D343}"/>
              </a:ext>
            </a:extLst>
          </p:cNvPr>
          <p:cNvSpPr/>
          <p:nvPr userDrawn="1"/>
        </p:nvSpPr>
        <p:spPr>
          <a:xfrm>
            <a:off x="7585187" y="2740442"/>
            <a:ext cx="510363" cy="101489"/>
          </a:xfrm>
          <a:prstGeom prst="rect">
            <a:avLst/>
          </a:prstGeom>
          <a:solidFill>
            <a:srgbClr val="5A964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730AD36D-6FCB-4E49-B2B2-52DB7184E44E}"/>
              </a:ext>
            </a:extLst>
          </p:cNvPr>
          <p:cNvPicPr>
            <a:picLocks noChangeAspect="1"/>
          </p:cNvPicPr>
          <p:nvPr userDrawn="1"/>
        </p:nvPicPr>
        <p:blipFill>
          <a:blip r:embed="rId4"/>
          <a:srcRect/>
          <a:stretch/>
        </p:blipFill>
        <p:spPr>
          <a:xfrm>
            <a:off x="0" y="0"/>
            <a:ext cx="2482576" cy="6858000"/>
          </a:xfrm>
          <a:prstGeom prst="rect">
            <a:avLst/>
          </a:prstGeom>
        </p:spPr>
      </p:pic>
    </p:spTree>
    <p:extLst>
      <p:ext uri="{BB962C8B-B14F-4D97-AF65-F5344CB8AC3E}">
        <p14:creationId xmlns:p14="http://schemas.microsoft.com/office/powerpoint/2010/main" val="58698406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631292-24AE-5F41-8820-196C7D8E36A1}"/>
              </a:ext>
            </a:extLst>
          </p:cNvPr>
          <p:cNvSpPr>
            <a:spLocks noGrp="1"/>
          </p:cNvSpPr>
          <p:nvPr>
            <p:ph type="title"/>
          </p:nvPr>
        </p:nvSpPr>
        <p:spPr>
          <a:xfrm>
            <a:off x="1055553" y="365125"/>
            <a:ext cx="10977744" cy="666233"/>
          </a:xfrm>
        </p:spPr>
        <p:txBody>
          <a:bodyPr anchor="b" anchorCtr="0"/>
          <a:lstStyle>
            <a:lvl1pPr>
              <a:defRPr>
                <a:solidFill>
                  <a:schemeClr val="tx1"/>
                </a:solidFill>
              </a:defRPr>
            </a:lvl1pPr>
          </a:lstStyle>
          <a:p>
            <a:r>
              <a:rPr lang="en-US" dirty="0"/>
              <a:t>Click to edit Master title style</a:t>
            </a:r>
          </a:p>
        </p:txBody>
      </p:sp>
      <p:sp>
        <p:nvSpPr>
          <p:cNvPr id="3" name="Content Placeholder 2">
            <a:extLst>
              <a:ext uri="{FF2B5EF4-FFF2-40B4-BE49-F238E27FC236}">
                <a16:creationId xmlns:a16="http://schemas.microsoft.com/office/drawing/2014/main" id="{9C966DDB-3364-1B41-9729-DB3686A721C5}"/>
              </a:ext>
            </a:extLst>
          </p:cNvPr>
          <p:cNvSpPr>
            <a:spLocks noGrp="1"/>
          </p:cNvSpPr>
          <p:nvPr>
            <p:ph idx="1" hasCustomPrompt="1"/>
          </p:nvPr>
        </p:nvSpPr>
        <p:spPr>
          <a:xfrm>
            <a:off x="1055553" y="1531088"/>
            <a:ext cx="10735723" cy="4645875"/>
          </a:xfrm>
        </p:spPr>
        <p:txBody>
          <a:bodyPr/>
          <a:lstStyle>
            <a:lvl1pPr>
              <a:defRPr sz="1800">
                <a:solidFill>
                  <a:schemeClr val="tx1"/>
                </a:solidFill>
              </a:defRPr>
            </a:lvl1pPr>
            <a:lvl2pPr>
              <a:defRPr sz="1400">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Slide Number Placeholder 5">
            <a:extLst>
              <a:ext uri="{FF2B5EF4-FFF2-40B4-BE49-F238E27FC236}">
                <a16:creationId xmlns:a16="http://schemas.microsoft.com/office/drawing/2014/main" id="{FB221DBE-BC54-6C4C-BA1C-95E280B67712}"/>
              </a:ext>
            </a:extLst>
          </p:cNvPr>
          <p:cNvSpPr>
            <a:spLocks noGrp="1"/>
          </p:cNvSpPr>
          <p:nvPr>
            <p:ph type="sldNum" sz="quarter" idx="12"/>
          </p:nvPr>
        </p:nvSpPr>
        <p:spPr>
          <a:xfrm>
            <a:off x="7557977" y="6313820"/>
            <a:ext cx="2743200" cy="365125"/>
          </a:xfrm>
        </p:spPr>
        <p:txBody>
          <a:bodyPr/>
          <a:lstStyle>
            <a:lvl1pPr>
              <a:defRPr sz="1100"/>
            </a:lvl1pPr>
          </a:lstStyle>
          <a:p>
            <a:fld id="{85DA3A08-9E66-614E-AAE5-F810EFDD6885}" type="slidenum">
              <a:rPr lang="en-US" smtClean="0"/>
              <a:pPr/>
              <a:t>‹#›</a:t>
            </a:fld>
            <a:endParaRPr lang="en-US" dirty="0"/>
          </a:p>
        </p:txBody>
      </p:sp>
      <p:pic>
        <p:nvPicPr>
          <p:cNvPr id="6" name="Picture 5"/>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588384" y="5735570"/>
            <a:ext cx="1323000" cy="864000"/>
          </a:xfrm>
          <a:prstGeom prst="rect">
            <a:avLst/>
          </a:prstGeom>
        </p:spPr>
      </p:pic>
      <p:pic>
        <p:nvPicPr>
          <p:cNvPr id="5" name="Picture 4">
            <a:extLst>
              <a:ext uri="{FF2B5EF4-FFF2-40B4-BE49-F238E27FC236}">
                <a16:creationId xmlns:a16="http://schemas.microsoft.com/office/drawing/2014/main" id="{32FC56F4-8756-D24E-843C-DEF7012E3D44}"/>
              </a:ext>
            </a:extLst>
          </p:cNvPr>
          <p:cNvPicPr>
            <a:picLocks noChangeAspect="1"/>
          </p:cNvPicPr>
          <p:nvPr userDrawn="1"/>
        </p:nvPicPr>
        <p:blipFill>
          <a:blip r:embed="rId3"/>
          <a:srcRect/>
          <a:stretch/>
        </p:blipFill>
        <p:spPr>
          <a:xfrm>
            <a:off x="-31549" y="-10510"/>
            <a:ext cx="1167955" cy="6912000"/>
          </a:xfrm>
          <a:prstGeom prst="rect">
            <a:avLst/>
          </a:prstGeom>
        </p:spPr>
      </p:pic>
    </p:spTree>
    <p:extLst>
      <p:ext uri="{BB962C8B-B14F-4D97-AF65-F5344CB8AC3E}">
        <p14:creationId xmlns:p14="http://schemas.microsoft.com/office/powerpoint/2010/main" val="419572849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ection Header">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806118-0840-574D-AD0F-62FBB748D13C}"/>
              </a:ext>
            </a:extLst>
          </p:cNvPr>
          <p:cNvSpPr>
            <a:spLocks noGrp="1"/>
          </p:cNvSpPr>
          <p:nvPr>
            <p:ph type="ctrTitle" hasCustomPrompt="1"/>
          </p:nvPr>
        </p:nvSpPr>
        <p:spPr>
          <a:xfrm>
            <a:off x="2997987" y="1817520"/>
            <a:ext cx="3540643" cy="1381125"/>
          </a:xfrm>
        </p:spPr>
        <p:txBody>
          <a:bodyPr anchor="b">
            <a:normAutofit/>
          </a:bodyPr>
          <a:lstStyle>
            <a:lvl1pPr algn="l">
              <a:defRPr sz="2400">
                <a:solidFill>
                  <a:schemeClr val="tx1"/>
                </a:solidFill>
              </a:defRPr>
            </a:lvl1pPr>
          </a:lstStyle>
          <a:p>
            <a:r>
              <a:rPr lang="en-US" dirty="0"/>
              <a:t>DIVIDER</a:t>
            </a:r>
            <a:br>
              <a:rPr lang="en-US" dirty="0"/>
            </a:br>
            <a:r>
              <a:rPr lang="en-US" dirty="0"/>
              <a:t>SLIDE</a:t>
            </a:r>
          </a:p>
        </p:txBody>
      </p:sp>
      <p:sp>
        <p:nvSpPr>
          <p:cNvPr id="7" name="Rectangle 6">
            <a:extLst>
              <a:ext uri="{FF2B5EF4-FFF2-40B4-BE49-F238E27FC236}">
                <a16:creationId xmlns:a16="http://schemas.microsoft.com/office/drawing/2014/main" id="{871947E7-DACC-CA46-9951-175FD059B99E}"/>
              </a:ext>
            </a:extLst>
          </p:cNvPr>
          <p:cNvSpPr/>
          <p:nvPr userDrawn="1"/>
        </p:nvSpPr>
        <p:spPr>
          <a:xfrm>
            <a:off x="627321" y="-1786270"/>
            <a:ext cx="914400" cy="9144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 name="Picture 9"/>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526761" y="5696053"/>
            <a:ext cx="1439953" cy="936000"/>
          </a:xfrm>
          <a:prstGeom prst="rect">
            <a:avLst/>
          </a:prstGeom>
        </p:spPr>
      </p:pic>
      <p:sp>
        <p:nvSpPr>
          <p:cNvPr id="9" name="Slide Number Placeholder 5">
            <a:extLst>
              <a:ext uri="{FF2B5EF4-FFF2-40B4-BE49-F238E27FC236}">
                <a16:creationId xmlns:a16="http://schemas.microsoft.com/office/drawing/2014/main" id="{A50C40EB-9722-8244-8C4B-58C77EAC766D}"/>
              </a:ext>
            </a:extLst>
          </p:cNvPr>
          <p:cNvSpPr>
            <a:spLocks noGrp="1"/>
          </p:cNvSpPr>
          <p:nvPr>
            <p:ph type="sldNum" sz="quarter" idx="12"/>
          </p:nvPr>
        </p:nvSpPr>
        <p:spPr>
          <a:xfrm>
            <a:off x="7557977" y="6313820"/>
            <a:ext cx="2743200" cy="365125"/>
          </a:xfrm>
        </p:spPr>
        <p:txBody>
          <a:bodyPr/>
          <a:lstStyle>
            <a:lvl1pPr>
              <a:defRPr sz="1100"/>
            </a:lvl1pPr>
          </a:lstStyle>
          <a:p>
            <a:fld id="{85DA3A08-9E66-614E-AAE5-F810EFDD6885}" type="slidenum">
              <a:rPr lang="en-US" smtClean="0"/>
              <a:pPr/>
              <a:t>‹#›</a:t>
            </a:fld>
            <a:endParaRPr lang="en-US" dirty="0"/>
          </a:p>
        </p:txBody>
      </p:sp>
      <p:pic>
        <p:nvPicPr>
          <p:cNvPr id="12" name="Picture 11">
            <a:extLst>
              <a:ext uri="{FF2B5EF4-FFF2-40B4-BE49-F238E27FC236}">
                <a16:creationId xmlns:a16="http://schemas.microsoft.com/office/drawing/2014/main" id="{936C6409-780F-2E42-A10A-2D119A4CE137}"/>
              </a:ext>
            </a:extLst>
          </p:cNvPr>
          <p:cNvPicPr>
            <a:picLocks noChangeAspect="1"/>
          </p:cNvPicPr>
          <p:nvPr userDrawn="1"/>
        </p:nvPicPr>
        <p:blipFill>
          <a:blip r:embed="rId3"/>
          <a:srcRect/>
          <a:stretch/>
        </p:blipFill>
        <p:spPr>
          <a:xfrm>
            <a:off x="0" y="-21772"/>
            <a:ext cx="2502124" cy="6912000"/>
          </a:xfrm>
          <a:prstGeom prst="rect">
            <a:avLst/>
          </a:prstGeom>
        </p:spPr>
      </p:pic>
      <p:sp>
        <p:nvSpPr>
          <p:cNvPr id="8" name="Rectangle 7">
            <a:extLst>
              <a:ext uri="{FF2B5EF4-FFF2-40B4-BE49-F238E27FC236}">
                <a16:creationId xmlns:a16="http://schemas.microsoft.com/office/drawing/2014/main" id="{DD26ADAA-A976-7E46-9C6E-AAB46C1CD48F}"/>
              </a:ext>
            </a:extLst>
          </p:cNvPr>
          <p:cNvSpPr/>
          <p:nvPr userDrawn="1"/>
        </p:nvSpPr>
        <p:spPr>
          <a:xfrm>
            <a:off x="3117620" y="3275556"/>
            <a:ext cx="510363" cy="101489"/>
          </a:xfrm>
          <a:prstGeom prst="rect">
            <a:avLst/>
          </a:prstGeom>
          <a:solidFill>
            <a:srgbClr val="5A964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82095204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2/24/26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2/24/26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1_Title Slide">
    <p:bg>
      <p:bgPr>
        <a:solidFill>
          <a:schemeClr val="bg1"/>
        </a:solidFill>
        <a:effectLst/>
      </p:bgPr>
    </p:bg>
    <p:spTree>
      <p:nvGrpSpPr>
        <p:cNvPr id="1" name=""/>
        <p:cNvGrpSpPr/>
        <p:nvPr/>
      </p:nvGrpSpPr>
      <p:grpSpPr>
        <a:xfrm>
          <a:off x="0" y="0"/>
          <a:ext cx="0" cy="0"/>
          <a:chOff x="0" y="0"/>
          <a:chExt cx="0" cy="0"/>
        </a:xfrm>
      </p:grpSpPr>
      <p:pic>
        <p:nvPicPr>
          <p:cNvPr id="6" name="Picture 5" descr="Background pattern&#10;&#10;Description automatically generated">
            <a:extLst>
              <a:ext uri="{FF2B5EF4-FFF2-40B4-BE49-F238E27FC236}">
                <a16:creationId xmlns:a16="http://schemas.microsoft.com/office/drawing/2014/main" id="{8D0F3025-A031-3143-B45B-2EBE64C48C12}"/>
              </a:ext>
            </a:extLst>
          </p:cNvPr>
          <p:cNvPicPr>
            <a:picLocks noChangeAspect="1"/>
          </p:cNvPicPr>
          <p:nvPr userDrawn="1"/>
        </p:nvPicPr>
        <p:blipFill>
          <a:blip r:embed="rId2"/>
          <a:stretch>
            <a:fillRect/>
          </a:stretch>
        </p:blipFill>
        <p:spPr>
          <a:xfrm>
            <a:off x="0" y="0"/>
            <a:ext cx="5298067" cy="6858000"/>
          </a:xfrm>
          <a:prstGeom prst="rect">
            <a:avLst/>
          </a:prstGeom>
        </p:spPr>
      </p:pic>
      <p:sp>
        <p:nvSpPr>
          <p:cNvPr id="2" name="Title 1">
            <a:extLst>
              <a:ext uri="{FF2B5EF4-FFF2-40B4-BE49-F238E27FC236}">
                <a16:creationId xmlns:a16="http://schemas.microsoft.com/office/drawing/2014/main" id="{AF806118-0840-574D-AD0F-62FBB748D13C}"/>
              </a:ext>
            </a:extLst>
          </p:cNvPr>
          <p:cNvSpPr>
            <a:spLocks noGrp="1"/>
          </p:cNvSpPr>
          <p:nvPr>
            <p:ph type="ctrTitle" hasCustomPrompt="1"/>
          </p:nvPr>
        </p:nvSpPr>
        <p:spPr>
          <a:xfrm>
            <a:off x="765005" y="1307738"/>
            <a:ext cx="3540643" cy="1381125"/>
          </a:xfrm>
        </p:spPr>
        <p:txBody>
          <a:bodyPr anchor="b" anchorCtr="0">
            <a:normAutofit/>
          </a:bodyPr>
          <a:lstStyle>
            <a:lvl1pPr algn="l">
              <a:defRPr sz="3500">
                <a:solidFill>
                  <a:schemeClr val="bg1"/>
                </a:solidFill>
              </a:defRPr>
            </a:lvl1pPr>
          </a:lstStyle>
          <a:p>
            <a:r>
              <a:rPr lang="en-US" dirty="0"/>
              <a:t>CONTENT</a:t>
            </a:r>
            <a:br>
              <a:rPr lang="en-US" dirty="0"/>
            </a:br>
            <a:r>
              <a:rPr lang="en-US" dirty="0"/>
              <a:t>PAGE</a:t>
            </a:r>
          </a:p>
        </p:txBody>
      </p:sp>
      <p:sp>
        <p:nvSpPr>
          <p:cNvPr id="3" name="Subtitle 2">
            <a:extLst>
              <a:ext uri="{FF2B5EF4-FFF2-40B4-BE49-F238E27FC236}">
                <a16:creationId xmlns:a16="http://schemas.microsoft.com/office/drawing/2014/main" id="{D46EA0A7-1E73-F64D-9AC7-B8EFBCA6BAAE}"/>
              </a:ext>
            </a:extLst>
          </p:cNvPr>
          <p:cNvSpPr>
            <a:spLocks noGrp="1"/>
          </p:cNvSpPr>
          <p:nvPr>
            <p:ph type="subTitle" idx="1" hasCustomPrompt="1"/>
          </p:nvPr>
        </p:nvSpPr>
        <p:spPr>
          <a:xfrm>
            <a:off x="5523651" y="1311609"/>
            <a:ext cx="5903344" cy="4725200"/>
          </a:xfrm>
        </p:spPr>
        <p:txBody>
          <a:bodyPr/>
          <a:lstStyle>
            <a:lvl1pPr marL="457200" indent="-457200" algn="l">
              <a:buFont typeface="+mj-lt"/>
              <a:buAutoNum type="arabicPeriod"/>
              <a:defRPr sz="240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content</a:t>
            </a:r>
          </a:p>
          <a:p>
            <a:endParaRPr lang="en-US" dirty="0"/>
          </a:p>
        </p:txBody>
      </p:sp>
      <p:sp>
        <p:nvSpPr>
          <p:cNvPr id="7" name="Rectangle 6">
            <a:extLst>
              <a:ext uri="{FF2B5EF4-FFF2-40B4-BE49-F238E27FC236}">
                <a16:creationId xmlns:a16="http://schemas.microsoft.com/office/drawing/2014/main" id="{871947E7-DACC-CA46-9951-175FD059B99E}"/>
              </a:ext>
            </a:extLst>
          </p:cNvPr>
          <p:cNvSpPr/>
          <p:nvPr userDrawn="1"/>
        </p:nvSpPr>
        <p:spPr>
          <a:xfrm>
            <a:off x="627321" y="-1786270"/>
            <a:ext cx="914400" cy="9144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Slide Number Placeholder 5">
            <a:extLst>
              <a:ext uri="{FF2B5EF4-FFF2-40B4-BE49-F238E27FC236}">
                <a16:creationId xmlns:a16="http://schemas.microsoft.com/office/drawing/2014/main" id="{FB221DBE-BC54-6C4C-BA1C-95E280B67712}"/>
              </a:ext>
            </a:extLst>
          </p:cNvPr>
          <p:cNvSpPr>
            <a:spLocks noGrp="1"/>
          </p:cNvSpPr>
          <p:nvPr>
            <p:ph type="sldNum" sz="quarter" idx="12"/>
          </p:nvPr>
        </p:nvSpPr>
        <p:spPr>
          <a:xfrm>
            <a:off x="7557977" y="6313820"/>
            <a:ext cx="2743200" cy="365125"/>
          </a:xfrm>
        </p:spPr>
        <p:txBody>
          <a:bodyPr/>
          <a:lstStyle>
            <a:lvl1pPr>
              <a:defRPr sz="1100"/>
            </a:lvl1pPr>
          </a:lstStyle>
          <a:p>
            <a:fld id="{85DA3A08-9E66-614E-AAE5-F810EFDD6885}" type="slidenum">
              <a:rPr lang="en-US" smtClean="0"/>
              <a:pPr/>
              <a:t>‹#›</a:t>
            </a:fld>
            <a:endParaRPr lang="en-US" dirty="0"/>
          </a:p>
        </p:txBody>
      </p:sp>
      <p:pic>
        <p:nvPicPr>
          <p:cNvPr id="12" name="Picture 11">
            <a:extLst>
              <a:ext uri="{FF2B5EF4-FFF2-40B4-BE49-F238E27FC236}">
                <a16:creationId xmlns:a16="http://schemas.microsoft.com/office/drawing/2014/main" id="{9D801F86-E697-6C4F-88EA-99A60AD63591}"/>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0526761" y="5696053"/>
            <a:ext cx="1439953" cy="936000"/>
          </a:xfrm>
          <a:prstGeom prst="rect">
            <a:avLst/>
          </a:prstGeom>
        </p:spPr>
      </p:pic>
      <p:sp>
        <p:nvSpPr>
          <p:cNvPr id="9" name="Rectangle 8">
            <a:extLst>
              <a:ext uri="{FF2B5EF4-FFF2-40B4-BE49-F238E27FC236}">
                <a16:creationId xmlns:a16="http://schemas.microsoft.com/office/drawing/2014/main" id="{C048EE3F-3194-284A-A9A0-E847CB070626}"/>
              </a:ext>
            </a:extLst>
          </p:cNvPr>
          <p:cNvSpPr/>
          <p:nvPr userDrawn="1"/>
        </p:nvSpPr>
        <p:spPr>
          <a:xfrm>
            <a:off x="862792" y="2781983"/>
            <a:ext cx="510363" cy="101489"/>
          </a:xfrm>
          <a:prstGeom prst="rect">
            <a:avLst/>
          </a:prstGeom>
          <a:solidFill>
            <a:srgbClr val="5A964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02732463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2/24/26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2/24/26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 preserve="1">
  <p:cSld name="10_Title and Content">
    <p:bg>
      <p:bgPr>
        <a:solidFill>
          <a:schemeClr val="bg1"/>
        </a:solidFill>
        <a:effectLst/>
      </p:bgPr>
    </p:bg>
    <p:spTree>
      <p:nvGrpSpPr>
        <p:cNvPr id="1" name=""/>
        <p:cNvGrpSpPr/>
        <p:nvPr/>
      </p:nvGrpSpPr>
      <p:grpSpPr>
        <a:xfrm>
          <a:off x="0" y="0"/>
          <a:ext cx="0" cy="0"/>
          <a:chOff x="0" y="0"/>
          <a:chExt cx="0" cy="0"/>
        </a:xfrm>
      </p:grpSpPr>
      <p:sp>
        <p:nvSpPr>
          <p:cNvPr id="4" name="Rectangle 3"/>
          <p:cNvSpPr/>
          <p:nvPr userDrawn="1"/>
        </p:nvSpPr>
        <p:spPr>
          <a:xfrm>
            <a:off x="0" y="0"/>
            <a:ext cx="4379495" cy="6858000"/>
          </a:xfrm>
          <a:prstGeom prst="rect">
            <a:avLst/>
          </a:prstGeom>
          <a:solidFill>
            <a:srgbClr val="062C4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C631292-24AE-5F41-8820-196C7D8E36A1}"/>
              </a:ext>
            </a:extLst>
          </p:cNvPr>
          <p:cNvSpPr>
            <a:spLocks noGrp="1"/>
          </p:cNvSpPr>
          <p:nvPr>
            <p:ph type="title"/>
          </p:nvPr>
        </p:nvSpPr>
        <p:spPr>
          <a:xfrm>
            <a:off x="483579" y="365125"/>
            <a:ext cx="3463388" cy="850217"/>
          </a:xfrm>
        </p:spPr>
        <p:txBody>
          <a:bodyPr anchor="b" anchorCtr="0">
            <a:normAutofit/>
          </a:bodyPr>
          <a:lstStyle>
            <a:lvl1pPr>
              <a:defRPr sz="2500">
                <a:solidFill>
                  <a:schemeClr val="bg1"/>
                </a:solidFill>
              </a:defRPr>
            </a:lvl1pPr>
          </a:lstStyle>
          <a:p>
            <a:r>
              <a:rPr lang="en-US" dirty="0"/>
              <a:t>Click to edit Master title style</a:t>
            </a:r>
          </a:p>
        </p:txBody>
      </p:sp>
      <p:sp>
        <p:nvSpPr>
          <p:cNvPr id="3" name="Content Placeholder 2">
            <a:extLst>
              <a:ext uri="{FF2B5EF4-FFF2-40B4-BE49-F238E27FC236}">
                <a16:creationId xmlns:a16="http://schemas.microsoft.com/office/drawing/2014/main" id="{9C966DDB-3364-1B41-9729-DB3686A721C5}"/>
              </a:ext>
            </a:extLst>
          </p:cNvPr>
          <p:cNvSpPr>
            <a:spLocks noGrp="1"/>
          </p:cNvSpPr>
          <p:nvPr>
            <p:ph idx="1"/>
          </p:nvPr>
        </p:nvSpPr>
        <p:spPr>
          <a:xfrm>
            <a:off x="575212" y="1531088"/>
            <a:ext cx="3463388" cy="4782732"/>
          </a:xfrm>
        </p:spPr>
        <p:txBody>
          <a:bodyPr/>
          <a:lstStyle>
            <a:lvl1pPr>
              <a:defRPr sz="2000">
                <a:solidFill>
                  <a:schemeClr val="bg1"/>
                </a:solidFill>
              </a:defRPr>
            </a:lvl1pPr>
            <a:lvl2pPr>
              <a:defRPr sz="1800">
                <a:solidFill>
                  <a:schemeClr val="bg1"/>
                </a:solidFill>
              </a:defRPr>
            </a:lvl2pPr>
            <a:lvl3pPr>
              <a:defRPr sz="1600">
                <a:solidFill>
                  <a:schemeClr val="bg1"/>
                </a:solidFill>
              </a:defRPr>
            </a:lvl3pPr>
            <a:lvl4pPr>
              <a:defRPr sz="1400">
                <a:solidFill>
                  <a:schemeClr val="bg1"/>
                </a:solidFill>
              </a:defRPr>
            </a:lvl4pPr>
            <a:lvl5pPr>
              <a:defRPr sz="1200">
                <a:solidFill>
                  <a:schemeClr val="bg1"/>
                </a:solidFill>
              </a:defRPr>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Slide Number Placeholder 5">
            <a:extLst>
              <a:ext uri="{FF2B5EF4-FFF2-40B4-BE49-F238E27FC236}">
                <a16:creationId xmlns:a16="http://schemas.microsoft.com/office/drawing/2014/main" id="{FB221DBE-BC54-6C4C-BA1C-95E280B67712}"/>
              </a:ext>
            </a:extLst>
          </p:cNvPr>
          <p:cNvSpPr>
            <a:spLocks noGrp="1"/>
          </p:cNvSpPr>
          <p:nvPr>
            <p:ph type="sldNum" sz="quarter" idx="12"/>
          </p:nvPr>
        </p:nvSpPr>
        <p:spPr>
          <a:xfrm>
            <a:off x="7557977" y="6313820"/>
            <a:ext cx="2743200" cy="365125"/>
          </a:xfrm>
        </p:spPr>
        <p:txBody>
          <a:bodyPr/>
          <a:lstStyle>
            <a:lvl1pPr>
              <a:defRPr sz="1100"/>
            </a:lvl1pPr>
          </a:lstStyle>
          <a:p>
            <a:fld id="{85DA3A08-9E66-614E-AAE5-F810EFDD6885}" type="slidenum">
              <a:rPr lang="en-US" smtClean="0"/>
              <a:pPr/>
              <a:t>‹#›</a:t>
            </a:fld>
            <a:endParaRPr lang="en-US" dirty="0"/>
          </a:p>
        </p:txBody>
      </p:sp>
      <p:sp>
        <p:nvSpPr>
          <p:cNvPr id="5" name="Content Placeholder 2">
            <a:extLst>
              <a:ext uri="{FF2B5EF4-FFF2-40B4-BE49-F238E27FC236}">
                <a16:creationId xmlns:a16="http://schemas.microsoft.com/office/drawing/2014/main" id="{BE566692-5016-B349-BD9B-BB0C554A858F}"/>
              </a:ext>
            </a:extLst>
          </p:cNvPr>
          <p:cNvSpPr>
            <a:spLocks noGrp="1"/>
          </p:cNvSpPr>
          <p:nvPr>
            <p:ph idx="13"/>
          </p:nvPr>
        </p:nvSpPr>
        <p:spPr>
          <a:xfrm>
            <a:off x="4379495" y="0"/>
            <a:ext cx="6026775" cy="6857999"/>
          </a:xfrm>
        </p:spPr>
        <p:txBody>
          <a:bodyPr/>
          <a:lstStyle>
            <a:lvl1pPr marL="0" indent="0">
              <a:buNone/>
              <a:defRPr sz="2000">
                <a:solidFill>
                  <a:schemeClr val="tx1"/>
                </a:solidFill>
              </a:defRPr>
            </a:lvl1pPr>
            <a:lvl2pPr>
              <a:defRPr sz="1800">
                <a:solidFill>
                  <a:schemeClr val="bg1"/>
                </a:solidFill>
              </a:defRPr>
            </a:lvl2pPr>
            <a:lvl3pPr>
              <a:defRPr sz="1600">
                <a:solidFill>
                  <a:schemeClr val="bg1"/>
                </a:solidFill>
              </a:defRPr>
            </a:lvl3pPr>
            <a:lvl4pPr>
              <a:defRPr sz="1400">
                <a:solidFill>
                  <a:schemeClr val="bg1"/>
                </a:solidFill>
              </a:defRPr>
            </a:lvl4pPr>
            <a:lvl5pPr>
              <a:defRPr sz="1200">
                <a:solidFill>
                  <a:schemeClr val="bg1"/>
                </a:solidFill>
              </a:defRPr>
            </a:lvl5pPr>
          </a:lstStyle>
          <a:p>
            <a:pPr lvl="0"/>
            <a:endParaRPr lang="en-US" dirty="0"/>
          </a:p>
        </p:txBody>
      </p:sp>
      <p:pic>
        <p:nvPicPr>
          <p:cNvPr id="11" name="Picture 10">
            <a:extLst>
              <a:ext uri="{FF2B5EF4-FFF2-40B4-BE49-F238E27FC236}">
                <a16:creationId xmlns:a16="http://schemas.microsoft.com/office/drawing/2014/main" id="{C77E07AA-F835-5247-94AF-8930E4371B55}"/>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526761" y="5696053"/>
            <a:ext cx="1439953" cy="936000"/>
          </a:xfrm>
          <a:prstGeom prst="rect">
            <a:avLst/>
          </a:prstGeom>
        </p:spPr>
      </p:pic>
    </p:spTree>
    <p:extLst>
      <p:ext uri="{BB962C8B-B14F-4D97-AF65-F5344CB8AC3E}">
        <p14:creationId xmlns:p14="http://schemas.microsoft.com/office/powerpoint/2010/main" val="202625811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obj" preserve="1">
  <p:cSld name="1_Title and Content">
    <p:bg>
      <p:bgPr>
        <a:solidFill>
          <a:srgbClr val="062C4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631292-24AE-5F41-8820-196C7D8E36A1}"/>
              </a:ext>
            </a:extLst>
          </p:cNvPr>
          <p:cNvSpPr>
            <a:spLocks noGrp="1"/>
          </p:cNvSpPr>
          <p:nvPr>
            <p:ph type="title"/>
          </p:nvPr>
        </p:nvSpPr>
        <p:spPr>
          <a:xfrm>
            <a:off x="537175" y="365125"/>
            <a:ext cx="11061790" cy="666233"/>
          </a:xfrm>
        </p:spPr>
        <p:txBody>
          <a:bodyPr anchor="b" anchorCtr="0"/>
          <a:lstStyle>
            <a:lvl1pPr>
              <a:defRPr>
                <a:solidFill>
                  <a:schemeClr val="bg1"/>
                </a:solidFill>
              </a:defRPr>
            </a:lvl1pPr>
          </a:lstStyle>
          <a:p>
            <a:r>
              <a:rPr lang="en-US" dirty="0"/>
              <a:t>Click to edit Master title style</a:t>
            </a:r>
          </a:p>
        </p:txBody>
      </p:sp>
      <p:sp>
        <p:nvSpPr>
          <p:cNvPr id="3" name="Content Placeholder 2">
            <a:extLst>
              <a:ext uri="{FF2B5EF4-FFF2-40B4-BE49-F238E27FC236}">
                <a16:creationId xmlns:a16="http://schemas.microsoft.com/office/drawing/2014/main" id="{9C966DDB-3364-1B41-9729-DB3686A721C5}"/>
              </a:ext>
            </a:extLst>
          </p:cNvPr>
          <p:cNvSpPr>
            <a:spLocks noGrp="1"/>
          </p:cNvSpPr>
          <p:nvPr>
            <p:ph idx="1"/>
          </p:nvPr>
        </p:nvSpPr>
        <p:spPr>
          <a:xfrm>
            <a:off x="537175" y="1531088"/>
            <a:ext cx="11061790" cy="4645875"/>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Slide Number Placeholder 5">
            <a:extLst>
              <a:ext uri="{FF2B5EF4-FFF2-40B4-BE49-F238E27FC236}">
                <a16:creationId xmlns:a16="http://schemas.microsoft.com/office/drawing/2014/main" id="{FB221DBE-BC54-6C4C-BA1C-95E280B67712}"/>
              </a:ext>
            </a:extLst>
          </p:cNvPr>
          <p:cNvSpPr>
            <a:spLocks noGrp="1"/>
          </p:cNvSpPr>
          <p:nvPr>
            <p:ph type="sldNum" sz="quarter" idx="12"/>
          </p:nvPr>
        </p:nvSpPr>
        <p:spPr>
          <a:xfrm>
            <a:off x="7557977" y="6313820"/>
            <a:ext cx="2743200" cy="365125"/>
          </a:xfrm>
        </p:spPr>
        <p:txBody>
          <a:bodyPr/>
          <a:lstStyle>
            <a:lvl1pPr>
              <a:defRPr sz="1100"/>
            </a:lvl1pPr>
          </a:lstStyle>
          <a:p>
            <a:fld id="{85DA3A08-9E66-614E-AAE5-F810EFDD6885}" type="slidenum">
              <a:rPr lang="en-US" smtClean="0"/>
              <a:pPr/>
              <a:t>‹#›</a:t>
            </a:fld>
            <a:endParaRPr lang="en-US" dirty="0"/>
          </a:p>
        </p:txBody>
      </p:sp>
      <p:pic>
        <p:nvPicPr>
          <p:cNvPr id="12" name="Picture 11"/>
          <p:cNvPicPr>
            <a:picLocks noChangeAspect="1"/>
          </p:cNvPicPr>
          <p:nvPr userDrawn="1"/>
        </p:nvPicPr>
        <p:blipFill>
          <a:blip r:embed="rId2"/>
          <a:stretch>
            <a:fillRect/>
          </a:stretch>
        </p:blipFill>
        <p:spPr>
          <a:xfrm>
            <a:off x="10598201" y="5760720"/>
            <a:ext cx="1297072" cy="838708"/>
          </a:xfrm>
          <a:prstGeom prst="rect">
            <a:avLst/>
          </a:prstGeom>
        </p:spPr>
      </p:pic>
    </p:spTree>
    <p:extLst>
      <p:ext uri="{BB962C8B-B14F-4D97-AF65-F5344CB8AC3E}">
        <p14:creationId xmlns:p14="http://schemas.microsoft.com/office/powerpoint/2010/main" val="211231211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obj" preserve="1">
  <p:cSld name="6_Title and Content">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631292-24AE-5F41-8820-196C7D8E36A1}"/>
              </a:ext>
            </a:extLst>
          </p:cNvPr>
          <p:cNvSpPr>
            <a:spLocks noGrp="1"/>
          </p:cNvSpPr>
          <p:nvPr>
            <p:ph type="title"/>
          </p:nvPr>
        </p:nvSpPr>
        <p:spPr>
          <a:xfrm>
            <a:off x="2004392" y="365125"/>
            <a:ext cx="9962322" cy="666233"/>
          </a:xfrm>
        </p:spPr>
        <p:txBody>
          <a:bodyPr anchor="b" anchorCtr="0"/>
          <a:lstStyle>
            <a:lvl1pPr>
              <a:defRPr>
                <a:solidFill>
                  <a:schemeClr val="tx1"/>
                </a:solidFill>
              </a:defRPr>
            </a:lvl1pPr>
          </a:lstStyle>
          <a:p>
            <a:r>
              <a:rPr lang="en-US" dirty="0"/>
              <a:t>Click to edit Master title style</a:t>
            </a:r>
          </a:p>
        </p:txBody>
      </p:sp>
      <p:sp>
        <p:nvSpPr>
          <p:cNvPr id="3" name="Content Placeholder 2">
            <a:extLst>
              <a:ext uri="{FF2B5EF4-FFF2-40B4-BE49-F238E27FC236}">
                <a16:creationId xmlns:a16="http://schemas.microsoft.com/office/drawing/2014/main" id="{9C966DDB-3364-1B41-9729-DB3686A721C5}"/>
              </a:ext>
            </a:extLst>
          </p:cNvPr>
          <p:cNvSpPr>
            <a:spLocks noGrp="1"/>
          </p:cNvSpPr>
          <p:nvPr>
            <p:ph idx="1"/>
          </p:nvPr>
        </p:nvSpPr>
        <p:spPr>
          <a:xfrm>
            <a:off x="2004392" y="1531088"/>
            <a:ext cx="9962322" cy="4645875"/>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Slide Number Placeholder 5">
            <a:extLst>
              <a:ext uri="{FF2B5EF4-FFF2-40B4-BE49-F238E27FC236}">
                <a16:creationId xmlns:a16="http://schemas.microsoft.com/office/drawing/2014/main" id="{FB221DBE-BC54-6C4C-BA1C-95E280B67712}"/>
              </a:ext>
            </a:extLst>
          </p:cNvPr>
          <p:cNvSpPr>
            <a:spLocks noGrp="1"/>
          </p:cNvSpPr>
          <p:nvPr>
            <p:ph type="sldNum" sz="quarter" idx="12"/>
          </p:nvPr>
        </p:nvSpPr>
        <p:spPr>
          <a:xfrm>
            <a:off x="7557977" y="6313820"/>
            <a:ext cx="2743200" cy="365125"/>
          </a:xfrm>
        </p:spPr>
        <p:txBody>
          <a:bodyPr/>
          <a:lstStyle>
            <a:lvl1pPr>
              <a:defRPr sz="1100"/>
            </a:lvl1pPr>
          </a:lstStyle>
          <a:p>
            <a:fld id="{85DA3A08-9E66-614E-AAE5-F810EFDD6885}" type="slidenum">
              <a:rPr lang="en-US" smtClean="0"/>
              <a:pPr/>
              <a:t>‹#›</a:t>
            </a:fld>
            <a:endParaRPr lang="en-US" dirty="0"/>
          </a:p>
        </p:txBody>
      </p:sp>
      <p:pic>
        <p:nvPicPr>
          <p:cNvPr id="10" name="Picture 9"/>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526761" y="5696053"/>
            <a:ext cx="1439953" cy="936000"/>
          </a:xfrm>
          <a:prstGeom prst="rect">
            <a:avLst/>
          </a:prstGeom>
        </p:spPr>
      </p:pic>
      <p:pic>
        <p:nvPicPr>
          <p:cNvPr id="5" name="Picture 4">
            <a:extLst>
              <a:ext uri="{FF2B5EF4-FFF2-40B4-BE49-F238E27FC236}">
                <a16:creationId xmlns:a16="http://schemas.microsoft.com/office/drawing/2014/main" id="{886A0B06-480A-F44A-8B85-346CF183476D}"/>
              </a:ext>
            </a:extLst>
          </p:cNvPr>
          <p:cNvPicPr>
            <a:picLocks noChangeAspect="1"/>
          </p:cNvPicPr>
          <p:nvPr userDrawn="1"/>
        </p:nvPicPr>
        <p:blipFill>
          <a:blip r:embed="rId3"/>
          <a:srcRect/>
          <a:stretch/>
        </p:blipFill>
        <p:spPr>
          <a:xfrm>
            <a:off x="-4652" y="0"/>
            <a:ext cx="1895475" cy="6858000"/>
          </a:xfrm>
          <a:prstGeom prst="rect">
            <a:avLst/>
          </a:prstGeom>
        </p:spPr>
      </p:pic>
    </p:spTree>
    <p:extLst>
      <p:ext uri="{BB962C8B-B14F-4D97-AF65-F5344CB8AC3E}">
        <p14:creationId xmlns:p14="http://schemas.microsoft.com/office/powerpoint/2010/main" val="247938496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3_Title and Content">
    <p:bg>
      <p:bgPr>
        <a:solidFill>
          <a:schemeClr val="bg1"/>
        </a:solidFill>
        <a:effectLst/>
      </p:bgPr>
    </p:bg>
    <p:spTree>
      <p:nvGrpSpPr>
        <p:cNvPr id="1" name=""/>
        <p:cNvGrpSpPr/>
        <p:nvPr/>
      </p:nvGrpSpPr>
      <p:grpSpPr>
        <a:xfrm>
          <a:off x="0" y="0"/>
          <a:ext cx="0" cy="0"/>
          <a:chOff x="0" y="0"/>
          <a:chExt cx="0" cy="0"/>
        </a:xfrm>
      </p:grpSpPr>
      <p:sp>
        <p:nvSpPr>
          <p:cNvPr id="5" name="Content Placeholder 2">
            <a:extLst>
              <a:ext uri="{FF2B5EF4-FFF2-40B4-BE49-F238E27FC236}">
                <a16:creationId xmlns:a16="http://schemas.microsoft.com/office/drawing/2014/main" id="{6A263750-C6D6-9140-B23A-412FC9B93104}"/>
              </a:ext>
            </a:extLst>
          </p:cNvPr>
          <p:cNvSpPr>
            <a:spLocks noGrp="1"/>
          </p:cNvSpPr>
          <p:nvPr>
            <p:ph sz="half" idx="1"/>
          </p:nvPr>
        </p:nvSpPr>
        <p:spPr>
          <a:xfrm>
            <a:off x="1136408" y="1240835"/>
            <a:ext cx="5181600" cy="5181230"/>
          </a:xfrm>
        </p:spPr>
        <p:txBody>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Content Placeholder 3">
            <a:extLst>
              <a:ext uri="{FF2B5EF4-FFF2-40B4-BE49-F238E27FC236}">
                <a16:creationId xmlns:a16="http://schemas.microsoft.com/office/drawing/2014/main" id="{09DD4EAB-EE77-A640-8BFE-C74B32D55E78}"/>
              </a:ext>
            </a:extLst>
          </p:cNvPr>
          <p:cNvSpPr>
            <a:spLocks noGrp="1"/>
          </p:cNvSpPr>
          <p:nvPr>
            <p:ph sz="half" idx="2"/>
          </p:nvPr>
        </p:nvSpPr>
        <p:spPr>
          <a:xfrm>
            <a:off x="6500533" y="1240835"/>
            <a:ext cx="5181600" cy="5181230"/>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Slide Number Placeholder 5">
            <a:extLst>
              <a:ext uri="{FF2B5EF4-FFF2-40B4-BE49-F238E27FC236}">
                <a16:creationId xmlns:a16="http://schemas.microsoft.com/office/drawing/2014/main" id="{94EFE0C0-0926-4B46-A65E-069D8E848CB5}"/>
              </a:ext>
            </a:extLst>
          </p:cNvPr>
          <p:cNvSpPr>
            <a:spLocks noGrp="1"/>
          </p:cNvSpPr>
          <p:nvPr>
            <p:ph type="sldNum" sz="quarter" idx="12"/>
          </p:nvPr>
        </p:nvSpPr>
        <p:spPr>
          <a:xfrm>
            <a:off x="7557977" y="6313820"/>
            <a:ext cx="2743200" cy="365125"/>
          </a:xfrm>
        </p:spPr>
        <p:txBody>
          <a:bodyPr/>
          <a:lstStyle>
            <a:lvl1pPr>
              <a:defRPr sz="1100"/>
            </a:lvl1pPr>
          </a:lstStyle>
          <a:p>
            <a:fld id="{85DA3A08-9E66-614E-AAE5-F810EFDD6885}" type="slidenum">
              <a:rPr lang="en-US" smtClean="0"/>
              <a:pPr/>
              <a:t>‹#›</a:t>
            </a:fld>
            <a:endParaRPr lang="en-US" dirty="0"/>
          </a:p>
        </p:txBody>
      </p:sp>
      <p:sp>
        <p:nvSpPr>
          <p:cNvPr id="9" name="Title 1">
            <a:extLst>
              <a:ext uri="{FF2B5EF4-FFF2-40B4-BE49-F238E27FC236}">
                <a16:creationId xmlns:a16="http://schemas.microsoft.com/office/drawing/2014/main" id="{106F284E-B08A-7047-A440-A30BAA91B409}"/>
              </a:ext>
            </a:extLst>
          </p:cNvPr>
          <p:cNvSpPr>
            <a:spLocks noGrp="1"/>
          </p:cNvSpPr>
          <p:nvPr>
            <p:ph type="title"/>
          </p:nvPr>
        </p:nvSpPr>
        <p:spPr>
          <a:xfrm>
            <a:off x="1136407" y="365125"/>
            <a:ext cx="10545725" cy="666233"/>
          </a:xfrm>
        </p:spPr>
        <p:txBody>
          <a:bodyPr/>
          <a:lstStyle/>
          <a:p>
            <a:r>
              <a:rPr lang="en-US" dirty="0"/>
              <a:t>Click to edit Master title style</a:t>
            </a:r>
          </a:p>
        </p:txBody>
      </p:sp>
      <p:pic>
        <p:nvPicPr>
          <p:cNvPr id="10" name="Picture 9"/>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588384" y="5735570"/>
            <a:ext cx="1323000" cy="864000"/>
          </a:xfrm>
          <a:prstGeom prst="rect">
            <a:avLst/>
          </a:prstGeom>
        </p:spPr>
      </p:pic>
      <p:pic>
        <p:nvPicPr>
          <p:cNvPr id="12" name="Picture 11">
            <a:extLst>
              <a:ext uri="{FF2B5EF4-FFF2-40B4-BE49-F238E27FC236}">
                <a16:creationId xmlns:a16="http://schemas.microsoft.com/office/drawing/2014/main" id="{143AEAEB-E192-E44E-BDBB-DB33F7EE65B8}"/>
              </a:ext>
            </a:extLst>
          </p:cNvPr>
          <p:cNvPicPr>
            <a:picLocks noChangeAspect="1"/>
          </p:cNvPicPr>
          <p:nvPr userDrawn="1"/>
        </p:nvPicPr>
        <p:blipFill>
          <a:blip r:embed="rId3"/>
          <a:srcRect/>
          <a:stretch/>
        </p:blipFill>
        <p:spPr>
          <a:xfrm>
            <a:off x="-31549" y="-10510"/>
            <a:ext cx="1167955" cy="6912000"/>
          </a:xfrm>
          <a:prstGeom prst="rect">
            <a:avLst/>
          </a:prstGeom>
        </p:spPr>
      </p:pic>
    </p:spTree>
    <p:extLst>
      <p:ext uri="{BB962C8B-B14F-4D97-AF65-F5344CB8AC3E}">
        <p14:creationId xmlns:p14="http://schemas.microsoft.com/office/powerpoint/2010/main" val="245639908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7_Title and Content">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631292-24AE-5F41-8820-196C7D8E36A1}"/>
              </a:ext>
            </a:extLst>
          </p:cNvPr>
          <p:cNvSpPr>
            <a:spLocks noGrp="1"/>
          </p:cNvSpPr>
          <p:nvPr>
            <p:ph type="title"/>
          </p:nvPr>
        </p:nvSpPr>
        <p:spPr>
          <a:xfrm>
            <a:off x="2004392" y="365125"/>
            <a:ext cx="9962322" cy="666233"/>
          </a:xfrm>
        </p:spPr>
        <p:txBody>
          <a:bodyPr anchor="b" anchorCtr="0"/>
          <a:lstStyle>
            <a:lvl1pPr>
              <a:defRPr>
                <a:solidFill>
                  <a:schemeClr val="tx1"/>
                </a:solidFill>
              </a:defRPr>
            </a:lvl1pPr>
          </a:lstStyle>
          <a:p>
            <a:r>
              <a:rPr lang="en-US" dirty="0"/>
              <a:t>Click to edit Master title style</a:t>
            </a:r>
          </a:p>
        </p:txBody>
      </p:sp>
      <p:sp>
        <p:nvSpPr>
          <p:cNvPr id="3" name="Content Placeholder 2">
            <a:extLst>
              <a:ext uri="{FF2B5EF4-FFF2-40B4-BE49-F238E27FC236}">
                <a16:creationId xmlns:a16="http://schemas.microsoft.com/office/drawing/2014/main" id="{9C966DDB-3364-1B41-9729-DB3686A721C5}"/>
              </a:ext>
            </a:extLst>
          </p:cNvPr>
          <p:cNvSpPr>
            <a:spLocks noGrp="1"/>
          </p:cNvSpPr>
          <p:nvPr>
            <p:ph idx="1"/>
          </p:nvPr>
        </p:nvSpPr>
        <p:spPr>
          <a:xfrm>
            <a:off x="2004392" y="1531088"/>
            <a:ext cx="9962322" cy="4645875"/>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Slide Number Placeholder 5">
            <a:extLst>
              <a:ext uri="{FF2B5EF4-FFF2-40B4-BE49-F238E27FC236}">
                <a16:creationId xmlns:a16="http://schemas.microsoft.com/office/drawing/2014/main" id="{FB221DBE-BC54-6C4C-BA1C-95E280B67712}"/>
              </a:ext>
            </a:extLst>
          </p:cNvPr>
          <p:cNvSpPr>
            <a:spLocks noGrp="1"/>
          </p:cNvSpPr>
          <p:nvPr>
            <p:ph type="sldNum" sz="quarter" idx="12"/>
          </p:nvPr>
        </p:nvSpPr>
        <p:spPr>
          <a:xfrm>
            <a:off x="7557977" y="6313820"/>
            <a:ext cx="2743200" cy="365125"/>
          </a:xfrm>
        </p:spPr>
        <p:txBody>
          <a:bodyPr/>
          <a:lstStyle>
            <a:lvl1pPr>
              <a:defRPr sz="1100"/>
            </a:lvl1pPr>
          </a:lstStyle>
          <a:p>
            <a:fld id="{85DA3A08-9E66-614E-AAE5-F810EFDD6885}" type="slidenum">
              <a:rPr lang="en-US" smtClean="0"/>
              <a:pPr/>
              <a:t>‹#›</a:t>
            </a:fld>
            <a:endParaRPr lang="en-US" dirty="0"/>
          </a:p>
        </p:txBody>
      </p:sp>
      <p:pic>
        <p:nvPicPr>
          <p:cNvPr id="10" name="Picture 9"/>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526761" y="5696053"/>
            <a:ext cx="1439953" cy="936000"/>
          </a:xfrm>
          <a:prstGeom prst="rect">
            <a:avLst/>
          </a:prstGeom>
        </p:spPr>
      </p:pic>
      <p:pic>
        <p:nvPicPr>
          <p:cNvPr id="5" name="Picture 4">
            <a:extLst>
              <a:ext uri="{FF2B5EF4-FFF2-40B4-BE49-F238E27FC236}">
                <a16:creationId xmlns:a16="http://schemas.microsoft.com/office/drawing/2014/main" id="{886A0B06-480A-F44A-8B85-346CF183476D}"/>
              </a:ext>
            </a:extLst>
          </p:cNvPr>
          <p:cNvPicPr>
            <a:picLocks noChangeAspect="1"/>
          </p:cNvPicPr>
          <p:nvPr userDrawn="1"/>
        </p:nvPicPr>
        <p:blipFill>
          <a:blip r:embed="rId3"/>
          <a:srcRect/>
          <a:stretch/>
        </p:blipFill>
        <p:spPr>
          <a:xfrm>
            <a:off x="-4653" y="0"/>
            <a:ext cx="1910400" cy="6912000"/>
          </a:xfrm>
          <a:prstGeom prst="rect">
            <a:avLst/>
          </a:prstGeom>
        </p:spPr>
      </p:pic>
    </p:spTree>
    <p:extLst>
      <p:ext uri="{BB962C8B-B14F-4D97-AF65-F5344CB8AC3E}">
        <p14:creationId xmlns:p14="http://schemas.microsoft.com/office/powerpoint/2010/main" val="2955516411"/>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obj" preserve="1">
  <p:cSld name="9_Title and Content">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631292-24AE-5F41-8820-196C7D8E36A1}"/>
              </a:ext>
            </a:extLst>
          </p:cNvPr>
          <p:cNvSpPr>
            <a:spLocks noGrp="1"/>
          </p:cNvSpPr>
          <p:nvPr>
            <p:ph type="title"/>
          </p:nvPr>
        </p:nvSpPr>
        <p:spPr>
          <a:xfrm>
            <a:off x="1055553" y="365125"/>
            <a:ext cx="10977744" cy="666233"/>
          </a:xfrm>
        </p:spPr>
        <p:txBody>
          <a:bodyPr anchor="b" anchorCtr="0"/>
          <a:lstStyle>
            <a:lvl1pPr>
              <a:defRPr>
                <a:solidFill>
                  <a:schemeClr val="tx1"/>
                </a:solidFill>
              </a:defRPr>
            </a:lvl1pPr>
          </a:lstStyle>
          <a:p>
            <a:r>
              <a:rPr lang="en-US" dirty="0"/>
              <a:t>Click to edit Master title style</a:t>
            </a:r>
          </a:p>
        </p:txBody>
      </p:sp>
      <p:sp>
        <p:nvSpPr>
          <p:cNvPr id="3" name="Content Placeholder 2">
            <a:extLst>
              <a:ext uri="{FF2B5EF4-FFF2-40B4-BE49-F238E27FC236}">
                <a16:creationId xmlns:a16="http://schemas.microsoft.com/office/drawing/2014/main" id="{9C966DDB-3364-1B41-9729-DB3686A721C5}"/>
              </a:ext>
            </a:extLst>
          </p:cNvPr>
          <p:cNvSpPr>
            <a:spLocks noGrp="1"/>
          </p:cNvSpPr>
          <p:nvPr>
            <p:ph idx="1"/>
          </p:nvPr>
        </p:nvSpPr>
        <p:spPr>
          <a:xfrm>
            <a:off x="1055553" y="1531088"/>
            <a:ext cx="10735723" cy="4645875"/>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Slide Number Placeholder 5">
            <a:extLst>
              <a:ext uri="{FF2B5EF4-FFF2-40B4-BE49-F238E27FC236}">
                <a16:creationId xmlns:a16="http://schemas.microsoft.com/office/drawing/2014/main" id="{FB221DBE-BC54-6C4C-BA1C-95E280B67712}"/>
              </a:ext>
            </a:extLst>
          </p:cNvPr>
          <p:cNvSpPr>
            <a:spLocks noGrp="1"/>
          </p:cNvSpPr>
          <p:nvPr>
            <p:ph type="sldNum" sz="quarter" idx="12"/>
          </p:nvPr>
        </p:nvSpPr>
        <p:spPr>
          <a:xfrm>
            <a:off x="7557977" y="6313820"/>
            <a:ext cx="2743200" cy="365125"/>
          </a:xfrm>
        </p:spPr>
        <p:txBody>
          <a:bodyPr/>
          <a:lstStyle>
            <a:lvl1pPr>
              <a:defRPr sz="1100"/>
            </a:lvl1pPr>
          </a:lstStyle>
          <a:p>
            <a:fld id="{85DA3A08-9E66-614E-AAE5-F810EFDD6885}" type="slidenum">
              <a:rPr lang="en-US" smtClean="0"/>
              <a:pPr/>
              <a:t>‹#›</a:t>
            </a:fld>
            <a:endParaRPr lang="en-US" dirty="0"/>
          </a:p>
        </p:txBody>
      </p:sp>
      <p:pic>
        <p:nvPicPr>
          <p:cNvPr id="6" name="Picture 5"/>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588384" y="5735570"/>
            <a:ext cx="1323000" cy="864000"/>
          </a:xfrm>
          <a:prstGeom prst="rect">
            <a:avLst/>
          </a:prstGeom>
        </p:spPr>
      </p:pic>
      <p:pic>
        <p:nvPicPr>
          <p:cNvPr id="5" name="Picture 4">
            <a:extLst>
              <a:ext uri="{FF2B5EF4-FFF2-40B4-BE49-F238E27FC236}">
                <a16:creationId xmlns:a16="http://schemas.microsoft.com/office/drawing/2014/main" id="{32FC56F4-8756-D24E-843C-DEF7012E3D44}"/>
              </a:ext>
            </a:extLst>
          </p:cNvPr>
          <p:cNvPicPr>
            <a:picLocks noChangeAspect="1"/>
          </p:cNvPicPr>
          <p:nvPr userDrawn="1"/>
        </p:nvPicPr>
        <p:blipFill>
          <a:blip r:embed="rId3"/>
          <a:srcRect/>
          <a:stretch/>
        </p:blipFill>
        <p:spPr>
          <a:xfrm>
            <a:off x="-31549" y="-5724"/>
            <a:ext cx="1167956" cy="6902428"/>
          </a:xfrm>
          <a:prstGeom prst="rect">
            <a:avLst/>
          </a:prstGeom>
        </p:spPr>
      </p:pic>
    </p:spTree>
    <p:extLst>
      <p:ext uri="{BB962C8B-B14F-4D97-AF65-F5344CB8AC3E}">
        <p14:creationId xmlns:p14="http://schemas.microsoft.com/office/powerpoint/2010/main" val="32602163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4_Title and Content">
    <p:bg>
      <p:bgPr>
        <a:solidFill>
          <a:schemeClr val="bg1"/>
        </a:solidFill>
        <a:effectLst/>
      </p:bgPr>
    </p:bg>
    <p:spTree>
      <p:nvGrpSpPr>
        <p:cNvPr id="1" name=""/>
        <p:cNvGrpSpPr/>
        <p:nvPr/>
      </p:nvGrpSpPr>
      <p:grpSpPr>
        <a:xfrm>
          <a:off x="0" y="0"/>
          <a:ext cx="0" cy="0"/>
          <a:chOff x="0" y="0"/>
          <a:chExt cx="0" cy="0"/>
        </a:xfrm>
      </p:grpSpPr>
      <p:sp>
        <p:nvSpPr>
          <p:cNvPr id="5" name="Content Placeholder 2">
            <a:extLst>
              <a:ext uri="{FF2B5EF4-FFF2-40B4-BE49-F238E27FC236}">
                <a16:creationId xmlns:a16="http://schemas.microsoft.com/office/drawing/2014/main" id="{6A263750-C6D6-9140-B23A-412FC9B93104}"/>
              </a:ext>
            </a:extLst>
          </p:cNvPr>
          <p:cNvSpPr>
            <a:spLocks noGrp="1"/>
          </p:cNvSpPr>
          <p:nvPr>
            <p:ph sz="half" idx="1"/>
          </p:nvPr>
        </p:nvSpPr>
        <p:spPr>
          <a:xfrm>
            <a:off x="1136408" y="1240835"/>
            <a:ext cx="5181600" cy="5181230"/>
          </a:xfrm>
        </p:spPr>
        <p:txBody>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Content Placeholder 3">
            <a:extLst>
              <a:ext uri="{FF2B5EF4-FFF2-40B4-BE49-F238E27FC236}">
                <a16:creationId xmlns:a16="http://schemas.microsoft.com/office/drawing/2014/main" id="{09DD4EAB-EE77-A640-8BFE-C74B32D55E78}"/>
              </a:ext>
            </a:extLst>
          </p:cNvPr>
          <p:cNvSpPr>
            <a:spLocks noGrp="1"/>
          </p:cNvSpPr>
          <p:nvPr>
            <p:ph sz="half" idx="2"/>
          </p:nvPr>
        </p:nvSpPr>
        <p:spPr>
          <a:xfrm>
            <a:off x="6500533" y="1240835"/>
            <a:ext cx="5181600" cy="5181230"/>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Slide Number Placeholder 5">
            <a:extLst>
              <a:ext uri="{FF2B5EF4-FFF2-40B4-BE49-F238E27FC236}">
                <a16:creationId xmlns:a16="http://schemas.microsoft.com/office/drawing/2014/main" id="{94EFE0C0-0926-4B46-A65E-069D8E848CB5}"/>
              </a:ext>
            </a:extLst>
          </p:cNvPr>
          <p:cNvSpPr>
            <a:spLocks noGrp="1"/>
          </p:cNvSpPr>
          <p:nvPr>
            <p:ph type="sldNum" sz="quarter" idx="12"/>
          </p:nvPr>
        </p:nvSpPr>
        <p:spPr>
          <a:xfrm>
            <a:off x="7557977" y="6313820"/>
            <a:ext cx="2743200" cy="365125"/>
          </a:xfrm>
        </p:spPr>
        <p:txBody>
          <a:bodyPr/>
          <a:lstStyle>
            <a:lvl1pPr>
              <a:defRPr sz="1100"/>
            </a:lvl1pPr>
          </a:lstStyle>
          <a:p>
            <a:fld id="{85DA3A08-9E66-614E-AAE5-F810EFDD6885}" type="slidenum">
              <a:rPr lang="en-US" smtClean="0"/>
              <a:pPr/>
              <a:t>‹#›</a:t>
            </a:fld>
            <a:endParaRPr lang="en-US" dirty="0"/>
          </a:p>
        </p:txBody>
      </p:sp>
      <p:sp>
        <p:nvSpPr>
          <p:cNvPr id="9" name="Title 1">
            <a:extLst>
              <a:ext uri="{FF2B5EF4-FFF2-40B4-BE49-F238E27FC236}">
                <a16:creationId xmlns:a16="http://schemas.microsoft.com/office/drawing/2014/main" id="{106F284E-B08A-7047-A440-A30BAA91B409}"/>
              </a:ext>
            </a:extLst>
          </p:cNvPr>
          <p:cNvSpPr>
            <a:spLocks noGrp="1"/>
          </p:cNvSpPr>
          <p:nvPr>
            <p:ph type="title"/>
          </p:nvPr>
        </p:nvSpPr>
        <p:spPr>
          <a:xfrm>
            <a:off x="1136407" y="365125"/>
            <a:ext cx="10545725" cy="666233"/>
          </a:xfrm>
        </p:spPr>
        <p:txBody>
          <a:bodyPr/>
          <a:lstStyle/>
          <a:p>
            <a:r>
              <a:rPr lang="en-US" dirty="0"/>
              <a:t>Click to edit Master title style</a:t>
            </a:r>
          </a:p>
        </p:txBody>
      </p:sp>
      <p:pic>
        <p:nvPicPr>
          <p:cNvPr id="10" name="Picture 9"/>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588384" y="5735570"/>
            <a:ext cx="1323000" cy="864000"/>
          </a:xfrm>
          <a:prstGeom prst="rect">
            <a:avLst/>
          </a:prstGeom>
        </p:spPr>
      </p:pic>
      <p:pic>
        <p:nvPicPr>
          <p:cNvPr id="12" name="Picture 11">
            <a:extLst>
              <a:ext uri="{FF2B5EF4-FFF2-40B4-BE49-F238E27FC236}">
                <a16:creationId xmlns:a16="http://schemas.microsoft.com/office/drawing/2014/main" id="{47D15360-2D94-AC48-AA2D-C98A0E079A34}"/>
              </a:ext>
            </a:extLst>
          </p:cNvPr>
          <p:cNvPicPr>
            <a:picLocks noChangeAspect="1"/>
          </p:cNvPicPr>
          <p:nvPr userDrawn="1"/>
        </p:nvPicPr>
        <p:blipFill>
          <a:blip r:embed="rId3"/>
          <a:srcRect/>
          <a:stretch/>
        </p:blipFill>
        <p:spPr>
          <a:xfrm>
            <a:off x="-31549" y="-5724"/>
            <a:ext cx="1167956" cy="6902428"/>
          </a:xfrm>
          <a:prstGeom prst="rect">
            <a:avLst/>
          </a:prstGeom>
        </p:spPr>
      </p:pic>
    </p:spTree>
    <p:extLst>
      <p:ext uri="{BB962C8B-B14F-4D97-AF65-F5344CB8AC3E}">
        <p14:creationId xmlns:p14="http://schemas.microsoft.com/office/powerpoint/2010/main" val="235251956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1_Two Content">
    <p:bg>
      <p:bgPr>
        <a:solidFill>
          <a:schemeClr val="bg1"/>
        </a:solidFill>
        <a:effectLst/>
      </p:bgPr>
    </p:bg>
    <p:spTree>
      <p:nvGrpSpPr>
        <p:cNvPr id="1" name=""/>
        <p:cNvGrpSpPr/>
        <p:nvPr/>
      </p:nvGrpSpPr>
      <p:grpSpPr>
        <a:xfrm>
          <a:off x="0" y="0"/>
          <a:ext cx="0" cy="0"/>
          <a:chOff x="0" y="0"/>
          <a:chExt cx="0" cy="0"/>
        </a:xfrm>
      </p:grpSpPr>
      <p:sp>
        <p:nvSpPr>
          <p:cNvPr id="2" name="Rectangle 1"/>
          <p:cNvSpPr/>
          <p:nvPr userDrawn="1"/>
        </p:nvSpPr>
        <p:spPr>
          <a:xfrm>
            <a:off x="0" y="0"/>
            <a:ext cx="10301177" cy="6858000"/>
          </a:xfrm>
          <a:prstGeom prst="rect">
            <a:avLst/>
          </a:prstGeom>
          <a:solidFill>
            <a:srgbClr val="062C4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Slide Number Placeholder 5">
            <a:extLst>
              <a:ext uri="{FF2B5EF4-FFF2-40B4-BE49-F238E27FC236}">
                <a16:creationId xmlns:a16="http://schemas.microsoft.com/office/drawing/2014/main" id="{97B6B1A4-849A-4C4E-B215-DB41876483DA}"/>
              </a:ext>
            </a:extLst>
          </p:cNvPr>
          <p:cNvSpPr>
            <a:spLocks noGrp="1"/>
          </p:cNvSpPr>
          <p:nvPr>
            <p:ph type="sldNum" sz="quarter" idx="12"/>
          </p:nvPr>
        </p:nvSpPr>
        <p:spPr>
          <a:xfrm>
            <a:off x="7557977" y="6313820"/>
            <a:ext cx="2743200" cy="365125"/>
          </a:xfrm>
        </p:spPr>
        <p:txBody>
          <a:bodyPr/>
          <a:lstStyle>
            <a:lvl1pPr>
              <a:defRPr sz="1100">
                <a:solidFill>
                  <a:schemeClr val="bg1"/>
                </a:solidFill>
              </a:defRPr>
            </a:lvl1pPr>
          </a:lstStyle>
          <a:p>
            <a:fld id="{85DA3A08-9E66-614E-AAE5-F810EFDD6885}" type="slidenum">
              <a:rPr lang="en-US" smtClean="0"/>
              <a:pPr/>
              <a:t>‹#›</a:t>
            </a:fld>
            <a:endParaRPr lang="en-US" dirty="0"/>
          </a:p>
        </p:txBody>
      </p:sp>
      <p:sp>
        <p:nvSpPr>
          <p:cNvPr id="9" name="Title 1">
            <a:extLst>
              <a:ext uri="{FF2B5EF4-FFF2-40B4-BE49-F238E27FC236}">
                <a16:creationId xmlns:a16="http://schemas.microsoft.com/office/drawing/2014/main" id="{31A8B892-E644-5B4F-AB39-6FBAE1EEC925}"/>
              </a:ext>
            </a:extLst>
          </p:cNvPr>
          <p:cNvSpPr>
            <a:spLocks noGrp="1"/>
          </p:cNvSpPr>
          <p:nvPr>
            <p:ph type="title"/>
          </p:nvPr>
        </p:nvSpPr>
        <p:spPr>
          <a:xfrm>
            <a:off x="398026" y="365125"/>
            <a:ext cx="9630558" cy="722895"/>
          </a:xfrm>
        </p:spPr>
        <p:txBody>
          <a:bodyPr anchor="b" anchorCtr="0"/>
          <a:lstStyle>
            <a:lvl1pPr>
              <a:defRPr>
                <a:solidFill>
                  <a:schemeClr val="bg1"/>
                </a:solidFill>
              </a:defRPr>
            </a:lvl1pPr>
          </a:lstStyle>
          <a:p>
            <a:r>
              <a:rPr lang="en-US" dirty="0"/>
              <a:t>Click to edit Master title style</a:t>
            </a:r>
          </a:p>
        </p:txBody>
      </p:sp>
      <p:sp>
        <p:nvSpPr>
          <p:cNvPr id="4" name="Content Placeholder 2">
            <a:extLst>
              <a:ext uri="{FF2B5EF4-FFF2-40B4-BE49-F238E27FC236}">
                <a16:creationId xmlns:a16="http://schemas.microsoft.com/office/drawing/2014/main" id="{D540C788-F559-3848-8492-851BB3AF3A8A}"/>
              </a:ext>
            </a:extLst>
          </p:cNvPr>
          <p:cNvSpPr>
            <a:spLocks noGrp="1"/>
          </p:cNvSpPr>
          <p:nvPr>
            <p:ph sz="half" idx="1"/>
          </p:nvPr>
        </p:nvSpPr>
        <p:spPr>
          <a:xfrm>
            <a:off x="398025" y="1371600"/>
            <a:ext cx="9630558" cy="4860235"/>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10" name="Picture 9"/>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526761" y="5696053"/>
            <a:ext cx="1439953" cy="936000"/>
          </a:xfrm>
          <a:prstGeom prst="rect">
            <a:avLst/>
          </a:prstGeom>
        </p:spPr>
      </p:pic>
    </p:spTree>
    <p:extLst>
      <p:ext uri="{BB962C8B-B14F-4D97-AF65-F5344CB8AC3E}">
        <p14:creationId xmlns:p14="http://schemas.microsoft.com/office/powerpoint/2010/main" val="1315846372"/>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4_Two Content">
    <p:bg>
      <p:bgPr>
        <a:solidFill>
          <a:schemeClr val="bg1"/>
        </a:solidFill>
        <a:effectLst/>
      </p:bgPr>
    </p:bg>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F393AF17-BFE0-534F-9F37-44A4F67F1949}"/>
              </a:ext>
            </a:extLst>
          </p:cNvPr>
          <p:cNvSpPr>
            <a:spLocks noGrp="1"/>
          </p:cNvSpPr>
          <p:nvPr>
            <p:ph type="pic" sz="quarter" idx="13" hasCustomPrompt="1"/>
          </p:nvPr>
        </p:nvSpPr>
        <p:spPr>
          <a:xfrm>
            <a:off x="0" y="0"/>
            <a:ext cx="10301176" cy="6858000"/>
          </a:xfrm>
        </p:spPr>
        <p:txBody>
          <a:bodyPr/>
          <a:lstStyle>
            <a:lvl1pPr>
              <a:defRPr/>
            </a:lvl1pPr>
          </a:lstStyle>
          <a:p>
            <a:r>
              <a:rPr lang="en-US" dirty="0"/>
              <a:t>Insert your picture here</a:t>
            </a:r>
          </a:p>
        </p:txBody>
      </p:sp>
      <p:sp>
        <p:nvSpPr>
          <p:cNvPr id="8" name="Slide Number Placeholder 5">
            <a:extLst>
              <a:ext uri="{FF2B5EF4-FFF2-40B4-BE49-F238E27FC236}">
                <a16:creationId xmlns:a16="http://schemas.microsoft.com/office/drawing/2014/main" id="{97B6B1A4-849A-4C4E-B215-DB41876483DA}"/>
              </a:ext>
            </a:extLst>
          </p:cNvPr>
          <p:cNvSpPr>
            <a:spLocks noGrp="1"/>
          </p:cNvSpPr>
          <p:nvPr>
            <p:ph type="sldNum" sz="quarter" idx="12"/>
          </p:nvPr>
        </p:nvSpPr>
        <p:spPr>
          <a:xfrm>
            <a:off x="7557977" y="6313820"/>
            <a:ext cx="2743200" cy="365125"/>
          </a:xfrm>
        </p:spPr>
        <p:txBody>
          <a:bodyPr/>
          <a:lstStyle>
            <a:lvl1pPr>
              <a:defRPr sz="1100"/>
            </a:lvl1pPr>
          </a:lstStyle>
          <a:p>
            <a:fld id="{85DA3A08-9E66-614E-AAE5-F810EFDD6885}" type="slidenum">
              <a:rPr lang="en-US" smtClean="0"/>
              <a:pPr/>
              <a:t>‹#›</a:t>
            </a:fld>
            <a:endParaRPr lang="en-US" dirty="0"/>
          </a:p>
        </p:txBody>
      </p:sp>
      <p:pic>
        <p:nvPicPr>
          <p:cNvPr id="7" name="Picture 6"/>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526761" y="5696053"/>
            <a:ext cx="1439953" cy="936000"/>
          </a:xfrm>
          <a:prstGeom prst="rect">
            <a:avLst/>
          </a:prstGeom>
        </p:spPr>
      </p:pic>
    </p:spTree>
    <p:extLst>
      <p:ext uri="{BB962C8B-B14F-4D97-AF65-F5344CB8AC3E}">
        <p14:creationId xmlns:p14="http://schemas.microsoft.com/office/powerpoint/2010/main" val="2894792266"/>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3_Two Content">
    <p:bg>
      <p:bgPr>
        <a:solidFill>
          <a:schemeClr val="bg1"/>
        </a:solidFill>
        <a:effectLst/>
      </p:bgPr>
    </p:bg>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3969F5C5-D4EE-5445-9306-1D9E7517F24E}"/>
              </a:ext>
            </a:extLst>
          </p:cNvPr>
          <p:cNvSpPr/>
          <p:nvPr userDrawn="1"/>
        </p:nvSpPr>
        <p:spPr>
          <a:xfrm>
            <a:off x="1157469" y="0"/>
            <a:ext cx="11034532" cy="6858000"/>
          </a:xfrm>
          <a:prstGeom prst="rect">
            <a:avLst/>
          </a:prstGeom>
          <a:solidFill>
            <a:srgbClr val="062C4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Picture 6">
            <a:extLst>
              <a:ext uri="{FF2B5EF4-FFF2-40B4-BE49-F238E27FC236}">
                <a16:creationId xmlns:a16="http://schemas.microsoft.com/office/drawing/2014/main" id="{3F7E0EDA-5665-EF45-9088-19BB7F8B0117}"/>
              </a:ext>
            </a:extLst>
          </p:cNvPr>
          <p:cNvPicPr>
            <a:picLocks noChangeAspect="1"/>
          </p:cNvPicPr>
          <p:nvPr userDrawn="1"/>
        </p:nvPicPr>
        <p:blipFill>
          <a:blip r:embed="rId2"/>
          <a:stretch>
            <a:fillRect/>
          </a:stretch>
        </p:blipFill>
        <p:spPr>
          <a:xfrm>
            <a:off x="10647252" y="5768053"/>
            <a:ext cx="1224838" cy="792000"/>
          </a:xfrm>
          <a:prstGeom prst="rect">
            <a:avLst/>
          </a:prstGeom>
        </p:spPr>
      </p:pic>
      <p:sp>
        <p:nvSpPr>
          <p:cNvPr id="8" name="TextBox 7">
            <a:extLst>
              <a:ext uri="{FF2B5EF4-FFF2-40B4-BE49-F238E27FC236}">
                <a16:creationId xmlns:a16="http://schemas.microsoft.com/office/drawing/2014/main" id="{CAC46887-13CA-0343-A183-2B7A755173B0}"/>
              </a:ext>
            </a:extLst>
          </p:cNvPr>
          <p:cNvSpPr txBox="1"/>
          <p:nvPr userDrawn="1"/>
        </p:nvSpPr>
        <p:spPr>
          <a:xfrm>
            <a:off x="3717282" y="1815737"/>
            <a:ext cx="7158446" cy="1846659"/>
          </a:xfrm>
          <a:prstGeom prst="rect">
            <a:avLst/>
          </a:prstGeom>
          <a:noFill/>
        </p:spPr>
        <p:txBody>
          <a:bodyPr wrap="square" rtlCol="0">
            <a:spAutoFit/>
          </a:bodyPr>
          <a:lstStyle/>
          <a:p>
            <a:r>
              <a:rPr lang="en-US" sz="5700" b="1" i="0" dirty="0">
                <a:solidFill>
                  <a:schemeClr val="bg1"/>
                </a:solidFill>
                <a:latin typeface="Arial" panose="020B0604020202020204" pitchFamily="34" charset="0"/>
                <a:cs typeface="Arial" panose="020B0604020202020204" pitchFamily="34" charset="0"/>
              </a:rPr>
              <a:t>THANK </a:t>
            </a:r>
            <a:br>
              <a:rPr lang="en-US" sz="5700" b="1" i="0" dirty="0">
                <a:solidFill>
                  <a:schemeClr val="bg1"/>
                </a:solidFill>
                <a:latin typeface="Arial" panose="020B0604020202020204" pitchFamily="34" charset="0"/>
                <a:cs typeface="Arial" panose="020B0604020202020204" pitchFamily="34" charset="0"/>
              </a:rPr>
            </a:br>
            <a:r>
              <a:rPr lang="en-US" sz="5700" b="1" i="0" dirty="0">
                <a:solidFill>
                  <a:schemeClr val="bg1"/>
                </a:solidFill>
                <a:latin typeface="Arial" panose="020B0604020202020204" pitchFamily="34" charset="0"/>
                <a:cs typeface="Arial" panose="020B0604020202020204" pitchFamily="34" charset="0"/>
              </a:rPr>
              <a:t>YOU</a:t>
            </a:r>
          </a:p>
        </p:txBody>
      </p:sp>
      <p:sp>
        <p:nvSpPr>
          <p:cNvPr id="9" name="Rectangle 8">
            <a:extLst>
              <a:ext uri="{FF2B5EF4-FFF2-40B4-BE49-F238E27FC236}">
                <a16:creationId xmlns:a16="http://schemas.microsoft.com/office/drawing/2014/main" id="{7BEA8619-8B4E-C445-A8C2-CDFECA28A025}"/>
              </a:ext>
            </a:extLst>
          </p:cNvPr>
          <p:cNvSpPr/>
          <p:nvPr userDrawn="1"/>
        </p:nvSpPr>
        <p:spPr>
          <a:xfrm>
            <a:off x="3902436" y="3835044"/>
            <a:ext cx="510363" cy="101489"/>
          </a:xfrm>
          <a:prstGeom prst="rect">
            <a:avLst/>
          </a:prstGeom>
          <a:solidFill>
            <a:srgbClr val="5A964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2" name="Picture 11">
            <a:extLst>
              <a:ext uri="{FF2B5EF4-FFF2-40B4-BE49-F238E27FC236}">
                <a16:creationId xmlns:a16="http://schemas.microsoft.com/office/drawing/2014/main" id="{895D4E9A-5D85-8047-8F33-BE3C6F1903D9}"/>
              </a:ext>
            </a:extLst>
          </p:cNvPr>
          <p:cNvPicPr>
            <a:picLocks noChangeAspect="1"/>
          </p:cNvPicPr>
          <p:nvPr userDrawn="1"/>
        </p:nvPicPr>
        <p:blipFill>
          <a:blip r:embed="rId3"/>
          <a:srcRect/>
          <a:stretch/>
        </p:blipFill>
        <p:spPr>
          <a:xfrm>
            <a:off x="0" y="0"/>
            <a:ext cx="2482576" cy="6858000"/>
          </a:xfrm>
          <a:prstGeom prst="rect">
            <a:avLst/>
          </a:prstGeom>
        </p:spPr>
      </p:pic>
    </p:spTree>
    <p:extLst>
      <p:ext uri="{BB962C8B-B14F-4D97-AF65-F5344CB8AC3E}">
        <p14:creationId xmlns:p14="http://schemas.microsoft.com/office/powerpoint/2010/main" val="73369234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B860D6F-2EF1-E44B-85ED-CB36B7C7FE9A}"/>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a:extLst>
              <a:ext uri="{FF2B5EF4-FFF2-40B4-BE49-F238E27FC236}">
                <a16:creationId xmlns:a16="http://schemas.microsoft.com/office/drawing/2014/main" id="{59BC75E1-A95E-BC4E-B2D9-ABDFCA087EF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CC6FD388-B48A-CC4B-BDDC-9D8B1FE61DB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latin typeface="Arial" panose="020B0604020202020204" pitchFamily="34" charset="0"/>
                <a:cs typeface="Arial" panose="020B0604020202020204" pitchFamily="34" charset="0"/>
              </a:defRPr>
            </a:lvl1pPr>
          </a:lstStyle>
          <a:p>
            <a:endParaRPr lang="en-US"/>
          </a:p>
        </p:txBody>
      </p:sp>
      <p:sp>
        <p:nvSpPr>
          <p:cNvPr id="5" name="Footer Placeholder 4">
            <a:extLst>
              <a:ext uri="{FF2B5EF4-FFF2-40B4-BE49-F238E27FC236}">
                <a16:creationId xmlns:a16="http://schemas.microsoft.com/office/drawing/2014/main" id="{631147A0-10B7-294B-9972-14195E6FC90B}"/>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latin typeface="Arial" panose="020B0604020202020204" pitchFamily="34" charset="0"/>
                <a:cs typeface="Arial" panose="020B0604020202020204" pitchFamily="34" charset="0"/>
              </a:defRPr>
            </a:lvl1pPr>
          </a:lstStyle>
          <a:p>
            <a:r>
              <a:rPr lang="en-US"/>
              <a:t>TOP SECRET, SECRET, CONFIDENTIAL, RESTRICTED</a:t>
            </a:r>
          </a:p>
        </p:txBody>
      </p:sp>
      <p:sp>
        <p:nvSpPr>
          <p:cNvPr id="6" name="Slide Number Placeholder 5">
            <a:extLst>
              <a:ext uri="{FF2B5EF4-FFF2-40B4-BE49-F238E27FC236}">
                <a16:creationId xmlns:a16="http://schemas.microsoft.com/office/drawing/2014/main" id="{97B40C17-8DDF-6C41-B1A3-244CE114983A}"/>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latin typeface="Arial" panose="020B0604020202020204" pitchFamily="34" charset="0"/>
                <a:cs typeface="Arial" panose="020B0604020202020204" pitchFamily="34" charset="0"/>
              </a:defRPr>
            </a:lvl1pPr>
          </a:lstStyle>
          <a:p>
            <a:fld id="{85DA3A08-9E66-614E-AAE5-F810EFDD6885}" type="slidenum">
              <a:rPr lang="en-US" smtClean="0"/>
              <a:pPr/>
              <a:t>‹#›</a:t>
            </a:fld>
            <a:endParaRPr lang="en-US"/>
          </a:p>
        </p:txBody>
      </p:sp>
    </p:spTree>
    <p:extLst>
      <p:ext uri="{BB962C8B-B14F-4D97-AF65-F5344CB8AC3E}">
        <p14:creationId xmlns:p14="http://schemas.microsoft.com/office/powerpoint/2010/main" val="2168777543"/>
      </p:ext>
    </p:extLst>
  </p:cSld>
  <p:clrMap bg1="lt1" tx1="dk1" bg2="lt2" tx2="dk2" accent1="accent1" accent2="accent2" accent3="accent3" accent4="accent4" accent5="accent5" accent6="accent6" hlink="hlink" folHlink="folHlink"/>
  <p:sldLayoutIdLst>
    <p:sldLayoutId id="2147483649" r:id="rId1"/>
    <p:sldLayoutId id="2147483678" r:id="rId2"/>
    <p:sldLayoutId id="2147483681" r:id="rId3"/>
    <p:sldLayoutId id="2147483686" r:id="rId4"/>
    <p:sldLayoutId id="2147483661" r:id="rId5"/>
    <p:sldLayoutId id="2147483660" r:id="rId6"/>
    <p:sldLayoutId id="2147483680" r:id="rId7"/>
    <p:sldLayoutId id="2147483682" r:id="rId8"/>
    <p:sldLayoutId id="2147483650" r:id="rId9"/>
    <p:sldLayoutId id="2147483663" r:id="rId10"/>
    <p:sldLayoutId id="2147483671" r:id="rId11"/>
    <p:sldLayoutId id="2147483679" r:id="rId12"/>
    <p:sldLayoutId id="2147483683" r:id="rId13"/>
    <p:sldLayoutId id="2147483684" r:id="rId14"/>
    <p:sldLayoutId id="2147483685" r:id="rId15"/>
    <p:sldLayoutId id="2147483665" r:id="rId16"/>
    <p:sldLayoutId id="2147483675" r:id="rId17"/>
    <p:sldLayoutId id="2147483670" r:id="rId18"/>
  </p:sldLayoutIdLst>
  <p:hf hdr="0" dt="0"/>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000" kern="1200">
          <a:solidFill>
            <a:schemeClr val="tx1"/>
          </a:solidFill>
          <a:latin typeface="Arial" panose="020B0604020202020204" pitchFamily="34" charset="0"/>
          <a:ea typeface="+mn-ea"/>
          <a:cs typeface="Arial" panose="020B060402020202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slide" Target="slide36.xml"/><Relationship Id="rId1" Type="http://schemas.openxmlformats.org/officeDocument/2006/relationships/slideLayout" Target="../slideLayouts/slideLayout2.xml"/><Relationship Id="rId4" Type="http://schemas.openxmlformats.org/officeDocument/2006/relationships/image" Target="../media/image17.png"/></Relationships>
</file>

<file path=ppt/slides/_rels/slide13.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26.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280.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8" Type="http://schemas.openxmlformats.org/officeDocument/2006/relationships/hyperlink" Target="https://www.jstor.org/stable/1914364" TargetMode="External"/><Relationship Id="rId3" Type="http://schemas.openxmlformats.org/officeDocument/2006/relationships/hyperlink" Target="https://doi.org/10.1111/1468-0335.00195" TargetMode="External"/><Relationship Id="rId7" Type="http://schemas.openxmlformats.org/officeDocument/2006/relationships/hyperlink" Target="https://doi.org/10.1086/261821" TargetMode="External"/><Relationship Id="rId2" Type="http://schemas.openxmlformats.org/officeDocument/2006/relationships/hyperlink" Target="https://doi.org/10.1111/j.1538-4616.2010.00307.x" TargetMode="External"/><Relationship Id="rId1" Type="http://schemas.openxmlformats.org/officeDocument/2006/relationships/slideLayout" Target="../slideLayouts/slideLayout2.xml"/><Relationship Id="rId6" Type="http://schemas.openxmlformats.org/officeDocument/2006/relationships/hyperlink" Target="https://doi.org/10.1146/annurev-economics-063016-103651" TargetMode="External"/><Relationship Id="rId5" Type="http://schemas.openxmlformats.org/officeDocument/2006/relationships/hyperlink" Target="https://doi.org/10.1086/260968" TargetMode="External"/><Relationship Id="rId4" Type="http://schemas.openxmlformats.org/officeDocument/2006/relationships/hyperlink" Target="https://doi.org/10.1111/j.1468-2354.2005.00333.x"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806118-0840-574D-AD0F-62FBB748D13C}"/>
              </a:ext>
            </a:extLst>
          </p:cNvPr>
          <p:cNvSpPr>
            <a:spLocks noGrp="1"/>
          </p:cNvSpPr>
          <p:nvPr>
            <p:ph type="ctrTitle" hasCustomPrompt="1"/>
          </p:nvPr>
        </p:nvSpPr>
        <p:spPr>
          <a:xfrm>
            <a:off x="7461840" y="774132"/>
            <a:ext cx="4263136" cy="1879616"/>
          </a:xfrm>
        </p:spPr>
        <p:txBody>
          <a:bodyPr>
            <a:normAutofit fontScale="90000"/>
          </a:bodyPr>
          <a:lstStyle/>
          <a:p>
            <a:pPr marL="0" lvl="0" indent="0">
              <a:buNone/>
            </a:pPr>
            <a:r>
              <a:t>Relative price dispersion and inflation regimes in South Africa</a:t>
            </a:r>
          </a:p>
        </p:txBody>
      </p:sp>
      <p:sp>
        <p:nvSpPr>
          <p:cNvPr id="3" name="Subtitle 2">
            <a:extLst>
              <a:ext uri="{FF2B5EF4-FFF2-40B4-BE49-F238E27FC236}">
                <a16:creationId xmlns:a16="http://schemas.microsoft.com/office/drawing/2014/main" id="{D46EA0A7-1E73-F64D-9AC7-B8EFBCA6BAAE}"/>
              </a:ext>
            </a:extLst>
          </p:cNvPr>
          <p:cNvSpPr>
            <a:spLocks noGrp="1"/>
          </p:cNvSpPr>
          <p:nvPr>
            <p:ph type="subTitle" idx="1"/>
          </p:nvPr>
        </p:nvSpPr>
        <p:spPr>
          <a:xfrm>
            <a:off x="7461840" y="3549317"/>
            <a:ext cx="4263136" cy="1504664"/>
          </a:xfrm>
        </p:spPr>
        <p:txBody>
          <a:bodyPr>
            <a:normAutofit fontScale="85000" lnSpcReduction="20000"/>
          </a:bodyPr>
          <a:lstStyle/>
          <a:p>
            <a:pPr marL="0" lvl="0" indent="0">
              <a:buNone/>
            </a:pPr>
            <a:br>
              <a:rPr dirty="0"/>
            </a:br>
            <a:br>
              <a:rPr dirty="0"/>
            </a:br>
            <a:r>
              <a:rPr dirty="0" err="1"/>
              <a:t>Keagile</a:t>
            </a:r>
            <a:r>
              <a:rPr dirty="0"/>
              <a:t> </a:t>
            </a:r>
            <a:r>
              <a:rPr dirty="0" err="1"/>
              <a:t>Lesame</a:t>
            </a:r>
            <a:r>
              <a:rPr lang="en-US" dirty="0"/>
              <a:t> (NT)</a:t>
            </a:r>
            <a:r>
              <a:rPr dirty="0"/>
              <a:t> </a:t>
            </a:r>
            <a:endParaRPr lang="en-US" dirty="0"/>
          </a:p>
          <a:p>
            <a:pPr marL="0" lvl="0" indent="0">
              <a:buNone/>
            </a:pPr>
            <a:r>
              <a:rPr lang="en-US" dirty="0"/>
              <a:t>	</a:t>
            </a:r>
            <a:r>
              <a:rPr dirty="0"/>
              <a:t>and </a:t>
            </a:r>
            <a:endParaRPr lang="en-US" dirty="0"/>
          </a:p>
          <a:p>
            <a:pPr marL="0" lvl="0" indent="0">
              <a:buNone/>
            </a:pPr>
            <a:r>
              <a:rPr dirty="0"/>
              <a:t>Xolani Sibande </a:t>
            </a:r>
            <a:r>
              <a:rPr lang="en-US" dirty="0"/>
              <a:t>(SARB)</a:t>
            </a:r>
            <a:endParaRPr lang="en-ZA" dirty="0"/>
          </a:p>
          <a:p>
            <a:pPr marL="0" lvl="0" indent="0">
              <a:buNone/>
            </a:pPr>
            <a:endParaRPr lang="en-US"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631292-24AE-5F41-8820-196C7D8E36A1}"/>
              </a:ext>
            </a:extLst>
          </p:cNvPr>
          <p:cNvSpPr>
            <a:spLocks noGrp="1"/>
          </p:cNvSpPr>
          <p:nvPr>
            <p:ph type="title"/>
          </p:nvPr>
        </p:nvSpPr>
        <p:spPr>
          <a:xfrm>
            <a:off x="1055553" y="365125"/>
            <a:ext cx="10977744" cy="666233"/>
          </a:xfrm>
        </p:spPr>
        <p:txBody>
          <a:bodyPr/>
          <a:lstStyle/>
          <a:p>
            <a:pPr marL="0" lvl="0" indent="0">
              <a:buNone/>
            </a:pPr>
            <a:r>
              <a:rPr lang="en-US" dirty="0"/>
              <a:t>The recent target reform raises questions about RPD</a:t>
            </a:r>
            <a:endParaRPr dirty="0"/>
          </a:p>
        </p:txBody>
      </p:sp>
      <p:sp>
        <p:nvSpPr>
          <p:cNvPr id="3" name="Content Placeholder 2">
            <a:extLst>
              <a:ext uri="{FF2B5EF4-FFF2-40B4-BE49-F238E27FC236}">
                <a16:creationId xmlns:a16="http://schemas.microsoft.com/office/drawing/2014/main" id="{9C966DDB-3364-1B41-9729-DB3686A721C5}"/>
              </a:ext>
            </a:extLst>
          </p:cNvPr>
          <p:cNvSpPr>
            <a:spLocks noGrp="1"/>
          </p:cNvSpPr>
          <p:nvPr>
            <p:ph idx="1" hasCustomPrompt="1"/>
          </p:nvPr>
        </p:nvSpPr>
        <p:spPr>
          <a:xfrm>
            <a:off x="971332" y="1190504"/>
            <a:ext cx="10842936" cy="4964169"/>
          </a:xfrm>
        </p:spPr>
        <p:txBody>
          <a:bodyPr>
            <a:normAutofit/>
          </a:bodyPr>
          <a:lstStyle/>
          <a:p>
            <a:pPr lvl="0"/>
            <a:r>
              <a:rPr dirty="0"/>
              <a:t>Inflation is known to have adverse welfare effects through its distortion of relative price</a:t>
            </a:r>
            <a:r>
              <a:rPr lang="en-US" dirty="0"/>
              <a:t> dispersion</a:t>
            </a:r>
            <a:r>
              <a:rPr dirty="0"/>
              <a:t> which causes the misallocation of resources, production inefficiencies leading to lower real economic activity</a:t>
            </a:r>
          </a:p>
          <a:p>
            <a:pPr lvl="0"/>
            <a:r>
              <a:rPr dirty="0"/>
              <a:t>This is well supported by both theoretical and empirical studies</a:t>
            </a:r>
            <a:r>
              <a:rPr lang="en-US" dirty="0"/>
              <a:t> (</a:t>
            </a:r>
            <a:r>
              <a:rPr lang="en-ZA" dirty="0"/>
              <a:t>Nakamura </a:t>
            </a:r>
            <a:r>
              <a:rPr lang="en-ZA" i="1" dirty="0"/>
              <a:t>et al</a:t>
            </a:r>
            <a:r>
              <a:rPr lang="en-ZA" dirty="0"/>
              <a:t>., 2018; Head and Kumar, 2005; Adam </a:t>
            </a:r>
            <a:r>
              <a:rPr lang="en-ZA" i="1" dirty="0"/>
              <a:t>et al</a:t>
            </a:r>
            <a:r>
              <a:rPr lang="en-ZA" dirty="0"/>
              <a:t>., 2024</a:t>
            </a:r>
            <a:r>
              <a:rPr lang="en-US" dirty="0"/>
              <a:t>)</a:t>
            </a:r>
            <a:endParaRPr dirty="0"/>
          </a:p>
          <a:p>
            <a:pPr lvl="0"/>
            <a:r>
              <a:rPr dirty="0"/>
              <a:t>This paper contributes to the empirical literature, by examining the relationship between inflation and relative price variability (RPD) in South Africa given the little evidence available and to better understand how this relationship has evolved and the implications for monetary policy</a:t>
            </a:r>
          </a:p>
          <a:p>
            <a:pPr lvl="0"/>
            <a:r>
              <a:rPr dirty="0"/>
              <a:t>The South African context can provide further insights into the relationship between inflation and RPD given the shifts in the inflation targets from 3-6 per cent in 2000 to 4.5 per cent since 2017 as structural changes in inflation can affect the link between inflation and relative price variability (Caglayan and </a:t>
            </a:r>
            <a:r>
              <a:rPr dirty="0" err="1"/>
              <a:t>Filiztekin</a:t>
            </a:r>
            <a:r>
              <a:rPr dirty="0"/>
              <a:t> 2003)</a:t>
            </a:r>
            <a:endParaRPr lang="en-US" dirty="0"/>
          </a:p>
          <a:p>
            <a:pPr lvl="0"/>
            <a:endParaRPr dirty="0"/>
          </a:p>
          <a:p>
            <a:pPr lvl="0"/>
            <a:r>
              <a:rPr dirty="0"/>
              <a:t>Given the inflation target reform </a:t>
            </a:r>
            <a:r>
              <a:rPr b="1" dirty="0"/>
              <a:t>towards a 3% in South Africa</a:t>
            </a:r>
            <a:r>
              <a:rPr dirty="0"/>
              <a:t>, this study contributes to the policy discussion on the appropriate inflation target and understating how dynamic relations between inflation and relative price </a:t>
            </a:r>
            <a:r>
              <a:rPr lang="en-US" dirty="0"/>
              <a:t>dispersion</a:t>
            </a:r>
            <a:r>
              <a:rPr dirty="0"/>
              <a:t> has evolved</a:t>
            </a:r>
          </a:p>
        </p:txBody>
      </p:sp>
      <p:sp>
        <p:nvSpPr>
          <p:cNvPr id="7" name="Slide Number Placeholder 5">
            <a:extLst>
              <a:ext uri="{FF2B5EF4-FFF2-40B4-BE49-F238E27FC236}">
                <a16:creationId xmlns:a16="http://schemas.microsoft.com/office/drawing/2014/main" id="{FB221DBE-BC54-6C4C-BA1C-95E280B67712}"/>
              </a:ext>
            </a:extLst>
          </p:cNvPr>
          <p:cNvSpPr>
            <a:spLocks noGrp="1"/>
          </p:cNvSpPr>
          <p:nvPr>
            <p:ph type="sldNum" sz="quarter" idx="12"/>
          </p:nvPr>
        </p:nvSpPr>
        <p:spPr>
          <a:xfrm>
            <a:off x="7557977" y="6313820"/>
            <a:ext cx="2743200" cy="365125"/>
          </a:xfrm>
        </p:spPr>
        <p:txBody>
          <a:bodyPr/>
          <a:lstStyle>
            <a:lvl1pPr>
              <a:defRPr sz="1100"/>
            </a:lvl1pPr>
          </a:lstStyle>
          <a:p>
            <a:fld id="{85DA3A08-9E66-614E-AAE5-F810EFDD6885}" type="slidenum">
              <a:rPr lang="en-US" smtClean="0"/>
              <a:pPr/>
              <a:t>2</a:t>
            </a:fld>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806118-0840-574D-AD0F-62FBB748D13C}"/>
              </a:ext>
            </a:extLst>
          </p:cNvPr>
          <p:cNvSpPr>
            <a:spLocks noGrp="1"/>
          </p:cNvSpPr>
          <p:nvPr>
            <p:ph type="ctrTitle" hasCustomPrompt="1"/>
          </p:nvPr>
        </p:nvSpPr>
        <p:spPr>
          <a:xfrm>
            <a:off x="2997986" y="1817520"/>
            <a:ext cx="7082991" cy="1381125"/>
          </a:xfrm>
        </p:spPr>
        <p:txBody>
          <a:bodyPr>
            <a:normAutofit/>
          </a:bodyPr>
          <a:lstStyle/>
          <a:p>
            <a:pPr marL="0" lvl="0" indent="0">
              <a:buNone/>
            </a:pPr>
            <a:r>
              <a:rPr dirty="0"/>
              <a:t>RPD through Lucas’s aggregate supply curve</a:t>
            </a:r>
            <a:r>
              <a:rPr lang="en-US" dirty="0"/>
              <a:t> (but what is RPD?)</a:t>
            </a:r>
            <a:endParaRPr dirty="0"/>
          </a:p>
        </p:txBody>
      </p:sp>
      <p:sp>
        <p:nvSpPr>
          <p:cNvPr id="9" name="Slide Number Placeholder 5">
            <a:extLst>
              <a:ext uri="{FF2B5EF4-FFF2-40B4-BE49-F238E27FC236}">
                <a16:creationId xmlns:a16="http://schemas.microsoft.com/office/drawing/2014/main" id="{A50C40EB-9722-8244-8C4B-58C77EAC766D}"/>
              </a:ext>
            </a:extLst>
          </p:cNvPr>
          <p:cNvSpPr>
            <a:spLocks noGrp="1"/>
          </p:cNvSpPr>
          <p:nvPr>
            <p:ph type="sldNum" sz="quarter" idx="12"/>
          </p:nvPr>
        </p:nvSpPr>
        <p:spPr>
          <a:xfrm>
            <a:off x="7557977" y="6313820"/>
            <a:ext cx="2743200" cy="365125"/>
          </a:xfrm>
        </p:spPr>
        <p:txBody>
          <a:bodyPr/>
          <a:lstStyle>
            <a:lvl1pPr>
              <a:defRPr sz="1100"/>
            </a:lvl1pPr>
          </a:lstStyle>
          <a:p>
            <a:fld id="{85DA3A08-9E66-614E-AAE5-F810EFDD6885}" type="slidenum">
              <a:rPr lang="en-US" smtClean="0"/>
              <a:pPr/>
              <a:t>3</a:t>
            </a:fld>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631292-24AE-5F41-8820-196C7D8E36A1}"/>
              </a:ext>
            </a:extLst>
          </p:cNvPr>
          <p:cNvSpPr>
            <a:spLocks noGrp="1"/>
          </p:cNvSpPr>
          <p:nvPr>
            <p:ph type="title"/>
          </p:nvPr>
        </p:nvSpPr>
        <p:spPr>
          <a:xfrm>
            <a:off x="1055553" y="365125"/>
            <a:ext cx="10977744" cy="666233"/>
          </a:xfrm>
        </p:spPr>
        <p:txBody>
          <a:bodyPr/>
          <a:lstStyle/>
          <a:p>
            <a:pPr marL="0" lvl="0" indent="0">
              <a:buNone/>
            </a:pPr>
            <a:r>
              <a:rPr lang="en-US" dirty="0"/>
              <a:t>RPD has many explanations or theoretical underpinnings</a:t>
            </a:r>
            <a:endParaRPr dirty="0"/>
          </a:p>
        </p:txBody>
      </p:sp>
      <p:sp>
        <p:nvSpPr>
          <p:cNvPr id="3" name="Content Placeholder 2">
            <a:extLst>
              <a:ext uri="{FF2B5EF4-FFF2-40B4-BE49-F238E27FC236}">
                <a16:creationId xmlns:a16="http://schemas.microsoft.com/office/drawing/2014/main" id="{9C966DDB-3364-1B41-9729-DB3686A721C5}"/>
              </a:ext>
            </a:extLst>
          </p:cNvPr>
          <p:cNvSpPr>
            <a:spLocks noGrp="1"/>
          </p:cNvSpPr>
          <p:nvPr>
            <p:ph idx="1" hasCustomPrompt="1"/>
          </p:nvPr>
        </p:nvSpPr>
        <p:spPr/>
        <p:txBody>
          <a:bodyPr/>
          <a:lstStyle/>
          <a:p>
            <a:pPr lvl="0"/>
            <a:r>
              <a:rPr dirty="0"/>
              <a:t>The theoretical literature generally distinguishes between menu-cost and signal extraction models in explaining the positive relation between trend inflation and RPD.</a:t>
            </a:r>
          </a:p>
          <a:p>
            <a:pPr lvl="0"/>
            <a:r>
              <a:rPr dirty="0"/>
              <a:t>Due to differences in administrative costs, these nominal price adjustment costs vary across firms moreover these adjustments occur at different times which implies staggard price setting behavior which leads to relative price variability.</a:t>
            </a:r>
          </a:p>
          <a:p>
            <a:pPr lvl="0"/>
            <a:r>
              <a:rPr dirty="0"/>
              <a:t>Menu cost models predict a that higher expected inflation causes an increase in RPD while Lucas-type signal extraction models (Lucas 1973; </a:t>
            </a:r>
            <a:r>
              <a:rPr dirty="0" err="1"/>
              <a:t>Hercowitz</a:t>
            </a:r>
            <a:r>
              <a:rPr dirty="0"/>
              <a:t> 1981; Cukierman 1983) argue unexpected inflation uncertainty causes higher RPD because informational frictions make it difficult to distinguish between idiosyncratic relative shocks or an aggregate (inflationary) shock.</a:t>
            </a:r>
          </a:p>
          <a:p>
            <a:pPr lvl="0"/>
            <a:r>
              <a:rPr dirty="0"/>
              <a:t>Menu cost and signal-extraction models assume a positive and linear relationship making the optimal inflation rate zero, however, recently monetary search models (Head and Kumar</a:t>
            </a:r>
            <a:r>
              <a:rPr lang="en-US" dirty="0"/>
              <a:t>,</a:t>
            </a:r>
            <a:r>
              <a:rPr dirty="0"/>
              <a:t> 2005) show that this relationship is nonlinear making the optimal inflation rate somewhere between zero and positive inflation rate.</a:t>
            </a:r>
          </a:p>
        </p:txBody>
      </p:sp>
      <p:sp>
        <p:nvSpPr>
          <p:cNvPr id="7" name="Slide Number Placeholder 5">
            <a:extLst>
              <a:ext uri="{FF2B5EF4-FFF2-40B4-BE49-F238E27FC236}">
                <a16:creationId xmlns:a16="http://schemas.microsoft.com/office/drawing/2014/main" id="{FB221DBE-BC54-6C4C-BA1C-95E280B67712}"/>
              </a:ext>
            </a:extLst>
          </p:cNvPr>
          <p:cNvSpPr>
            <a:spLocks noGrp="1"/>
          </p:cNvSpPr>
          <p:nvPr>
            <p:ph type="sldNum" sz="quarter" idx="12"/>
          </p:nvPr>
        </p:nvSpPr>
        <p:spPr>
          <a:xfrm>
            <a:off x="7557977" y="6313820"/>
            <a:ext cx="2743200" cy="365125"/>
          </a:xfrm>
        </p:spPr>
        <p:txBody>
          <a:bodyPr/>
          <a:lstStyle>
            <a:lvl1pPr>
              <a:defRPr sz="1100"/>
            </a:lvl1pPr>
          </a:lstStyle>
          <a:p>
            <a:fld id="{85DA3A08-9E66-614E-AAE5-F810EFDD6885}" type="slidenum">
              <a:rPr lang="en-US" smtClean="0"/>
              <a:pPr/>
              <a:t>4</a:t>
            </a:fld>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631292-24AE-5F41-8820-196C7D8E36A1}"/>
              </a:ext>
            </a:extLst>
          </p:cNvPr>
          <p:cNvSpPr>
            <a:spLocks noGrp="1"/>
          </p:cNvSpPr>
          <p:nvPr>
            <p:ph type="title"/>
          </p:nvPr>
        </p:nvSpPr>
        <p:spPr>
          <a:xfrm>
            <a:off x="1055553" y="365125"/>
            <a:ext cx="10977744" cy="666233"/>
          </a:xfrm>
        </p:spPr>
        <p:txBody>
          <a:bodyPr/>
          <a:lstStyle/>
          <a:p>
            <a:pPr marL="0" lvl="0" indent="0">
              <a:buNone/>
            </a:pPr>
            <a:r>
              <a:rPr lang="en-US" dirty="0"/>
              <a:t>As a thought experiment, we focus of Lucas’s supply curve </a:t>
            </a:r>
            <a:endParaRPr dirty="0"/>
          </a:p>
        </p:txBody>
      </p:sp>
      <p:sp>
        <p:nvSpPr>
          <p:cNvPr id="3" name="Content Placeholder 2">
            <a:extLst>
              <a:ext uri="{FF2B5EF4-FFF2-40B4-BE49-F238E27FC236}">
                <a16:creationId xmlns:a16="http://schemas.microsoft.com/office/drawing/2014/main" id="{9C966DDB-3364-1B41-9729-DB3686A721C5}"/>
              </a:ext>
            </a:extLst>
          </p:cNvPr>
          <p:cNvSpPr>
            <a:spLocks noGrp="1"/>
          </p:cNvSpPr>
          <p:nvPr>
            <p:ph idx="1" hasCustomPrompt="1"/>
          </p:nvPr>
        </p:nvSpPr>
        <p:spPr/>
        <p:txBody>
          <a:bodyPr/>
          <a:lstStyle/>
          <a:p>
            <a:pPr lvl="0"/>
            <a:r>
              <a:rPr dirty="0"/>
              <a:t>The concept of relative price dispersion can be abstract and difficult to grasp without a theoretical framework.</a:t>
            </a:r>
          </a:p>
          <a:p>
            <a:pPr lvl="0"/>
            <a:r>
              <a:rPr dirty="0"/>
              <a:t>One of the most influential frameworks for understanding relative price dispersion is the Lucas (1973) aggregate supply curve, which provides insights into how relative price dispersion can explain the </a:t>
            </a:r>
            <a:r>
              <a:rPr b="1" dirty="0"/>
              <a:t>output-inflation relationship</a:t>
            </a:r>
            <a:r>
              <a:rPr dirty="0"/>
              <a:t>.</a:t>
            </a:r>
          </a:p>
          <a:p>
            <a:pPr lvl="0"/>
            <a:r>
              <a:rPr dirty="0"/>
              <a:t>This theory essentially means (in part) that nominal “rigidities” partially dominate short-run supplier behavior resulting from a lack of information about the some prices relevant to decision making.</a:t>
            </a:r>
          </a:p>
          <a:p>
            <a:pPr lvl="0"/>
            <a:r>
              <a:rPr dirty="0"/>
              <a:t>For our purposes we ignore other aspects of the theoretical framework and emphasis this aspect of the model to provide an understanding relative price dispersion.</a:t>
            </a:r>
          </a:p>
        </p:txBody>
      </p:sp>
      <p:sp>
        <p:nvSpPr>
          <p:cNvPr id="7" name="Slide Number Placeholder 5">
            <a:extLst>
              <a:ext uri="{FF2B5EF4-FFF2-40B4-BE49-F238E27FC236}">
                <a16:creationId xmlns:a16="http://schemas.microsoft.com/office/drawing/2014/main" id="{FB221DBE-BC54-6C4C-BA1C-95E280B67712}"/>
              </a:ext>
            </a:extLst>
          </p:cNvPr>
          <p:cNvSpPr>
            <a:spLocks noGrp="1"/>
          </p:cNvSpPr>
          <p:nvPr>
            <p:ph type="sldNum" sz="quarter" idx="12"/>
          </p:nvPr>
        </p:nvSpPr>
        <p:spPr>
          <a:xfrm>
            <a:off x="7557977" y="6313820"/>
            <a:ext cx="2743200" cy="365125"/>
          </a:xfrm>
        </p:spPr>
        <p:txBody>
          <a:bodyPr/>
          <a:lstStyle>
            <a:lvl1pPr>
              <a:defRPr sz="1100"/>
            </a:lvl1pPr>
          </a:lstStyle>
          <a:p>
            <a:fld id="{85DA3A08-9E66-614E-AAE5-F810EFDD6885}" type="slidenum">
              <a:rPr lang="en-US" smtClean="0"/>
              <a:pPr/>
              <a:t>5</a:t>
            </a:fld>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631292-24AE-5F41-8820-196C7D8E36A1}"/>
              </a:ext>
            </a:extLst>
          </p:cNvPr>
          <p:cNvSpPr>
            <a:spLocks noGrp="1"/>
          </p:cNvSpPr>
          <p:nvPr>
            <p:ph type="title"/>
          </p:nvPr>
        </p:nvSpPr>
        <p:spPr>
          <a:xfrm>
            <a:off x="1055553" y="365125"/>
            <a:ext cx="10977744" cy="666233"/>
          </a:xfrm>
        </p:spPr>
        <p:txBody>
          <a:bodyPr/>
          <a:lstStyle/>
          <a:p>
            <a:pPr lvl="0"/>
            <a:r>
              <a:rPr lang="en-US" dirty="0"/>
              <a:t>Lucas’s supply curve</a:t>
            </a:r>
            <a:endParaRPr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9C966DDB-3364-1B41-9729-DB3686A721C5}"/>
                  </a:ext>
                </a:extLst>
              </p:cNvPr>
              <p:cNvSpPr>
                <a:spLocks noGrp="1"/>
              </p:cNvSpPr>
              <p:nvPr>
                <p:ph idx="1" hasCustomPrompt="1"/>
              </p:nvPr>
            </p:nvSpPr>
            <p:spPr/>
            <p:txBody>
              <a:bodyPr>
                <a:normAutofit lnSpcReduction="10000"/>
              </a:bodyPr>
              <a:lstStyle/>
              <a:p>
                <a:pPr marL="0" lvl="0" indent="0">
                  <a:buNone/>
                </a:pPr>
                <a:r>
                  <a:rPr dirty="0"/>
                  <a:t>Lucas (1973) proposes a decomposition of the supply curve, all in logs, into a natural or secular component and a cyclical component as follows:</a:t>
                </a:r>
                <a:endParaRPr lang="en-US" dirty="0"/>
              </a:p>
              <a:p>
                <a:pPr marL="0" lvl="0" indent="0">
                  <a:buNone/>
                </a:pPr>
                <a:endParaRPr dirty="0"/>
              </a:p>
              <a:p>
                <a:pPr marL="0" lvl="0" indent="0">
                  <a:buNone/>
                </a:pPr>
                <a14:m>
                  <m:oMathPara xmlns:m="http://schemas.openxmlformats.org/officeDocument/2006/math">
                    <m:oMathParaPr>
                      <m:jc m:val="center"/>
                    </m:oMathParaPr>
                    <m:oMath xmlns:m="http://schemas.openxmlformats.org/officeDocument/2006/math">
                      <m:sSub>
                        <m:sSubPr>
                          <m:ctrlPr>
                            <a:rPr i="1">
                              <a:latin typeface="Cambria Math" panose="02040503050406030204" pitchFamily="18" charset="0"/>
                            </a:rPr>
                          </m:ctrlPr>
                        </m:sSubPr>
                        <m:e>
                          <m:r>
                            <a:rPr>
                              <a:latin typeface="Cambria Math" panose="02040503050406030204" pitchFamily="18" charset="0"/>
                            </a:rPr>
                            <m:t>𝑦</m:t>
                          </m:r>
                        </m:e>
                        <m:sub>
                          <m:r>
                            <a:rPr>
                              <a:latin typeface="Cambria Math" panose="02040503050406030204" pitchFamily="18" charset="0"/>
                            </a:rPr>
                            <m:t>𝑡</m:t>
                          </m:r>
                        </m:sub>
                      </m:sSub>
                      <m:d>
                        <m:dPr>
                          <m:ctrlPr>
                            <a:rPr i="1">
                              <a:latin typeface="Cambria Math" panose="02040503050406030204" pitchFamily="18" charset="0"/>
                            </a:rPr>
                          </m:ctrlPr>
                        </m:dPr>
                        <m:e>
                          <m:r>
                            <a:rPr>
                              <a:latin typeface="Cambria Math" panose="02040503050406030204" pitchFamily="18" charset="0"/>
                            </a:rPr>
                            <m:t>𝑧</m:t>
                          </m:r>
                        </m:e>
                      </m:d>
                      <m:r>
                        <a:rPr>
                          <a:latin typeface="Cambria Math" panose="02040503050406030204" pitchFamily="18" charset="0"/>
                        </a:rPr>
                        <m:t>=</m:t>
                      </m:r>
                      <m:sSub>
                        <m:sSubPr>
                          <m:ctrlPr>
                            <a:rPr i="1">
                              <a:latin typeface="Cambria Math" panose="02040503050406030204" pitchFamily="18" charset="0"/>
                            </a:rPr>
                          </m:ctrlPr>
                        </m:sSubPr>
                        <m:e>
                          <m:r>
                            <a:rPr>
                              <a:latin typeface="Cambria Math" panose="02040503050406030204" pitchFamily="18" charset="0"/>
                            </a:rPr>
                            <m:t>𝑦</m:t>
                          </m:r>
                        </m:e>
                        <m:sub>
                          <m:r>
                            <a:rPr>
                              <a:latin typeface="Cambria Math" panose="02040503050406030204" pitchFamily="18" charset="0"/>
                            </a:rPr>
                            <m:t>𝑛</m:t>
                          </m:r>
                          <m:r>
                            <a:rPr>
                              <a:latin typeface="Cambria Math" panose="02040503050406030204" pitchFamily="18" charset="0"/>
                            </a:rPr>
                            <m:t>,</m:t>
                          </m:r>
                          <m:r>
                            <a:rPr>
                              <a:latin typeface="Cambria Math" panose="02040503050406030204" pitchFamily="18" charset="0"/>
                            </a:rPr>
                            <m:t>𝑡</m:t>
                          </m:r>
                        </m:sub>
                      </m:sSub>
                      <m:r>
                        <a:rPr>
                          <a:latin typeface="Cambria Math" panose="02040503050406030204" pitchFamily="18" charset="0"/>
                        </a:rPr>
                        <m:t>+</m:t>
                      </m:r>
                      <m:sSub>
                        <m:sSubPr>
                          <m:ctrlPr>
                            <a:rPr i="1">
                              <a:latin typeface="Cambria Math" panose="02040503050406030204" pitchFamily="18" charset="0"/>
                            </a:rPr>
                          </m:ctrlPr>
                        </m:sSubPr>
                        <m:e>
                          <m:r>
                            <a:rPr>
                              <a:latin typeface="Cambria Math" panose="02040503050406030204" pitchFamily="18" charset="0"/>
                            </a:rPr>
                            <m:t>𝑦</m:t>
                          </m:r>
                        </m:e>
                        <m:sub>
                          <m:r>
                            <a:rPr>
                              <a:latin typeface="Cambria Math" panose="02040503050406030204" pitchFamily="18" charset="0"/>
                            </a:rPr>
                            <m:t>𝑐𝑡</m:t>
                          </m:r>
                        </m:sub>
                      </m:sSub>
                      <m:d>
                        <m:dPr>
                          <m:ctrlPr>
                            <a:rPr i="1">
                              <a:latin typeface="Cambria Math" panose="02040503050406030204" pitchFamily="18" charset="0"/>
                            </a:rPr>
                          </m:ctrlPr>
                        </m:dPr>
                        <m:e>
                          <m:r>
                            <a:rPr>
                              <a:latin typeface="Cambria Math" panose="02040503050406030204" pitchFamily="18" charset="0"/>
                            </a:rPr>
                            <m:t>𝑧</m:t>
                          </m:r>
                        </m:e>
                      </m:d>
                      <m:r>
                        <a:rPr>
                          <a:latin typeface="Cambria Math" panose="02040503050406030204" pitchFamily="18" charset="0"/>
                        </a:rPr>
                        <m:t>,  </m:t>
                      </m:r>
                      <m:d>
                        <m:dPr>
                          <m:ctrlPr>
                            <a:rPr i="1">
                              <a:latin typeface="Cambria Math" panose="02040503050406030204" pitchFamily="18" charset="0"/>
                            </a:rPr>
                          </m:ctrlPr>
                        </m:dPr>
                        <m:e>
                          <m:r>
                            <a:rPr>
                              <a:latin typeface="Cambria Math" panose="02040503050406030204" pitchFamily="18" charset="0"/>
                            </a:rPr>
                            <m:t>1</m:t>
                          </m:r>
                        </m:e>
                      </m:d>
                    </m:oMath>
                  </m:oMathPara>
                </a14:m>
                <a:endParaRPr dirty="0"/>
              </a:p>
              <a:p>
                <a:pPr lvl="0"/>
                <a14:m>
                  <m:oMath xmlns:m="http://schemas.openxmlformats.org/officeDocument/2006/math">
                    <m:sSub>
                      <m:sSubPr>
                        <m:ctrlPr>
                          <a:rPr i="1">
                            <a:latin typeface="Cambria Math" panose="02040503050406030204" pitchFamily="18" charset="0"/>
                          </a:rPr>
                        </m:ctrlPr>
                      </m:sSubPr>
                      <m:e>
                        <m:r>
                          <a:rPr>
                            <a:latin typeface="Cambria Math" panose="02040503050406030204" pitchFamily="18" charset="0"/>
                          </a:rPr>
                          <m:t>𝑦</m:t>
                        </m:r>
                      </m:e>
                      <m:sub>
                        <m:r>
                          <a:rPr>
                            <a:latin typeface="Cambria Math" panose="02040503050406030204" pitchFamily="18" charset="0"/>
                          </a:rPr>
                          <m:t>𝑡</m:t>
                        </m:r>
                      </m:sub>
                    </m:sSub>
                    <m:d>
                      <m:dPr>
                        <m:ctrlPr>
                          <a:rPr i="1">
                            <a:latin typeface="Cambria Math" panose="02040503050406030204" pitchFamily="18" charset="0"/>
                          </a:rPr>
                        </m:ctrlPr>
                      </m:dPr>
                      <m:e>
                        <m:r>
                          <a:rPr>
                            <a:latin typeface="Cambria Math" panose="02040503050406030204" pitchFamily="18" charset="0"/>
                          </a:rPr>
                          <m:t>𝑧</m:t>
                        </m:r>
                      </m:e>
                    </m:d>
                  </m:oMath>
                </a14:m>
                <a:r>
                  <a:rPr dirty="0"/>
                  <a:t> is the aggregate supply at time </a:t>
                </a:r>
                <a14:m>
                  <m:oMath xmlns:m="http://schemas.openxmlformats.org/officeDocument/2006/math">
                    <m:r>
                      <a:rPr>
                        <a:latin typeface="Cambria Math" panose="02040503050406030204" pitchFamily="18" charset="0"/>
                      </a:rPr>
                      <m:t>𝑡</m:t>
                    </m:r>
                  </m:oMath>
                </a14:m>
                <a:r>
                  <a:rPr dirty="0"/>
                  <a:t> in market </a:t>
                </a:r>
                <a14:m>
                  <m:oMath xmlns:m="http://schemas.openxmlformats.org/officeDocument/2006/math">
                    <m:r>
                      <a:rPr>
                        <a:latin typeface="Cambria Math" panose="02040503050406030204" pitchFamily="18" charset="0"/>
                      </a:rPr>
                      <m:t>𝑧</m:t>
                    </m:r>
                  </m:oMath>
                </a14:m>
                <a:r>
                  <a:rPr dirty="0"/>
                  <a:t>, </a:t>
                </a:r>
                <a14:m>
                  <m:oMath xmlns:m="http://schemas.openxmlformats.org/officeDocument/2006/math">
                    <m:sSub>
                      <m:sSubPr>
                        <m:ctrlPr>
                          <a:rPr i="1">
                            <a:latin typeface="Cambria Math" panose="02040503050406030204" pitchFamily="18" charset="0"/>
                          </a:rPr>
                        </m:ctrlPr>
                      </m:sSubPr>
                      <m:e>
                        <m:r>
                          <a:rPr>
                            <a:latin typeface="Cambria Math" panose="02040503050406030204" pitchFamily="18" charset="0"/>
                          </a:rPr>
                          <m:t>𝑦</m:t>
                        </m:r>
                      </m:e>
                      <m:sub>
                        <m:r>
                          <a:rPr>
                            <a:latin typeface="Cambria Math" panose="02040503050406030204" pitchFamily="18" charset="0"/>
                          </a:rPr>
                          <m:t>𝑛</m:t>
                        </m:r>
                        <m:r>
                          <a:rPr>
                            <a:latin typeface="Cambria Math" panose="02040503050406030204" pitchFamily="18" charset="0"/>
                          </a:rPr>
                          <m:t>,</m:t>
                        </m:r>
                        <m:r>
                          <a:rPr>
                            <a:latin typeface="Cambria Math" panose="02040503050406030204" pitchFamily="18" charset="0"/>
                          </a:rPr>
                          <m:t>𝑡</m:t>
                        </m:r>
                      </m:sub>
                    </m:sSub>
                  </m:oMath>
                </a14:m>
                <a:r>
                  <a:rPr dirty="0"/>
                  <a:t> is the natural or secular level of supply at time </a:t>
                </a:r>
                <a14:m>
                  <m:oMath xmlns:m="http://schemas.openxmlformats.org/officeDocument/2006/math">
                    <m:r>
                      <a:rPr>
                        <a:latin typeface="Cambria Math" panose="02040503050406030204" pitchFamily="18" charset="0"/>
                      </a:rPr>
                      <m:t>𝑡</m:t>
                    </m:r>
                  </m:oMath>
                </a14:m>
                <a:endParaRPr dirty="0"/>
              </a:p>
              <a:p>
                <a:pPr lvl="0"/>
                <a14:m>
                  <m:oMath xmlns:m="http://schemas.openxmlformats.org/officeDocument/2006/math">
                    <m:sSub>
                      <m:sSubPr>
                        <m:ctrlPr>
                          <a:rPr i="1">
                            <a:latin typeface="Cambria Math" panose="02040503050406030204" pitchFamily="18" charset="0"/>
                          </a:rPr>
                        </m:ctrlPr>
                      </m:sSubPr>
                      <m:e>
                        <m:r>
                          <a:rPr>
                            <a:latin typeface="Cambria Math" panose="02040503050406030204" pitchFamily="18" charset="0"/>
                          </a:rPr>
                          <m:t>𝑦</m:t>
                        </m:r>
                      </m:e>
                      <m:sub>
                        <m:r>
                          <a:rPr>
                            <a:latin typeface="Cambria Math" panose="02040503050406030204" pitchFamily="18" charset="0"/>
                          </a:rPr>
                          <m:t>𝑐𝑡</m:t>
                        </m:r>
                      </m:sub>
                    </m:sSub>
                  </m:oMath>
                </a14:m>
                <a:r>
                  <a:rPr dirty="0"/>
                  <a:t> is the cyclical component of supply at time </a:t>
                </a:r>
                <a14:m>
                  <m:oMath xmlns:m="http://schemas.openxmlformats.org/officeDocument/2006/math">
                    <m:r>
                      <a:rPr>
                        <a:latin typeface="Cambria Math" panose="02040503050406030204" pitchFamily="18" charset="0"/>
                      </a:rPr>
                      <m:t>𝑡</m:t>
                    </m:r>
                  </m:oMath>
                </a14:m>
                <a:r>
                  <a:rPr dirty="0"/>
                  <a:t>.</a:t>
                </a:r>
              </a:p>
              <a:p>
                <a:pPr lvl="0"/>
                <a:r>
                  <a:rPr dirty="0"/>
                  <a:t>Competitive markets and a cleared </a:t>
                </a:r>
                <a:r>
                  <a:rPr dirty="0" err="1"/>
                  <a:t>labour</a:t>
                </a:r>
                <a:r>
                  <a:rPr dirty="0"/>
                  <a:t> market are assumed</a:t>
                </a:r>
              </a:p>
              <a:p>
                <a:pPr lvl="0"/>
                <a:r>
                  <a:rPr dirty="0"/>
                  <a:t>Leading to relative price and general price level movements leading.</a:t>
                </a:r>
              </a:p>
              <a:p>
                <a:pPr lvl="0"/>
                <a:r>
                  <a:rPr dirty="0"/>
                  <a:t>Imperfect information of the suppliers about the general price level that leads to relative price dispersion and the output-inflation relationship.</a:t>
                </a:r>
              </a:p>
              <a:p>
                <a:pPr marL="0" lvl="0" indent="0">
                  <a:buNone/>
                </a:pPr>
                <a:r>
                  <a:rPr dirty="0"/>
                  <a:t>In addition, the natural or secular level of supply is assumed to follow a linear trend as follows:</a:t>
                </a:r>
                <a:endParaRPr lang="en-US" dirty="0"/>
              </a:p>
              <a:p>
                <a:pPr marL="0" lvl="0" indent="0">
                  <a:buNone/>
                </a:pPr>
                <a:endParaRPr dirty="0"/>
              </a:p>
              <a:p>
                <a:pPr marL="0" lvl="0" indent="0">
                  <a:buNone/>
                </a:pPr>
                <a14:m>
                  <m:oMathPara xmlns:m="http://schemas.openxmlformats.org/officeDocument/2006/math">
                    <m:oMathParaPr>
                      <m:jc m:val="center"/>
                    </m:oMathParaPr>
                    <m:oMath xmlns:m="http://schemas.openxmlformats.org/officeDocument/2006/math">
                      <m:sSub>
                        <m:sSubPr>
                          <m:ctrlPr>
                            <a:rPr i="1">
                              <a:latin typeface="Cambria Math" panose="02040503050406030204" pitchFamily="18" charset="0"/>
                            </a:rPr>
                          </m:ctrlPr>
                        </m:sSubPr>
                        <m:e>
                          <m:r>
                            <a:rPr>
                              <a:latin typeface="Cambria Math" panose="02040503050406030204" pitchFamily="18" charset="0"/>
                            </a:rPr>
                            <m:t>𝑦</m:t>
                          </m:r>
                        </m:e>
                        <m:sub>
                          <m:r>
                            <a:rPr>
                              <a:latin typeface="Cambria Math" panose="02040503050406030204" pitchFamily="18" charset="0"/>
                            </a:rPr>
                            <m:t>𝑛</m:t>
                          </m:r>
                          <m:r>
                            <a:rPr>
                              <a:latin typeface="Cambria Math" panose="02040503050406030204" pitchFamily="18" charset="0"/>
                            </a:rPr>
                            <m:t>,</m:t>
                          </m:r>
                          <m:r>
                            <a:rPr>
                              <a:latin typeface="Cambria Math" panose="02040503050406030204" pitchFamily="18" charset="0"/>
                            </a:rPr>
                            <m:t>𝑡</m:t>
                          </m:r>
                        </m:sub>
                      </m:sSub>
                      <m:r>
                        <a:rPr>
                          <a:latin typeface="Cambria Math" panose="02040503050406030204" pitchFamily="18" charset="0"/>
                        </a:rPr>
                        <m:t>=</m:t>
                      </m:r>
                      <m:r>
                        <a:rPr>
                          <a:latin typeface="Cambria Math" panose="02040503050406030204" pitchFamily="18" charset="0"/>
                        </a:rPr>
                        <m:t>𝛼</m:t>
                      </m:r>
                      <m:r>
                        <a:rPr>
                          <a:latin typeface="Cambria Math" panose="02040503050406030204" pitchFamily="18" charset="0"/>
                        </a:rPr>
                        <m:t>+</m:t>
                      </m:r>
                      <m:r>
                        <a:rPr>
                          <a:latin typeface="Cambria Math" panose="02040503050406030204" pitchFamily="18" charset="0"/>
                        </a:rPr>
                        <m:t>𝛽</m:t>
                      </m:r>
                      <m:r>
                        <a:rPr>
                          <a:latin typeface="Cambria Math" panose="02040503050406030204" pitchFamily="18" charset="0"/>
                        </a:rPr>
                        <m:t>𝑡</m:t>
                      </m:r>
                      <m:r>
                        <a:rPr>
                          <a:latin typeface="Cambria Math" panose="02040503050406030204" pitchFamily="18" charset="0"/>
                        </a:rPr>
                        <m:t>,  </m:t>
                      </m:r>
                      <m:d>
                        <m:dPr>
                          <m:ctrlPr>
                            <a:rPr i="1">
                              <a:latin typeface="Cambria Math" panose="02040503050406030204" pitchFamily="18" charset="0"/>
                            </a:rPr>
                          </m:ctrlPr>
                        </m:dPr>
                        <m:e>
                          <m:r>
                            <a:rPr>
                              <a:latin typeface="Cambria Math" panose="02040503050406030204" pitchFamily="18" charset="0"/>
                            </a:rPr>
                            <m:t>2</m:t>
                          </m:r>
                        </m:e>
                      </m:d>
                    </m:oMath>
                  </m:oMathPara>
                </a14:m>
                <a:endParaRPr dirty="0"/>
              </a:p>
              <a:p>
                <a:pPr marL="0" lvl="0" indent="0">
                  <a:buNone/>
                </a:pPr>
                <a:r>
                  <a:rPr dirty="0"/>
                  <a:t>where </a:t>
                </a:r>
                <a14:m>
                  <m:oMath xmlns:m="http://schemas.openxmlformats.org/officeDocument/2006/math">
                    <m:r>
                      <a:rPr>
                        <a:latin typeface="Cambria Math" panose="02040503050406030204" pitchFamily="18" charset="0"/>
                      </a:rPr>
                      <m:t>𝛼</m:t>
                    </m:r>
                  </m:oMath>
                </a14:m>
                <a:r>
                  <a:rPr dirty="0"/>
                  <a:t> is a constant and </a:t>
                </a:r>
                <a14:m>
                  <m:oMath xmlns:m="http://schemas.openxmlformats.org/officeDocument/2006/math">
                    <m:r>
                      <a:rPr>
                        <a:latin typeface="Cambria Math" panose="02040503050406030204" pitchFamily="18" charset="0"/>
                      </a:rPr>
                      <m:t>𝛽</m:t>
                    </m:r>
                  </m:oMath>
                </a14:m>
                <a:r>
                  <a:rPr dirty="0"/>
                  <a:t> captures the trend growth rate of the natural level of supply.</a:t>
                </a:r>
              </a:p>
            </p:txBody>
          </p:sp>
        </mc:Choice>
        <mc:Fallback xmlns="">
          <p:sp>
            <p:nvSpPr>
              <p:cNvPr id="3" name="Content Placeholder 2">
                <a:extLst>
                  <a:ext uri="{FF2B5EF4-FFF2-40B4-BE49-F238E27FC236}">
                    <a16:creationId xmlns:a16="http://schemas.microsoft.com/office/drawing/2014/main" id="{9C966DDB-3364-1B41-9729-DB3686A721C5}"/>
                  </a:ext>
                </a:extLst>
              </p:cNvPr>
              <p:cNvSpPr>
                <a:spLocks noGrp="1" noRot="1" noChangeAspect="1" noMove="1" noResize="1" noEditPoints="1" noAdjustHandles="1" noChangeArrowheads="1" noChangeShapeType="1" noTextEdit="1"/>
              </p:cNvSpPr>
              <p:nvPr>
                <p:ph idx="1" hasCustomPrompt="1"/>
              </p:nvPr>
            </p:nvSpPr>
            <p:spPr>
              <a:blipFill>
                <a:blip r:embed="rId3"/>
                <a:stretch>
                  <a:fillRect l="-473" t="-1907" b="-1362"/>
                </a:stretch>
              </a:blipFill>
            </p:spPr>
            <p:txBody>
              <a:bodyPr/>
              <a:lstStyle/>
              <a:p>
                <a:r>
                  <a:rPr lang="en-US">
                    <a:noFill/>
                  </a:rPr>
                  <a:t> </a:t>
                </a:r>
              </a:p>
            </p:txBody>
          </p:sp>
        </mc:Fallback>
      </mc:AlternateContent>
      <p:sp>
        <p:nvSpPr>
          <p:cNvPr id="7" name="Slide Number Placeholder 5">
            <a:extLst>
              <a:ext uri="{FF2B5EF4-FFF2-40B4-BE49-F238E27FC236}">
                <a16:creationId xmlns:a16="http://schemas.microsoft.com/office/drawing/2014/main" id="{FB221DBE-BC54-6C4C-BA1C-95E280B67712}"/>
              </a:ext>
            </a:extLst>
          </p:cNvPr>
          <p:cNvSpPr>
            <a:spLocks noGrp="1"/>
          </p:cNvSpPr>
          <p:nvPr>
            <p:ph type="sldNum" sz="quarter" idx="12"/>
          </p:nvPr>
        </p:nvSpPr>
        <p:spPr>
          <a:xfrm>
            <a:off x="7557977" y="6313820"/>
            <a:ext cx="2743200" cy="365125"/>
          </a:xfrm>
        </p:spPr>
        <p:txBody>
          <a:bodyPr/>
          <a:lstStyle>
            <a:lvl1pPr>
              <a:defRPr sz="1100"/>
            </a:lvl1pPr>
          </a:lstStyle>
          <a:p>
            <a:fld id="{85DA3A08-9E66-614E-AAE5-F810EFDD6885}" type="slidenum">
              <a:rPr lang="en-US" smtClean="0"/>
              <a:pPr/>
              <a:t>6</a:t>
            </a:fld>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631292-24AE-5F41-8820-196C7D8E36A1}"/>
              </a:ext>
            </a:extLst>
          </p:cNvPr>
          <p:cNvSpPr>
            <a:spLocks noGrp="1"/>
          </p:cNvSpPr>
          <p:nvPr>
            <p:ph type="title"/>
          </p:nvPr>
        </p:nvSpPr>
        <p:spPr>
          <a:xfrm>
            <a:off x="1055553" y="365125"/>
            <a:ext cx="10977744" cy="666233"/>
          </a:xfrm>
        </p:spPr>
        <p:txBody>
          <a:bodyPr/>
          <a:lstStyle/>
          <a:p>
            <a:pPr lvl="0"/>
            <a:r>
              <a:rPr lang="en-US" dirty="0"/>
              <a:t>Lucas’s supply curve: Information asymmetry</a:t>
            </a:r>
            <a:endParaRPr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9C966DDB-3364-1B41-9729-DB3686A721C5}"/>
                  </a:ext>
                </a:extLst>
              </p:cNvPr>
              <p:cNvSpPr>
                <a:spLocks noGrp="1"/>
              </p:cNvSpPr>
              <p:nvPr>
                <p:ph idx="1" hasCustomPrompt="1"/>
              </p:nvPr>
            </p:nvSpPr>
            <p:spPr/>
            <p:txBody>
              <a:bodyPr/>
              <a:lstStyle/>
              <a:p>
                <a:pPr marL="0" lvl="0" indent="0">
                  <a:buNone/>
                </a:pPr>
                <a:r>
                  <a:rPr dirty="0"/>
                  <a:t>The cyclical component varies with the perceived relative price (the difference between the actual price level and the expected price level) and its lags as follows:</a:t>
                </a:r>
                <a:endParaRPr lang="en-US" dirty="0"/>
              </a:p>
              <a:p>
                <a:pPr marL="0" lvl="0" indent="0">
                  <a:buNone/>
                </a:pPr>
                <a:endParaRPr dirty="0"/>
              </a:p>
              <a:p>
                <a:pPr marL="0" lvl="0" indent="0">
                  <a:buNone/>
                </a:pPr>
                <a14:m>
                  <m:oMathPara xmlns:m="http://schemas.openxmlformats.org/officeDocument/2006/math">
                    <m:oMathParaPr>
                      <m:jc m:val="center"/>
                    </m:oMathParaPr>
                    <m:oMath xmlns:m="http://schemas.openxmlformats.org/officeDocument/2006/math">
                      <m:sSub>
                        <m:sSubPr>
                          <m:ctrlPr>
                            <a:rPr i="1">
                              <a:latin typeface="Cambria Math" panose="02040503050406030204" pitchFamily="18" charset="0"/>
                            </a:rPr>
                          </m:ctrlPr>
                        </m:sSubPr>
                        <m:e>
                          <m:r>
                            <a:rPr>
                              <a:latin typeface="Cambria Math" panose="02040503050406030204" pitchFamily="18" charset="0"/>
                            </a:rPr>
                            <m:t>𝑦</m:t>
                          </m:r>
                        </m:e>
                        <m:sub>
                          <m:r>
                            <a:rPr>
                              <a:latin typeface="Cambria Math" panose="02040503050406030204" pitchFamily="18" charset="0"/>
                            </a:rPr>
                            <m:t>𝑐𝑡</m:t>
                          </m:r>
                        </m:sub>
                      </m:sSub>
                      <m:d>
                        <m:dPr>
                          <m:ctrlPr>
                            <a:rPr i="1">
                              <a:latin typeface="Cambria Math" panose="02040503050406030204" pitchFamily="18" charset="0"/>
                            </a:rPr>
                          </m:ctrlPr>
                        </m:dPr>
                        <m:e>
                          <m:r>
                            <a:rPr>
                              <a:latin typeface="Cambria Math" panose="02040503050406030204" pitchFamily="18" charset="0"/>
                            </a:rPr>
                            <m:t>𝑧</m:t>
                          </m:r>
                        </m:e>
                      </m:d>
                      <m:r>
                        <a:rPr>
                          <a:latin typeface="Cambria Math" panose="02040503050406030204" pitchFamily="18" charset="0"/>
                        </a:rPr>
                        <m:t>=</m:t>
                      </m:r>
                      <m:r>
                        <a:rPr>
                          <a:latin typeface="Cambria Math" panose="02040503050406030204" pitchFamily="18" charset="0"/>
                        </a:rPr>
                        <m:t>𝛾</m:t>
                      </m:r>
                      <m:d>
                        <m:dPr>
                          <m:begChr m:val="["/>
                          <m:endChr m:val="]"/>
                          <m:ctrlPr>
                            <a:rPr i="1">
                              <a:latin typeface="Cambria Math" panose="02040503050406030204" pitchFamily="18" charset="0"/>
                            </a:rPr>
                          </m:ctrlPr>
                        </m:dPr>
                        <m:e>
                          <m:sSub>
                            <m:sSubPr>
                              <m:ctrlPr>
                                <a:rPr i="1">
                                  <a:latin typeface="Cambria Math" panose="02040503050406030204" pitchFamily="18" charset="0"/>
                                </a:rPr>
                              </m:ctrlPr>
                            </m:sSubPr>
                            <m:e>
                              <m:r>
                                <a:rPr>
                                  <a:latin typeface="Cambria Math" panose="02040503050406030204" pitchFamily="18" charset="0"/>
                                </a:rPr>
                                <m:t>𝑃</m:t>
                              </m:r>
                            </m:e>
                            <m:sub>
                              <m:r>
                                <a:rPr>
                                  <a:latin typeface="Cambria Math" panose="02040503050406030204" pitchFamily="18" charset="0"/>
                                </a:rPr>
                                <m:t>𝑡</m:t>
                              </m:r>
                            </m:sub>
                          </m:sSub>
                          <m:d>
                            <m:dPr>
                              <m:ctrlPr>
                                <a:rPr i="1">
                                  <a:latin typeface="Cambria Math" panose="02040503050406030204" pitchFamily="18" charset="0"/>
                                </a:rPr>
                              </m:ctrlPr>
                            </m:dPr>
                            <m:e>
                              <m:r>
                                <a:rPr>
                                  <a:latin typeface="Cambria Math" panose="02040503050406030204" pitchFamily="18" charset="0"/>
                                </a:rPr>
                                <m:t>𝑧</m:t>
                              </m:r>
                            </m:e>
                          </m:d>
                          <m:r>
                            <a:rPr>
                              <a:latin typeface="Cambria Math" panose="02040503050406030204" pitchFamily="18" charset="0"/>
                            </a:rPr>
                            <m:t>−</m:t>
                          </m:r>
                          <m:r>
                            <a:rPr>
                              <a:latin typeface="Cambria Math" panose="02040503050406030204" pitchFamily="18" charset="0"/>
                            </a:rPr>
                            <m:t>𝐸</m:t>
                          </m:r>
                          <m:d>
                            <m:dPr>
                              <m:ctrlPr>
                                <a:rPr i="1">
                                  <a:latin typeface="Cambria Math" panose="02040503050406030204" pitchFamily="18" charset="0"/>
                                </a:rPr>
                              </m:ctrlPr>
                            </m:dPr>
                            <m:e>
                              <m:sSub>
                                <m:sSubPr>
                                  <m:ctrlPr>
                                    <a:rPr i="1">
                                      <a:latin typeface="Cambria Math" panose="02040503050406030204" pitchFamily="18" charset="0"/>
                                    </a:rPr>
                                  </m:ctrlPr>
                                </m:sSubPr>
                                <m:e>
                                  <m:r>
                                    <a:rPr>
                                      <a:latin typeface="Cambria Math" panose="02040503050406030204" pitchFamily="18" charset="0"/>
                                    </a:rPr>
                                    <m:t>𝑃</m:t>
                                  </m:r>
                                </m:e>
                                <m:sub>
                                  <m:r>
                                    <a:rPr>
                                      <a:latin typeface="Cambria Math" panose="02040503050406030204" pitchFamily="18" charset="0"/>
                                    </a:rPr>
                                    <m:t>𝑡</m:t>
                                  </m:r>
                                </m:sub>
                              </m:sSub>
                              <m:r>
                                <a:rPr>
                                  <a:latin typeface="Cambria Math" panose="02040503050406030204" pitchFamily="18" charset="0"/>
                                </a:rPr>
                                <m:t>|</m:t>
                              </m:r>
                              <m:sSub>
                                <m:sSubPr>
                                  <m:ctrlPr>
                                    <a:rPr i="1">
                                      <a:latin typeface="Cambria Math" panose="02040503050406030204" pitchFamily="18" charset="0"/>
                                    </a:rPr>
                                  </m:ctrlPr>
                                </m:sSubPr>
                                <m:e>
                                  <m:r>
                                    <a:rPr>
                                      <a:latin typeface="Cambria Math" panose="02040503050406030204" pitchFamily="18" charset="0"/>
                                    </a:rPr>
                                    <m:t>𝐼</m:t>
                                  </m:r>
                                </m:e>
                                <m:sub>
                                  <m:r>
                                    <a:rPr>
                                      <a:latin typeface="Cambria Math" panose="02040503050406030204" pitchFamily="18" charset="0"/>
                                    </a:rPr>
                                    <m:t>𝑡</m:t>
                                  </m:r>
                                </m:sub>
                              </m:sSub>
                              <m:d>
                                <m:dPr>
                                  <m:ctrlPr>
                                    <a:rPr i="1">
                                      <a:latin typeface="Cambria Math" panose="02040503050406030204" pitchFamily="18" charset="0"/>
                                    </a:rPr>
                                  </m:ctrlPr>
                                </m:dPr>
                                <m:e>
                                  <m:r>
                                    <a:rPr>
                                      <a:latin typeface="Cambria Math" panose="02040503050406030204" pitchFamily="18" charset="0"/>
                                    </a:rPr>
                                    <m:t>𝑧</m:t>
                                  </m:r>
                                </m:e>
                              </m:d>
                            </m:e>
                          </m:d>
                        </m:e>
                      </m:d>
                      <m:r>
                        <a:rPr>
                          <a:latin typeface="Cambria Math" panose="02040503050406030204" pitchFamily="18" charset="0"/>
                        </a:rPr>
                        <m:t>+</m:t>
                      </m:r>
                      <m:r>
                        <a:rPr>
                          <a:latin typeface="Cambria Math" panose="02040503050406030204" pitchFamily="18" charset="0"/>
                        </a:rPr>
                        <m:t>𝜆</m:t>
                      </m:r>
                      <m:sSub>
                        <m:sSubPr>
                          <m:ctrlPr>
                            <a:rPr i="1">
                              <a:latin typeface="Cambria Math" panose="02040503050406030204" pitchFamily="18" charset="0"/>
                            </a:rPr>
                          </m:ctrlPr>
                        </m:sSubPr>
                        <m:e>
                          <m:r>
                            <a:rPr>
                              <a:latin typeface="Cambria Math" panose="02040503050406030204" pitchFamily="18" charset="0"/>
                            </a:rPr>
                            <m:t>𝑦</m:t>
                          </m:r>
                        </m:e>
                        <m:sub>
                          <m:r>
                            <a:rPr>
                              <a:latin typeface="Cambria Math" panose="02040503050406030204" pitchFamily="18" charset="0"/>
                            </a:rPr>
                            <m:t>𝑐</m:t>
                          </m:r>
                          <m:r>
                            <a:rPr>
                              <a:latin typeface="Cambria Math" panose="02040503050406030204" pitchFamily="18" charset="0"/>
                            </a:rPr>
                            <m:t>,</m:t>
                          </m:r>
                          <m:r>
                            <a:rPr>
                              <a:latin typeface="Cambria Math" panose="02040503050406030204" pitchFamily="18" charset="0"/>
                            </a:rPr>
                            <m:t>𝑡</m:t>
                          </m:r>
                          <m:r>
                            <a:rPr>
                              <a:latin typeface="Cambria Math" panose="02040503050406030204" pitchFamily="18" charset="0"/>
                            </a:rPr>
                            <m:t>−1</m:t>
                          </m:r>
                        </m:sub>
                      </m:sSub>
                      <m:d>
                        <m:dPr>
                          <m:ctrlPr>
                            <a:rPr i="1">
                              <a:latin typeface="Cambria Math" panose="02040503050406030204" pitchFamily="18" charset="0"/>
                            </a:rPr>
                          </m:ctrlPr>
                        </m:dPr>
                        <m:e>
                          <m:r>
                            <a:rPr>
                              <a:latin typeface="Cambria Math" panose="02040503050406030204" pitchFamily="18" charset="0"/>
                            </a:rPr>
                            <m:t>𝑧</m:t>
                          </m:r>
                        </m:e>
                      </m:d>
                      <m:r>
                        <a:rPr>
                          <a:latin typeface="Cambria Math" panose="02040503050406030204" pitchFamily="18" charset="0"/>
                        </a:rPr>
                        <m:t>,  </m:t>
                      </m:r>
                      <m:d>
                        <m:dPr>
                          <m:ctrlPr>
                            <a:rPr i="1">
                              <a:latin typeface="Cambria Math" panose="02040503050406030204" pitchFamily="18" charset="0"/>
                            </a:rPr>
                          </m:ctrlPr>
                        </m:dPr>
                        <m:e>
                          <m:r>
                            <a:rPr>
                              <a:latin typeface="Cambria Math" panose="02040503050406030204" pitchFamily="18" charset="0"/>
                            </a:rPr>
                            <m:t>3</m:t>
                          </m:r>
                        </m:e>
                      </m:d>
                    </m:oMath>
                  </m:oMathPara>
                </a14:m>
                <a:endParaRPr dirty="0"/>
              </a:p>
              <a:p>
                <a:pPr lvl="0"/>
                <a14:m>
                  <m:oMath xmlns:m="http://schemas.openxmlformats.org/officeDocument/2006/math">
                    <m:r>
                      <a:rPr>
                        <a:latin typeface="Cambria Math" panose="02040503050406030204" pitchFamily="18" charset="0"/>
                      </a:rPr>
                      <m:t>𝛾</m:t>
                    </m:r>
                  </m:oMath>
                </a14:m>
                <a:r>
                  <a:rPr dirty="0"/>
                  <a:t> captures the sensitivity of supply to the perceived relative price, </a:t>
                </a:r>
                <a14:m>
                  <m:oMath xmlns:m="http://schemas.openxmlformats.org/officeDocument/2006/math">
                    <m:sSub>
                      <m:sSubPr>
                        <m:ctrlPr>
                          <a:rPr i="1">
                            <a:latin typeface="Cambria Math" panose="02040503050406030204" pitchFamily="18" charset="0"/>
                          </a:rPr>
                        </m:ctrlPr>
                      </m:sSubPr>
                      <m:e>
                        <m:r>
                          <a:rPr>
                            <a:latin typeface="Cambria Math" panose="02040503050406030204" pitchFamily="18" charset="0"/>
                          </a:rPr>
                          <m:t>𝑃</m:t>
                        </m:r>
                      </m:e>
                      <m:sub>
                        <m:r>
                          <a:rPr>
                            <a:latin typeface="Cambria Math" panose="02040503050406030204" pitchFamily="18" charset="0"/>
                          </a:rPr>
                          <m:t>𝑡</m:t>
                        </m:r>
                      </m:sub>
                    </m:sSub>
                    <m:d>
                      <m:dPr>
                        <m:ctrlPr>
                          <a:rPr i="1">
                            <a:latin typeface="Cambria Math" panose="02040503050406030204" pitchFamily="18" charset="0"/>
                          </a:rPr>
                        </m:ctrlPr>
                      </m:dPr>
                      <m:e>
                        <m:r>
                          <a:rPr>
                            <a:latin typeface="Cambria Math" panose="02040503050406030204" pitchFamily="18" charset="0"/>
                          </a:rPr>
                          <m:t>𝑧</m:t>
                        </m:r>
                      </m:e>
                    </m:d>
                  </m:oMath>
                </a14:m>
                <a:r>
                  <a:rPr dirty="0"/>
                  <a:t> is the actual price level in market </a:t>
                </a:r>
                <a14:m>
                  <m:oMath xmlns:m="http://schemas.openxmlformats.org/officeDocument/2006/math">
                    <m:r>
                      <a:rPr>
                        <a:latin typeface="Cambria Math" panose="02040503050406030204" pitchFamily="18" charset="0"/>
                      </a:rPr>
                      <m:t>𝑧</m:t>
                    </m:r>
                  </m:oMath>
                </a14:m>
                <a:r>
                  <a:rPr dirty="0"/>
                  <a:t> at time </a:t>
                </a:r>
                <a14:m>
                  <m:oMath xmlns:m="http://schemas.openxmlformats.org/officeDocument/2006/math">
                    <m:r>
                      <a:rPr>
                        <a:latin typeface="Cambria Math" panose="02040503050406030204" pitchFamily="18" charset="0"/>
                      </a:rPr>
                      <m:t>𝑡</m:t>
                    </m:r>
                  </m:oMath>
                </a14:m>
                <a:r>
                  <a:rPr dirty="0"/>
                  <a:t>,</a:t>
                </a:r>
              </a:p>
              <a:p>
                <a:pPr lvl="0"/>
                <a14:m>
                  <m:oMath xmlns:m="http://schemas.openxmlformats.org/officeDocument/2006/math">
                    <m:r>
                      <a:rPr>
                        <a:latin typeface="Cambria Math" panose="02040503050406030204" pitchFamily="18" charset="0"/>
                      </a:rPr>
                      <m:t>𝐸</m:t>
                    </m:r>
                    <m:d>
                      <m:dPr>
                        <m:ctrlPr>
                          <a:rPr i="1">
                            <a:latin typeface="Cambria Math" panose="02040503050406030204" pitchFamily="18" charset="0"/>
                          </a:rPr>
                        </m:ctrlPr>
                      </m:dPr>
                      <m:e>
                        <m:sSub>
                          <m:sSubPr>
                            <m:ctrlPr>
                              <a:rPr i="1">
                                <a:latin typeface="Cambria Math" panose="02040503050406030204" pitchFamily="18" charset="0"/>
                              </a:rPr>
                            </m:ctrlPr>
                          </m:sSubPr>
                          <m:e>
                            <m:r>
                              <a:rPr>
                                <a:latin typeface="Cambria Math" panose="02040503050406030204" pitchFamily="18" charset="0"/>
                              </a:rPr>
                              <m:t>𝑃</m:t>
                            </m:r>
                          </m:e>
                          <m:sub>
                            <m:r>
                              <a:rPr>
                                <a:latin typeface="Cambria Math" panose="02040503050406030204" pitchFamily="18" charset="0"/>
                              </a:rPr>
                              <m:t>𝑡</m:t>
                            </m:r>
                          </m:sub>
                        </m:sSub>
                        <m:r>
                          <a:rPr>
                            <a:latin typeface="Cambria Math" panose="02040503050406030204" pitchFamily="18" charset="0"/>
                          </a:rPr>
                          <m:t>|</m:t>
                        </m:r>
                        <m:sSub>
                          <m:sSubPr>
                            <m:ctrlPr>
                              <a:rPr i="1">
                                <a:latin typeface="Cambria Math" panose="02040503050406030204" pitchFamily="18" charset="0"/>
                              </a:rPr>
                            </m:ctrlPr>
                          </m:sSubPr>
                          <m:e>
                            <m:r>
                              <a:rPr>
                                <a:latin typeface="Cambria Math" panose="02040503050406030204" pitchFamily="18" charset="0"/>
                              </a:rPr>
                              <m:t>𝐼</m:t>
                            </m:r>
                          </m:e>
                          <m:sub>
                            <m:r>
                              <a:rPr>
                                <a:latin typeface="Cambria Math" panose="02040503050406030204" pitchFamily="18" charset="0"/>
                              </a:rPr>
                              <m:t>𝑡</m:t>
                            </m:r>
                          </m:sub>
                        </m:sSub>
                        <m:d>
                          <m:dPr>
                            <m:ctrlPr>
                              <a:rPr i="1">
                                <a:latin typeface="Cambria Math" panose="02040503050406030204" pitchFamily="18" charset="0"/>
                              </a:rPr>
                            </m:ctrlPr>
                          </m:dPr>
                          <m:e>
                            <m:r>
                              <a:rPr>
                                <a:latin typeface="Cambria Math" panose="02040503050406030204" pitchFamily="18" charset="0"/>
                              </a:rPr>
                              <m:t>𝑧</m:t>
                            </m:r>
                          </m:e>
                        </m:d>
                      </m:e>
                    </m:d>
                  </m:oMath>
                </a14:m>
                <a:r>
                  <a:rPr dirty="0"/>
                  <a:t> is the expected price level based on information available at time </a:t>
                </a:r>
                <a14:m>
                  <m:oMath xmlns:m="http://schemas.openxmlformats.org/officeDocument/2006/math">
                    <m:r>
                      <a:rPr>
                        <a:latin typeface="Cambria Math" panose="02040503050406030204" pitchFamily="18" charset="0"/>
                      </a:rPr>
                      <m:t>𝑡</m:t>
                    </m:r>
                  </m:oMath>
                </a14:m>
                <a:r>
                  <a:rPr dirty="0"/>
                  <a:t> in market </a:t>
                </a:r>
                <a14:m>
                  <m:oMath xmlns:m="http://schemas.openxmlformats.org/officeDocument/2006/math">
                    <m:r>
                      <a:rPr>
                        <a:latin typeface="Cambria Math" panose="02040503050406030204" pitchFamily="18" charset="0"/>
                      </a:rPr>
                      <m:t>𝑧</m:t>
                    </m:r>
                  </m:oMath>
                </a14:m>
                <a:endParaRPr dirty="0"/>
              </a:p>
              <a:p>
                <a:pPr lvl="0"/>
                <a14:m>
                  <m:oMath xmlns:m="http://schemas.openxmlformats.org/officeDocument/2006/math">
                    <m:r>
                      <a:rPr>
                        <a:latin typeface="Cambria Math" panose="02040503050406030204" pitchFamily="18" charset="0"/>
                      </a:rPr>
                      <m:t>𝜆</m:t>
                    </m:r>
                  </m:oMath>
                </a14:m>
                <a:r>
                  <a:rPr dirty="0"/>
                  <a:t> captures the persistence of the cyclical component and </a:t>
                </a:r>
                <a14:m>
                  <m:oMath xmlns:m="http://schemas.openxmlformats.org/officeDocument/2006/math">
                    <m:d>
                      <m:dPr>
                        <m:begChr m:val="|"/>
                        <m:endChr m:val="|"/>
                        <m:ctrlPr>
                          <a:rPr i="1">
                            <a:latin typeface="Cambria Math" panose="02040503050406030204" pitchFamily="18" charset="0"/>
                          </a:rPr>
                        </m:ctrlPr>
                      </m:dPr>
                      <m:e>
                        <m:r>
                          <a:rPr>
                            <a:latin typeface="Cambria Math" panose="02040503050406030204" pitchFamily="18" charset="0"/>
                          </a:rPr>
                          <m:t>𝜆</m:t>
                        </m:r>
                      </m:e>
                    </m:d>
                    <m:r>
                      <a:rPr>
                        <a:latin typeface="Cambria Math" panose="02040503050406030204" pitchFamily="18" charset="0"/>
                      </a:rPr>
                      <m:t>&lt;1</m:t>
                    </m:r>
                  </m:oMath>
                </a14:m>
                <a:r>
                  <a:rPr dirty="0"/>
                  <a:t>. </a:t>
                </a:r>
                <a14:m>
                  <m:oMath xmlns:m="http://schemas.openxmlformats.org/officeDocument/2006/math">
                    <m:r>
                      <a:rPr>
                        <a:latin typeface="Cambria Math" panose="02040503050406030204" pitchFamily="18" charset="0"/>
                      </a:rPr>
                      <m:t>𝐸</m:t>
                    </m:r>
                    <m:d>
                      <m:dPr>
                        <m:ctrlPr>
                          <a:rPr i="1">
                            <a:latin typeface="Cambria Math" panose="02040503050406030204" pitchFamily="18" charset="0"/>
                          </a:rPr>
                        </m:ctrlPr>
                      </m:dPr>
                      <m:e>
                        <m:sSub>
                          <m:sSubPr>
                            <m:ctrlPr>
                              <a:rPr i="1">
                                <a:latin typeface="Cambria Math" panose="02040503050406030204" pitchFamily="18" charset="0"/>
                              </a:rPr>
                            </m:ctrlPr>
                          </m:sSubPr>
                          <m:e>
                            <m:r>
                              <a:rPr>
                                <a:latin typeface="Cambria Math" panose="02040503050406030204" pitchFamily="18" charset="0"/>
                              </a:rPr>
                              <m:t>𝑃</m:t>
                            </m:r>
                          </m:e>
                          <m:sub>
                            <m:r>
                              <a:rPr>
                                <a:latin typeface="Cambria Math" panose="02040503050406030204" pitchFamily="18" charset="0"/>
                              </a:rPr>
                              <m:t>𝑡</m:t>
                            </m:r>
                          </m:sub>
                        </m:sSub>
                        <m:r>
                          <a:rPr>
                            <a:latin typeface="Cambria Math" panose="02040503050406030204" pitchFamily="18" charset="0"/>
                          </a:rPr>
                          <m:t>|</m:t>
                        </m:r>
                        <m:sSub>
                          <m:sSubPr>
                            <m:ctrlPr>
                              <a:rPr i="1">
                                <a:latin typeface="Cambria Math" panose="02040503050406030204" pitchFamily="18" charset="0"/>
                              </a:rPr>
                            </m:ctrlPr>
                          </m:sSubPr>
                          <m:e>
                            <m:r>
                              <a:rPr>
                                <a:latin typeface="Cambria Math" panose="02040503050406030204" pitchFamily="18" charset="0"/>
                              </a:rPr>
                              <m:t>𝐼</m:t>
                            </m:r>
                          </m:e>
                          <m:sub>
                            <m:r>
                              <a:rPr>
                                <a:latin typeface="Cambria Math" panose="02040503050406030204" pitchFamily="18" charset="0"/>
                              </a:rPr>
                              <m:t>𝑡</m:t>
                            </m:r>
                          </m:sub>
                        </m:sSub>
                        <m:d>
                          <m:dPr>
                            <m:ctrlPr>
                              <a:rPr i="1">
                                <a:latin typeface="Cambria Math" panose="02040503050406030204" pitchFamily="18" charset="0"/>
                              </a:rPr>
                            </m:ctrlPr>
                          </m:dPr>
                          <m:e>
                            <m:r>
                              <a:rPr>
                                <a:latin typeface="Cambria Math" panose="02040503050406030204" pitchFamily="18" charset="0"/>
                              </a:rPr>
                              <m:t>𝑧</m:t>
                            </m:r>
                          </m:e>
                        </m:d>
                      </m:e>
                    </m:d>
                  </m:oMath>
                </a14:m>
                <a:r>
                  <a:rPr dirty="0"/>
                  <a:t> is current expected price level conditioned on information that is available at time </a:t>
                </a:r>
                <a14:m>
                  <m:oMath xmlns:m="http://schemas.openxmlformats.org/officeDocument/2006/math">
                    <m:r>
                      <a:rPr>
                        <a:latin typeface="Cambria Math" panose="02040503050406030204" pitchFamily="18" charset="0"/>
                      </a:rPr>
                      <m:t>𝑡</m:t>
                    </m:r>
                  </m:oMath>
                </a14:m>
                <a:r>
                  <a:rPr dirty="0"/>
                  <a:t>, at market </a:t>
                </a:r>
                <a14:m>
                  <m:oMath xmlns:m="http://schemas.openxmlformats.org/officeDocument/2006/math">
                    <m:r>
                      <a:rPr>
                        <a:latin typeface="Cambria Math" panose="02040503050406030204" pitchFamily="18" charset="0"/>
                      </a:rPr>
                      <m:t>𝑧</m:t>
                    </m:r>
                  </m:oMath>
                </a14:m>
                <a:r>
                  <a:rPr dirty="0"/>
                  <a:t>.</a:t>
                </a:r>
              </a:p>
              <a:p>
                <a:pPr lvl="0"/>
                <a:r>
                  <a:rPr dirty="0"/>
                  <a:t>The available information set (</a:t>
                </a:r>
                <a14:m>
                  <m:oMath xmlns:m="http://schemas.openxmlformats.org/officeDocument/2006/math">
                    <m:sSub>
                      <m:sSubPr>
                        <m:ctrlPr>
                          <a:rPr i="1">
                            <a:latin typeface="Cambria Math" panose="02040503050406030204" pitchFamily="18" charset="0"/>
                          </a:rPr>
                        </m:ctrlPr>
                      </m:sSubPr>
                      <m:e>
                        <m:r>
                          <a:rPr>
                            <a:latin typeface="Cambria Math" panose="02040503050406030204" pitchFamily="18" charset="0"/>
                          </a:rPr>
                          <m:t>𝐼</m:t>
                        </m:r>
                      </m:e>
                      <m:sub>
                        <m:r>
                          <a:rPr>
                            <a:latin typeface="Cambria Math" panose="02040503050406030204" pitchFamily="18" charset="0"/>
                          </a:rPr>
                          <m:t>𝑡</m:t>
                        </m:r>
                      </m:sub>
                    </m:sSub>
                    <m:d>
                      <m:dPr>
                        <m:ctrlPr>
                          <a:rPr i="1">
                            <a:latin typeface="Cambria Math" panose="02040503050406030204" pitchFamily="18" charset="0"/>
                          </a:rPr>
                        </m:ctrlPr>
                      </m:dPr>
                      <m:e>
                        <m:r>
                          <a:rPr>
                            <a:latin typeface="Cambria Math" panose="02040503050406030204" pitchFamily="18" charset="0"/>
                          </a:rPr>
                          <m:t>𝑧</m:t>
                        </m:r>
                      </m:e>
                    </m:d>
                  </m:oMath>
                </a14:m>
                <a:r>
                  <a:rPr dirty="0"/>
                  <a:t>) comprises of past demand driven shifts of the secular component (</a:t>
                </a:r>
                <a14:m>
                  <m:oMath xmlns:m="http://schemas.openxmlformats.org/officeDocument/2006/math">
                    <m:sSub>
                      <m:sSubPr>
                        <m:ctrlPr>
                          <a:rPr i="1">
                            <a:latin typeface="Cambria Math" panose="02040503050406030204" pitchFamily="18" charset="0"/>
                          </a:rPr>
                        </m:ctrlPr>
                      </m:sSubPr>
                      <m:e>
                        <m:r>
                          <a:rPr>
                            <a:latin typeface="Cambria Math" panose="02040503050406030204" pitchFamily="18" charset="0"/>
                          </a:rPr>
                          <m:t>𝑦</m:t>
                        </m:r>
                      </m:e>
                      <m:sub>
                        <m:r>
                          <a:rPr>
                            <a:latin typeface="Cambria Math" panose="02040503050406030204" pitchFamily="18" charset="0"/>
                          </a:rPr>
                          <m:t>𝑛</m:t>
                        </m:r>
                        <m:r>
                          <a:rPr>
                            <a:latin typeface="Cambria Math" panose="02040503050406030204" pitchFamily="18" charset="0"/>
                          </a:rPr>
                          <m:t>,</m:t>
                        </m:r>
                        <m:r>
                          <a:rPr>
                            <a:latin typeface="Cambria Math" panose="02040503050406030204" pitchFamily="18" charset="0"/>
                          </a:rPr>
                          <m:t>𝑡</m:t>
                        </m:r>
                      </m:sub>
                    </m:sSub>
                  </m:oMath>
                </a14:m>
                <a:r>
                  <a:rPr dirty="0"/>
                  <a:t>),</a:t>
                </a:r>
                <a:r>
                  <a:rPr lang="en-US" dirty="0"/>
                  <a:t> and p</a:t>
                </a:r>
                <a:r>
                  <a:rPr dirty="0"/>
                  <a:t>ast deviations of the cyclical component (</a:t>
                </a:r>
                <a14:m>
                  <m:oMath xmlns:m="http://schemas.openxmlformats.org/officeDocument/2006/math">
                    <m:sSub>
                      <m:sSubPr>
                        <m:ctrlPr>
                          <a:rPr i="1">
                            <a:latin typeface="Cambria Math" panose="02040503050406030204" pitchFamily="18" charset="0"/>
                          </a:rPr>
                        </m:ctrlPr>
                      </m:sSubPr>
                      <m:e>
                        <m:r>
                          <a:rPr>
                            <a:latin typeface="Cambria Math" panose="02040503050406030204" pitchFamily="18" charset="0"/>
                          </a:rPr>
                          <m:t>𝑦</m:t>
                        </m:r>
                      </m:e>
                      <m:sub>
                        <m:r>
                          <a:rPr>
                            <a:latin typeface="Cambria Math" panose="02040503050406030204" pitchFamily="18" charset="0"/>
                          </a:rPr>
                          <m:t>𝑐</m:t>
                        </m:r>
                        <m:r>
                          <a:rPr>
                            <a:latin typeface="Cambria Math" panose="02040503050406030204" pitchFamily="18" charset="0"/>
                          </a:rPr>
                          <m:t>,</m:t>
                        </m:r>
                        <m:r>
                          <a:rPr>
                            <a:latin typeface="Cambria Math" panose="02040503050406030204" pitchFamily="18" charset="0"/>
                          </a:rPr>
                          <m:t>𝑡</m:t>
                        </m:r>
                        <m:r>
                          <a:rPr>
                            <a:latin typeface="Cambria Math" panose="02040503050406030204" pitchFamily="18" charset="0"/>
                          </a:rPr>
                          <m:t>−1</m:t>
                        </m:r>
                      </m:sub>
                    </m:sSub>
                    <m:r>
                      <a:rPr>
                        <a:latin typeface="Cambria Math" panose="02040503050406030204" pitchFamily="18" charset="0"/>
                      </a:rPr>
                      <m:t>,</m:t>
                    </m:r>
                    <m:sSub>
                      <m:sSubPr>
                        <m:ctrlPr>
                          <a:rPr i="1">
                            <a:latin typeface="Cambria Math" panose="02040503050406030204" pitchFamily="18" charset="0"/>
                          </a:rPr>
                        </m:ctrlPr>
                      </m:sSubPr>
                      <m:e>
                        <m:r>
                          <a:rPr>
                            <a:latin typeface="Cambria Math" panose="02040503050406030204" pitchFamily="18" charset="0"/>
                          </a:rPr>
                          <m:t>𝑦</m:t>
                        </m:r>
                      </m:e>
                      <m:sub>
                        <m:r>
                          <a:rPr>
                            <a:latin typeface="Cambria Math" panose="02040503050406030204" pitchFamily="18" charset="0"/>
                          </a:rPr>
                          <m:t>𝑐</m:t>
                        </m:r>
                        <m:r>
                          <a:rPr>
                            <a:latin typeface="Cambria Math" panose="02040503050406030204" pitchFamily="18" charset="0"/>
                          </a:rPr>
                          <m:t>,</m:t>
                        </m:r>
                        <m:r>
                          <a:rPr>
                            <a:latin typeface="Cambria Math" panose="02040503050406030204" pitchFamily="18" charset="0"/>
                          </a:rPr>
                          <m:t>𝑡</m:t>
                        </m:r>
                        <m:r>
                          <a:rPr>
                            <a:latin typeface="Cambria Math" panose="02040503050406030204" pitchFamily="18" charset="0"/>
                          </a:rPr>
                          <m:t>−2</m:t>
                        </m:r>
                      </m:sub>
                    </m:sSub>
                    <m:r>
                      <a:rPr>
                        <a:latin typeface="Cambria Math" panose="02040503050406030204" pitchFamily="18" charset="0"/>
                      </a:rPr>
                      <m:t>,...</m:t>
                    </m:r>
                  </m:oMath>
                </a14:m>
                <a:r>
                  <a:rPr dirty="0"/>
                  <a:t>) from its natural level.</a:t>
                </a:r>
              </a:p>
            </p:txBody>
          </p:sp>
        </mc:Choice>
        <mc:Fallback xmlns="">
          <p:sp>
            <p:nvSpPr>
              <p:cNvPr id="3" name="Content Placeholder 2">
                <a:extLst>
                  <a:ext uri="{FF2B5EF4-FFF2-40B4-BE49-F238E27FC236}">
                    <a16:creationId xmlns:a16="http://schemas.microsoft.com/office/drawing/2014/main" id="{9C966DDB-3364-1B41-9729-DB3686A721C5}"/>
                  </a:ext>
                </a:extLst>
              </p:cNvPr>
              <p:cNvSpPr>
                <a:spLocks noGrp="1" noRot="1" noChangeAspect="1" noMove="1" noResize="1" noEditPoints="1" noAdjustHandles="1" noChangeArrowheads="1" noChangeShapeType="1" noTextEdit="1"/>
              </p:cNvSpPr>
              <p:nvPr>
                <p:ph idx="1" hasCustomPrompt="1"/>
              </p:nvPr>
            </p:nvSpPr>
            <p:spPr>
              <a:blipFill>
                <a:blip r:embed="rId2"/>
                <a:stretch>
                  <a:fillRect l="-473" t="-1362" r="-709"/>
                </a:stretch>
              </a:blipFill>
            </p:spPr>
            <p:txBody>
              <a:bodyPr/>
              <a:lstStyle/>
              <a:p>
                <a:r>
                  <a:rPr lang="en-US">
                    <a:noFill/>
                  </a:rPr>
                  <a:t> </a:t>
                </a:r>
              </a:p>
            </p:txBody>
          </p:sp>
        </mc:Fallback>
      </mc:AlternateContent>
      <p:sp>
        <p:nvSpPr>
          <p:cNvPr id="7" name="Slide Number Placeholder 5">
            <a:extLst>
              <a:ext uri="{FF2B5EF4-FFF2-40B4-BE49-F238E27FC236}">
                <a16:creationId xmlns:a16="http://schemas.microsoft.com/office/drawing/2014/main" id="{FB221DBE-BC54-6C4C-BA1C-95E280B67712}"/>
              </a:ext>
            </a:extLst>
          </p:cNvPr>
          <p:cNvSpPr>
            <a:spLocks noGrp="1"/>
          </p:cNvSpPr>
          <p:nvPr>
            <p:ph type="sldNum" sz="quarter" idx="12"/>
          </p:nvPr>
        </p:nvSpPr>
        <p:spPr>
          <a:xfrm>
            <a:off x="7557977" y="6313820"/>
            <a:ext cx="2743200" cy="365125"/>
          </a:xfrm>
        </p:spPr>
        <p:txBody>
          <a:bodyPr/>
          <a:lstStyle>
            <a:lvl1pPr>
              <a:defRPr sz="1100"/>
            </a:lvl1pPr>
          </a:lstStyle>
          <a:p>
            <a:fld id="{85DA3A08-9E66-614E-AAE5-F810EFDD6885}" type="slidenum">
              <a:rPr lang="en-US" smtClean="0"/>
              <a:pPr/>
              <a:t>7</a:t>
            </a:fld>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631292-24AE-5F41-8820-196C7D8E36A1}"/>
              </a:ext>
            </a:extLst>
          </p:cNvPr>
          <p:cNvSpPr>
            <a:spLocks noGrp="1"/>
          </p:cNvSpPr>
          <p:nvPr>
            <p:ph type="title"/>
          </p:nvPr>
        </p:nvSpPr>
        <p:spPr>
          <a:xfrm>
            <a:off x="1055553" y="365125"/>
            <a:ext cx="10977744" cy="666233"/>
          </a:xfrm>
        </p:spPr>
        <p:txBody>
          <a:bodyPr/>
          <a:lstStyle/>
          <a:p>
            <a:pPr lvl="0"/>
            <a:r>
              <a:rPr lang="en-US" dirty="0"/>
              <a:t>Lucas’s supply curve: General price level</a:t>
            </a:r>
            <a:endParaRPr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9C966DDB-3364-1B41-9729-DB3686A721C5}"/>
                  </a:ext>
                </a:extLst>
              </p:cNvPr>
              <p:cNvSpPr>
                <a:spLocks noGrp="1"/>
              </p:cNvSpPr>
              <p:nvPr>
                <p:ph idx="1" hasCustomPrompt="1"/>
              </p:nvPr>
            </p:nvSpPr>
            <p:spPr/>
            <p:txBody>
              <a:bodyPr/>
              <a:lstStyle/>
              <a:p>
                <a:pPr lvl="0"/>
                <a:r>
                  <a:rPr dirty="0"/>
                  <a:t>The current general price level (</a:t>
                </a:r>
                <a14:m>
                  <m:oMath xmlns:m="http://schemas.openxmlformats.org/officeDocument/2006/math">
                    <m:sSub>
                      <m:sSubPr>
                        <m:ctrlPr>
                          <a:rPr i="1">
                            <a:latin typeface="Cambria Math" panose="02040503050406030204" pitchFamily="18" charset="0"/>
                          </a:rPr>
                        </m:ctrlPr>
                      </m:sSubPr>
                      <m:e>
                        <m:r>
                          <a:rPr>
                            <a:latin typeface="Cambria Math" panose="02040503050406030204" pitchFamily="18" charset="0"/>
                          </a:rPr>
                          <m:t>𝑃</m:t>
                        </m:r>
                      </m:e>
                      <m:sub>
                        <m:r>
                          <a:rPr>
                            <a:latin typeface="Cambria Math" panose="02040503050406030204" pitchFamily="18" charset="0"/>
                          </a:rPr>
                          <m:t>𝑡</m:t>
                        </m:r>
                      </m:sub>
                    </m:sSub>
                  </m:oMath>
                </a14:m>
                <a:r>
                  <a:rPr dirty="0"/>
                  <a:t>), which determines ‘prior’ expectations common across all suppliers in all markets, is assumed to be </a:t>
                </a:r>
                <a14:m>
                  <m:oMath xmlns:m="http://schemas.openxmlformats.org/officeDocument/2006/math">
                    <m:sSub>
                      <m:sSubPr>
                        <m:ctrlPr>
                          <a:rPr i="1">
                            <a:latin typeface="Cambria Math" panose="02040503050406030204" pitchFamily="18" charset="0"/>
                          </a:rPr>
                        </m:ctrlPr>
                      </m:sSubPr>
                      <m:e>
                        <m:r>
                          <a:rPr>
                            <a:latin typeface="Cambria Math" panose="02040503050406030204" pitchFamily="18" charset="0"/>
                          </a:rPr>
                          <m:t>𝑃</m:t>
                        </m:r>
                      </m:e>
                      <m:sub>
                        <m:r>
                          <a:rPr>
                            <a:latin typeface="Cambria Math" panose="02040503050406030204" pitchFamily="18" charset="0"/>
                          </a:rPr>
                          <m:t>𝑡</m:t>
                        </m:r>
                      </m:sub>
                    </m:sSub>
                    <m:r>
                      <a:rPr>
                        <a:latin typeface="Cambria Math" panose="02040503050406030204" pitchFamily="18" charset="0"/>
                      </a:rPr>
                      <m:t>∼</m:t>
                    </m:r>
                    <m:r>
                      <a:rPr>
                        <a:latin typeface="Cambria Math" panose="02040503050406030204" pitchFamily="18" charset="0"/>
                      </a:rPr>
                      <m:t>𝑁</m:t>
                    </m:r>
                    <m:d>
                      <m:dPr>
                        <m:ctrlPr>
                          <a:rPr i="1">
                            <a:latin typeface="Cambria Math" panose="02040503050406030204" pitchFamily="18" charset="0"/>
                          </a:rPr>
                        </m:ctrlPr>
                      </m:dPr>
                      <m:e>
                        <m:bar>
                          <m:barPr>
                            <m:pos m:val="top"/>
                            <m:ctrlPr>
                              <a:rPr i="1">
                                <a:latin typeface="Cambria Math" panose="02040503050406030204" pitchFamily="18" charset="0"/>
                              </a:rPr>
                            </m:ctrlPr>
                          </m:barPr>
                          <m:e>
                            <m:sSub>
                              <m:sSubPr>
                                <m:ctrlPr>
                                  <a:rPr i="1">
                                    <a:latin typeface="Cambria Math" panose="02040503050406030204" pitchFamily="18" charset="0"/>
                                  </a:rPr>
                                </m:ctrlPr>
                              </m:sSubPr>
                              <m:e>
                                <m:r>
                                  <a:rPr>
                                    <a:latin typeface="Cambria Math" panose="02040503050406030204" pitchFamily="18" charset="0"/>
                                  </a:rPr>
                                  <m:t>𝑃</m:t>
                                </m:r>
                              </m:e>
                              <m:sub>
                                <m:r>
                                  <a:rPr>
                                    <a:latin typeface="Cambria Math" panose="02040503050406030204" pitchFamily="18" charset="0"/>
                                  </a:rPr>
                                  <m:t>𝑡</m:t>
                                </m:r>
                              </m:sub>
                            </m:sSub>
                          </m:e>
                        </m:bar>
                        <m:r>
                          <a:rPr>
                            <a:latin typeface="Cambria Math" panose="02040503050406030204" pitchFamily="18" charset="0"/>
                          </a:rPr>
                          <m:t>,</m:t>
                        </m:r>
                        <m:sSup>
                          <m:sSupPr>
                            <m:ctrlPr>
                              <a:rPr i="1">
                                <a:latin typeface="Cambria Math" panose="02040503050406030204" pitchFamily="18" charset="0"/>
                              </a:rPr>
                            </m:ctrlPr>
                          </m:sSupPr>
                          <m:e>
                            <m:r>
                              <a:rPr>
                                <a:latin typeface="Cambria Math" panose="02040503050406030204" pitchFamily="18" charset="0"/>
                              </a:rPr>
                              <m:t>𝜎</m:t>
                            </m:r>
                          </m:e>
                          <m:sup>
                            <m:r>
                              <a:rPr>
                                <a:latin typeface="Cambria Math" panose="02040503050406030204" pitchFamily="18" charset="0"/>
                              </a:rPr>
                              <m:t>2</m:t>
                            </m:r>
                          </m:sup>
                        </m:sSup>
                      </m:e>
                    </m:d>
                  </m:oMath>
                </a14:m>
                <a:endParaRPr dirty="0"/>
              </a:p>
              <a:p>
                <a:pPr lvl="0"/>
                <a14:m>
                  <m:oMath xmlns:m="http://schemas.openxmlformats.org/officeDocument/2006/math">
                    <m:bar>
                      <m:barPr>
                        <m:pos m:val="top"/>
                        <m:ctrlPr>
                          <a:rPr i="1">
                            <a:latin typeface="Cambria Math" panose="02040503050406030204" pitchFamily="18" charset="0"/>
                          </a:rPr>
                        </m:ctrlPr>
                      </m:barPr>
                      <m:e>
                        <m:sSub>
                          <m:sSubPr>
                            <m:ctrlPr>
                              <a:rPr i="1">
                                <a:latin typeface="Cambria Math" panose="02040503050406030204" pitchFamily="18" charset="0"/>
                              </a:rPr>
                            </m:ctrlPr>
                          </m:sSubPr>
                          <m:e>
                            <m:r>
                              <a:rPr>
                                <a:latin typeface="Cambria Math" panose="02040503050406030204" pitchFamily="18" charset="0"/>
                              </a:rPr>
                              <m:t>𝑃</m:t>
                            </m:r>
                          </m:e>
                          <m:sub>
                            <m:r>
                              <a:rPr>
                                <a:latin typeface="Cambria Math" panose="02040503050406030204" pitchFamily="18" charset="0"/>
                              </a:rPr>
                              <m:t>𝑡</m:t>
                            </m:r>
                          </m:sub>
                        </m:sSub>
                      </m:e>
                    </m:bar>
                  </m:oMath>
                </a14:m>
                <a:r>
                  <a:rPr dirty="0"/>
                  <a:t> is the mean price level at time </a:t>
                </a:r>
                <a14:m>
                  <m:oMath xmlns:m="http://schemas.openxmlformats.org/officeDocument/2006/math">
                    <m:r>
                      <a:rPr>
                        <a:latin typeface="Cambria Math" panose="02040503050406030204" pitchFamily="18" charset="0"/>
                      </a:rPr>
                      <m:t>𝑡</m:t>
                    </m:r>
                  </m:oMath>
                </a14:m>
                <a:r>
                  <a:rPr dirty="0"/>
                  <a:t> and </a:t>
                </a:r>
                <a14:m>
                  <m:oMath xmlns:m="http://schemas.openxmlformats.org/officeDocument/2006/math">
                    <m:sSup>
                      <m:sSupPr>
                        <m:ctrlPr>
                          <a:rPr i="1">
                            <a:latin typeface="Cambria Math" panose="02040503050406030204" pitchFamily="18" charset="0"/>
                          </a:rPr>
                        </m:ctrlPr>
                      </m:sSupPr>
                      <m:e>
                        <m:r>
                          <a:rPr>
                            <a:latin typeface="Cambria Math" panose="02040503050406030204" pitchFamily="18" charset="0"/>
                          </a:rPr>
                          <m:t>𝜎</m:t>
                        </m:r>
                      </m:e>
                      <m:sup>
                        <m:r>
                          <a:rPr>
                            <a:latin typeface="Cambria Math" panose="02040503050406030204" pitchFamily="18" charset="0"/>
                          </a:rPr>
                          <m:t>2</m:t>
                        </m:r>
                      </m:sup>
                    </m:sSup>
                  </m:oMath>
                </a14:m>
                <a:r>
                  <a:rPr dirty="0"/>
                  <a:t> is the variance of the price level at time </a:t>
                </a:r>
                <a14:m>
                  <m:oMath xmlns:m="http://schemas.openxmlformats.org/officeDocument/2006/math">
                    <m:r>
                      <a:rPr>
                        <a:latin typeface="Cambria Math" panose="02040503050406030204" pitchFamily="18" charset="0"/>
                      </a:rPr>
                      <m:t>𝑡</m:t>
                    </m:r>
                  </m:oMath>
                </a14:m>
                <a:r>
                  <a:rPr dirty="0"/>
                  <a:t>.</a:t>
                </a:r>
              </a:p>
              <a:p>
                <a:pPr lvl="0"/>
                <a:r>
                  <a:rPr dirty="0"/>
                  <a:t>Furthermore, Lucas (1973) defines </a:t>
                </a:r>
                <a14:m>
                  <m:oMath xmlns:m="http://schemas.openxmlformats.org/officeDocument/2006/math">
                    <m:sSub>
                      <m:sSubPr>
                        <m:ctrlPr>
                          <a:rPr i="1">
                            <a:latin typeface="Cambria Math" panose="02040503050406030204" pitchFamily="18" charset="0"/>
                          </a:rPr>
                        </m:ctrlPr>
                      </m:sSubPr>
                      <m:e>
                        <m:r>
                          <a:rPr>
                            <a:latin typeface="Cambria Math" panose="02040503050406030204" pitchFamily="18" charset="0"/>
                          </a:rPr>
                          <m:t>𝑧</m:t>
                        </m:r>
                      </m:e>
                      <m:sub>
                        <m:r>
                          <a:rPr>
                            <a:latin typeface="Cambria Math" panose="02040503050406030204" pitchFamily="18" charset="0"/>
                          </a:rPr>
                          <m:t>𝑡</m:t>
                        </m:r>
                      </m:sub>
                    </m:sSub>
                  </m:oMath>
                </a14:m>
                <a:r>
                  <a:rPr dirty="0"/>
                  <a:t> as the percentage deviation of the actual market price from the general price level as </a:t>
                </a:r>
                <a14:m>
                  <m:oMath xmlns:m="http://schemas.openxmlformats.org/officeDocument/2006/math">
                    <m:r>
                      <a:rPr>
                        <a:latin typeface="Cambria Math" panose="02040503050406030204" pitchFamily="18" charset="0"/>
                      </a:rPr>
                      <m:t>𝑧</m:t>
                    </m:r>
                    <m:limUpp>
                      <m:limUppPr>
                        <m:ctrlPr>
                          <a:rPr i="1">
                            <a:latin typeface="Cambria Math" panose="02040503050406030204" pitchFamily="18" charset="0"/>
                          </a:rPr>
                        </m:ctrlPr>
                      </m:limUppPr>
                      <m:e>
                        <m:r>
                          <a:rPr>
                            <a:latin typeface="Cambria Math" panose="02040503050406030204" pitchFamily="18" charset="0"/>
                          </a:rPr>
                          <m:t>∼</m:t>
                        </m:r>
                      </m:e>
                      <m:lim>
                        <m:r>
                          <m:rPr>
                            <m:nor/>
                          </m:rPr>
                          <a:rPr/>
                          <m:t>iid</m:t>
                        </m:r>
                      </m:lim>
                    </m:limUpp>
                    <m:r>
                      <a:rPr>
                        <a:latin typeface="Cambria Math" panose="02040503050406030204" pitchFamily="18" charset="0"/>
                      </a:rPr>
                      <m:t>𝑁</m:t>
                    </m:r>
                    <m:d>
                      <m:dPr>
                        <m:ctrlPr>
                          <a:rPr i="1">
                            <a:latin typeface="Cambria Math" panose="02040503050406030204" pitchFamily="18" charset="0"/>
                          </a:rPr>
                        </m:ctrlPr>
                      </m:dPr>
                      <m:e>
                        <m:r>
                          <a:rPr>
                            <a:latin typeface="Cambria Math" panose="02040503050406030204" pitchFamily="18" charset="0"/>
                          </a:rPr>
                          <m:t>0,</m:t>
                        </m:r>
                        <m:sSup>
                          <m:sSupPr>
                            <m:ctrlPr>
                              <a:rPr i="1">
                                <a:latin typeface="Cambria Math" panose="02040503050406030204" pitchFamily="18" charset="0"/>
                              </a:rPr>
                            </m:ctrlPr>
                          </m:sSupPr>
                          <m:e>
                            <m:r>
                              <a:rPr>
                                <a:latin typeface="Cambria Math" panose="02040503050406030204" pitchFamily="18" charset="0"/>
                              </a:rPr>
                              <m:t>𝜏</m:t>
                            </m:r>
                          </m:e>
                          <m:sup>
                            <m:r>
                              <a:rPr>
                                <a:latin typeface="Cambria Math" panose="02040503050406030204" pitchFamily="18" charset="0"/>
                              </a:rPr>
                              <m:t>2</m:t>
                            </m:r>
                          </m:sup>
                        </m:sSup>
                      </m:e>
                    </m:d>
                    <m:r>
                      <a:rPr>
                        <a:latin typeface="Cambria Math" panose="02040503050406030204" pitchFamily="18" charset="0"/>
                      </a:rPr>
                      <m:t>,</m:t>
                    </m:r>
                  </m:oMath>
                </a14:m>
                <a:r>
                  <a:rPr dirty="0"/>
                  <a:t> where </a:t>
                </a:r>
                <a14:m>
                  <m:oMath xmlns:m="http://schemas.openxmlformats.org/officeDocument/2006/math">
                    <m:sSup>
                      <m:sSupPr>
                        <m:ctrlPr>
                          <a:rPr i="1">
                            <a:latin typeface="Cambria Math" panose="02040503050406030204" pitchFamily="18" charset="0"/>
                          </a:rPr>
                        </m:ctrlPr>
                      </m:sSupPr>
                      <m:e>
                        <m:r>
                          <a:rPr>
                            <a:latin typeface="Cambria Math" panose="02040503050406030204" pitchFamily="18" charset="0"/>
                          </a:rPr>
                          <m:t>𝜏</m:t>
                        </m:r>
                      </m:e>
                      <m:sup>
                        <m:r>
                          <a:rPr>
                            <a:latin typeface="Cambria Math" panose="02040503050406030204" pitchFamily="18" charset="0"/>
                          </a:rPr>
                          <m:t>2</m:t>
                        </m:r>
                      </m:sup>
                    </m:sSup>
                  </m:oMath>
                </a14:m>
                <a:r>
                  <a:rPr dirty="0"/>
                  <a:t> is the variance of </a:t>
                </a:r>
                <a14:m>
                  <m:oMath xmlns:m="http://schemas.openxmlformats.org/officeDocument/2006/math">
                    <m:r>
                      <a:rPr>
                        <a:latin typeface="Cambria Math" panose="02040503050406030204" pitchFamily="18" charset="0"/>
                      </a:rPr>
                      <m:t>𝑧</m:t>
                    </m:r>
                  </m:oMath>
                </a14:m>
                <a:r>
                  <a:rPr dirty="0"/>
                  <a:t>.</a:t>
                </a:r>
              </a:p>
              <a:p>
                <a:pPr marL="0" lvl="0" indent="0">
                  <a:buNone/>
                </a:pPr>
                <a:r>
                  <a:rPr dirty="0"/>
                  <a:t>Therefore, the actual price level in market </a:t>
                </a:r>
                <a14:m>
                  <m:oMath xmlns:m="http://schemas.openxmlformats.org/officeDocument/2006/math">
                    <m:r>
                      <a:rPr>
                        <a:latin typeface="Cambria Math" panose="02040503050406030204" pitchFamily="18" charset="0"/>
                      </a:rPr>
                      <m:t>𝑧</m:t>
                    </m:r>
                  </m:oMath>
                </a14:m>
                <a:r>
                  <a:rPr dirty="0"/>
                  <a:t> at time </a:t>
                </a:r>
                <a14:m>
                  <m:oMath xmlns:m="http://schemas.openxmlformats.org/officeDocument/2006/math">
                    <m:r>
                      <a:rPr>
                        <a:latin typeface="Cambria Math" panose="02040503050406030204" pitchFamily="18" charset="0"/>
                      </a:rPr>
                      <m:t>𝑡</m:t>
                    </m:r>
                  </m:oMath>
                </a14:m>
                <a:r>
                  <a:rPr dirty="0"/>
                  <a:t> can be expressed as:</a:t>
                </a:r>
                <a:endParaRPr lang="en-US" dirty="0"/>
              </a:p>
              <a:p>
                <a:pPr marL="0" lvl="0" indent="0">
                  <a:buNone/>
                </a:pPr>
                <a:endParaRPr dirty="0"/>
              </a:p>
              <a:p>
                <a:pPr marL="0" lvl="0" indent="0">
                  <a:buNone/>
                </a:pPr>
                <a14:m>
                  <m:oMathPara xmlns:m="http://schemas.openxmlformats.org/officeDocument/2006/math">
                    <m:oMathParaPr>
                      <m:jc m:val="center"/>
                    </m:oMathParaPr>
                    <m:oMath xmlns:m="http://schemas.openxmlformats.org/officeDocument/2006/math">
                      <m:sSub>
                        <m:sSubPr>
                          <m:ctrlPr>
                            <a:rPr i="1">
                              <a:latin typeface="Cambria Math" panose="02040503050406030204" pitchFamily="18" charset="0"/>
                            </a:rPr>
                          </m:ctrlPr>
                        </m:sSubPr>
                        <m:e>
                          <m:r>
                            <a:rPr>
                              <a:latin typeface="Cambria Math" panose="02040503050406030204" pitchFamily="18" charset="0"/>
                            </a:rPr>
                            <m:t>𝑃</m:t>
                          </m:r>
                        </m:e>
                        <m:sub>
                          <m:r>
                            <a:rPr>
                              <a:latin typeface="Cambria Math" panose="02040503050406030204" pitchFamily="18" charset="0"/>
                            </a:rPr>
                            <m:t>𝑡</m:t>
                          </m:r>
                        </m:sub>
                      </m:sSub>
                      <m:d>
                        <m:dPr>
                          <m:ctrlPr>
                            <a:rPr i="1">
                              <a:latin typeface="Cambria Math" panose="02040503050406030204" pitchFamily="18" charset="0"/>
                            </a:rPr>
                          </m:ctrlPr>
                        </m:dPr>
                        <m:e>
                          <m:r>
                            <a:rPr>
                              <a:latin typeface="Cambria Math" panose="02040503050406030204" pitchFamily="18" charset="0"/>
                            </a:rPr>
                            <m:t>𝑧</m:t>
                          </m:r>
                        </m:e>
                      </m:d>
                      <m:r>
                        <a:rPr>
                          <a:latin typeface="Cambria Math" panose="02040503050406030204" pitchFamily="18" charset="0"/>
                        </a:rPr>
                        <m:t>=</m:t>
                      </m:r>
                      <m:sSub>
                        <m:sSubPr>
                          <m:ctrlPr>
                            <a:rPr i="1">
                              <a:latin typeface="Cambria Math" panose="02040503050406030204" pitchFamily="18" charset="0"/>
                            </a:rPr>
                          </m:ctrlPr>
                        </m:sSubPr>
                        <m:e>
                          <m:r>
                            <a:rPr>
                              <a:latin typeface="Cambria Math" panose="02040503050406030204" pitchFamily="18" charset="0"/>
                            </a:rPr>
                            <m:t>𝑃</m:t>
                          </m:r>
                        </m:e>
                        <m:sub>
                          <m:r>
                            <a:rPr>
                              <a:latin typeface="Cambria Math" panose="02040503050406030204" pitchFamily="18" charset="0"/>
                            </a:rPr>
                            <m:t>𝑡</m:t>
                          </m:r>
                        </m:sub>
                      </m:sSub>
                      <m:r>
                        <a:rPr>
                          <a:latin typeface="Cambria Math" panose="02040503050406030204" pitchFamily="18" charset="0"/>
                        </a:rPr>
                        <m:t>+</m:t>
                      </m:r>
                      <m:r>
                        <a:rPr>
                          <a:latin typeface="Cambria Math" panose="02040503050406030204" pitchFamily="18" charset="0"/>
                        </a:rPr>
                        <m:t>𝑧</m:t>
                      </m:r>
                      <m:r>
                        <a:rPr>
                          <a:latin typeface="Cambria Math" panose="02040503050406030204" pitchFamily="18" charset="0"/>
                        </a:rPr>
                        <m:t>,  </m:t>
                      </m:r>
                      <m:d>
                        <m:dPr>
                          <m:ctrlPr>
                            <a:rPr i="1">
                              <a:latin typeface="Cambria Math" panose="02040503050406030204" pitchFamily="18" charset="0"/>
                            </a:rPr>
                          </m:ctrlPr>
                        </m:dPr>
                        <m:e>
                          <m:r>
                            <a:rPr>
                              <a:latin typeface="Cambria Math" panose="02040503050406030204" pitchFamily="18" charset="0"/>
                            </a:rPr>
                            <m:t>4</m:t>
                          </m:r>
                        </m:e>
                      </m:d>
                    </m:oMath>
                  </m:oMathPara>
                </a14:m>
                <a:endParaRPr dirty="0"/>
              </a:p>
              <a:p>
                <a:pPr lvl="0"/>
                <a14:m>
                  <m:oMath xmlns:m="http://schemas.openxmlformats.org/officeDocument/2006/math">
                    <m:sSub>
                      <m:sSubPr>
                        <m:ctrlPr>
                          <a:rPr i="1">
                            <a:latin typeface="Cambria Math" panose="02040503050406030204" pitchFamily="18" charset="0"/>
                          </a:rPr>
                        </m:ctrlPr>
                      </m:sSubPr>
                      <m:e>
                        <m:r>
                          <a:rPr>
                            <a:latin typeface="Cambria Math" panose="02040503050406030204" pitchFamily="18" charset="0"/>
                          </a:rPr>
                          <m:t>𝑃</m:t>
                        </m:r>
                      </m:e>
                      <m:sub>
                        <m:r>
                          <a:rPr>
                            <a:latin typeface="Cambria Math" panose="02040503050406030204" pitchFamily="18" charset="0"/>
                          </a:rPr>
                          <m:t>𝑡</m:t>
                        </m:r>
                      </m:sub>
                    </m:sSub>
                    <m:d>
                      <m:dPr>
                        <m:ctrlPr>
                          <a:rPr i="1">
                            <a:latin typeface="Cambria Math" panose="02040503050406030204" pitchFamily="18" charset="0"/>
                          </a:rPr>
                        </m:ctrlPr>
                      </m:dPr>
                      <m:e>
                        <m:r>
                          <a:rPr>
                            <a:latin typeface="Cambria Math" panose="02040503050406030204" pitchFamily="18" charset="0"/>
                          </a:rPr>
                          <m:t>𝑧</m:t>
                        </m:r>
                      </m:e>
                    </m:d>
                  </m:oMath>
                </a14:m>
                <a:r>
                  <a:rPr dirty="0"/>
                  <a:t> is the actual price in market </a:t>
                </a:r>
                <a14:m>
                  <m:oMath xmlns:m="http://schemas.openxmlformats.org/officeDocument/2006/math">
                    <m:r>
                      <a:rPr>
                        <a:latin typeface="Cambria Math" panose="02040503050406030204" pitchFamily="18" charset="0"/>
                      </a:rPr>
                      <m:t>𝑧</m:t>
                    </m:r>
                  </m:oMath>
                </a14:m>
                <a:r>
                  <a:rPr dirty="0"/>
                  <a:t> at time </a:t>
                </a:r>
                <a14:m>
                  <m:oMath xmlns:m="http://schemas.openxmlformats.org/officeDocument/2006/math">
                    <m:r>
                      <a:rPr>
                        <a:latin typeface="Cambria Math" panose="02040503050406030204" pitchFamily="18" charset="0"/>
                      </a:rPr>
                      <m:t>𝑡</m:t>
                    </m:r>
                  </m:oMath>
                </a14:m>
                <a:r>
                  <a:rPr dirty="0"/>
                  <a:t> (that is the markets are indexed to z),</a:t>
                </a:r>
              </a:p>
              <a:p>
                <a:pPr lvl="0"/>
                <a14:m>
                  <m:oMath xmlns:m="http://schemas.openxmlformats.org/officeDocument/2006/math">
                    <m:sSub>
                      <m:sSubPr>
                        <m:ctrlPr>
                          <a:rPr i="1">
                            <a:latin typeface="Cambria Math" panose="02040503050406030204" pitchFamily="18" charset="0"/>
                          </a:rPr>
                        </m:ctrlPr>
                      </m:sSubPr>
                      <m:e>
                        <m:r>
                          <a:rPr>
                            <a:latin typeface="Cambria Math" panose="02040503050406030204" pitchFamily="18" charset="0"/>
                          </a:rPr>
                          <m:t>𝑃</m:t>
                        </m:r>
                      </m:e>
                      <m:sub>
                        <m:r>
                          <a:rPr>
                            <a:latin typeface="Cambria Math" panose="02040503050406030204" pitchFamily="18" charset="0"/>
                          </a:rPr>
                          <m:t>𝑡</m:t>
                        </m:r>
                      </m:sub>
                    </m:sSub>
                  </m:oMath>
                </a14:m>
                <a:r>
                  <a:rPr dirty="0"/>
                  <a:t> is the current general price level at time </a:t>
                </a:r>
                <a14:m>
                  <m:oMath xmlns:m="http://schemas.openxmlformats.org/officeDocument/2006/math">
                    <m:r>
                      <a:rPr>
                        <a:latin typeface="Cambria Math" panose="02040503050406030204" pitchFamily="18" charset="0"/>
                      </a:rPr>
                      <m:t>𝑡</m:t>
                    </m:r>
                  </m:oMath>
                </a14:m>
                <a:r>
                  <a:rPr dirty="0"/>
                  <a:t>, and </a:t>
                </a:r>
                <a14:m>
                  <m:oMath xmlns:m="http://schemas.openxmlformats.org/officeDocument/2006/math">
                    <m:r>
                      <a:rPr>
                        <a:latin typeface="Cambria Math" panose="02040503050406030204" pitchFamily="18" charset="0"/>
                      </a:rPr>
                      <m:t>𝑧</m:t>
                    </m:r>
                  </m:oMath>
                </a14:m>
                <a:r>
                  <a:rPr dirty="0"/>
                  <a:t> is the percentage deviation of the actual market price from the general price level.</a:t>
                </a:r>
              </a:p>
              <a:p>
                <a:pPr lvl="0"/>
                <a:r>
                  <a:rPr dirty="0"/>
                  <a:t>However, </a:t>
                </a:r>
                <a14:m>
                  <m:oMath xmlns:m="http://schemas.openxmlformats.org/officeDocument/2006/math">
                    <m:sSub>
                      <m:sSubPr>
                        <m:ctrlPr>
                          <a:rPr i="1">
                            <a:latin typeface="Cambria Math" panose="02040503050406030204" pitchFamily="18" charset="0"/>
                          </a:rPr>
                        </m:ctrlPr>
                      </m:sSubPr>
                      <m:e>
                        <m:r>
                          <a:rPr>
                            <a:latin typeface="Cambria Math" panose="02040503050406030204" pitchFamily="18" charset="0"/>
                          </a:rPr>
                          <m:t>𝑃</m:t>
                        </m:r>
                      </m:e>
                      <m:sub>
                        <m:r>
                          <a:rPr>
                            <a:latin typeface="Cambria Math" panose="02040503050406030204" pitchFamily="18" charset="0"/>
                          </a:rPr>
                          <m:t>𝑡</m:t>
                        </m:r>
                      </m:sub>
                    </m:sSub>
                  </m:oMath>
                </a14:m>
                <a:r>
                  <a:rPr dirty="0"/>
                  <a:t> is unobserved by traders, and therefore </a:t>
                </a:r>
                <a14:m>
                  <m:oMath xmlns:m="http://schemas.openxmlformats.org/officeDocument/2006/math">
                    <m:sSub>
                      <m:sSubPr>
                        <m:ctrlPr>
                          <a:rPr i="1">
                            <a:latin typeface="Cambria Math" panose="02040503050406030204" pitchFamily="18" charset="0"/>
                          </a:rPr>
                        </m:ctrlPr>
                      </m:sSubPr>
                      <m:e>
                        <m:r>
                          <a:rPr>
                            <a:latin typeface="Cambria Math" panose="02040503050406030204" pitchFamily="18" charset="0"/>
                          </a:rPr>
                          <m:t>𝐼</m:t>
                        </m:r>
                      </m:e>
                      <m:sub>
                        <m:r>
                          <a:rPr>
                            <a:latin typeface="Cambria Math" panose="02040503050406030204" pitchFamily="18" charset="0"/>
                          </a:rPr>
                          <m:t>𝑡</m:t>
                        </m:r>
                      </m:sub>
                    </m:sSub>
                    <m:d>
                      <m:dPr>
                        <m:ctrlPr>
                          <a:rPr i="1">
                            <a:latin typeface="Cambria Math" panose="02040503050406030204" pitchFamily="18" charset="0"/>
                          </a:rPr>
                        </m:ctrlPr>
                      </m:dPr>
                      <m:e>
                        <m:r>
                          <a:rPr>
                            <a:latin typeface="Cambria Math" panose="02040503050406030204" pitchFamily="18" charset="0"/>
                          </a:rPr>
                          <m:t>𝑧</m:t>
                        </m:r>
                      </m:e>
                    </m:d>
                  </m:oMath>
                </a14:m>
                <a:r>
                  <a:rPr dirty="0"/>
                  <a:t> is used to estimate the expected price level (</a:t>
                </a:r>
                <a14:m>
                  <m:oMath xmlns:m="http://schemas.openxmlformats.org/officeDocument/2006/math">
                    <m:r>
                      <a:rPr>
                        <a:latin typeface="Cambria Math" panose="02040503050406030204" pitchFamily="18" charset="0"/>
                      </a:rPr>
                      <m:t>𝐸</m:t>
                    </m:r>
                    <m:d>
                      <m:dPr>
                        <m:ctrlPr>
                          <a:rPr i="1">
                            <a:latin typeface="Cambria Math" panose="02040503050406030204" pitchFamily="18" charset="0"/>
                          </a:rPr>
                        </m:ctrlPr>
                      </m:dPr>
                      <m:e>
                        <m:sSub>
                          <m:sSubPr>
                            <m:ctrlPr>
                              <a:rPr i="1">
                                <a:latin typeface="Cambria Math" panose="02040503050406030204" pitchFamily="18" charset="0"/>
                              </a:rPr>
                            </m:ctrlPr>
                          </m:sSubPr>
                          <m:e>
                            <m:r>
                              <a:rPr>
                                <a:latin typeface="Cambria Math" panose="02040503050406030204" pitchFamily="18" charset="0"/>
                              </a:rPr>
                              <m:t>𝑃</m:t>
                            </m:r>
                          </m:e>
                          <m:sub>
                            <m:r>
                              <a:rPr>
                                <a:latin typeface="Cambria Math" panose="02040503050406030204" pitchFamily="18" charset="0"/>
                              </a:rPr>
                              <m:t>𝑡</m:t>
                            </m:r>
                          </m:sub>
                        </m:sSub>
                        <m:r>
                          <a:rPr>
                            <a:latin typeface="Cambria Math" panose="02040503050406030204" pitchFamily="18" charset="0"/>
                          </a:rPr>
                          <m:t>|</m:t>
                        </m:r>
                        <m:sSub>
                          <m:sSubPr>
                            <m:ctrlPr>
                              <a:rPr i="1">
                                <a:latin typeface="Cambria Math" panose="02040503050406030204" pitchFamily="18" charset="0"/>
                              </a:rPr>
                            </m:ctrlPr>
                          </m:sSubPr>
                          <m:e>
                            <m:r>
                              <a:rPr>
                                <a:latin typeface="Cambria Math" panose="02040503050406030204" pitchFamily="18" charset="0"/>
                              </a:rPr>
                              <m:t>𝐼</m:t>
                            </m:r>
                          </m:e>
                          <m:sub>
                            <m:r>
                              <a:rPr>
                                <a:latin typeface="Cambria Math" panose="02040503050406030204" pitchFamily="18" charset="0"/>
                              </a:rPr>
                              <m:t>𝑡</m:t>
                            </m:r>
                          </m:sub>
                        </m:sSub>
                        <m:d>
                          <m:dPr>
                            <m:ctrlPr>
                              <a:rPr i="1">
                                <a:latin typeface="Cambria Math" panose="02040503050406030204" pitchFamily="18" charset="0"/>
                              </a:rPr>
                            </m:ctrlPr>
                          </m:dPr>
                          <m:e>
                            <m:r>
                              <a:rPr>
                                <a:latin typeface="Cambria Math" panose="02040503050406030204" pitchFamily="18" charset="0"/>
                              </a:rPr>
                              <m:t>𝑧</m:t>
                            </m:r>
                          </m:e>
                        </m:d>
                      </m:e>
                    </m:d>
                  </m:oMath>
                </a14:m>
                <a:r>
                  <a:rPr dirty="0"/>
                  <a:t>).</a:t>
                </a:r>
              </a:p>
            </p:txBody>
          </p:sp>
        </mc:Choice>
        <mc:Fallback xmlns="">
          <p:sp>
            <p:nvSpPr>
              <p:cNvPr id="3" name="Content Placeholder 2">
                <a:extLst>
                  <a:ext uri="{FF2B5EF4-FFF2-40B4-BE49-F238E27FC236}">
                    <a16:creationId xmlns:a16="http://schemas.microsoft.com/office/drawing/2014/main" id="{9C966DDB-3364-1B41-9729-DB3686A721C5}"/>
                  </a:ext>
                </a:extLst>
              </p:cNvPr>
              <p:cNvSpPr>
                <a:spLocks noGrp="1" noRot="1" noChangeAspect="1" noMove="1" noResize="1" noEditPoints="1" noAdjustHandles="1" noChangeArrowheads="1" noChangeShapeType="1" noTextEdit="1"/>
              </p:cNvSpPr>
              <p:nvPr>
                <p:ph idx="1" hasCustomPrompt="1"/>
              </p:nvPr>
            </p:nvSpPr>
            <p:spPr>
              <a:blipFill>
                <a:blip r:embed="rId2"/>
                <a:stretch>
                  <a:fillRect l="-473" t="-1362" r="-236"/>
                </a:stretch>
              </a:blipFill>
            </p:spPr>
            <p:txBody>
              <a:bodyPr/>
              <a:lstStyle/>
              <a:p>
                <a:r>
                  <a:rPr lang="en-US">
                    <a:noFill/>
                  </a:rPr>
                  <a:t> </a:t>
                </a:r>
              </a:p>
            </p:txBody>
          </p:sp>
        </mc:Fallback>
      </mc:AlternateContent>
      <p:sp>
        <p:nvSpPr>
          <p:cNvPr id="7" name="Slide Number Placeholder 5">
            <a:extLst>
              <a:ext uri="{FF2B5EF4-FFF2-40B4-BE49-F238E27FC236}">
                <a16:creationId xmlns:a16="http://schemas.microsoft.com/office/drawing/2014/main" id="{FB221DBE-BC54-6C4C-BA1C-95E280B67712}"/>
              </a:ext>
            </a:extLst>
          </p:cNvPr>
          <p:cNvSpPr>
            <a:spLocks noGrp="1"/>
          </p:cNvSpPr>
          <p:nvPr>
            <p:ph type="sldNum" sz="quarter" idx="12"/>
          </p:nvPr>
        </p:nvSpPr>
        <p:spPr>
          <a:xfrm>
            <a:off x="7557977" y="6313820"/>
            <a:ext cx="2743200" cy="365125"/>
          </a:xfrm>
        </p:spPr>
        <p:txBody>
          <a:bodyPr/>
          <a:lstStyle>
            <a:lvl1pPr>
              <a:defRPr sz="1100"/>
            </a:lvl1pPr>
          </a:lstStyle>
          <a:p>
            <a:fld id="{85DA3A08-9E66-614E-AAE5-F810EFDD6885}" type="slidenum">
              <a:rPr lang="en-US" smtClean="0"/>
              <a:pPr/>
              <a:t>8</a:t>
            </a:fld>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631292-24AE-5F41-8820-196C7D8E36A1}"/>
              </a:ext>
            </a:extLst>
          </p:cNvPr>
          <p:cNvSpPr>
            <a:spLocks noGrp="1"/>
          </p:cNvSpPr>
          <p:nvPr>
            <p:ph type="title"/>
          </p:nvPr>
        </p:nvSpPr>
        <p:spPr>
          <a:xfrm>
            <a:off x="1055553" y="365125"/>
            <a:ext cx="10977744" cy="666233"/>
          </a:xfrm>
        </p:spPr>
        <p:txBody>
          <a:bodyPr/>
          <a:lstStyle/>
          <a:p>
            <a:pPr lvl="0"/>
            <a:r>
              <a:rPr lang="en-US" dirty="0"/>
              <a:t>Lucas’s supply curve: Weight on formatting expectations</a:t>
            </a:r>
            <a:endParaRPr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9C966DDB-3364-1B41-9729-DB3686A721C5}"/>
                  </a:ext>
                </a:extLst>
              </p:cNvPr>
              <p:cNvSpPr>
                <a:spLocks noGrp="1"/>
              </p:cNvSpPr>
              <p:nvPr>
                <p:ph idx="1" hasCustomPrompt="1"/>
              </p:nvPr>
            </p:nvSpPr>
            <p:spPr/>
            <p:txBody>
              <a:bodyPr/>
              <a:lstStyle/>
              <a:p>
                <a:pPr marL="0" lvl="0" indent="0">
                  <a:buNone/>
                </a:pPr>
                <a:r>
                  <a:rPr dirty="0"/>
                  <a:t>The expected price level based on information available at time </a:t>
                </a:r>
                <a14:m>
                  <m:oMath xmlns:m="http://schemas.openxmlformats.org/officeDocument/2006/math">
                    <m:r>
                      <a:rPr>
                        <a:latin typeface="Cambria Math" panose="02040503050406030204" pitchFamily="18" charset="0"/>
                      </a:rPr>
                      <m:t>𝑡</m:t>
                    </m:r>
                  </m:oMath>
                </a14:m>
                <a:r>
                  <a:rPr dirty="0"/>
                  <a:t> in market </a:t>
                </a:r>
                <a14:m>
                  <m:oMath xmlns:m="http://schemas.openxmlformats.org/officeDocument/2006/math">
                    <m:r>
                      <a:rPr>
                        <a:latin typeface="Cambria Math" panose="02040503050406030204" pitchFamily="18" charset="0"/>
                      </a:rPr>
                      <m:t>𝑧</m:t>
                    </m:r>
                  </m:oMath>
                </a14:m>
                <a:r>
                  <a:rPr dirty="0"/>
                  <a:t> can be derived using Bayes’ rule as follows:</a:t>
                </a:r>
                <a:endParaRPr lang="en-US" dirty="0"/>
              </a:p>
              <a:p>
                <a:pPr marL="0" lvl="0" indent="0">
                  <a:buNone/>
                </a:pPr>
                <a:endParaRPr dirty="0"/>
              </a:p>
              <a:p>
                <a:pPr marL="0" lvl="0" indent="0">
                  <a:buNone/>
                </a:pPr>
                <a14:m>
                  <m:oMathPara xmlns:m="http://schemas.openxmlformats.org/officeDocument/2006/math">
                    <m:oMathParaPr>
                      <m:jc m:val="center"/>
                    </m:oMathParaPr>
                    <m:oMath xmlns:m="http://schemas.openxmlformats.org/officeDocument/2006/math">
                      <m:r>
                        <a:rPr>
                          <a:latin typeface="Cambria Math" panose="02040503050406030204" pitchFamily="18" charset="0"/>
                        </a:rPr>
                        <m:t>𝐸</m:t>
                      </m:r>
                      <m:d>
                        <m:dPr>
                          <m:ctrlPr>
                            <a:rPr i="1">
                              <a:latin typeface="Cambria Math" panose="02040503050406030204" pitchFamily="18" charset="0"/>
                            </a:rPr>
                          </m:ctrlPr>
                        </m:dPr>
                        <m:e>
                          <m:sSub>
                            <m:sSubPr>
                              <m:ctrlPr>
                                <a:rPr i="1">
                                  <a:latin typeface="Cambria Math" panose="02040503050406030204" pitchFamily="18" charset="0"/>
                                </a:rPr>
                              </m:ctrlPr>
                            </m:sSubPr>
                            <m:e>
                              <m:r>
                                <a:rPr>
                                  <a:latin typeface="Cambria Math" panose="02040503050406030204" pitchFamily="18" charset="0"/>
                                </a:rPr>
                                <m:t>𝑃</m:t>
                              </m:r>
                            </m:e>
                            <m:sub>
                              <m:r>
                                <a:rPr>
                                  <a:latin typeface="Cambria Math" panose="02040503050406030204" pitchFamily="18" charset="0"/>
                                </a:rPr>
                                <m:t>𝑡</m:t>
                              </m:r>
                            </m:sub>
                          </m:sSub>
                          <m:r>
                            <a:rPr>
                              <a:latin typeface="Cambria Math" panose="02040503050406030204" pitchFamily="18" charset="0"/>
                            </a:rPr>
                            <m:t>|</m:t>
                          </m:r>
                          <m:sSub>
                            <m:sSubPr>
                              <m:ctrlPr>
                                <a:rPr i="1">
                                  <a:latin typeface="Cambria Math" panose="02040503050406030204" pitchFamily="18" charset="0"/>
                                </a:rPr>
                              </m:ctrlPr>
                            </m:sSubPr>
                            <m:e>
                              <m:r>
                                <a:rPr>
                                  <a:latin typeface="Cambria Math" panose="02040503050406030204" pitchFamily="18" charset="0"/>
                                </a:rPr>
                                <m:t>𝐼</m:t>
                              </m:r>
                            </m:e>
                            <m:sub>
                              <m:r>
                                <a:rPr>
                                  <a:latin typeface="Cambria Math" panose="02040503050406030204" pitchFamily="18" charset="0"/>
                                </a:rPr>
                                <m:t>𝑡</m:t>
                              </m:r>
                            </m:sub>
                          </m:sSub>
                          <m:d>
                            <m:dPr>
                              <m:ctrlPr>
                                <a:rPr i="1">
                                  <a:latin typeface="Cambria Math" panose="02040503050406030204" pitchFamily="18" charset="0"/>
                                </a:rPr>
                              </m:ctrlPr>
                            </m:dPr>
                            <m:e>
                              <m:r>
                                <a:rPr>
                                  <a:latin typeface="Cambria Math" panose="02040503050406030204" pitchFamily="18" charset="0"/>
                                </a:rPr>
                                <m:t>𝑧</m:t>
                              </m:r>
                            </m:e>
                          </m:d>
                        </m:e>
                      </m:d>
                      <m:r>
                        <a:rPr>
                          <a:latin typeface="Cambria Math" panose="02040503050406030204" pitchFamily="18" charset="0"/>
                        </a:rPr>
                        <m:t>=</m:t>
                      </m:r>
                      <m:r>
                        <a:rPr>
                          <a:latin typeface="Cambria Math" panose="02040503050406030204" pitchFamily="18" charset="0"/>
                        </a:rPr>
                        <m:t>𝐸</m:t>
                      </m:r>
                      <m:d>
                        <m:dPr>
                          <m:ctrlPr>
                            <a:rPr i="1">
                              <a:latin typeface="Cambria Math" panose="02040503050406030204" pitchFamily="18" charset="0"/>
                            </a:rPr>
                          </m:ctrlPr>
                        </m:dPr>
                        <m:e>
                          <m:sSub>
                            <m:sSubPr>
                              <m:ctrlPr>
                                <a:rPr i="1">
                                  <a:latin typeface="Cambria Math" panose="02040503050406030204" pitchFamily="18" charset="0"/>
                                </a:rPr>
                              </m:ctrlPr>
                            </m:sSubPr>
                            <m:e>
                              <m:r>
                                <a:rPr>
                                  <a:latin typeface="Cambria Math" panose="02040503050406030204" pitchFamily="18" charset="0"/>
                                </a:rPr>
                                <m:t>𝑃</m:t>
                              </m:r>
                            </m:e>
                            <m:sub>
                              <m:r>
                                <a:rPr>
                                  <a:latin typeface="Cambria Math" panose="02040503050406030204" pitchFamily="18" charset="0"/>
                                </a:rPr>
                                <m:t>𝑡</m:t>
                              </m:r>
                            </m:sub>
                          </m:sSub>
                          <m:r>
                            <a:rPr>
                              <a:latin typeface="Cambria Math" panose="02040503050406030204" pitchFamily="18" charset="0"/>
                            </a:rPr>
                            <m:t>|</m:t>
                          </m:r>
                          <m:sSub>
                            <m:sSubPr>
                              <m:ctrlPr>
                                <a:rPr i="1">
                                  <a:latin typeface="Cambria Math" panose="02040503050406030204" pitchFamily="18" charset="0"/>
                                </a:rPr>
                              </m:ctrlPr>
                            </m:sSubPr>
                            <m:e>
                              <m:r>
                                <a:rPr>
                                  <a:latin typeface="Cambria Math" panose="02040503050406030204" pitchFamily="18" charset="0"/>
                                </a:rPr>
                                <m:t>𝑃</m:t>
                              </m:r>
                            </m:e>
                            <m:sub>
                              <m:r>
                                <a:rPr>
                                  <a:latin typeface="Cambria Math" panose="02040503050406030204" pitchFamily="18" charset="0"/>
                                </a:rPr>
                                <m:t>𝑡</m:t>
                              </m:r>
                            </m:sub>
                          </m:sSub>
                          <m:d>
                            <m:dPr>
                              <m:ctrlPr>
                                <a:rPr i="1">
                                  <a:latin typeface="Cambria Math" panose="02040503050406030204" pitchFamily="18" charset="0"/>
                                </a:rPr>
                              </m:ctrlPr>
                            </m:dPr>
                            <m:e>
                              <m:r>
                                <a:rPr>
                                  <a:latin typeface="Cambria Math" panose="02040503050406030204" pitchFamily="18" charset="0"/>
                                </a:rPr>
                                <m:t>𝑧</m:t>
                              </m:r>
                            </m:e>
                          </m:d>
                          <m:r>
                            <a:rPr>
                              <a:latin typeface="Cambria Math" panose="02040503050406030204" pitchFamily="18" charset="0"/>
                            </a:rPr>
                            <m:t>,</m:t>
                          </m:r>
                          <m:bar>
                            <m:barPr>
                              <m:pos m:val="top"/>
                              <m:ctrlPr>
                                <a:rPr i="1">
                                  <a:latin typeface="Cambria Math" panose="02040503050406030204" pitchFamily="18" charset="0"/>
                                </a:rPr>
                              </m:ctrlPr>
                            </m:barPr>
                            <m:e>
                              <m:sSub>
                                <m:sSubPr>
                                  <m:ctrlPr>
                                    <a:rPr i="1">
                                      <a:latin typeface="Cambria Math" panose="02040503050406030204" pitchFamily="18" charset="0"/>
                                    </a:rPr>
                                  </m:ctrlPr>
                                </m:sSubPr>
                                <m:e>
                                  <m:r>
                                    <a:rPr>
                                      <a:latin typeface="Cambria Math" panose="02040503050406030204" pitchFamily="18" charset="0"/>
                                    </a:rPr>
                                    <m:t>𝑃</m:t>
                                  </m:r>
                                </m:e>
                                <m:sub>
                                  <m:r>
                                    <a:rPr>
                                      <a:latin typeface="Cambria Math" panose="02040503050406030204" pitchFamily="18" charset="0"/>
                                    </a:rPr>
                                    <m:t>𝑡</m:t>
                                  </m:r>
                                </m:sub>
                              </m:sSub>
                            </m:e>
                          </m:bar>
                        </m:e>
                      </m:d>
                      <m:r>
                        <a:rPr>
                          <a:latin typeface="Cambria Math" panose="02040503050406030204" pitchFamily="18" charset="0"/>
                        </a:rPr>
                        <m:t>=</m:t>
                      </m:r>
                      <m:d>
                        <m:dPr>
                          <m:ctrlPr>
                            <a:rPr i="1">
                              <a:latin typeface="Cambria Math" panose="02040503050406030204" pitchFamily="18" charset="0"/>
                            </a:rPr>
                          </m:ctrlPr>
                        </m:dPr>
                        <m:e>
                          <m:r>
                            <a:rPr>
                              <a:latin typeface="Cambria Math" panose="02040503050406030204" pitchFamily="18" charset="0"/>
                            </a:rPr>
                            <m:t>1−</m:t>
                          </m:r>
                          <m:r>
                            <a:rPr>
                              <a:latin typeface="Cambria Math" panose="02040503050406030204" pitchFamily="18" charset="0"/>
                            </a:rPr>
                            <m:t>𝜃</m:t>
                          </m:r>
                        </m:e>
                      </m:d>
                      <m:sSub>
                        <m:sSubPr>
                          <m:ctrlPr>
                            <a:rPr i="1">
                              <a:latin typeface="Cambria Math" panose="02040503050406030204" pitchFamily="18" charset="0"/>
                            </a:rPr>
                          </m:ctrlPr>
                        </m:sSubPr>
                        <m:e>
                          <m:r>
                            <a:rPr>
                              <a:latin typeface="Cambria Math" panose="02040503050406030204" pitchFamily="18" charset="0"/>
                            </a:rPr>
                            <m:t>𝑃</m:t>
                          </m:r>
                        </m:e>
                        <m:sub>
                          <m:r>
                            <a:rPr>
                              <a:latin typeface="Cambria Math" panose="02040503050406030204" pitchFamily="18" charset="0"/>
                            </a:rPr>
                            <m:t>𝑡</m:t>
                          </m:r>
                        </m:sub>
                      </m:sSub>
                      <m:d>
                        <m:dPr>
                          <m:ctrlPr>
                            <a:rPr i="1">
                              <a:latin typeface="Cambria Math" panose="02040503050406030204" pitchFamily="18" charset="0"/>
                            </a:rPr>
                          </m:ctrlPr>
                        </m:dPr>
                        <m:e>
                          <m:r>
                            <a:rPr>
                              <a:latin typeface="Cambria Math" panose="02040503050406030204" pitchFamily="18" charset="0"/>
                            </a:rPr>
                            <m:t>𝑧</m:t>
                          </m:r>
                        </m:e>
                      </m:d>
                      <m:r>
                        <a:rPr>
                          <a:latin typeface="Cambria Math" panose="02040503050406030204" pitchFamily="18" charset="0"/>
                        </a:rPr>
                        <m:t>+</m:t>
                      </m:r>
                      <m:r>
                        <a:rPr>
                          <a:latin typeface="Cambria Math" panose="02040503050406030204" pitchFamily="18" charset="0"/>
                        </a:rPr>
                        <m:t>𝜃</m:t>
                      </m:r>
                      <m:bar>
                        <m:barPr>
                          <m:pos m:val="top"/>
                          <m:ctrlPr>
                            <a:rPr i="1">
                              <a:latin typeface="Cambria Math" panose="02040503050406030204" pitchFamily="18" charset="0"/>
                            </a:rPr>
                          </m:ctrlPr>
                        </m:barPr>
                        <m:e>
                          <m:r>
                            <a:rPr>
                              <a:latin typeface="Cambria Math" panose="02040503050406030204" pitchFamily="18" charset="0"/>
                            </a:rPr>
                            <m:t>𝑃𝑡</m:t>
                          </m:r>
                        </m:e>
                      </m:bar>
                      <m:r>
                        <a:rPr>
                          <a:latin typeface="Cambria Math" panose="02040503050406030204" pitchFamily="18" charset="0"/>
                        </a:rPr>
                        <m:t>,  </m:t>
                      </m:r>
                      <m:d>
                        <m:dPr>
                          <m:ctrlPr>
                            <a:rPr i="1">
                              <a:latin typeface="Cambria Math" panose="02040503050406030204" pitchFamily="18" charset="0"/>
                            </a:rPr>
                          </m:ctrlPr>
                        </m:dPr>
                        <m:e>
                          <m:r>
                            <a:rPr>
                              <a:latin typeface="Cambria Math" panose="02040503050406030204" pitchFamily="18" charset="0"/>
                            </a:rPr>
                            <m:t>5</m:t>
                          </m:r>
                        </m:e>
                      </m:d>
                    </m:oMath>
                  </m:oMathPara>
                </a14:m>
                <a:endParaRPr dirty="0"/>
              </a:p>
              <a:p>
                <a:pPr lvl="0"/>
                <a14:m>
                  <m:oMath xmlns:m="http://schemas.openxmlformats.org/officeDocument/2006/math">
                    <m:r>
                      <a:rPr>
                        <a:latin typeface="Cambria Math" panose="02040503050406030204" pitchFamily="18" charset="0"/>
                      </a:rPr>
                      <m:t>𝜃</m:t>
                    </m:r>
                    <m:r>
                      <a:rPr>
                        <a:latin typeface="Cambria Math" panose="02040503050406030204" pitchFamily="18" charset="0"/>
                      </a:rPr>
                      <m:t>=</m:t>
                    </m:r>
                    <m:f>
                      <m:fPr>
                        <m:ctrlPr>
                          <a:rPr i="1">
                            <a:latin typeface="Cambria Math" panose="02040503050406030204" pitchFamily="18" charset="0"/>
                          </a:rPr>
                        </m:ctrlPr>
                      </m:fPr>
                      <m:num>
                        <m:sSup>
                          <m:sSupPr>
                            <m:ctrlPr>
                              <a:rPr i="1">
                                <a:latin typeface="Cambria Math" panose="02040503050406030204" pitchFamily="18" charset="0"/>
                              </a:rPr>
                            </m:ctrlPr>
                          </m:sSupPr>
                          <m:e>
                            <m:r>
                              <a:rPr>
                                <a:latin typeface="Cambria Math" panose="02040503050406030204" pitchFamily="18" charset="0"/>
                              </a:rPr>
                              <m:t>𝜏</m:t>
                            </m:r>
                          </m:e>
                          <m:sup>
                            <m:r>
                              <a:rPr>
                                <a:latin typeface="Cambria Math" panose="02040503050406030204" pitchFamily="18" charset="0"/>
                              </a:rPr>
                              <m:t>2</m:t>
                            </m:r>
                          </m:sup>
                        </m:sSup>
                      </m:num>
                      <m:den>
                        <m:d>
                          <m:dPr>
                            <m:ctrlPr>
                              <a:rPr i="1">
                                <a:latin typeface="Cambria Math" panose="02040503050406030204" pitchFamily="18" charset="0"/>
                              </a:rPr>
                            </m:ctrlPr>
                          </m:dPr>
                          <m:e>
                            <m:sSup>
                              <m:sSupPr>
                                <m:ctrlPr>
                                  <a:rPr i="1">
                                    <a:latin typeface="Cambria Math" panose="02040503050406030204" pitchFamily="18" charset="0"/>
                                  </a:rPr>
                                </m:ctrlPr>
                              </m:sSupPr>
                              <m:e>
                                <m:r>
                                  <a:rPr>
                                    <a:latin typeface="Cambria Math" panose="02040503050406030204" pitchFamily="18" charset="0"/>
                                  </a:rPr>
                                  <m:t>𝜎</m:t>
                                </m:r>
                              </m:e>
                              <m:sup>
                                <m:r>
                                  <a:rPr>
                                    <a:latin typeface="Cambria Math" panose="02040503050406030204" pitchFamily="18" charset="0"/>
                                  </a:rPr>
                                  <m:t>2</m:t>
                                </m:r>
                              </m:sup>
                            </m:sSup>
                            <m:r>
                              <a:rPr>
                                <a:latin typeface="Cambria Math" panose="02040503050406030204" pitchFamily="18" charset="0"/>
                              </a:rPr>
                              <m:t>+</m:t>
                            </m:r>
                            <m:sSup>
                              <m:sSupPr>
                                <m:ctrlPr>
                                  <a:rPr i="1">
                                    <a:latin typeface="Cambria Math" panose="02040503050406030204" pitchFamily="18" charset="0"/>
                                  </a:rPr>
                                </m:ctrlPr>
                              </m:sSupPr>
                              <m:e>
                                <m:r>
                                  <a:rPr>
                                    <a:latin typeface="Cambria Math" panose="02040503050406030204" pitchFamily="18" charset="0"/>
                                  </a:rPr>
                                  <m:t>𝜏</m:t>
                                </m:r>
                              </m:e>
                              <m:sup>
                                <m:r>
                                  <a:rPr>
                                    <a:latin typeface="Cambria Math" panose="02040503050406030204" pitchFamily="18" charset="0"/>
                                  </a:rPr>
                                  <m:t>2</m:t>
                                </m:r>
                              </m:sup>
                            </m:sSup>
                          </m:e>
                        </m:d>
                      </m:den>
                    </m:f>
                  </m:oMath>
                </a14:m>
                <a:r>
                  <a:rPr dirty="0"/>
                  <a:t> is the weight placed on the mean price level (</a:t>
                </a:r>
                <a14:m>
                  <m:oMath xmlns:m="http://schemas.openxmlformats.org/officeDocument/2006/math">
                    <m:bar>
                      <m:barPr>
                        <m:pos m:val="top"/>
                        <m:ctrlPr>
                          <a:rPr i="1">
                            <a:latin typeface="Cambria Math" panose="02040503050406030204" pitchFamily="18" charset="0"/>
                          </a:rPr>
                        </m:ctrlPr>
                      </m:barPr>
                      <m:e>
                        <m:sSub>
                          <m:sSubPr>
                            <m:ctrlPr>
                              <a:rPr i="1">
                                <a:latin typeface="Cambria Math" panose="02040503050406030204" pitchFamily="18" charset="0"/>
                              </a:rPr>
                            </m:ctrlPr>
                          </m:sSubPr>
                          <m:e>
                            <m:r>
                              <a:rPr>
                                <a:latin typeface="Cambria Math" panose="02040503050406030204" pitchFamily="18" charset="0"/>
                              </a:rPr>
                              <m:t>𝑃</m:t>
                            </m:r>
                          </m:e>
                          <m:sub>
                            <m:r>
                              <a:rPr>
                                <a:latin typeface="Cambria Math" panose="02040503050406030204" pitchFamily="18" charset="0"/>
                              </a:rPr>
                              <m:t>𝑡</m:t>
                            </m:r>
                          </m:sub>
                        </m:sSub>
                      </m:e>
                    </m:bar>
                  </m:oMath>
                </a14:m>
                <a:r>
                  <a:rPr dirty="0"/>
                  <a:t>) in forming expectations.</a:t>
                </a:r>
              </a:p>
              <a:p>
                <a:pPr marL="0" lvl="0" indent="0">
                  <a:buNone/>
                </a:pPr>
                <a:r>
                  <a:rPr dirty="0"/>
                  <a:t>Combining Equation 1, Equation 4, and Equation 5 by substitution yields the following:</a:t>
                </a:r>
                <a:endParaRPr lang="en-US" dirty="0"/>
              </a:p>
              <a:p>
                <a:pPr marL="0" lvl="0" indent="0">
                  <a:buNone/>
                </a:pPr>
                <a:endParaRPr dirty="0"/>
              </a:p>
              <a:p>
                <a:pPr marL="0" lvl="0" indent="0">
                  <a:buNone/>
                </a:pPr>
                <a14:m>
                  <m:oMathPara xmlns:m="http://schemas.openxmlformats.org/officeDocument/2006/math">
                    <m:oMathParaPr>
                      <m:jc m:val="center"/>
                    </m:oMathParaPr>
                    <m:oMath xmlns:m="http://schemas.openxmlformats.org/officeDocument/2006/math">
                      <m:sSub>
                        <m:sSubPr>
                          <m:ctrlPr>
                            <a:rPr i="1">
                              <a:latin typeface="Cambria Math" panose="02040503050406030204" pitchFamily="18" charset="0"/>
                            </a:rPr>
                          </m:ctrlPr>
                        </m:sSubPr>
                        <m:e>
                          <m:r>
                            <a:rPr>
                              <a:latin typeface="Cambria Math" panose="02040503050406030204" pitchFamily="18" charset="0"/>
                            </a:rPr>
                            <m:t>𝑦</m:t>
                          </m:r>
                        </m:e>
                        <m:sub>
                          <m:r>
                            <a:rPr>
                              <a:latin typeface="Cambria Math" panose="02040503050406030204" pitchFamily="18" charset="0"/>
                            </a:rPr>
                            <m:t>𝑡</m:t>
                          </m:r>
                        </m:sub>
                      </m:sSub>
                      <m:d>
                        <m:dPr>
                          <m:ctrlPr>
                            <a:rPr i="1">
                              <a:latin typeface="Cambria Math" panose="02040503050406030204" pitchFamily="18" charset="0"/>
                            </a:rPr>
                          </m:ctrlPr>
                        </m:dPr>
                        <m:e>
                          <m:r>
                            <a:rPr>
                              <a:latin typeface="Cambria Math" panose="02040503050406030204" pitchFamily="18" charset="0"/>
                            </a:rPr>
                            <m:t>𝑧</m:t>
                          </m:r>
                        </m:e>
                      </m:d>
                      <m:r>
                        <a:rPr>
                          <a:latin typeface="Cambria Math" panose="02040503050406030204" pitchFamily="18" charset="0"/>
                        </a:rPr>
                        <m:t>=</m:t>
                      </m:r>
                      <m:sSub>
                        <m:sSubPr>
                          <m:ctrlPr>
                            <a:rPr i="1">
                              <a:latin typeface="Cambria Math" panose="02040503050406030204" pitchFamily="18" charset="0"/>
                            </a:rPr>
                          </m:ctrlPr>
                        </m:sSubPr>
                        <m:e>
                          <m:r>
                            <a:rPr>
                              <a:latin typeface="Cambria Math" panose="02040503050406030204" pitchFamily="18" charset="0"/>
                            </a:rPr>
                            <m:t>𝑦</m:t>
                          </m:r>
                        </m:e>
                        <m:sub>
                          <m:r>
                            <a:rPr>
                              <a:latin typeface="Cambria Math" panose="02040503050406030204" pitchFamily="18" charset="0"/>
                            </a:rPr>
                            <m:t>𝑛𝑡</m:t>
                          </m:r>
                        </m:sub>
                      </m:sSub>
                      <m:r>
                        <a:rPr>
                          <a:latin typeface="Cambria Math" panose="02040503050406030204" pitchFamily="18" charset="0"/>
                        </a:rPr>
                        <m:t>+</m:t>
                      </m:r>
                      <m:r>
                        <a:rPr>
                          <a:latin typeface="Cambria Math" panose="02040503050406030204" pitchFamily="18" charset="0"/>
                        </a:rPr>
                        <m:t>𝜃𝛾</m:t>
                      </m:r>
                      <m:d>
                        <m:dPr>
                          <m:begChr m:val="["/>
                          <m:endChr m:val="]"/>
                          <m:ctrlPr>
                            <a:rPr i="1">
                              <a:latin typeface="Cambria Math" panose="02040503050406030204" pitchFamily="18" charset="0"/>
                            </a:rPr>
                          </m:ctrlPr>
                        </m:dPr>
                        <m:e>
                          <m:sSub>
                            <m:sSubPr>
                              <m:ctrlPr>
                                <a:rPr i="1">
                                  <a:latin typeface="Cambria Math" panose="02040503050406030204" pitchFamily="18" charset="0"/>
                                </a:rPr>
                              </m:ctrlPr>
                            </m:sSubPr>
                            <m:e>
                              <m:r>
                                <a:rPr>
                                  <a:latin typeface="Cambria Math" panose="02040503050406030204" pitchFamily="18" charset="0"/>
                                </a:rPr>
                                <m:t>𝑃</m:t>
                              </m:r>
                            </m:e>
                            <m:sub>
                              <m:r>
                                <a:rPr>
                                  <a:latin typeface="Cambria Math" panose="02040503050406030204" pitchFamily="18" charset="0"/>
                                </a:rPr>
                                <m:t>𝑡</m:t>
                              </m:r>
                            </m:sub>
                          </m:sSub>
                          <m:d>
                            <m:dPr>
                              <m:ctrlPr>
                                <a:rPr i="1">
                                  <a:latin typeface="Cambria Math" panose="02040503050406030204" pitchFamily="18" charset="0"/>
                                </a:rPr>
                              </m:ctrlPr>
                            </m:dPr>
                            <m:e>
                              <m:r>
                                <a:rPr>
                                  <a:latin typeface="Cambria Math" panose="02040503050406030204" pitchFamily="18" charset="0"/>
                                </a:rPr>
                                <m:t>𝑧</m:t>
                              </m:r>
                            </m:e>
                          </m:d>
                          <m:r>
                            <a:rPr>
                              <a:latin typeface="Cambria Math" panose="02040503050406030204" pitchFamily="18" charset="0"/>
                            </a:rPr>
                            <m:t>−</m:t>
                          </m:r>
                          <m:bar>
                            <m:barPr>
                              <m:pos m:val="top"/>
                              <m:ctrlPr>
                                <a:rPr i="1">
                                  <a:latin typeface="Cambria Math" panose="02040503050406030204" pitchFamily="18" charset="0"/>
                                </a:rPr>
                              </m:ctrlPr>
                            </m:barPr>
                            <m:e>
                              <m:sSub>
                                <m:sSubPr>
                                  <m:ctrlPr>
                                    <a:rPr i="1">
                                      <a:latin typeface="Cambria Math" panose="02040503050406030204" pitchFamily="18" charset="0"/>
                                    </a:rPr>
                                  </m:ctrlPr>
                                </m:sSubPr>
                                <m:e>
                                  <m:r>
                                    <a:rPr>
                                      <a:latin typeface="Cambria Math" panose="02040503050406030204" pitchFamily="18" charset="0"/>
                                    </a:rPr>
                                    <m:t>𝑃</m:t>
                                  </m:r>
                                </m:e>
                                <m:sub>
                                  <m:r>
                                    <a:rPr>
                                      <a:latin typeface="Cambria Math" panose="02040503050406030204" pitchFamily="18" charset="0"/>
                                    </a:rPr>
                                    <m:t>𝑡</m:t>
                                  </m:r>
                                </m:sub>
                              </m:sSub>
                            </m:e>
                          </m:bar>
                        </m:e>
                      </m:d>
                      <m:r>
                        <a:rPr>
                          <a:latin typeface="Cambria Math" panose="02040503050406030204" pitchFamily="18" charset="0"/>
                        </a:rPr>
                        <m:t>+</m:t>
                      </m:r>
                      <m:r>
                        <a:rPr>
                          <a:latin typeface="Cambria Math" panose="02040503050406030204" pitchFamily="18" charset="0"/>
                        </a:rPr>
                        <m:t>𝜆</m:t>
                      </m:r>
                      <m:sSub>
                        <m:sSubPr>
                          <m:ctrlPr>
                            <a:rPr i="1">
                              <a:latin typeface="Cambria Math" panose="02040503050406030204" pitchFamily="18" charset="0"/>
                            </a:rPr>
                          </m:ctrlPr>
                        </m:sSubPr>
                        <m:e>
                          <m:r>
                            <a:rPr>
                              <a:latin typeface="Cambria Math" panose="02040503050406030204" pitchFamily="18" charset="0"/>
                            </a:rPr>
                            <m:t>𝑦</m:t>
                          </m:r>
                        </m:e>
                        <m:sub>
                          <m:r>
                            <a:rPr>
                              <a:latin typeface="Cambria Math" panose="02040503050406030204" pitchFamily="18" charset="0"/>
                            </a:rPr>
                            <m:t>𝑐</m:t>
                          </m:r>
                          <m:r>
                            <a:rPr>
                              <a:latin typeface="Cambria Math" panose="02040503050406030204" pitchFamily="18" charset="0"/>
                            </a:rPr>
                            <m:t>,</m:t>
                          </m:r>
                          <m:r>
                            <a:rPr>
                              <a:latin typeface="Cambria Math" panose="02040503050406030204" pitchFamily="18" charset="0"/>
                            </a:rPr>
                            <m:t>𝑡</m:t>
                          </m:r>
                          <m:r>
                            <a:rPr>
                              <a:latin typeface="Cambria Math" panose="02040503050406030204" pitchFamily="18" charset="0"/>
                            </a:rPr>
                            <m:t>−1</m:t>
                          </m:r>
                        </m:sub>
                      </m:sSub>
                      <m:r>
                        <a:rPr>
                          <a:latin typeface="Cambria Math" panose="02040503050406030204" pitchFamily="18" charset="0"/>
                        </a:rPr>
                        <m:t>  </m:t>
                      </m:r>
                      <m:d>
                        <m:dPr>
                          <m:ctrlPr>
                            <a:rPr i="1">
                              <a:latin typeface="Cambria Math" panose="02040503050406030204" pitchFamily="18" charset="0"/>
                            </a:rPr>
                          </m:ctrlPr>
                        </m:dPr>
                        <m:e>
                          <m:r>
                            <a:rPr>
                              <a:latin typeface="Cambria Math" panose="02040503050406030204" pitchFamily="18" charset="0"/>
                            </a:rPr>
                            <m:t>6</m:t>
                          </m:r>
                        </m:e>
                      </m:d>
                    </m:oMath>
                  </m:oMathPara>
                </a14:m>
                <a:endParaRPr dirty="0"/>
              </a:p>
              <a:p>
                <a:pPr lvl="0"/>
                <a:r>
                  <a:rPr dirty="0"/>
                  <a:t>current supply in market </a:t>
                </a:r>
                <a14:m>
                  <m:oMath xmlns:m="http://schemas.openxmlformats.org/officeDocument/2006/math">
                    <m:r>
                      <a:rPr>
                        <a:latin typeface="Cambria Math" panose="02040503050406030204" pitchFamily="18" charset="0"/>
                      </a:rPr>
                      <m:t>𝑧</m:t>
                    </m:r>
                  </m:oMath>
                </a14:m>
                <a:r>
                  <a:rPr dirty="0"/>
                  <a:t> at time </a:t>
                </a:r>
                <a14:m>
                  <m:oMath xmlns:m="http://schemas.openxmlformats.org/officeDocument/2006/math">
                    <m:r>
                      <a:rPr>
                        <a:latin typeface="Cambria Math" panose="02040503050406030204" pitchFamily="18" charset="0"/>
                      </a:rPr>
                      <m:t>𝑡</m:t>
                    </m:r>
                  </m:oMath>
                </a14:m>
                <a:r>
                  <a:rPr dirty="0"/>
                  <a:t> is a function of the natural level of supply, the perceived relative price (the difference between the actual price level in market </a:t>
                </a:r>
                <a14:m>
                  <m:oMath xmlns:m="http://schemas.openxmlformats.org/officeDocument/2006/math">
                    <m:r>
                      <a:rPr>
                        <a:latin typeface="Cambria Math" panose="02040503050406030204" pitchFamily="18" charset="0"/>
                      </a:rPr>
                      <m:t>𝑧</m:t>
                    </m:r>
                  </m:oMath>
                </a14:m>
                <a:r>
                  <a:rPr dirty="0"/>
                  <a:t> and the mean price level), and the lagged cyclical component.</a:t>
                </a:r>
              </a:p>
            </p:txBody>
          </p:sp>
        </mc:Choice>
        <mc:Fallback xmlns="">
          <p:sp>
            <p:nvSpPr>
              <p:cNvPr id="3" name="Content Placeholder 2">
                <a:extLst>
                  <a:ext uri="{FF2B5EF4-FFF2-40B4-BE49-F238E27FC236}">
                    <a16:creationId xmlns:a16="http://schemas.microsoft.com/office/drawing/2014/main" id="{9C966DDB-3364-1B41-9729-DB3686A721C5}"/>
                  </a:ext>
                </a:extLst>
              </p:cNvPr>
              <p:cNvSpPr>
                <a:spLocks noGrp="1" noRot="1" noChangeAspect="1" noMove="1" noResize="1" noEditPoints="1" noAdjustHandles="1" noChangeArrowheads="1" noChangeShapeType="1" noTextEdit="1"/>
              </p:cNvSpPr>
              <p:nvPr>
                <p:ph idx="1" hasCustomPrompt="1"/>
              </p:nvPr>
            </p:nvSpPr>
            <p:spPr>
              <a:blipFill>
                <a:blip r:embed="rId2"/>
                <a:stretch>
                  <a:fillRect l="-473" t="-1362"/>
                </a:stretch>
              </a:blipFill>
            </p:spPr>
            <p:txBody>
              <a:bodyPr/>
              <a:lstStyle/>
              <a:p>
                <a:r>
                  <a:rPr lang="en-US">
                    <a:noFill/>
                  </a:rPr>
                  <a:t> </a:t>
                </a:r>
              </a:p>
            </p:txBody>
          </p:sp>
        </mc:Fallback>
      </mc:AlternateContent>
      <p:sp>
        <p:nvSpPr>
          <p:cNvPr id="7" name="Slide Number Placeholder 5">
            <a:extLst>
              <a:ext uri="{FF2B5EF4-FFF2-40B4-BE49-F238E27FC236}">
                <a16:creationId xmlns:a16="http://schemas.microsoft.com/office/drawing/2014/main" id="{FB221DBE-BC54-6C4C-BA1C-95E280B67712}"/>
              </a:ext>
            </a:extLst>
          </p:cNvPr>
          <p:cNvSpPr>
            <a:spLocks noGrp="1"/>
          </p:cNvSpPr>
          <p:nvPr>
            <p:ph type="sldNum" sz="quarter" idx="12"/>
          </p:nvPr>
        </p:nvSpPr>
        <p:spPr>
          <a:xfrm>
            <a:off x="7557977" y="6313820"/>
            <a:ext cx="2743200" cy="365125"/>
          </a:xfrm>
        </p:spPr>
        <p:txBody>
          <a:bodyPr/>
          <a:lstStyle>
            <a:lvl1pPr>
              <a:defRPr sz="1100"/>
            </a:lvl1pPr>
          </a:lstStyle>
          <a:p>
            <a:fld id="{85DA3A08-9E66-614E-AAE5-F810EFDD6885}" type="slidenum">
              <a:rPr lang="en-US" smtClean="0"/>
              <a:pPr/>
              <a:t>9</a:t>
            </a:fld>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631292-24AE-5F41-8820-196C7D8E36A1}"/>
              </a:ext>
            </a:extLst>
          </p:cNvPr>
          <p:cNvSpPr>
            <a:spLocks noGrp="1"/>
          </p:cNvSpPr>
          <p:nvPr>
            <p:ph type="title"/>
          </p:nvPr>
        </p:nvSpPr>
        <p:spPr>
          <a:xfrm>
            <a:off x="1055553" y="365125"/>
            <a:ext cx="10977744" cy="666233"/>
          </a:xfrm>
        </p:spPr>
        <p:txBody>
          <a:bodyPr/>
          <a:lstStyle/>
          <a:p>
            <a:pPr lvl="0"/>
            <a:r>
              <a:rPr lang="en-US" dirty="0"/>
              <a:t>Lucas’s supply curve: Relative price dispersion (RPD)</a:t>
            </a:r>
            <a:endParaRPr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9C966DDB-3364-1B41-9729-DB3686A721C5}"/>
                  </a:ext>
                </a:extLst>
              </p:cNvPr>
              <p:cNvSpPr>
                <a:spLocks noGrp="1"/>
              </p:cNvSpPr>
              <p:nvPr>
                <p:ph idx="1" hasCustomPrompt="1"/>
              </p:nvPr>
            </p:nvSpPr>
            <p:spPr/>
            <p:txBody>
              <a:bodyPr/>
              <a:lstStyle/>
              <a:p>
                <a:pPr marL="0" lvl="0" indent="0">
                  <a:buNone/>
                </a:pPr>
                <a:r>
                  <a:rPr dirty="0"/>
                  <a:t>Finally, aggregating across all markets (or integrating over all markets) yields the following aggregate supply curve:</a:t>
                </a:r>
                <a:br>
                  <a:rPr lang="en-US" dirty="0"/>
                </a:br>
                <a:endParaRPr dirty="0"/>
              </a:p>
              <a:p>
                <a:pPr marL="0" lvl="0" indent="0">
                  <a:buNone/>
                </a:pPr>
                <a14:m>
                  <m:oMathPara xmlns:m="http://schemas.openxmlformats.org/officeDocument/2006/math">
                    <m:oMathParaPr>
                      <m:jc m:val="center"/>
                    </m:oMathParaPr>
                    <m:oMath xmlns:m="http://schemas.openxmlformats.org/officeDocument/2006/math">
                      <m:sSub>
                        <m:sSubPr>
                          <m:ctrlPr>
                            <a:rPr i="1">
                              <a:latin typeface="Cambria Math" panose="02040503050406030204" pitchFamily="18" charset="0"/>
                            </a:rPr>
                          </m:ctrlPr>
                        </m:sSubPr>
                        <m:e>
                          <m:r>
                            <a:rPr>
                              <a:latin typeface="Cambria Math" panose="02040503050406030204" pitchFamily="18" charset="0"/>
                            </a:rPr>
                            <m:t>𝑦</m:t>
                          </m:r>
                        </m:e>
                        <m:sub>
                          <m:r>
                            <a:rPr>
                              <a:latin typeface="Cambria Math" panose="02040503050406030204" pitchFamily="18" charset="0"/>
                            </a:rPr>
                            <m:t>𝑡</m:t>
                          </m:r>
                        </m:sub>
                      </m:sSub>
                      <m:r>
                        <a:rPr>
                          <a:latin typeface="Cambria Math" panose="02040503050406030204" pitchFamily="18" charset="0"/>
                        </a:rPr>
                        <m:t>=</m:t>
                      </m:r>
                      <m:sSub>
                        <m:sSubPr>
                          <m:ctrlPr>
                            <a:rPr i="1">
                              <a:latin typeface="Cambria Math" panose="02040503050406030204" pitchFamily="18" charset="0"/>
                            </a:rPr>
                          </m:ctrlPr>
                        </m:sSubPr>
                        <m:e>
                          <m:r>
                            <a:rPr>
                              <a:latin typeface="Cambria Math" panose="02040503050406030204" pitchFamily="18" charset="0"/>
                            </a:rPr>
                            <m:t>𝑦</m:t>
                          </m:r>
                        </m:e>
                        <m:sub>
                          <m:r>
                            <a:rPr>
                              <a:latin typeface="Cambria Math" panose="02040503050406030204" pitchFamily="18" charset="0"/>
                            </a:rPr>
                            <m:t>𝑛𝑡</m:t>
                          </m:r>
                        </m:sub>
                      </m:sSub>
                      <m:r>
                        <a:rPr>
                          <a:latin typeface="Cambria Math" panose="02040503050406030204" pitchFamily="18" charset="0"/>
                        </a:rPr>
                        <m:t>+</m:t>
                      </m:r>
                      <m:r>
                        <a:rPr>
                          <a:latin typeface="Cambria Math" panose="02040503050406030204" pitchFamily="18" charset="0"/>
                        </a:rPr>
                        <m:t>𝜃𝛾</m:t>
                      </m:r>
                      <m:d>
                        <m:dPr>
                          <m:ctrlPr>
                            <a:rPr i="1">
                              <a:latin typeface="Cambria Math" panose="02040503050406030204" pitchFamily="18" charset="0"/>
                            </a:rPr>
                          </m:ctrlPr>
                        </m:dPr>
                        <m:e>
                          <m:sSub>
                            <m:sSubPr>
                              <m:ctrlPr>
                                <a:rPr i="1">
                                  <a:latin typeface="Cambria Math" panose="02040503050406030204" pitchFamily="18" charset="0"/>
                                </a:rPr>
                              </m:ctrlPr>
                            </m:sSubPr>
                            <m:e>
                              <m:r>
                                <a:rPr>
                                  <a:latin typeface="Cambria Math" panose="02040503050406030204" pitchFamily="18" charset="0"/>
                                </a:rPr>
                                <m:t>𝑃</m:t>
                              </m:r>
                            </m:e>
                            <m:sub>
                              <m:r>
                                <a:rPr>
                                  <a:latin typeface="Cambria Math" panose="02040503050406030204" pitchFamily="18" charset="0"/>
                                </a:rPr>
                                <m:t>𝑡</m:t>
                              </m:r>
                            </m:sub>
                          </m:sSub>
                          <m:r>
                            <a:rPr>
                              <a:latin typeface="Cambria Math" panose="02040503050406030204" pitchFamily="18" charset="0"/>
                            </a:rPr>
                            <m:t>−</m:t>
                          </m:r>
                          <m:bar>
                            <m:barPr>
                              <m:pos m:val="top"/>
                              <m:ctrlPr>
                                <a:rPr i="1">
                                  <a:latin typeface="Cambria Math" panose="02040503050406030204" pitchFamily="18" charset="0"/>
                                </a:rPr>
                              </m:ctrlPr>
                            </m:barPr>
                            <m:e>
                              <m:sSub>
                                <m:sSubPr>
                                  <m:ctrlPr>
                                    <a:rPr i="1">
                                      <a:latin typeface="Cambria Math" panose="02040503050406030204" pitchFamily="18" charset="0"/>
                                    </a:rPr>
                                  </m:ctrlPr>
                                </m:sSubPr>
                                <m:e>
                                  <m:r>
                                    <a:rPr>
                                      <a:latin typeface="Cambria Math" panose="02040503050406030204" pitchFamily="18" charset="0"/>
                                    </a:rPr>
                                    <m:t>𝑃</m:t>
                                  </m:r>
                                </m:e>
                                <m:sub>
                                  <m:r>
                                    <a:rPr>
                                      <a:latin typeface="Cambria Math" panose="02040503050406030204" pitchFamily="18" charset="0"/>
                                    </a:rPr>
                                    <m:t>𝑡</m:t>
                                  </m:r>
                                </m:sub>
                              </m:sSub>
                            </m:e>
                          </m:bar>
                        </m:e>
                      </m:d>
                      <m:r>
                        <a:rPr>
                          <a:latin typeface="Cambria Math" panose="02040503050406030204" pitchFamily="18" charset="0"/>
                        </a:rPr>
                        <m:t>+</m:t>
                      </m:r>
                      <m:r>
                        <a:rPr>
                          <a:latin typeface="Cambria Math" panose="02040503050406030204" pitchFamily="18" charset="0"/>
                        </a:rPr>
                        <m:t>𝜆</m:t>
                      </m:r>
                      <m:d>
                        <m:dPr>
                          <m:begChr m:val="["/>
                          <m:endChr m:val="]"/>
                          <m:ctrlPr>
                            <a:rPr i="1">
                              <a:latin typeface="Cambria Math" panose="02040503050406030204" pitchFamily="18" charset="0"/>
                            </a:rPr>
                          </m:ctrlPr>
                        </m:dPr>
                        <m:e>
                          <m:sSub>
                            <m:sSubPr>
                              <m:ctrlPr>
                                <a:rPr i="1">
                                  <a:latin typeface="Cambria Math" panose="02040503050406030204" pitchFamily="18" charset="0"/>
                                </a:rPr>
                              </m:ctrlPr>
                            </m:sSubPr>
                            <m:e>
                              <m:r>
                                <a:rPr>
                                  <a:latin typeface="Cambria Math" panose="02040503050406030204" pitchFamily="18" charset="0"/>
                                </a:rPr>
                                <m:t>𝑦</m:t>
                              </m:r>
                            </m:e>
                            <m:sub>
                              <m:r>
                                <a:rPr>
                                  <a:latin typeface="Cambria Math" panose="02040503050406030204" pitchFamily="18" charset="0"/>
                                </a:rPr>
                                <m:t>𝑡</m:t>
                              </m:r>
                              <m:r>
                                <a:rPr>
                                  <a:latin typeface="Cambria Math" panose="02040503050406030204" pitchFamily="18" charset="0"/>
                                </a:rPr>
                                <m:t>−1</m:t>
                              </m:r>
                            </m:sub>
                          </m:sSub>
                          <m:r>
                            <a:rPr>
                              <a:latin typeface="Cambria Math" panose="02040503050406030204" pitchFamily="18" charset="0"/>
                            </a:rPr>
                            <m:t>−</m:t>
                          </m:r>
                          <m:sSub>
                            <m:sSubPr>
                              <m:ctrlPr>
                                <a:rPr i="1">
                                  <a:latin typeface="Cambria Math" panose="02040503050406030204" pitchFamily="18" charset="0"/>
                                </a:rPr>
                              </m:ctrlPr>
                            </m:sSubPr>
                            <m:e>
                              <m:r>
                                <a:rPr>
                                  <a:latin typeface="Cambria Math" panose="02040503050406030204" pitchFamily="18" charset="0"/>
                                </a:rPr>
                                <m:t>𝑦</m:t>
                              </m:r>
                            </m:e>
                            <m:sub>
                              <m:r>
                                <a:rPr>
                                  <a:latin typeface="Cambria Math" panose="02040503050406030204" pitchFamily="18" charset="0"/>
                                </a:rPr>
                                <m:t>𝑛</m:t>
                              </m:r>
                              <m:r>
                                <a:rPr>
                                  <a:latin typeface="Cambria Math" panose="02040503050406030204" pitchFamily="18" charset="0"/>
                                </a:rPr>
                                <m:t>,</m:t>
                              </m:r>
                              <m:r>
                                <a:rPr>
                                  <a:latin typeface="Cambria Math" panose="02040503050406030204" pitchFamily="18" charset="0"/>
                                </a:rPr>
                                <m:t>𝑡</m:t>
                              </m:r>
                              <m:r>
                                <a:rPr>
                                  <a:latin typeface="Cambria Math" panose="02040503050406030204" pitchFamily="18" charset="0"/>
                                </a:rPr>
                                <m:t>−1</m:t>
                              </m:r>
                            </m:sub>
                          </m:sSub>
                        </m:e>
                      </m:d>
                      <m:r>
                        <a:rPr>
                          <a:latin typeface="Cambria Math" panose="02040503050406030204" pitchFamily="18" charset="0"/>
                        </a:rPr>
                        <m:t>  </m:t>
                      </m:r>
                      <m:d>
                        <m:dPr>
                          <m:ctrlPr>
                            <a:rPr i="1">
                              <a:latin typeface="Cambria Math" panose="02040503050406030204" pitchFamily="18" charset="0"/>
                            </a:rPr>
                          </m:ctrlPr>
                        </m:dPr>
                        <m:e>
                          <m:r>
                            <a:rPr>
                              <a:latin typeface="Cambria Math" panose="02040503050406030204" pitchFamily="18" charset="0"/>
                            </a:rPr>
                            <m:t>7</m:t>
                          </m:r>
                        </m:e>
                      </m:d>
                    </m:oMath>
                  </m:oMathPara>
                </a14:m>
                <a:endParaRPr dirty="0"/>
              </a:p>
              <a:p>
                <a:pPr marL="0" lvl="0" indent="0">
                  <a:buNone/>
                </a:pPr>
                <a:r>
                  <a:rPr dirty="0"/>
                  <a:t>From Equation 7, we can clearly demonstrate how the relative price dispersion (</a:t>
                </a:r>
                <a14:m>
                  <m:oMath xmlns:m="http://schemas.openxmlformats.org/officeDocument/2006/math">
                    <m:r>
                      <a:rPr>
                        <a:latin typeface="Cambria Math" panose="02040503050406030204" pitchFamily="18" charset="0"/>
                      </a:rPr>
                      <m:t>𝜃</m:t>
                    </m:r>
                  </m:oMath>
                </a14:m>
                <a:r>
                  <a:rPr dirty="0"/>
                  <a:t>)</a:t>
                </a:r>
                <a:r>
                  <a:rPr lang="en-US" dirty="0"/>
                  <a:t>, which </a:t>
                </a:r>
                <a:r>
                  <a:rPr dirty="0"/>
                  <a:t> is a fraction of the total individual price dispersion (</a:t>
                </a:r>
                <a14:m>
                  <m:oMath xmlns:m="http://schemas.openxmlformats.org/officeDocument/2006/math">
                    <m:sSup>
                      <m:sSupPr>
                        <m:ctrlPr>
                          <a:rPr i="1">
                            <a:latin typeface="Cambria Math" panose="02040503050406030204" pitchFamily="18" charset="0"/>
                          </a:rPr>
                        </m:ctrlPr>
                      </m:sSupPr>
                      <m:e>
                        <m:r>
                          <a:rPr>
                            <a:latin typeface="Cambria Math" panose="02040503050406030204" pitchFamily="18" charset="0"/>
                          </a:rPr>
                          <m:t>𝜎</m:t>
                        </m:r>
                      </m:e>
                      <m:sup>
                        <m:r>
                          <a:rPr>
                            <a:latin typeface="Cambria Math" panose="02040503050406030204" pitchFamily="18" charset="0"/>
                          </a:rPr>
                          <m:t>2</m:t>
                        </m:r>
                      </m:sup>
                    </m:sSup>
                    <m:r>
                      <a:rPr>
                        <a:latin typeface="Cambria Math" panose="02040503050406030204" pitchFamily="18" charset="0"/>
                      </a:rPr>
                      <m:t>+</m:t>
                    </m:r>
                    <m:sSup>
                      <m:sSupPr>
                        <m:ctrlPr>
                          <a:rPr i="1">
                            <a:latin typeface="Cambria Math" panose="02040503050406030204" pitchFamily="18" charset="0"/>
                          </a:rPr>
                        </m:ctrlPr>
                      </m:sSupPr>
                      <m:e>
                        <m:r>
                          <a:rPr>
                            <a:latin typeface="Cambria Math" panose="02040503050406030204" pitchFamily="18" charset="0"/>
                          </a:rPr>
                          <m:t>𝜏</m:t>
                        </m:r>
                      </m:e>
                      <m:sup>
                        <m:r>
                          <a:rPr>
                            <a:latin typeface="Cambria Math" panose="02040503050406030204" pitchFamily="18" charset="0"/>
                          </a:rPr>
                          <m:t>2</m:t>
                        </m:r>
                      </m:sup>
                    </m:sSup>
                  </m:oMath>
                </a14:m>
                <a:r>
                  <a:rPr dirty="0"/>
                  <a:t>), affects the aggregate supply curve and therefore the output-inflation relationship.</a:t>
                </a:r>
              </a:p>
              <a:p>
                <a:pPr lvl="0"/>
                <a:r>
                  <a:rPr dirty="0"/>
                  <a:t>That is, </a:t>
                </a:r>
                <a14:m>
                  <m:oMath xmlns:m="http://schemas.openxmlformats.org/officeDocument/2006/math">
                    <m:r>
                      <a:rPr>
                        <a:latin typeface="Cambria Math" panose="02040503050406030204" pitchFamily="18" charset="0"/>
                      </a:rPr>
                      <m:t>𝜃</m:t>
                    </m:r>
                    <m:r>
                      <a:rPr>
                        <a:latin typeface="Cambria Math" panose="02040503050406030204" pitchFamily="18" charset="0"/>
                      </a:rPr>
                      <m:t>↑</m:t>
                    </m:r>
                  </m:oMath>
                </a14:m>
                <a:r>
                  <a:rPr dirty="0"/>
                  <a:t> in </a:t>
                </a:r>
                <a14:m>
                  <m:oMath xmlns:m="http://schemas.openxmlformats.org/officeDocument/2006/math">
                    <m:sSup>
                      <m:sSupPr>
                        <m:ctrlPr>
                          <a:rPr i="1">
                            <a:latin typeface="Cambria Math" panose="02040503050406030204" pitchFamily="18" charset="0"/>
                          </a:rPr>
                        </m:ctrlPr>
                      </m:sSupPr>
                      <m:e>
                        <m:r>
                          <a:rPr>
                            <a:latin typeface="Cambria Math" panose="02040503050406030204" pitchFamily="18" charset="0"/>
                          </a:rPr>
                          <m:t>𝜏</m:t>
                        </m:r>
                      </m:e>
                      <m:sup>
                        <m:r>
                          <a:rPr>
                            <a:latin typeface="Cambria Math" panose="02040503050406030204" pitchFamily="18" charset="0"/>
                          </a:rPr>
                          <m:t>2</m:t>
                        </m:r>
                      </m:sup>
                    </m:sSup>
                  </m:oMath>
                </a14:m>
                <a:r>
                  <a:rPr dirty="0"/>
                  <a:t> and </a:t>
                </a:r>
                <a14:m>
                  <m:oMath xmlns:m="http://schemas.openxmlformats.org/officeDocument/2006/math">
                    <m:r>
                      <a:rPr>
                        <a:latin typeface="Cambria Math" panose="02040503050406030204" pitchFamily="18" charset="0"/>
                      </a:rPr>
                      <m:t>↓</m:t>
                    </m:r>
                  </m:oMath>
                </a14:m>
                <a:r>
                  <a:rPr dirty="0"/>
                  <a:t> in </a:t>
                </a:r>
                <a14:m>
                  <m:oMath xmlns:m="http://schemas.openxmlformats.org/officeDocument/2006/math">
                    <m:sSup>
                      <m:sSupPr>
                        <m:ctrlPr>
                          <a:rPr i="1">
                            <a:latin typeface="Cambria Math" panose="02040503050406030204" pitchFamily="18" charset="0"/>
                          </a:rPr>
                        </m:ctrlPr>
                      </m:sSupPr>
                      <m:e>
                        <m:r>
                          <a:rPr>
                            <a:latin typeface="Cambria Math" panose="02040503050406030204" pitchFamily="18" charset="0"/>
                          </a:rPr>
                          <m:t>𝜎</m:t>
                        </m:r>
                      </m:e>
                      <m:sup>
                        <m:r>
                          <a:rPr>
                            <a:latin typeface="Cambria Math" panose="02040503050406030204" pitchFamily="18" charset="0"/>
                          </a:rPr>
                          <m:t>2</m:t>
                        </m:r>
                      </m:sup>
                    </m:sSup>
                  </m:oMath>
                </a14:m>
                <a:r>
                  <a:rPr dirty="0"/>
                  <a:t>.</a:t>
                </a:r>
              </a:p>
              <a:p>
                <a:pPr lvl="0"/>
                <a:r>
                  <a:rPr dirty="0"/>
                  <a:t>Meaning that when </a:t>
                </a:r>
                <a14:m>
                  <m:oMath xmlns:m="http://schemas.openxmlformats.org/officeDocument/2006/math">
                    <m:r>
                      <a:rPr>
                        <a:latin typeface="Cambria Math" panose="02040503050406030204" pitchFamily="18" charset="0"/>
                      </a:rPr>
                      <m:t>𝜃</m:t>
                    </m:r>
                    <m:r>
                      <a:rPr>
                        <a:latin typeface="Cambria Math" panose="02040503050406030204" pitchFamily="18" charset="0"/>
                      </a:rPr>
                      <m:t>↑</m:t>
                    </m:r>
                  </m:oMath>
                </a14:m>
                <a:r>
                  <a:rPr dirty="0"/>
                  <a:t>, the aggregate supply curve becomes flatter, and the output-inflation relationship becomes stronger.</a:t>
                </a:r>
              </a:p>
              <a:p>
                <a:pPr lvl="0"/>
                <a:r>
                  <a:rPr dirty="0"/>
                  <a:t>And when </a:t>
                </a:r>
                <a14:m>
                  <m:oMath xmlns:m="http://schemas.openxmlformats.org/officeDocument/2006/math">
                    <m:r>
                      <a:rPr>
                        <a:latin typeface="Cambria Math" panose="02040503050406030204" pitchFamily="18" charset="0"/>
                      </a:rPr>
                      <m:t>𝜃</m:t>
                    </m:r>
                    <m:r>
                      <a:rPr>
                        <a:latin typeface="Cambria Math" panose="02040503050406030204" pitchFamily="18" charset="0"/>
                      </a:rPr>
                      <m:t>↓</m:t>
                    </m:r>
                  </m:oMath>
                </a14:m>
                <a:r>
                  <a:rPr dirty="0"/>
                  <a:t>, the slope is restricted by </a:t>
                </a:r>
                <a14:m>
                  <m:oMath xmlns:m="http://schemas.openxmlformats.org/officeDocument/2006/math">
                    <m:r>
                      <a:rPr>
                        <a:latin typeface="Cambria Math" panose="02040503050406030204" pitchFamily="18" charset="0"/>
                      </a:rPr>
                      <m:t>𝛾</m:t>
                    </m:r>
                  </m:oMath>
                </a14:m>
                <a:r>
                  <a:rPr dirty="0"/>
                  <a:t>.</a:t>
                </a:r>
              </a:p>
              <a:p>
                <a:pPr lvl="0"/>
                <a:r>
                  <a:rPr dirty="0"/>
                  <a:t>Therefore, the relative price variance (</a:t>
                </a:r>
                <a14:m>
                  <m:oMath xmlns:m="http://schemas.openxmlformats.org/officeDocument/2006/math">
                    <m:r>
                      <a:rPr>
                        <a:latin typeface="Cambria Math" panose="02040503050406030204" pitchFamily="18" charset="0"/>
                      </a:rPr>
                      <m:t>𝜃</m:t>
                    </m:r>
                  </m:oMath>
                </a14:m>
                <a:r>
                  <a:rPr dirty="0"/>
                  <a:t>), in this context, is a key determinant of the slope of the aggregate supply curve and the strength of the output-inflation relationship.</a:t>
                </a:r>
              </a:p>
            </p:txBody>
          </p:sp>
        </mc:Choice>
        <mc:Fallback xmlns="">
          <p:sp>
            <p:nvSpPr>
              <p:cNvPr id="3" name="Content Placeholder 2">
                <a:extLst>
                  <a:ext uri="{FF2B5EF4-FFF2-40B4-BE49-F238E27FC236}">
                    <a16:creationId xmlns:a16="http://schemas.microsoft.com/office/drawing/2014/main" id="{9C966DDB-3364-1B41-9729-DB3686A721C5}"/>
                  </a:ext>
                </a:extLst>
              </p:cNvPr>
              <p:cNvSpPr>
                <a:spLocks noGrp="1" noRot="1" noChangeAspect="1" noMove="1" noResize="1" noEditPoints="1" noAdjustHandles="1" noChangeArrowheads="1" noChangeShapeType="1" noTextEdit="1"/>
              </p:cNvSpPr>
              <p:nvPr>
                <p:ph idx="1" hasCustomPrompt="1"/>
              </p:nvPr>
            </p:nvSpPr>
            <p:spPr>
              <a:blipFill>
                <a:blip r:embed="rId2"/>
                <a:stretch>
                  <a:fillRect l="-473" t="-1362" r="-946"/>
                </a:stretch>
              </a:blipFill>
            </p:spPr>
            <p:txBody>
              <a:bodyPr/>
              <a:lstStyle/>
              <a:p>
                <a:r>
                  <a:rPr lang="en-US">
                    <a:noFill/>
                  </a:rPr>
                  <a:t> </a:t>
                </a:r>
              </a:p>
            </p:txBody>
          </p:sp>
        </mc:Fallback>
      </mc:AlternateContent>
      <p:sp>
        <p:nvSpPr>
          <p:cNvPr id="7" name="Slide Number Placeholder 5">
            <a:extLst>
              <a:ext uri="{FF2B5EF4-FFF2-40B4-BE49-F238E27FC236}">
                <a16:creationId xmlns:a16="http://schemas.microsoft.com/office/drawing/2014/main" id="{FB221DBE-BC54-6C4C-BA1C-95E280B67712}"/>
              </a:ext>
            </a:extLst>
          </p:cNvPr>
          <p:cNvSpPr>
            <a:spLocks noGrp="1"/>
          </p:cNvSpPr>
          <p:nvPr>
            <p:ph type="sldNum" sz="quarter" idx="12"/>
          </p:nvPr>
        </p:nvSpPr>
        <p:spPr>
          <a:xfrm>
            <a:off x="7557977" y="6313820"/>
            <a:ext cx="2743200" cy="365125"/>
          </a:xfrm>
        </p:spPr>
        <p:txBody>
          <a:bodyPr/>
          <a:lstStyle>
            <a:lvl1pPr>
              <a:defRPr sz="1100"/>
            </a:lvl1pPr>
          </a:lstStyle>
          <a:p>
            <a:fld id="{85DA3A08-9E66-614E-AAE5-F810EFDD6885}" type="slidenum">
              <a:rPr lang="en-US" smtClean="0"/>
              <a:pPr/>
              <a:t>10</a:t>
            </a:fld>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806118-0840-574D-AD0F-62FBB748D13C}"/>
              </a:ext>
            </a:extLst>
          </p:cNvPr>
          <p:cNvSpPr>
            <a:spLocks noGrp="1"/>
          </p:cNvSpPr>
          <p:nvPr>
            <p:ph type="ctrTitle" hasCustomPrompt="1"/>
          </p:nvPr>
        </p:nvSpPr>
        <p:spPr>
          <a:xfrm>
            <a:off x="2997987" y="1817520"/>
            <a:ext cx="6225035" cy="1381125"/>
          </a:xfrm>
        </p:spPr>
        <p:txBody>
          <a:bodyPr/>
          <a:lstStyle/>
          <a:p>
            <a:pPr marL="0" lvl="0" indent="0">
              <a:buNone/>
            </a:pPr>
            <a:r>
              <a:rPr dirty="0"/>
              <a:t>Data and methodology</a:t>
            </a:r>
            <a:r>
              <a:rPr lang="en-US" dirty="0"/>
              <a:t> (what did we do?)</a:t>
            </a:r>
            <a:endParaRPr dirty="0"/>
          </a:p>
        </p:txBody>
      </p:sp>
      <p:sp>
        <p:nvSpPr>
          <p:cNvPr id="9" name="Slide Number Placeholder 5">
            <a:extLst>
              <a:ext uri="{FF2B5EF4-FFF2-40B4-BE49-F238E27FC236}">
                <a16:creationId xmlns:a16="http://schemas.microsoft.com/office/drawing/2014/main" id="{A50C40EB-9722-8244-8C4B-58C77EAC766D}"/>
              </a:ext>
            </a:extLst>
          </p:cNvPr>
          <p:cNvSpPr>
            <a:spLocks noGrp="1"/>
          </p:cNvSpPr>
          <p:nvPr>
            <p:ph type="sldNum" sz="quarter" idx="12"/>
          </p:nvPr>
        </p:nvSpPr>
        <p:spPr>
          <a:xfrm>
            <a:off x="7557977" y="6313820"/>
            <a:ext cx="2743200" cy="365125"/>
          </a:xfrm>
        </p:spPr>
        <p:txBody>
          <a:bodyPr/>
          <a:lstStyle>
            <a:lvl1pPr>
              <a:defRPr sz="1100"/>
            </a:lvl1pPr>
          </a:lstStyle>
          <a:p>
            <a:fld id="{85DA3A08-9E66-614E-AAE5-F810EFDD6885}" type="slidenum">
              <a:rPr lang="en-US" smtClean="0"/>
              <a:pPr/>
              <a:t>11</a:t>
            </a:fld>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631292-24AE-5F41-8820-196C7D8E36A1}"/>
              </a:ext>
            </a:extLst>
          </p:cNvPr>
          <p:cNvSpPr>
            <a:spLocks noGrp="1"/>
          </p:cNvSpPr>
          <p:nvPr>
            <p:ph type="title"/>
          </p:nvPr>
        </p:nvSpPr>
        <p:spPr>
          <a:xfrm>
            <a:off x="1055553" y="253759"/>
            <a:ext cx="10977744" cy="666233"/>
          </a:xfrm>
        </p:spPr>
        <p:txBody>
          <a:bodyPr/>
          <a:lstStyle/>
          <a:p>
            <a:pPr marL="0" lvl="0" indent="0">
              <a:buNone/>
            </a:pPr>
            <a:r>
              <a:rPr lang="en-US" dirty="0"/>
              <a:t>We rely entirely on Stats SA CPI data, …</a:t>
            </a:r>
            <a:endParaRPr dirty="0"/>
          </a:p>
        </p:txBody>
      </p:sp>
      <p:sp>
        <p:nvSpPr>
          <p:cNvPr id="3" name="Content Placeholder 2">
            <a:extLst>
              <a:ext uri="{FF2B5EF4-FFF2-40B4-BE49-F238E27FC236}">
                <a16:creationId xmlns:a16="http://schemas.microsoft.com/office/drawing/2014/main" id="{9C966DDB-3364-1B41-9729-DB3686A721C5}"/>
              </a:ext>
            </a:extLst>
          </p:cNvPr>
          <p:cNvSpPr>
            <a:spLocks noGrp="1"/>
          </p:cNvSpPr>
          <p:nvPr>
            <p:ph idx="1" hasCustomPrompt="1"/>
          </p:nvPr>
        </p:nvSpPr>
        <p:spPr>
          <a:xfrm>
            <a:off x="1055553" y="1106062"/>
            <a:ext cx="10735723" cy="4645875"/>
          </a:xfrm>
        </p:spPr>
        <p:txBody>
          <a:bodyPr/>
          <a:lstStyle/>
          <a:p>
            <a:pPr lvl="0"/>
            <a:r>
              <a:rPr dirty="0"/>
              <a:t>Our analysis uses monthly inflation data on 45 goods categories from January 2009 to November 2025 obtained from Statistics South Africa (Stats SA).</a:t>
            </a:r>
            <a:r>
              <a:rPr baseline="30000" dirty="0">
                <a:hlinkClick r:id="rId2" action="ppaction://hlinksldjump"/>
              </a:rPr>
              <a:t>1</a:t>
            </a:r>
            <a:br>
              <a:rPr dirty="0"/>
            </a:br>
            <a:endParaRPr dirty="0"/>
          </a:p>
          <a:p>
            <a:pPr lvl="0"/>
            <a:r>
              <a:rPr dirty="0"/>
              <a:t>Figure 1 below shows the long term inflation rate in South Africa, and Figure 2 shows</a:t>
            </a:r>
            <a:r>
              <a:rPr lang="en-US" dirty="0"/>
              <a:t> some of</a:t>
            </a:r>
            <a:r>
              <a:rPr dirty="0"/>
              <a:t> the various price categories used in the analysis</a:t>
            </a:r>
          </a:p>
        </p:txBody>
      </p:sp>
      <p:sp>
        <p:nvSpPr>
          <p:cNvPr id="7" name="Slide Number Placeholder 5">
            <a:extLst>
              <a:ext uri="{FF2B5EF4-FFF2-40B4-BE49-F238E27FC236}">
                <a16:creationId xmlns:a16="http://schemas.microsoft.com/office/drawing/2014/main" id="{FB221DBE-BC54-6C4C-BA1C-95E280B67712}"/>
              </a:ext>
            </a:extLst>
          </p:cNvPr>
          <p:cNvSpPr>
            <a:spLocks noGrp="1"/>
          </p:cNvSpPr>
          <p:nvPr>
            <p:ph type="sldNum" sz="quarter" idx="12"/>
          </p:nvPr>
        </p:nvSpPr>
        <p:spPr>
          <a:xfrm>
            <a:off x="7557977" y="6313820"/>
            <a:ext cx="2743200" cy="365125"/>
          </a:xfrm>
        </p:spPr>
        <p:txBody>
          <a:bodyPr/>
          <a:lstStyle>
            <a:lvl1pPr>
              <a:defRPr sz="1100"/>
            </a:lvl1pPr>
          </a:lstStyle>
          <a:p>
            <a:fld id="{85DA3A08-9E66-614E-AAE5-F810EFDD6885}" type="slidenum">
              <a:rPr lang="en-US" smtClean="0"/>
              <a:pPr/>
              <a:t>12</a:t>
            </a:fld>
            <a:endParaRPr lang="en-US" dirty="0"/>
          </a:p>
        </p:txBody>
      </p:sp>
      <p:pic>
        <p:nvPicPr>
          <p:cNvPr id="4" name="Picture 1" descr="inflation_relative_price_variance_presentation_files/figure-pptx/fig-headline_inflation-1.png">
            <a:extLst>
              <a:ext uri="{FF2B5EF4-FFF2-40B4-BE49-F238E27FC236}">
                <a16:creationId xmlns:a16="http://schemas.microsoft.com/office/drawing/2014/main" id="{8BEADC35-2D0F-17C3-A19A-BB6806AD9916}"/>
              </a:ext>
            </a:extLst>
          </p:cNvPr>
          <p:cNvPicPr>
            <a:picLocks noGrp="1" noChangeAspect="1"/>
          </p:cNvPicPr>
          <p:nvPr/>
        </p:nvPicPr>
        <p:blipFill>
          <a:blip r:embed="rId3"/>
          <a:stretch>
            <a:fillRect/>
          </a:stretch>
        </p:blipFill>
        <p:spPr bwMode="auto">
          <a:xfrm>
            <a:off x="1168549" y="3515369"/>
            <a:ext cx="5641326" cy="2236568"/>
          </a:xfrm>
          <a:prstGeom prst="rect">
            <a:avLst/>
          </a:prstGeom>
          <a:noFill/>
          <a:ln w="9525">
            <a:noFill/>
            <a:headEnd/>
            <a:tailEnd/>
          </a:ln>
        </p:spPr>
      </p:pic>
      <p:pic>
        <p:nvPicPr>
          <p:cNvPr id="5" name="Picture 4">
            <a:extLst>
              <a:ext uri="{FF2B5EF4-FFF2-40B4-BE49-F238E27FC236}">
                <a16:creationId xmlns:a16="http://schemas.microsoft.com/office/drawing/2014/main" id="{31B52B3A-E646-715F-A7A3-3A3754F22C26}"/>
              </a:ext>
            </a:extLst>
          </p:cNvPr>
          <p:cNvPicPr>
            <a:picLocks noChangeAspect="1"/>
          </p:cNvPicPr>
          <p:nvPr/>
        </p:nvPicPr>
        <p:blipFill>
          <a:blip r:embed="rId4"/>
          <a:srcRect l="-1" r="3293"/>
          <a:stretch>
            <a:fillRect/>
          </a:stretch>
        </p:blipFill>
        <p:spPr>
          <a:xfrm>
            <a:off x="7105942" y="3241696"/>
            <a:ext cx="3917509" cy="2600585"/>
          </a:xfrm>
          <a:prstGeom prst="rect">
            <a:avLst/>
          </a:prstGeom>
        </p:spPr>
      </p:pic>
      <p:sp>
        <p:nvSpPr>
          <p:cNvPr id="6" name="TextBox 5">
            <a:extLst>
              <a:ext uri="{FF2B5EF4-FFF2-40B4-BE49-F238E27FC236}">
                <a16:creationId xmlns:a16="http://schemas.microsoft.com/office/drawing/2014/main" id="{3DC6BDCB-F187-29CB-B33E-A2D42113B74D}"/>
              </a:ext>
            </a:extLst>
          </p:cNvPr>
          <p:cNvSpPr txBox="1"/>
          <p:nvPr/>
        </p:nvSpPr>
        <p:spPr>
          <a:xfrm>
            <a:off x="1168549" y="2964697"/>
            <a:ext cx="3155095" cy="276999"/>
          </a:xfrm>
          <a:prstGeom prst="rect">
            <a:avLst/>
          </a:prstGeom>
          <a:noFill/>
        </p:spPr>
        <p:txBody>
          <a:bodyPr wrap="square" rtlCol="0">
            <a:spAutoFit/>
          </a:bodyPr>
          <a:lstStyle/>
          <a:p>
            <a:r>
              <a:rPr lang="en-US" sz="1200" b="1" dirty="0">
                <a:latin typeface="Arial" panose="020B0604020202020204" pitchFamily="34" charset="0"/>
                <a:cs typeface="Arial" panose="020B0604020202020204" pitchFamily="34" charset="0"/>
              </a:rPr>
              <a:t>Figure 1: Headline inflation overtime</a:t>
            </a:r>
          </a:p>
        </p:txBody>
      </p:sp>
      <p:sp>
        <p:nvSpPr>
          <p:cNvPr id="8" name="TextBox 7">
            <a:extLst>
              <a:ext uri="{FF2B5EF4-FFF2-40B4-BE49-F238E27FC236}">
                <a16:creationId xmlns:a16="http://schemas.microsoft.com/office/drawing/2014/main" id="{CD487B9E-06F5-AFA1-9F18-5B4DFA91A473}"/>
              </a:ext>
            </a:extLst>
          </p:cNvPr>
          <p:cNvSpPr txBox="1"/>
          <p:nvPr/>
        </p:nvSpPr>
        <p:spPr>
          <a:xfrm>
            <a:off x="7105942" y="2964696"/>
            <a:ext cx="3832991" cy="276999"/>
          </a:xfrm>
          <a:prstGeom prst="rect">
            <a:avLst/>
          </a:prstGeom>
          <a:noFill/>
        </p:spPr>
        <p:txBody>
          <a:bodyPr wrap="square" rtlCol="0">
            <a:spAutoFit/>
          </a:bodyPr>
          <a:lstStyle/>
          <a:p>
            <a:r>
              <a:rPr lang="en-US" sz="1200" b="1" dirty="0">
                <a:latin typeface="Arial" panose="020B0604020202020204" pitchFamily="34" charset="0"/>
                <a:cs typeface="Arial" panose="020B0604020202020204" pitchFamily="34" charset="0"/>
              </a:rPr>
              <a:t>Figure 2: Inflation categories overtime (sample)</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631292-24AE-5F41-8820-196C7D8E36A1}"/>
              </a:ext>
            </a:extLst>
          </p:cNvPr>
          <p:cNvSpPr>
            <a:spLocks noGrp="1"/>
          </p:cNvSpPr>
          <p:nvPr>
            <p:ph type="title"/>
          </p:nvPr>
        </p:nvSpPr>
        <p:spPr>
          <a:xfrm>
            <a:off x="1055553" y="365125"/>
            <a:ext cx="10977744" cy="666233"/>
          </a:xfrm>
        </p:spPr>
        <p:txBody>
          <a:bodyPr/>
          <a:lstStyle/>
          <a:p>
            <a:pPr marL="0" lvl="0" indent="0">
              <a:buNone/>
            </a:pPr>
            <a:r>
              <a:rPr lang="en-US" dirty="0"/>
              <a:t>… and calculate inflation in the standard way</a:t>
            </a:r>
            <a:endParaRPr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9C966DDB-3364-1B41-9729-DB3686A721C5}"/>
                  </a:ext>
                </a:extLst>
              </p:cNvPr>
              <p:cNvSpPr>
                <a:spLocks noGrp="1"/>
              </p:cNvSpPr>
              <p:nvPr>
                <p:ph idx="1" hasCustomPrompt="1"/>
              </p:nvPr>
            </p:nvSpPr>
            <p:spPr>
              <a:xfrm>
                <a:off x="1055553" y="1456660"/>
                <a:ext cx="10735723" cy="4645875"/>
              </a:xfrm>
            </p:spPr>
            <p:txBody>
              <a:bodyPr/>
              <a:lstStyle/>
              <a:p>
                <a:pPr marL="0" lvl="0" indent="0">
                  <a:buNone/>
                </a:pPr>
                <a:r>
                  <a:rPr dirty="0"/>
                  <a:t>We first calculate the monthly inflation rate as follows:</a:t>
                </a:r>
                <a:endParaRPr lang="en-US" dirty="0"/>
              </a:p>
              <a:p>
                <a:pPr marL="0" lvl="0" indent="0">
                  <a:buNone/>
                </a:pPr>
                <a:endParaRPr lang="en-US" dirty="0"/>
              </a:p>
              <a:p>
                <a:pPr marL="0" lvl="0" indent="0">
                  <a:buNone/>
                </a:pPr>
                <a14:m>
                  <m:oMathPara xmlns:m="http://schemas.openxmlformats.org/officeDocument/2006/math">
                    <m:oMathParaPr>
                      <m:jc m:val="center"/>
                    </m:oMathParaPr>
                    <m:oMath xmlns:m="http://schemas.openxmlformats.org/officeDocument/2006/math">
                      <m:sSub>
                        <m:sSubPr>
                          <m:ctrlPr>
                            <a:rPr i="1">
                              <a:latin typeface="Cambria Math" panose="02040503050406030204" pitchFamily="18" charset="0"/>
                            </a:rPr>
                          </m:ctrlPr>
                        </m:sSubPr>
                        <m:e>
                          <m:r>
                            <a:rPr>
                              <a:latin typeface="Cambria Math" panose="02040503050406030204" pitchFamily="18" charset="0"/>
                            </a:rPr>
                            <m:t>𝜋</m:t>
                          </m:r>
                        </m:e>
                        <m:sub>
                          <m:r>
                            <a:rPr>
                              <a:latin typeface="Cambria Math" panose="02040503050406030204" pitchFamily="18" charset="0"/>
                            </a:rPr>
                            <m:t>𝑖</m:t>
                          </m:r>
                          <m:r>
                            <a:rPr>
                              <a:latin typeface="Cambria Math" panose="02040503050406030204" pitchFamily="18" charset="0"/>
                            </a:rPr>
                            <m:t>,</m:t>
                          </m:r>
                          <m:r>
                            <a:rPr>
                              <a:latin typeface="Cambria Math" panose="02040503050406030204" pitchFamily="18" charset="0"/>
                            </a:rPr>
                            <m:t>𝑡</m:t>
                          </m:r>
                        </m:sub>
                      </m:sSub>
                      <m:r>
                        <a:rPr>
                          <a:latin typeface="Cambria Math" panose="02040503050406030204" pitchFamily="18" charset="0"/>
                        </a:rPr>
                        <m:t>=</m:t>
                      </m:r>
                      <m:r>
                        <a:rPr>
                          <a:latin typeface="Cambria Math" panose="02040503050406030204" pitchFamily="18" charset="0"/>
                        </a:rPr>
                        <m:t>𝑙𝑛</m:t>
                      </m:r>
                      <m:d>
                        <m:dPr>
                          <m:ctrlPr>
                            <a:rPr i="1">
                              <a:latin typeface="Cambria Math" panose="02040503050406030204" pitchFamily="18" charset="0"/>
                            </a:rPr>
                          </m:ctrlPr>
                        </m:dPr>
                        <m:e>
                          <m:f>
                            <m:fPr>
                              <m:ctrlPr>
                                <a:rPr i="1">
                                  <a:latin typeface="Cambria Math" panose="02040503050406030204" pitchFamily="18" charset="0"/>
                                </a:rPr>
                              </m:ctrlPr>
                            </m:fPr>
                            <m:num>
                              <m:sSub>
                                <m:sSubPr>
                                  <m:ctrlPr>
                                    <a:rPr i="1">
                                      <a:latin typeface="Cambria Math" panose="02040503050406030204" pitchFamily="18" charset="0"/>
                                    </a:rPr>
                                  </m:ctrlPr>
                                </m:sSubPr>
                                <m:e>
                                  <m:r>
                                    <a:rPr>
                                      <a:latin typeface="Cambria Math" panose="02040503050406030204" pitchFamily="18" charset="0"/>
                                    </a:rPr>
                                    <m:t>𝑃</m:t>
                                  </m:r>
                                </m:e>
                                <m:sub>
                                  <m:r>
                                    <a:rPr>
                                      <a:latin typeface="Cambria Math" panose="02040503050406030204" pitchFamily="18" charset="0"/>
                                    </a:rPr>
                                    <m:t>𝑖</m:t>
                                  </m:r>
                                  <m:r>
                                    <a:rPr>
                                      <a:latin typeface="Cambria Math" panose="02040503050406030204" pitchFamily="18" charset="0"/>
                                    </a:rPr>
                                    <m:t>,</m:t>
                                  </m:r>
                                  <m:r>
                                    <a:rPr>
                                      <a:latin typeface="Cambria Math" panose="02040503050406030204" pitchFamily="18" charset="0"/>
                                    </a:rPr>
                                    <m:t>𝑡</m:t>
                                  </m:r>
                                </m:sub>
                              </m:sSub>
                            </m:num>
                            <m:den>
                              <m:sSub>
                                <m:sSubPr>
                                  <m:ctrlPr>
                                    <a:rPr i="1">
                                      <a:latin typeface="Cambria Math" panose="02040503050406030204" pitchFamily="18" charset="0"/>
                                    </a:rPr>
                                  </m:ctrlPr>
                                </m:sSubPr>
                                <m:e>
                                  <m:r>
                                    <a:rPr>
                                      <a:latin typeface="Cambria Math" panose="02040503050406030204" pitchFamily="18" charset="0"/>
                                    </a:rPr>
                                    <m:t>𝑃</m:t>
                                  </m:r>
                                </m:e>
                                <m:sub>
                                  <m:r>
                                    <a:rPr>
                                      <a:latin typeface="Cambria Math" panose="02040503050406030204" pitchFamily="18" charset="0"/>
                                    </a:rPr>
                                    <m:t>𝑖</m:t>
                                  </m:r>
                                  <m:r>
                                    <a:rPr>
                                      <a:latin typeface="Cambria Math" panose="02040503050406030204" pitchFamily="18" charset="0"/>
                                    </a:rPr>
                                    <m:t>,</m:t>
                                  </m:r>
                                  <m:r>
                                    <a:rPr>
                                      <a:latin typeface="Cambria Math" panose="02040503050406030204" pitchFamily="18" charset="0"/>
                                    </a:rPr>
                                    <m:t>𝑡</m:t>
                                  </m:r>
                                  <m:r>
                                    <a:rPr>
                                      <a:latin typeface="Cambria Math" panose="02040503050406030204" pitchFamily="18" charset="0"/>
                                    </a:rPr>
                                    <m:t>−1</m:t>
                                  </m:r>
                                </m:sub>
                              </m:sSub>
                            </m:den>
                          </m:f>
                        </m:e>
                      </m:d>
                      <m:r>
                        <a:rPr>
                          <a:latin typeface="Cambria Math" panose="02040503050406030204" pitchFamily="18" charset="0"/>
                        </a:rPr>
                        <m:t>∗100,  </m:t>
                      </m:r>
                      <m:d>
                        <m:dPr>
                          <m:ctrlPr>
                            <a:rPr i="1">
                              <a:latin typeface="Cambria Math" panose="02040503050406030204" pitchFamily="18" charset="0"/>
                            </a:rPr>
                          </m:ctrlPr>
                        </m:dPr>
                        <m:e>
                          <m:r>
                            <a:rPr>
                              <a:latin typeface="Cambria Math" panose="02040503050406030204" pitchFamily="18" charset="0"/>
                            </a:rPr>
                            <m:t>8</m:t>
                          </m:r>
                        </m:e>
                      </m:d>
                    </m:oMath>
                  </m:oMathPara>
                </a14:m>
                <a:endParaRPr dirty="0"/>
              </a:p>
              <a:p>
                <a:pPr lvl="0"/>
                <a14:m>
                  <m:oMath xmlns:m="http://schemas.openxmlformats.org/officeDocument/2006/math">
                    <m:sSub>
                      <m:sSubPr>
                        <m:ctrlPr>
                          <a:rPr i="1">
                            <a:latin typeface="Cambria Math" panose="02040503050406030204" pitchFamily="18" charset="0"/>
                          </a:rPr>
                        </m:ctrlPr>
                      </m:sSubPr>
                      <m:e>
                        <m:r>
                          <a:rPr>
                            <a:latin typeface="Cambria Math" panose="02040503050406030204" pitchFamily="18" charset="0"/>
                          </a:rPr>
                          <m:t>𝜋</m:t>
                        </m:r>
                      </m:e>
                      <m:sub>
                        <m:r>
                          <a:rPr>
                            <a:latin typeface="Cambria Math" panose="02040503050406030204" pitchFamily="18" charset="0"/>
                          </a:rPr>
                          <m:t>𝑖</m:t>
                        </m:r>
                        <m:r>
                          <a:rPr>
                            <a:latin typeface="Cambria Math" panose="02040503050406030204" pitchFamily="18" charset="0"/>
                          </a:rPr>
                          <m:t>,</m:t>
                        </m:r>
                        <m:r>
                          <a:rPr>
                            <a:latin typeface="Cambria Math" panose="02040503050406030204" pitchFamily="18" charset="0"/>
                          </a:rPr>
                          <m:t>𝑡</m:t>
                        </m:r>
                      </m:sub>
                    </m:sSub>
                  </m:oMath>
                </a14:m>
                <a:r>
                  <a:rPr dirty="0"/>
                  <a:t> is the inflation rate of good </a:t>
                </a:r>
                <a14:m>
                  <m:oMath xmlns:m="http://schemas.openxmlformats.org/officeDocument/2006/math">
                    <m:r>
                      <a:rPr>
                        <a:latin typeface="Cambria Math" panose="02040503050406030204" pitchFamily="18" charset="0"/>
                      </a:rPr>
                      <m:t>𝑖</m:t>
                    </m:r>
                  </m:oMath>
                </a14:m>
                <a:r>
                  <a:rPr dirty="0"/>
                  <a:t> at time </a:t>
                </a:r>
                <a14:m>
                  <m:oMath xmlns:m="http://schemas.openxmlformats.org/officeDocument/2006/math">
                    <m:r>
                      <a:rPr>
                        <a:latin typeface="Cambria Math" panose="02040503050406030204" pitchFamily="18" charset="0"/>
                      </a:rPr>
                      <m:t>𝑡</m:t>
                    </m:r>
                  </m:oMath>
                </a14:m>
                <a:endParaRPr dirty="0"/>
              </a:p>
              <a:p>
                <a:pPr lvl="0"/>
                <a14:m>
                  <m:oMath xmlns:m="http://schemas.openxmlformats.org/officeDocument/2006/math">
                    <m:sSub>
                      <m:sSubPr>
                        <m:ctrlPr>
                          <a:rPr i="1">
                            <a:latin typeface="Cambria Math" panose="02040503050406030204" pitchFamily="18" charset="0"/>
                          </a:rPr>
                        </m:ctrlPr>
                      </m:sSubPr>
                      <m:e>
                        <m:r>
                          <a:rPr>
                            <a:latin typeface="Cambria Math" panose="02040503050406030204" pitchFamily="18" charset="0"/>
                          </a:rPr>
                          <m:t>𝑃</m:t>
                        </m:r>
                      </m:e>
                      <m:sub>
                        <m:r>
                          <a:rPr>
                            <a:latin typeface="Cambria Math" panose="02040503050406030204" pitchFamily="18" charset="0"/>
                          </a:rPr>
                          <m:t>𝑖</m:t>
                        </m:r>
                        <m:r>
                          <a:rPr>
                            <a:latin typeface="Cambria Math" panose="02040503050406030204" pitchFamily="18" charset="0"/>
                          </a:rPr>
                          <m:t>,</m:t>
                        </m:r>
                        <m:r>
                          <a:rPr>
                            <a:latin typeface="Cambria Math" panose="02040503050406030204" pitchFamily="18" charset="0"/>
                          </a:rPr>
                          <m:t>𝑡</m:t>
                        </m:r>
                      </m:sub>
                    </m:sSub>
                  </m:oMath>
                </a14:m>
                <a:r>
                  <a:rPr dirty="0"/>
                  <a:t> is the price of good </a:t>
                </a:r>
                <a14:m>
                  <m:oMath xmlns:m="http://schemas.openxmlformats.org/officeDocument/2006/math">
                    <m:r>
                      <a:rPr>
                        <a:latin typeface="Cambria Math" panose="02040503050406030204" pitchFamily="18" charset="0"/>
                      </a:rPr>
                      <m:t>𝑖</m:t>
                    </m:r>
                  </m:oMath>
                </a14:m>
                <a:r>
                  <a:rPr dirty="0"/>
                  <a:t> at time </a:t>
                </a:r>
                <a14:m>
                  <m:oMath xmlns:m="http://schemas.openxmlformats.org/officeDocument/2006/math">
                    <m:r>
                      <a:rPr>
                        <a:latin typeface="Cambria Math" panose="02040503050406030204" pitchFamily="18" charset="0"/>
                      </a:rPr>
                      <m:t>𝑡</m:t>
                    </m:r>
                  </m:oMath>
                </a14:m>
                <a:endParaRPr dirty="0"/>
              </a:p>
              <a:p>
                <a:pPr lvl="0"/>
                <a14:m>
                  <m:oMath xmlns:m="http://schemas.openxmlformats.org/officeDocument/2006/math">
                    <m:sSub>
                      <m:sSubPr>
                        <m:ctrlPr>
                          <a:rPr i="1">
                            <a:latin typeface="Cambria Math" panose="02040503050406030204" pitchFamily="18" charset="0"/>
                          </a:rPr>
                        </m:ctrlPr>
                      </m:sSubPr>
                      <m:e>
                        <m:r>
                          <a:rPr>
                            <a:latin typeface="Cambria Math" panose="02040503050406030204" pitchFamily="18" charset="0"/>
                          </a:rPr>
                          <m:t>𝑃</m:t>
                        </m:r>
                      </m:e>
                      <m:sub>
                        <m:r>
                          <a:rPr>
                            <a:latin typeface="Cambria Math" panose="02040503050406030204" pitchFamily="18" charset="0"/>
                          </a:rPr>
                          <m:t>𝑖</m:t>
                        </m:r>
                        <m:r>
                          <a:rPr>
                            <a:latin typeface="Cambria Math" panose="02040503050406030204" pitchFamily="18" charset="0"/>
                          </a:rPr>
                          <m:t>,</m:t>
                        </m:r>
                        <m:r>
                          <a:rPr>
                            <a:latin typeface="Cambria Math" panose="02040503050406030204" pitchFamily="18" charset="0"/>
                          </a:rPr>
                          <m:t>𝑡</m:t>
                        </m:r>
                        <m:r>
                          <a:rPr>
                            <a:latin typeface="Cambria Math" panose="02040503050406030204" pitchFamily="18" charset="0"/>
                          </a:rPr>
                          <m:t>−1</m:t>
                        </m:r>
                      </m:sub>
                    </m:sSub>
                  </m:oMath>
                </a14:m>
                <a:r>
                  <a:rPr dirty="0"/>
                  <a:t> is the price of good </a:t>
                </a:r>
                <a14:m>
                  <m:oMath xmlns:m="http://schemas.openxmlformats.org/officeDocument/2006/math">
                    <m:r>
                      <a:rPr>
                        <a:latin typeface="Cambria Math" panose="02040503050406030204" pitchFamily="18" charset="0"/>
                      </a:rPr>
                      <m:t>𝑖</m:t>
                    </m:r>
                  </m:oMath>
                </a14:m>
                <a:r>
                  <a:rPr dirty="0"/>
                  <a:t> at time </a:t>
                </a:r>
                <a14:m>
                  <m:oMath xmlns:m="http://schemas.openxmlformats.org/officeDocument/2006/math">
                    <m:r>
                      <a:rPr>
                        <a:latin typeface="Cambria Math" panose="02040503050406030204" pitchFamily="18" charset="0"/>
                      </a:rPr>
                      <m:t>𝑡</m:t>
                    </m:r>
                    <m:r>
                      <a:rPr>
                        <a:latin typeface="Cambria Math" panose="02040503050406030204" pitchFamily="18" charset="0"/>
                      </a:rPr>
                      <m:t>−1</m:t>
                    </m:r>
                  </m:oMath>
                </a14:m>
                <a:endParaRPr dirty="0"/>
              </a:p>
            </p:txBody>
          </p:sp>
        </mc:Choice>
        <mc:Fallback xmlns="">
          <p:sp>
            <p:nvSpPr>
              <p:cNvPr id="3" name="Content Placeholder 2">
                <a:extLst>
                  <a:ext uri="{FF2B5EF4-FFF2-40B4-BE49-F238E27FC236}">
                    <a16:creationId xmlns:a16="http://schemas.microsoft.com/office/drawing/2014/main" id="{9C966DDB-3364-1B41-9729-DB3686A721C5}"/>
                  </a:ext>
                </a:extLst>
              </p:cNvPr>
              <p:cNvSpPr>
                <a:spLocks noGrp="1" noRot="1" noChangeAspect="1" noMove="1" noResize="1" noEditPoints="1" noAdjustHandles="1" noChangeArrowheads="1" noChangeShapeType="1" noTextEdit="1"/>
              </p:cNvSpPr>
              <p:nvPr>
                <p:ph idx="1" hasCustomPrompt="1"/>
              </p:nvPr>
            </p:nvSpPr>
            <p:spPr>
              <a:xfrm>
                <a:off x="1055553" y="1456660"/>
                <a:ext cx="10735723" cy="4645875"/>
              </a:xfrm>
              <a:blipFill>
                <a:blip r:embed="rId3"/>
                <a:stretch>
                  <a:fillRect l="-473" t="-1362"/>
                </a:stretch>
              </a:blipFill>
            </p:spPr>
            <p:txBody>
              <a:bodyPr/>
              <a:lstStyle/>
              <a:p>
                <a:r>
                  <a:rPr lang="en-US">
                    <a:noFill/>
                  </a:rPr>
                  <a:t> </a:t>
                </a:r>
              </a:p>
            </p:txBody>
          </p:sp>
        </mc:Fallback>
      </mc:AlternateContent>
      <p:sp>
        <p:nvSpPr>
          <p:cNvPr id="7" name="Slide Number Placeholder 5">
            <a:extLst>
              <a:ext uri="{FF2B5EF4-FFF2-40B4-BE49-F238E27FC236}">
                <a16:creationId xmlns:a16="http://schemas.microsoft.com/office/drawing/2014/main" id="{FB221DBE-BC54-6C4C-BA1C-95E280B67712}"/>
              </a:ext>
            </a:extLst>
          </p:cNvPr>
          <p:cNvSpPr>
            <a:spLocks noGrp="1"/>
          </p:cNvSpPr>
          <p:nvPr>
            <p:ph type="sldNum" sz="quarter" idx="12"/>
          </p:nvPr>
        </p:nvSpPr>
        <p:spPr>
          <a:xfrm>
            <a:off x="7557977" y="6313820"/>
            <a:ext cx="2743200" cy="365125"/>
          </a:xfrm>
        </p:spPr>
        <p:txBody>
          <a:bodyPr/>
          <a:lstStyle>
            <a:lvl1pPr>
              <a:defRPr sz="1100"/>
            </a:lvl1pPr>
          </a:lstStyle>
          <a:p>
            <a:fld id="{85DA3A08-9E66-614E-AAE5-F810EFDD6885}" type="slidenum">
              <a:rPr lang="en-US" smtClean="0"/>
              <a:pPr/>
              <a:t>13</a:t>
            </a:fld>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631292-24AE-5F41-8820-196C7D8E36A1}"/>
              </a:ext>
            </a:extLst>
          </p:cNvPr>
          <p:cNvSpPr>
            <a:spLocks noGrp="1"/>
          </p:cNvSpPr>
          <p:nvPr>
            <p:ph type="title"/>
          </p:nvPr>
        </p:nvSpPr>
        <p:spPr>
          <a:xfrm>
            <a:off x="1055553" y="179055"/>
            <a:ext cx="10977744" cy="666233"/>
          </a:xfrm>
        </p:spPr>
        <p:txBody>
          <a:bodyPr/>
          <a:lstStyle/>
          <a:p>
            <a:pPr marL="0" lvl="0" indent="0">
              <a:buNone/>
            </a:pPr>
            <a:r>
              <a:rPr lang="en-US" dirty="0"/>
              <a:t>The definition of RPD is well understood in the literature</a:t>
            </a:r>
            <a:endParaRPr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9C966DDB-3364-1B41-9729-DB3686A721C5}"/>
                  </a:ext>
                </a:extLst>
              </p:cNvPr>
              <p:cNvSpPr>
                <a:spLocks noGrp="1"/>
              </p:cNvSpPr>
              <p:nvPr>
                <p:ph idx="1" hasCustomPrompt="1"/>
              </p:nvPr>
            </p:nvSpPr>
            <p:spPr>
              <a:xfrm>
                <a:off x="1055553" y="1329070"/>
                <a:ext cx="10735723" cy="4847893"/>
              </a:xfrm>
            </p:spPr>
            <p:txBody>
              <a:bodyPr>
                <a:normAutofit/>
              </a:bodyPr>
              <a:lstStyle/>
              <a:p>
                <a:pPr marL="0" indent="0">
                  <a:buNone/>
                </a:pPr>
                <a:r>
                  <a:rPr lang="en-ZA" dirty="0"/>
                  <a:t>RPD is calculated in line with Lach and </a:t>
                </a:r>
                <a:r>
                  <a:rPr lang="en-ZA" dirty="0" err="1"/>
                  <a:t>Tsiddon</a:t>
                </a:r>
                <a:r>
                  <a:rPr lang="en-ZA" dirty="0"/>
                  <a:t> (1992) as the weighted standard deviation of individual price inflation rates from the aggregate inflation rate. The RPD is essentially the variability of relative prices of a given product. </a:t>
                </a:r>
                <a:r>
                  <a:rPr lang="en-US" dirty="0"/>
                  <a:t> </a:t>
                </a:r>
                <a:r>
                  <a:rPr dirty="0"/>
                  <a:t>RPD is calculated as:</a:t>
                </a:r>
                <a:endParaRPr lang="en-US" dirty="0"/>
              </a:p>
              <a:p>
                <a:pPr marL="0" lvl="0" indent="0">
                  <a:buNone/>
                </a:pPr>
                <a:endParaRPr dirty="0"/>
              </a:p>
              <a:p>
                <a:pPr marL="0" lvl="0" indent="0">
                  <a:buNone/>
                </a:pPr>
                <a14:m>
                  <m:oMathPara xmlns:m="http://schemas.openxmlformats.org/officeDocument/2006/math">
                    <m:oMathParaPr>
                      <m:jc m:val="center"/>
                    </m:oMathParaPr>
                    <m:oMath xmlns:m="http://schemas.openxmlformats.org/officeDocument/2006/math">
                      <m:r>
                        <a:rPr>
                          <a:latin typeface="Cambria Math" panose="02040503050406030204" pitchFamily="18" charset="0"/>
                        </a:rPr>
                        <m:t>𝑅𝑃</m:t>
                      </m:r>
                      <m:sSub>
                        <m:sSubPr>
                          <m:ctrlPr>
                            <a:rPr i="1">
                              <a:latin typeface="Cambria Math" panose="02040503050406030204" pitchFamily="18" charset="0"/>
                            </a:rPr>
                          </m:ctrlPr>
                        </m:sSubPr>
                        <m:e>
                          <m:r>
                            <a:rPr>
                              <a:latin typeface="Cambria Math" panose="02040503050406030204" pitchFamily="18" charset="0"/>
                            </a:rPr>
                            <m:t>𝐷</m:t>
                          </m:r>
                        </m:e>
                        <m:sub>
                          <m:r>
                            <a:rPr>
                              <a:latin typeface="Cambria Math" panose="02040503050406030204" pitchFamily="18" charset="0"/>
                            </a:rPr>
                            <m:t>𝑡</m:t>
                          </m:r>
                        </m:sub>
                      </m:sSub>
                      <m:r>
                        <a:rPr>
                          <a:latin typeface="Cambria Math" panose="02040503050406030204" pitchFamily="18" charset="0"/>
                        </a:rPr>
                        <m:t>=</m:t>
                      </m:r>
                      <m:rad>
                        <m:radPr>
                          <m:degHide m:val="on"/>
                          <m:ctrlPr>
                            <a:rPr i="1">
                              <a:latin typeface="Cambria Math" panose="02040503050406030204" pitchFamily="18" charset="0"/>
                            </a:rPr>
                          </m:ctrlPr>
                        </m:radPr>
                        <m:deg/>
                        <m:e>
                          <m:nary>
                            <m:naryPr>
                              <m:chr m:val="∑"/>
                              <m:limLoc m:val="undOvr"/>
                              <m:ctrlPr>
                                <a:rPr i="1">
                                  <a:latin typeface="Cambria Math" panose="02040503050406030204" pitchFamily="18" charset="0"/>
                                </a:rPr>
                              </m:ctrlPr>
                            </m:naryPr>
                            <m:sub>
                              <m:r>
                                <a:rPr>
                                  <a:latin typeface="Cambria Math" panose="02040503050406030204" pitchFamily="18" charset="0"/>
                                </a:rPr>
                                <m:t>𝑖</m:t>
                              </m:r>
                              <m:r>
                                <a:rPr>
                                  <a:latin typeface="Cambria Math" panose="02040503050406030204" pitchFamily="18" charset="0"/>
                                </a:rPr>
                                <m:t>=1</m:t>
                              </m:r>
                            </m:sub>
                            <m:sup>
                              <m:r>
                                <a:rPr>
                                  <a:latin typeface="Cambria Math" panose="02040503050406030204" pitchFamily="18" charset="0"/>
                                </a:rPr>
                                <m:t>𝑛</m:t>
                              </m:r>
                            </m:sup>
                            <m:e>
                              <m:sSub>
                                <m:sSubPr>
                                  <m:ctrlPr>
                                    <a:rPr i="1">
                                      <a:latin typeface="Cambria Math" panose="02040503050406030204" pitchFamily="18" charset="0"/>
                                    </a:rPr>
                                  </m:ctrlPr>
                                </m:sSubPr>
                                <m:e>
                                  <m:r>
                                    <a:rPr>
                                      <a:latin typeface="Cambria Math" panose="02040503050406030204" pitchFamily="18" charset="0"/>
                                    </a:rPr>
                                    <m:t>𝜔</m:t>
                                  </m:r>
                                </m:e>
                                <m:sub>
                                  <m:r>
                                    <a:rPr>
                                      <a:latin typeface="Cambria Math" panose="02040503050406030204" pitchFamily="18" charset="0"/>
                                    </a:rPr>
                                    <m:t>𝑖</m:t>
                                  </m:r>
                                </m:sub>
                              </m:sSub>
                            </m:e>
                          </m:nary>
                          <m:sSup>
                            <m:sSupPr>
                              <m:ctrlPr>
                                <a:rPr i="1">
                                  <a:latin typeface="Cambria Math" panose="02040503050406030204" pitchFamily="18" charset="0"/>
                                </a:rPr>
                              </m:ctrlPr>
                            </m:sSupPr>
                            <m:e>
                              <m:d>
                                <m:dPr>
                                  <m:ctrlPr>
                                    <a:rPr i="1">
                                      <a:latin typeface="Cambria Math" panose="02040503050406030204" pitchFamily="18" charset="0"/>
                                    </a:rPr>
                                  </m:ctrlPr>
                                </m:dPr>
                                <m:e>
                                  <m:sSub>
                                    <m:sSubPr>
                                      <m:ctrlPr>
                                        <a:rPr i="1">
                                          <a:latin typeface="Cambria Math" panose="02040503050406030204" pitchFamily="18" charset="0"/>
                                        </a:rPr>
                                      </m:ctrlPr>
                                    </m:sSubPr>
                                    <m:e>
                                      <m:r>
                                        <a:rPr>
                                          <a:latin typeface="Cambria Math" panose="02040503050406030204" pitchFamily="18" charset="0"/>
                                        </a:rPr>
                                        <m:t>𝜋</m:t>
                                      </m:r>
                                    </m:e>
                                    <m:sub>
                                      <m:r>
                                        <a:rPr>
                                          <a:latin typeface="Cambria Math" panose="02040503050406030204" pitchFamily="18" charset="0"/>
                                        </a:rPr>
                                        <m:t>𝑖</m:t>
                                      </m:r>
                                      <m:r>
                                        <a:rPr>
                                          <a:latin typeface="Cambria Math" panose="02040503050406030204" pitchFamily="18" charset="0"/>
                                        </a:rPr>
                                        <m:t>,</m:t>
                                      </m:r>
                                      <m:r>
                                        <a:rPr>
                                          <a:latin typeface="Cambria Math" panose="02040503050406030204" pitchFamily="18" charset="0"/>
                                        </a:rPr>
                                        <m:t>𝑡</m:t>
                                      </m:r>
                                    </m:sub>
                                  </m:sSub>
                                  <m:r>
                                    <a:rPr>
                                      <a:latin typeface="Cambria Math" panose="02040503050406030204" pitchFamily="18" charset="0"/>
                                    </a:rPr>
                                    <m:t>−</m:t>
                                  </m:r>
                                  <m:sSub>
                                    <m:sSubPr>
                                      <m:ctrlPr>
                                        <a:rPr i="1">
                                          <a:latin typeface="Cambria Math" panose="02040503050406030204" pitchFamily="18" charset="0"/>
                                        </a:rPr>
                                      </m:ctrlPr>
                                    </m:sSubPr>
                                    <m:e>
                                      <m:r>
                                        <a:rPr>
                                          <a:latin typeface="Cambria Math" panose="02040503050406030204" pitchFamily="18" charset="0"/>
                                        </a:rPr>
                                        <m:t>𝜋</m:t>
                                      </m:r>
                                    </m:e>
                                    <m:sub>
                                      <m:r>
                                        <a:rPr>
                                          <a:latin typeface="Cambria Math" panose="02040503050406030204" pitchFamily="18" charset="0"/>
                                        </a:rPr>
                                        <m:t>𝑡</m:t>
                                      </m:r>
                                    </m:sub>
                                  </m:sSub>
                                </m:e>
                              </m:d>
                            </m:e>
                            <m:sup>
                              <m:r>
                                <a:rPr>
                                  <a:latin typeface="Cambria Math" panose="02040503050406030204" pitchFamily="18" charset="0"/>
                                </a:rPr>
                                <m:t>2</m:t>
                              </m:r>
                            </m:sup>
                          </m:sSup>
                        </m:e>
                      </m:rad>
                      <m:r>
                        <a:rPr>
                          <a:latin typeface="Cambria Math" panose="02040503050406030204" pitchFamily="18" charset="0"/>
                        </a:rPr>
                        <m:t>,  </m:t>
                      </m:r>
                      <m:d>
                        <m:dPr>
                          <m:ctrlPr>
                            <a:rPr i="1">
                              <a:latin typeface="Cambria Math" panose="02040503050406030204" pitchFamily="18" charset="0"/>
                            </a:rPr>
                          </m:ctrlPr>
                        </m:dPr>
                        <m:e>
                          <m:r>
                            <a:rPr>
                              <a:latin typeface="Cambria Math" panose="02040503050406030204" pitchFamily="18" charset="0"/>
                            </a:rPr>
                            <m:t>9</m:t>
                          </m:r>
                        </m:e>
                      </m:d>
                    </m:oMath>
                  </m:oMathPara>
                </a14:m>
                <a:endParaRPr dirty="0"/>
              </a:p>
              <a:p>
                <a:pPr lvl="0"/>
                <a14:m>
                  <m:oMath xmlns:m="http://schemas.openxmlformats.org/officeDocument/2006/math">
                    <m:sSub>
                      <m:sSubPr>
                        <m:ctrlPr>
                          <a:rPr i="1">
                            <a:latin typeface="Cambria Math" panose="02040503050406030204" pitchFamily="18" charset="0"/>
                          </a:rPr>
                        </m:ctrlPr>
                      </m:sSubPr>
                      <m:e>
                        <m:r>
                          <a:rPr>
                            <a:latin typeface="Cambria Math" panose="02040503050406030204" pitchFamily="18" charset="0"/>
                          </a:rPr>
                          <m:t>𝜔</m:t>
                        </m:r>
                      </m:e>
                      <m:sub>
                        <m:r>
                          <a:rPr>
                            <a:latin typeface="Cambria Math" panose="02040503050406030204" pitchFamily="18" charset="0"/>
                          </a:rPr>
                          <m:t>𝑗</m:t>
                        </m:r>
                      </m:sub>
                    </m:sSub>
                  </m:oMath>
                </a14:m>
                <a:r>
                  <a:rPr dirty="0"/>
                  <a:t> is the expenditure share of the </a:t>
                </a:r>
                <a14:m>
                  <m:oMath xmlns:m="http://schemas.openxmlformats.org/officeDocument/2006/math">
                    <m:sSup>
                      <m:sSupPr>
                        <m:ctrlPr>
                          <a:rPr i="1">
                            <a:latin typeface="Cambria Math" panose="02040503050406030204" pitchFamily="18" charset="0"/>
                          </a:rPr>
                        </m:ctrlPr>
                      </m:sSupPr>
                      <m:e>
                        <m:r>
                          <a:rPr>
                            <a:latin typeface="Cambria Math" panose="02040503050406030204" pitchFamily="18" charset="0"/>
                          </a:rPr>
                          <m:t>𝑗</m:t>
                        </m:r>
                      </m:e>
                      <m:sup>
                        <m:r>
                          <a:rPr>
                            <a:latin typeface="Cambria Math" panose="02040503050406030204" pitchFamily="18" charset="0"/>
                          </a:rPr>
                          <m:t>𝑡h</m:t>
                        </m:r>
                      </m:sup>
                    </m:sSup>
                  </m:oMath>
                </a14:m>
                <a:r>
                  <a:rPr dirty="0"/>
                  <a:t> good</a:t>
                </a:r>
              </a:p>
              <a:p>
                <a:pPr lvl="0"/>
                <a14:m>
                  <m:oMath xmlns:m="http://schemas.openxmlformats.org/officeDocument/2006/math">
                    <m:sSub>
                      <m:sSubPr>
                        <m:ctrlPr>
                          <a:rPr i="1">
                            <a:latin typeface="Cambria Math" panose="02040503050406030204" pitchFamily="18" charset="0"/>
                          </a:rPr>
                        </m:ctrlPr>
                      </m:sSubPr>
                      <m:e>
                        <m:r>
                          <a:rPr>
                            <a:latin typeface="Cambria Math" panose="02040503050406030204" pitchFamily="18" charset="0"/>
                          </a:rPr>
                          <m:t>𝜋</m:t>
                        </m:r>
                      </m:e>
                      <m:sub>
                        <m:r>
                          <a:rPr>
                            <a:latin typeface="Cambria Math" panose="02040503050406030204" pitchFamily="18" charset="0"/>
                          </a:rPr>
                          <m:t>𝑡</m:t>
                        </m:r>
                      </m:sub>
                    </m:sSub>
                  </m:oMath>
                </a14:m>
                <a:r>
                  <a:rPr dirty="0"/>
                  <a:t> is the headline or aggregate inflation rate at time </a:t>
                </a:r>
                <a14:m>
                  <m:oMath xmlns:m="http://schemas.openxmlformats.org/officeDocument/2006/math">
                    <m:r>
                      <a:rPr>
                        <a:latin typeface="Cambria Math" panose="02040503050406030204" pitchFamily="18" charset="0"/>
                      </a:rPr>
                      <m:t>𝑡</m:t>
                    </m:r>
                  </m:oMath>
                </a14:m>
                <a:endParaRPr dirty="0"/>
              </a:p>
              <a:p>
                <a:pPr lvl="0"/>
                <a14:m>
                  <m:oMath xmlns:m="http://schemas.openxmlformats.org/officeDocument/2006/math">
                    <m:nary>
                      <m:naryPr>
                        <m:chr m:val="∑"/>
                        <m:limLoc m:val="undOvr"/>
                        <m:ctrlPr>
                          <a:rPr i="1">
                            <a:latin typeface="Cambria Math" panose="02040503050406030204" pitchFamily="18" charset="0"/>
                          </a:rPr>
                        </m:ctrlPr>
                      </m:naryPr>
                      <m:sub>
                        <m:r>
                          <a:rPr>
                            <a:latin typeface="Cambria Math" panose="02040503050406030204" pitchFamily="18" charset="0"/>
                          </a:rPr>
                          <m:t>𝑖</m:t>
                        </m:r>
                        <m:r>
                          <a:rPr>
                            <a:latin typeface="Cambria Math" panose="02040503050406030204" pitchFamily="18" charset="0"/>
                          </a:rPr>
                          <m:t>=1</m:t>
                        </m:r>
                      </m:sub>
                      <m:sup>
                        <m:r>
                          <a:rPr>
                            <a:latin typeface="Cambria Math" panose="02040503050406030204" pitchFamily="18" charset="0"/>
                          </a:rPr>
                          <m:t>𝑛</m:t>
                        </m:r>
                      </m:sup>
                      <m:e>
                        <m:sSub>
                          <m:sSubPr>
                            <m:ctrlPr>
                              <a:rPr i="1">
                                <a:latin typeface="Cambria Math" panose="02040503050406030204" pitchFamily="18" charset="0"/>
                              </a:rPr>
                            </m:ctrlPr>
                          </m:sSubPr>
                          <m:e>
                            <m:r>
                              <a:rPr>
                                <a:latin typeface="Cambria Math" panose="02040503050406030204" pitchFamily="18" charset="0"/>
                              </a:rPr>
                              <m:t>𝜔</m:t>
                            </m:r>
                          </m:e>
                          <m:sub>
                            <m:r>
                              <a:rPr>
                                <a:latin typeface="Cambria Math" panose="02040503050406030204" pitchFamily="18" charset="0"/>
                              </a:rPr>
                              <m:t>𝑖</m:t>
                            </m:r>
                          </m:sub>
                        </m:sSub>
                      </m:e>
                    </m:nary>
                    <m:r>
                      <a:rPr>
                        <a:latin typeface="Cambria Math" panose="02040503050406030204" pitchFamily="18" charset="0"/>
                      </a:rPr>
                      <m:t>=1</m:t>
                    </m:r>
                  </m:oMath>
                </a14:m>
                <a:endParaRPr dirty="0"/>
              </a:p>
              <a:p>
                <a:pPr lvl="0"/>
                <a:r>
                  <a:rPr dirty="0"/>
                  <a:t>The expenditure weights (</a:t>
                </a:r>
                <a14:m>
                  <m:oMath xmlns:m="http://schemas.openxmlformats.org/officeDocument/2006/math">
                    <m:sSub>
                      <m:sSubPr>
                        <m:ctrlPr>
                          <a:rPr i="1">
                            <a:latin typeface="Cambria Math" panose="02040503050406030204" pitchFamily="18" charset="0"/>
                          </a:rPr>
                        </m:ctrlPr>
                      </m:sSubPr>
                      <m:e>
                        <m:r>
                          <a:rPr>
                            <a:latin typeface="Cambria Math" panose="02040503050406030204" pitchFamily="18" charset="0"/>
                          </a:rPr>
                          <m:t>𝜔</m:t>
                        </m:r>
                      </m:e>
                      <m:sub>
                        <m:r>
                          <a:rPr>
                            <a:latin typeface="Cambria Math" panose="02040503050406030204" pitchFamily="18" charset="0"/>
                          </a:rPr>
                          <m:t>𝑖</m:t>
                        </m:r>
                      </m:sub>
                    </m:sSub>
                  </m:oMath>
                </a14:m>
                <a:r>
                  <a:rPr dirty="0"/>
                  <a:t>) used are derived from the Consumer Price Index (CPI) basket provided by Stats SA</a:t>
                </a:r>
              </a:p>
            </p:txBody>
          </p:sp>
        </mc:Choice>
        <mc:Fallback xmlns="">
          <p:sp>
            <p:nvSpPr>
              <p:cNvPr id="3" name="Content Placeholder 2">
                <a:extLst>
                  <a:ext uri="{FF2B5EF4-FFF2-40B4-BE49-F238E27FC236}">
                    <a16:creationId xmlns:a16="http://schemas.microsoft.com/office/drawing/2014/main" id="{9C966DDB-3364-1B41-9729-DB3686A721C5}"/>
                  </a:ext>
                </a:extLst>
              </p:cNvPr>
              <p:cNvSpPr>
                <a:spLocks noGrp="1" noRot="1" noChangeAspect="1" noMove="1" noResize="1" noEditPoints="1" noAdjustHandles="1" noChangeArrowheads="1" noChangeShapeType="1" noTextEdit="1"/>
              </p:cNvSpPr>
              <p:nvPr>
                <p:ph idx="1" hasCustomPrompt="1"/>
              </p:nvPr>
            </p:nvSpPr>
            <p:spPr>
              <a:xfrm>
                <a:off x="1055553" y="1329070"/>
                <a:ext cx="10735723" cy="4847893"/>
              </a:xfrm>
              <a:blipFill>
                <a:blip r:embed="rId2"/>
                <a:stretch>
                  <a:fillRect l="-946" t="-1305"/>
                </a:stretch>
              </a:blipFill>
            </p:spPr>
            <p:txBody>
              <a:bodyPr/>
              <a:lstStyle/>
              <a:p>
                <a:r>
                  <a:rPr lang="en-US">
                    <a:noFill/>
                  </a:rPr>
                  <a:t> </a:t>
                </a:r>
              </a:p>
            </p:txBody>
          </p:sp>
        </mc:Fallback>
      </mc:AlternateContent>
      <p:sp>
        <p:nvSpPr>
          <p:cNvPr id="7" name="Slide Number Placeholder 5">
            <a:extLst>
              <a:ext uri="{FF2B5EF4-FFF2-40B4-BE49-F238E27FC236}">
                <a16:creationId xmlns:a16="http://schemas.microsoft.com/office/drawing/2014/main" id="{FB221DBE-BC54-6C4C-BA1C-95E280B67712}"/>
              </a:ext>
            </a:extLst>
          </p:cNvPr>
          <p:cNvSpPr>
            <a:spLocks noGrp="1"/>
          </p:cNvSpPr>
          <p:nvPr>
            <p:ph type="sldNum" sz="quarter" idx="12"/>
          </p:nvPr>
        </p:nvSpPr>
        <p:spPr>
          <a:xfrm>
            <a:off x="7557977" y="6313820"/>
            <a:ext cx="2743200" cy="365125"/>
          </a:xfrm>
        </p:spPr>
        <p:txBody>
          <a:bodyPr/>
          <a:lstStyle>
            <a:lvl1pPr>
              <a:defRPr sz="1100"/>
            </a:lvl1pPr>
          </a:lstStyle>
          <a:p>
            <a:fld id="{85DA3A08-9E66-614E-AAE5-F810EFDD6885}" type="slidenum">
              <a:rPr lang="en-US" smtClean="0"/>
              <a:pPr/>
              <a:t>14</a:t>
            </a:fld>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631292-24AE-5F41-8820-196C7D8E36A1}"/>
              </a:ext>
            </a:extLst>
          </p:cNvPr>
          <p:cNvSpPr>
            <a:spLocks noGrp="1"/>
          </p:cNvSpPr>
          <p:nvPr>
            <p:ph type="title"/>
          </p:nvPr>
        </p:nvSpPr>
        <p:spPr>
          <a:xfrm>
            <a:off x="1055553" y="365125"/>
            <a:ext cx="10977744" cy="666233"/>
          </a:xfrm>
        </p:spPr>
        <p:txBody>
          <a:bodyPr>
            <a:normAutofit fontScale="90000"/>
          </a:bodyPr>
          <a:lstStyle/>
          <a:p>
            <a:pPr marL="0" lvl="0" indent="0">
              <a:buNone/>
            </a:pPr>
            <a:r>
              <a:rPr lang="en-US" dirty="0"/>
              <a:t>Our main purpose in to estimate the relationship between RPD and inflation</a:t>
            </a:r>
            <a:endParaRPr dirty="0"/>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9C966DDB-3364-1B41-9729-DB3686A721C5}"/>
                  </a:ext>
                </a:extLst>
              </p:cNvPr>
              <p:cNvSpPr>
                <a:spLocks noGrp="1"/>
              </p:cNvSpPr>
              <p:nvPr>
                <p:ph idx="1" hasCustomPrompt="1"/>
              </p:nvPr>
            </p:nvSpPr>
            <p:spPr/>
            <p:txBody>
              <a:bodyPr/>
              <a:lstStyle/>
              <a:p>
                <a:pPr marL="0" lvl="0" indent="0">
                  <a:buNone/>
                </a:pPr>
                <a:r>
                  <a:rPr lang="en-ZA" dirty="0"/>
                  <a:t>To examine the relationship between inflation and RPD, we estimate the following econometric model:</a:t>
                </a:r>
              </a:p>
              <a:p>
                <a:pPr marL="0" lvl="0" indent="0">
                  <a:buNone/>
                </a:pPr>
                <a:endParaRPr lang="en-ZA" dirty="0"/>
              </a:p>
              <a:p>
                <a:pPr marL="0" lvl="0" indent="0">
                  <a:buNone/>
                </a:pPr>
                <a14:m>
                  <m:oMathPara xmlns:m="http://schemas.openxmlformats.org/officeDocument/2006/math">
                    <m:oMathParaPr>
                      <m:jc m:val="center"/>
                    </m:oMathParaPr>
                    <m:oMath xmlns:m="http://schemas.openxmlformats.org/officeDocument/2006/math">
                      <m:r>
                        <a:rPr lang="en-ZA">
                          <a:latin typeface="Cambria Math" panose="02040503050406030204" pitchFamily="18" charset="0"/>
                        </a:rPr>
                        <m:t>𝑅𝑃</m:t>
                      </m:r>
                      <m:sSub>
                        <m:sSubPr>
                          <m:ctrlPr>
                            <a:rPr lang="ar-AE" i="1">
                              <a:latin typeface="Cambria Math" panose="02040503050406030204" pitchFamily="18" charset="0"/>
                            </a:rPr>
                          </m:ctrlPr>
                        </m:sSubPr>
                        <m:e>
                          <m:r>
                            <a:rPr lang="ar-AE">
                              <a:latin typeface="Cambria Math" panose="02040503050406030204" pitchFamily="18" charset="0"/>
                            </a:rPr>
                            <m:t>𝐷</m:t>
                          </m:r>
                        </m:e>
                        <m:sub>
                          <m:r>
                            <a:rPr lang="ar-AE">
                              <a:latin typeface="Cambria Math" panose="02040503050406030204" pitchFamily="18" charset="0"/>
                            </a:rPr>
                            <m:t>𝑡</m:t>
                          </m:r>
                        </m:sub>
                      </m:sSub>
                      <m:r>
                        <a:rPr lang="ar-AE">
                          <a:latin typeface="Cambria Math" panose="02040503050406030204" pitchFamily="18" charset="0"/>
                        </a:rPr>
                        <m:t>=</m:t>
                      </m:r>
                      <m:sSub>
                        <m:sSubPr>
                          <m:ctrlPr>
                            <a:rPr lang="ar-AE" i="1">
                              <a:latin typeface="Cambria Math" panose="02040503050406030204" pitchFamily="18" charset="0"/>
                            </a:rPr>
                          </m:ctrlPr>
                        </m:sSubPr>
                        <m:e>
                          <m:r>
                            <a:rPr lang="ar-AE">
                              <a:latin typeface="Cambria Math" panose="02040503050406030204" pitchFamily="18" charset="0"/>
                            </a:rPr>
                            <m:t>𝛽</m:t>
                          </m:r>
                        </m:e>
                        <m:sub>
                          <m:r>
                            <a:rPr lang="ar-AE">
                              <a:latin typeface="Cambria Math" panose="02040503050406030204" pitchFamily="18" charset="0"/>
                            </a:rPr>
                            <m:t>0</m:t>
                          </m:r>
                        </m:sub>
                      </m:sSub>
                      <m:r>
                        <a:rPr lang="ar-AE">
                          <a:latin typeface="Cambria Math" panose="02040503050406030204" pitchFamily="18" charset="0"/>
                        </a:rPr>
                        <m:t>+</m:t>
                      </m:r>
                      <m:sSub>
                        <m:sSubPr>
                          <m:ctrlPr>
                            <a:rPr lang="ar-AE" i="1">
                              <a:latin typeface="Cambria Math" panose="02040503050406030204" pitchFamily="18" charset="0"/>
                            </a:rPr>
                          </m:ctrlPr>
                        </m:sSubPr>
                        <m:e>
                          <m:r>
                            <a:rPr lang="ar-AE">
                              <a:latin typeface="Cambria Math" panose="02040503050406030204" pitchFamily="18" charset="0"/>
                            </a:rPr>
                            <m:t>𝛽</m:t>
                          </m:r>
                        </m:e>
                        <m:sub>
                          <m:r>
                            <a:rPr lang="ar-AE">
                              <a:latin typeface="Cambria Math" panose="02040503050406030204" pitchFamily="18" charset="0"/>
                            </a:rPr>
                            <m:t>1</m:t>
                          </m:r>
                        </m:sub>
                      </m:sSub>
                      <m:d>
                        <m:dPr>
                          <m:begChr m:val="|"/>
                          <m:endChr m:val="|"/>
                          <m:ctrlPr>
                            <a:rPr lang="ar-AE" i="1">
                              <a:latin typeface="Cambria Math" panose="02040503050406030204" pitchFamily="18" charset="0"/>
                            </a:rPr>
                          </m:ctrlPr>
                        </m:dPr>
                        <m:e>
                          <m:sSub>
                            <m:sSubPr>
                              <m:ctrlPr>
                                <a:rPr lang="ar-AE" i="1" smtClean="0">
                                  <a:latin typeface="Cambria Math" panose="02040503050406030204" pitchFamily="18" charset="0"/>
                                </a:rPr>
                              </m:ctrlPr>
                            </m:sSubPr>
                            <m:e>
                              <m:r>
                                <a:rPr lang="ar-AE">
                                  <a:latin typeface="Cambria Math" panose="02040503050406030204" pitchFamily="18" charset="0"/>
                                </a:rPr>
                                <m:t>𝜋</m:t>
                              </m:r>
                            </m:e>
                            <m:sub>
                              <m:r>
                                <a:rPr lang="ar-AE">
                                  <a:latin typeface="Cambria Math" panose="02040503050406030204" pitchFamily="18" charset="0"/>
                                </a:rPr>
                                <m:t>𝑡</m:t>
                              </m:r>
                            </m:sub>
                          </m:sSub>
                        </m:e>
                      </m:d>
                      <m:r>
                        <a:rPr lang="ar-AE">
                          <a:latin typeface="Cambria Math" panose="02040503050406030204" pitchFamily="18" charset="0"/>
                        </a:rPr>
                        <m:t>+</m:t>
                      </m:r>
                      <m:nary>
                        <m:naryPr>
                          <m:chr m:val="∑"/>
                          <m:limLoc m:val="undOvr"/>
                          <m:ctrlPr>
                            <a:rPr lang="ar-AE" i="1">
                              <a:latin typeface="Cambria Math" panose="02040503050406030204" pitchFamily="18" charset="0"/>
                            </a:rPr>
                          </m:ctrlPr>
                        </m:naryPr>
                        <m:sub>
                          <m:r>
                            <a:rPr lang="ar-AE">
                              <a:latin typeface="Cambria Math" panose="02040503050406030204" pitchFamily="18" charset="0"/>
                            </a:rPr>
                            <m:t>h</m:t>
                          </m:r>
                          <m:r>
                            <a:rPr lang="ar-AE">
                              <a:latin typeface="Cambria Math" panose="02040503050406030204" pitchFamily="18" charset="0"/>
                            </a:rPr>
                            <m:t>=1</m:t>
                          </m:r>
                        </m:sub>
                        <m:sup>
                          <m:r>
                            <a:rPr lang="ar-AE">
                              <a:latin typeface="Cambria Math" panose="02040503050406030204" pitchFamily="18" charset="0"/>
                            </a:rPr>
                            <m:t>3</m:t>
                          </m:r>
                        </m:sup>
                        <m:e>
                          <m:sSub>
                            <m:sSubPr>
                              <m:ctrlPr>
                                <a:rPr lang="ar-AE" i="1">
                                  <a:latin typeface="Cambria Math" panose="02040503050406030204" pitchFamily="18" charset="0"/>
                                </a:rPr>
                              </m:ctrlPr>
                            </m:sSubPr>
                            <m:e>
                              <m:r>
                                <a:rPr lang="ar-AE">
                                  <a:latin typeface="Cambria Math" panose="02040503050406030204" pitchFamily="18" charset="0"/>
                                </a:rPr>
                                <m:t>𝜔</m:t>
                              </m:r>
                            </m:e>
                            <m:sub>
                              <m:r>
                                <a:rPr lang="ar-AE">
                                  <a:latin typeface="Cambria Math" panose="02040503050406030204" pitchFamily="18" charset="0"/>
                                </a:rPr>
                                <m:t>h</m:t>
                              </m:r>
                            </m:sub>
                          </m:sSub>
                        </m:e>
                      </m:nary>
                      <m:r>
                        <a:rPr lang="ar-AE">
                          <a:latin typeface="Cambria Math" panose="02040503050406030204" pitchFamily="18" charset="0"/>
                        </a:rPr>
                        <m:t>𝑅𝑃</m:t>
                      </m:r>
                      <m:sSub>
                        <m:sSubPr>
                          <m:ctrlPr>
                            <a:rPr lang="ar-AE" i="1">
                              <a:latin typeface="Cambria Math" panose="02040503050406030204" pitchFamily="18" charset="0"/>
                            </a:rPr>
                          </m:ctrlPr>
                        </m:sSubPr>
                        <m:e>
                          <m:r>
                            <a:rPr lang="ar-AE">
                              <a:latin typeface="Cambria Math" panose="02040503050406030204" pitchFamily="18" charset="0"/>
                            </a:rPr>
                            <m:t>𝐷</m:t>
                          </m:r>
                        </m:e>
                        <m:sub>
                          <m:r>
                            <a:rPr lang="ar-AE">
                              <a:latin typeface="Cambria Math" panose="02040503050406030204" pitchFamily="18" charset="0"/>
                            </a:rPr>
                            <m:t>𝑡</m:t>
                          </m:r>
                          <m:r>
                            <a:rPr lang="ar-AE">
                              <a:latin typeface="Cambria Math" panose="02040503050406030204" pitchFamily="18" charset="0"/>
                            </a:rPr>
                            <m:t>−</m:t>
                          </m:r>
                          <m:r>
                            <a:rPr lang="ar-AE">
                              <a:latin typeface="Cambria Math" panose="02040503050406030204" pitchFamily="18" charset="0"/>
                            </a:rPr>
                            <m:t>h</m:t>
                          </m:r>
                        </m:sub>
                      </m:sSub>
                      <m:r>
                        <a:rPr lang="ar-AE">
                          <a:latin typeface="Cambria Math" panose="02040503050406030204" pitchFamily="18" charset="0"/>
                        </a:rPr>
                        <m:t>+</m:t>
                      </m:r>
                      <m:sSub>
                        <m:sSubPr>
                          <m:ctrlPr>
                            <a:rPr lang="ar-AE" i="1">
                              <a:latin typeface="Cambria Math" panose="02040503050406030204" pitchFamily="18" charset="0"/>
                            </a:rPr>
                          </m:ctrlPr>
                        </m:sSubPr>
                        <m:e>
                          <m:r>
                            <a:rPr lang="ar-AE">
                              <a:latin typeface="Cambria Math" panose="02040503050406030204" pitchFamily="18" charset="0"/>
                            </a:rPr>
                            <m:t>𝜇</m:t>
                          </m:r>
                        </m:e>
                        <m:sub>
                          <m:r>
                            <a:rPr lang="ar-AE">
                              <a:latin typeface="Cambria Math" panose="02040503050406030204" pitchFamily="18" charset="0"/>
                            </a:rPr>
                            <m:t>𝑡</m:t>
                          </m:r>
                        </m:sub>
                      </m:sSub>
                      <m:r>
                        <a:rPr lang="ar-AE" b="0" i="1" smtClean="0">
                          <a:latin typeface="Cambria Math" panose="02040503050406030204" pitchFamily="18" charset="0"/>
                        </a:rPr>
                        <m:t>,</m:t>
                      </m:r>
                      <m:r>
                        <a:rPr lang="ar-AE">
                          <a:latin typeface="Cambria Math" panose="02040503050406030204" pitchFamily="18" charset="0"/>
                        </a:rPr>
                        <m:t>  </m:t>
                      </m:r>
                      <m:d>
                        <m:dPr>
                          <m:ctrlPr>
                            <a:rPr lang="ar-AE" i="1">
                              <a:latin typeface="Cambria Math" panose="02040503050406030204" pitchFamily="18" charset="0"/>
                            </a:rPr>
                          </m:ctrlPr>
                        </m:dPr>
                        <m:e>
                          <m:r>
                            <a:rPr lang="ar-AE">
                              <a:latin typeface="Cambria Math" panose="02040503050406030204" pitchFamily="18" charset="0"/>
                            </a:rPr>
                            <m:t>10</m:t>
                          </m:r>
                        </m:e>
                      </m:d>
                    </m:oMath>
                  </m:oMathPara>
                </a14:m>
                <a:endParaRPr lang="ar-AE" dirty="0"/>
              </a:p>
              <a:p>
                <a:pPr lvl="0"/>
                <a14:m>
                  <m:oMath xmlns:m="http://schemas.openxmlformats.org/officeDocument/2006/math">
                    <m:r>
                      <a:rPr lang="ar-AE">
                        <a:latin typeface="Cambria Math" panose="02040503050406030204" pitchFamily="18" charset="0"/>
                      </a:rPr>
                      <m:t>𝑅𝑃</m:t>
                    </m:r>
                    <m:sSub>
                      <m:sSubPr>
                        <m:ctrlPr>
                          <a:rPr lang="ar-AE" i="1">
                            <a:latin typeface="Cambria Math" panose="02040503050406030204" pitchFamily="18" charset="0"/>
                          </a:rPr>
                        </m:ctrlPr>
                      </m:sSubPr>
                      <m:e>
                        <m:r>
                          <a:rPr lang="ar-AE">
                            <a:latin typeface="Cambria Math" panose="02040503050406030204" pitchFamily="18" charset="0"/>
                          </a:rPr>
                          <m:t>𝐷</m:t>
                        </m:r>
                      </m:e>
                      <m:sub>
                        <m:r>
                          <a:rPr lang="ar-AE">
                            <a:latin typeface="Cambria Math" panose="02040503050406030204" pitchFamily="18" charset="0"/>
                          </a:rPr>
                          <m:t>𝑡</m:t>
                        </m:r>
                      </m:sub>
                    </m:sSub>
                  </m:oMath>
                </a14:m>
                <a:r>
                  <a:rPr lang="ar-AE" dirty="0"/>
                  <a:t> </a:t>
                </a:r>
                <a:r>
                  <a:rPr lang="en-ZA" dirty="0"/>
                  <a:t>is the relative price variance at time </a:t>
                </a:r>
                <a14:m>
                  <m:oMath xmlns:m="http://schemas.openxmlformats.org/officeDocument/2006/math">
                    <m:r>
                      <a:rPr lang="en-ZA">
                        <a:latin typeface="Cambria Math" panose="02040503050406030204" pitchFamily="18" charset="0"/>
                      </a:rPr>
                      <m:t>𝑡</m:t>
                    </m:r>
                  </m:oMath>
                </a14:m>
                <a:endParaRPr lang="en-ZA" dirty="0"/>
              </a:p>
              <a:p>
                <a:pPr lvl="0"/>
                <a14:m>
                  <m:oMath xmlns:m="http://schemas.openxmlformats.org/officeDocument/2006/math">
                    <m:d>
                      <m:dPr>
                        <m:begChr m:val="|"/>
                        <m:endChr m:val="|"/>
                        <m:ctrlPr>
                          <a:rPr lang="ar-AE" i="1">
                            <a:latin typeface="Cambria Math" panose="02040503050406030204" pitchFamily="18" charset="0"/>
                          </a:rPr>
                        </m:ctrlPr>
                      </m:dPr>
                      <m:e>
                        <m:sSub>
                          <m:sSubPr>
                            <m:ctrlPr>
                              <a:rPr lang="ar-AE" i="1">
                                <a:latin typeface="Cambria Math" panose="02040503050406030204" pitchFamily="18" charset="0"/>
                              </a:rPr>
                            </m:ctrlPr>
                          </m:sSubPr>
                          <m:e>
                            <m:r>
                              <a:rPr lang="ar-AE">
                                <a:latin typeface="Cambria Math" panose="02040503050406030204" pitchFamily="18" charset="0"/>
                              </a:rPr>
                              <m:t>𝜋</m:t>
                            </m:r>
                          </m:e>
                          <m:sub>
                            <m:r>
                              <a:rPr lang="ar-AE">
                                <a:latin typeface="Cambria Math" panose="02040503050406030204" pitchFamily="18" charset="0"/>
                              </a:rPr>
                              <m:t>𝑡</m:t>
                            </m:r>
                          </m:sub>
                        </m:sSub>
                      </m:e>
                    </m:d>
                  </m:oMath>
                </a14:m>
                <a:r>
                  <a:rPr lang="ar-AE" dirty="0"/>
                  <a:t> </a:t>
                </a:r>
                <a:r>
                  <a:rPr lang="en-ZA" dirty="0"/>
                  <a:t>is the absolute value of aggregate inflation rate at time </a:t>
                </a:r>
                <a14:m>
                  <m:oMath xmlns:m="http://schemas.openxmlformats.org/officeDocument/2006/math">
                    <m:r>
                      <a:rPr lang="en-ZA">
                        <a:latin typeface="Cambria Math" panose="02040503050406030204" pitchFamily="18" charset="0"/>
                      </a:rPr>
                      <m:t>𝑡</m:t>
                    </m:r>
                  </m:oMath>
                </a14:m>
                <a:endParaRPr lang="en-ZA" dirty="0"/>
              </a:p>
              <a:p>
                <a:pPr lvl="0"/>
                <a14:m>
                  <m:oMath xmlns:m="http://schemas.openxmlformats.org/officeDocument/2006/math">
                    <m:r>
                      <a:rPr lang="en-ZA">
                        <a:latin typeface="Cambria Math" panose="02040503050406030204" pitchFamily="18" charset="0"/>
                      </a:rPr>
                      <m:t>𝑅𝑃</m:t>
                    </m:r>
                    <m:sSub>
                      <m:sSubPr>
                        <m:ctrlPr>
                          <a:rPr lang="ar-AE" i="1">
                            <a:latin typeface="Cambria Math" panose="02040503050406030204" pitchFamily="18" charset="0"/>
                          </a:rPr>
                        </m:ctrlPr>
                      </m:sSubPr>
                      <m:e>
                        <m:r>
                          <a:rPr lang="ar-AE">
                            <a:latin typeface="Cambria Math" panose="02040503050406030204" pitchFamily="18" charset="0"/>
                          </a:rPr>
                          <m:t>𝐷</m:t>
                        </m:r>
                      </m:e>
                      <m:sub>
                        <m:r>
                          <a:rPr lang="ar-AE">
                            <a:latin typeface="Cambria Math" panose="02040503050406030204" pitchFamily="18" charset="0"/>
                          </a:rPr>
                          <m:t>𝑡</m:t>
                        </m:r>
                        <m:r>
                          <a:rPr lang="ar-AE">
                            <a:latin typeface="Cambria Math" panose="02040503050406030204" pitchFamily="18" charset="0"/>
                          </a:rPr>
                          <m:t>−</m:t>
                        </m:r>
                        <m:r>
                          <a:rPr lang="ar-AE">
                            <a:latin typeface="Cambria Math" panose="02040503050406030204" pitchFamily="18" charset="0"/>
                          </a:rPr>
                          <m:t>h</m:t>
                        </m:r>
                      </m:sub>
                    </m:sSub>
                  </m:oMath>
                </a14:m>
                <a:r>
                  <a:rPr lang="ar-AE" dirty="0"/>
                  <a:t> </a:t>
                </a:r>
                <a:r>
                  <a:rPr lang="en-ZA" dirty="0"/>
                  <a:t>are lagged values of RPD to account for its dynamic nature, and </a:t>
                </a:r>
                <a14:m>
                  <m:oMath xmlns:m="http://schemas.openxmlformats.org/officeDocument/2006/math">
                    <m:sSub>
                      <m:sSubPr>
                        <m:ctrlPr>
                          <a:rPr lang="ar-AE" i="1">
                            <a:latin typeface="Cambria Math" panose="02040503050406030204" pitchFamily="18" charset="0"/>
                          </a:rPr>
                        </m:ctrlPr>
                      </m:sSubPr>
                      <m:e>
                        <m:r>
                          <a:rPr lang="ar-AE">
                            <a:latin typeface="Cambria Math" panose="02040503050406030204" pitchFamily="18" charset="0"/>
                          </a:rPr>
                          <m:t>𝜇</m:t>
                        </m:r>
                      </m:e>
                      <m:sub>
                        <m:r>
                          <a:rPr lang="ar-AE">
                            <a:latin typeface="Cambria Math" panose="02040503050406030204" pitchFamily="18" charset="0"/>
                          </a:rPr>
                          <m:t>𝑡</m:t>
                        </m:r>
                      </m:sub>
                    </m:sSub>
                  </m:oMath>
                </a14:m>
                <a:r>
                  <a:rPr lang="ar-AE" dirty="0"/>
                  <a:t> </a:t>
                </a:r>
                <a:r>
                  <a:rPr lang="en-ZA" dirty="0"/>
                  <a:t>is the error term</a:t>
                </a:r>
              </a:p>
              <a:p>
                <a:pPr lvl="0"/>
                <a:r>
                  <a:rPr lang="en-ZA" dirty="0"/>
                  <a:t>The coefficient </a:t>
                </a:r>
                <a14:m>
                  <m:oMath xmlns:m="http://schemas.openxmlformats.org/officeDocument/2006/math">
                    <m:sSub>
                      <m:sSubPr>
                        <m:ctrlPr>
                          <a:rPr lang="ar-AE" i="1">
                            <a:latin typeface="Cambria Math" panose="02040503050406030204" pitchFamily="18" charset="0"/>
                          </a:rPr>
                        </m:ctrlPr>
                      </m:sSubPr>
                      <m:e>
                        <m:r>
                          <a:rPr lang="ar-AE">
                            <a:latin typeface="Cambria Math" panose="02040503050406030204" pitchFamily="18" charset="0"/>
                          </a:rPr>
                          <m:t>𝛽</m:t>
                        </m:r>
                      </m:e>
                      <m:sub>
                        <m:r>
                          <a:rPr lang="ar-AE">
                            <a:latin typeface="Cambria Math" panose="02040503050406030204" pitchFamily="18" charset="0"/>
                          </a:rPr>
                          <m:t>1</m:t>
                        </m:r>
                      </m:sub>
                    </m:sSub>
                  </m:oMath>
                </a14:m>
                <a:r>
                  <a:rPr lang="ar-AE" dirty="0"/>
                  <a:t> </a:t>
                </a:r>
                <a:r>
                  <a:rPr lang="en-ZA" dirty="0"/>
                  <a:t>captures the effect of inflation on RPD. We include three lags of RPD based on Akaike Information Criterion (AIC) (and other tests) and to capture potential persistence in RPD.</a:t>
                </a:r>
                <a:endParaRPr dirty="0"/>
              </a:p>
            </p:txBody>
          </p:sp>
        </mc:Choice>
        <mc:Fallback>
          <p:sp>
            <p:nvSpPr>
              <p:cNvPr id="3" name="Content Placeholder 2">
                <a:extLst>
                  <a:ext uri="{FF2B5EF4-FFF2-40B4-BE49-F238E27FC236}">
                    <a16:creationId xmlns:a16="http://schemas.microsoft.com/office/drawing/2014/main" id="{9C966DDB-3364-1B41-9729-DB3686A721C5}"/>
                  </a:ext>
                </a:extLst>
              </p:cNvPr>
              <p:cNvSpPr>
                <a:spLocks noGrp="1" noRot="1" noChangeAspect="1" noMove="1" noResize="1" noEditPoints="1" noAdjustHandles="1" noChangeArrowheads="1" noChangeShapeType="1" noTextEdit="1"/>
              </p:cNvSpPr>
              <p:nvPr>
                <p:ph idx="1" hasCustomPrompt="1"/>
              </p:nvPr>
            </p:nvSpPr>
            <p:spPr>
              <a:blipFill>
                <a:blip r:embed="rId2"/>
                <a:stretch>
                  <a:fillRect l="-473" t="-5995"/>
                </a:stretch>
              </a:blipFill>
            </p:spPr>
            <p:txBody>
              <a:bodyPr/>
              <a:lstStyle/>
              <a:p>
                <a:r>
                  <a:rPr lang="en-US">
                    <a:noFill/>
                  </a:rPr>
                  <a:t> </a:t>
                </a:r>
              </a:p>
            </p:txBody>
          </p:sp>
        </mc:Fallback>
      </mc:AlternateContent>
      <p:sp>
        <p:nvSpPr>
          <p:cNvPr id="7" name="Slide Number Placeholder 5">
            <a:extLst>
              <a:ext uri="{FF2B5EF4-FFF2-40B4-BE49-F238E27FC236}">
                <a16:creationId xmlns:a16="http://schemas.microsoft.com/office/drawing/2014/main" id="{FB221DBE-BC54-6C4C-BA1C-95E280B67712}"/>
              </a:ext>
            </a:extLst>
          </p:cNvPr>
          <p:cNvSpPr>
            <a:spLocks noGrp="1"/>
          </p:cNvSpPr>
          <p:nvPr>
            <p:ph type="sldNum" sz="quarter" idx="12"/>
          </p:nvPr>
        </p:nvSpPr>
        <p:spPr>
          <a:xfrm>
            <a:off x="7557977" y="6313820"/>
            <a:ext cx="2743200" cy="365125"/>
          </a:xfrm>
        </p:spPr>
        <p:txBody>
          <a:bodyPr/>
          <a:lstStyle>
            <a:lvl1pPr>
              <a:defRPr sz="1100"/>
            </a:lvl1pPr>
          </a:lstStyle>
          <a:p>
            <a:fld id="{85DA3A08-9E66-614E-AAE5-F810EFDD6885}" type="slidenum">
              <a:rPr lang="en-US" smtClean="0"/>
              <a:pPr/>
              <a:t>15</a:t>
            </a:fld>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631292-24AE-5F41-8820-196C7D8E36A1}"/>
              </a:ext>
            </a:extLst>
          </p:cNvPr>
          <p:cNvSpPr>
            <a:spLocks noGrp="1"/>
          </p:cNvSpPr>
          <p:nvPr>
            <p:ph type="title"/>
          </p:nvPr>
        </p:nvSpPr>
        <p:spPr>
          <a:xfrm>
            <a:off x="1055553" y="365125"/>
            <a:ext cx="10977744" cy="666233"/>
          </a:xfrm>
        </p:spPr>
        <p:txBody>
          <a:bodyPr/>
          <a:lstStyle/>
          <a:p>
            <a:pPr marL="0" lvl="0" indent="0">
              <a:buNone/>
            </a:pPr>
            <a:r>
              <a:rPr lang="en-US" dirty="0"/>
              <a:t>However, this relationship can be time varying, …</a:t>
            </a:r>
            <a:endParaRPr dirty="0"/>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9C966DDB-3364-1B41-9729-DB3686A721C5}"/>
                  </a:ext>
                </a:extLst>
              </p:cNvPr>
              <p:cNvSpPr>
                <a:spLocks noGrp="1"/>
              </p:cNvSpPr>
              <p:nvPr>
                <p:ph idx="1" hasCustomPrompt="1"/>
              </p:nvPr>
            </p:nvSpPr>
            <p:spPr/>
            <p:txBody>
              <a:bodyPr/>
              <a:lstStyle/>
              <a:p>
                <a:pPr marL="0" lvl="0" indent="0">
                  <a:buNone/>
                </a:pPr>
                <a:r>
                  <a:rPr lang="en-ZA" dirty="0"/>
                  <a:t>The literature on RPD emphasizes that the relationship between inflation and RPD maybe time-varying due to structural changes in the economy, monetary policy regimes, and other factors. To capture potential time variation in the relationship, we also estimate a rolling regression model with a 24-month and 60-month windows as follows:</a:t>
                </a:r>
              </a:p>
              <a:p>
                <a:pPr marL="0" lvl="0" indent="0">
                  <a:buNone/>
                </a:pPr>
                <a:endParaRPr lang="en-ZA" dirty="0"/>
              </a:p>
              <a:p>
                <a:pPr marL="0" lvl="0" indent="0">
                  <a:buNone/>
                </a:pPr>
                <a14:m>
                  <m:oMathPara xmlns:m="http://schemas.openxmlformats.org/officeDocument/2006/math">
                    <m:oMathParaPr>
                      <m:jc m:val="center"/>
                    </m:oMathParaPr>
                    <m:oMath xmlns:m="http://schemas.openxmlformats.org/officeDocument/2006/math">
                      <m:r>
                        <a:rPr lang="en-ZA">
                          <a:latin typeface="Cambria Math" panose="02040503050406030204" pitchFamily="18" charset="0"/>
                        </a:rPr>
                        <m:t>𝑅𝑃</m:t>
                      </m:r>
                      <m:sSub>
                        <m:sSubPr>
                          <m:ctrlPr>
                            <a:rPr lang="ar-AE" i="1">
                              <a:latin typeface="Cambria Math" panose="02040503050406030204" pitchFamily="18" charset="0"/>
                            </a:rPr>
                          </m:ctrlPr>
                        </m:sSubPr>
                        <m:e>
                          <m:r>
                            <a:rPr lang="ar-AE">
                              <a:latin typeface="Cambria Math" panose="02040503050406030204" pitchFamily="18" charset="0"/>
                            </a:rPr>
                            <m:t>𝐷</m:t>
                          </m:r>
                        </m:e>
                        <m:sub>
                          <m:r>
                            <a:rPr lang="ar-AE">
                              <a:latin typeface="Cambria Math" panose="02040503050406030204" pitchFamily="18" charset="0"/>
                            </a:rPr>
                            <m:t>𝑡</m:t>
                          </m:r>
                        </m:sub>
                      </m:sSub>
                      <m:r>
                        <a:rPr lang="ar-AE">
                          <a:latin typeface="Cambria Math" panose="02040503050406030204" pitchFamily="18" charset="0"/>
                        </a:rPr>
                        <m:t>=</m:t>
                      </m:r>
                      <m:sSub>
                        <m:sSubPr>
                          <m:ctrlPr>
                            <a:rPr lang="ar-AE" i="1">
                              <a:latin typeface="Cambria Math" panose="02040503050406030204" pitchFamily="18" charset="0"/>
                            </a:rPr>
                          </m:ctrlPr>
                        </m:sSubPr>
                        <m:e>
                          <m:r>
                            <a:rPr lang="ar-AE">
                              <a:latin typeface="Cambria Math" panose="02040503050406030204" pitchFamily="18" charset="0"/>
                            </a:rPr>
                            <m:t>𝛼</m:t>
                          </m:r>
                        </m:e>
                        <m:sub>
                          <m:r>
                            <a:rPr lang="ar-AE">
                              <a:latin typeface="Cambria Math" panose="02040503050406030204" pitchFamily="18" charset="0"/>
                            </a:rPr>
                            <m:t>𝑡</m:t>
                          </m:r>
                        </m:sub>
                      </m:sSub>
                      <m:r>
                        <a:rPr lang="ar-AE">
                          <a:latin typeface="Cambria Math" panose="02040503050406030204" pitchFamily="18" charset="0"/>
                        </a:rPr>
                        <m:t>+</m:t>
                      </m:r>
                      <m:sSub>
                        <m:sSubPr>
                          <m:ctrlPr>
                            <a:rPr lang="ar-AE" i="1">
                              <a:latin typeface="Cambria Math" panose="02040503050406030204" pitchFamily="18" charset="0"/>
                            </a:rPr>
                          </m:ctrlPr>
                        </m:sSubPr>
                        <m:e>
                          <m:r>
                            <a:rPr lang="ar-AE">
                              <a:latin typeface="Cambria Math" panose="02040503050406030204" pitchFamily="18" charset="0"/>
                            </a:rPr>
                            <m:t>𝛽</m:t>
                          </m:r>
                        </m:e>
                        <m:sub>
                          <m:r>
                            <a:rPr lang="ar-AE">
                              <a:latin typeface="Cambria Math" panose="02040503050406030204" pitchFamily="18" charset="0"/>
                            </a:rPr>
                            <m:t>1,</m:t>
                          </m:r>
                          <m:r>
                            <a:rPr lang="ar-AE">
                              <a:latin typeface="Cambria Math" panose="02040503050406030204" pitchFamily="18" charset="0"/>
                            </a:rPr>
                            <m:t>𝑡</m:t>
                          </m:r>
                        </m:sub>
                      </m:sSub>
                      <m:d>
                        <m:dPr>
                          <m:begChr m:val="|"/>
                          <m:endChr m:val="|"/>
                          <m:ctrlPr>
                            <a:rPr lang="ar-AE" i="1">
                              <a:latin typeface="Cambria Math" panose="02040503050406030204" pitchFamily="18" charset="0"/>
                            </a:rPr>
                          </m:ctrlPr>
                        </m:dPr>
                        <m:e>
                          <m:sSub>
                            <m:sSubPr>
                              <m:ctrlPr>
                                <a:rPr lang="ar-AE" i="1" smtClean="0">
                                  <a:latin typeface="Cambria Math" panose="02040503050406030204" pitchFamily="18" charset="0"/>
                                </a:rPr>
                              </m:ctrlPr>
                            </m:sSubPr>
                            <m:e>
                              <m:r>
                                <a:rPr lang="ar-AE">
                                  <a:latin typeface="Cambria Math" panose="02040503050406030204" pitchFamily="18" charset="0"/>
                                </a:rPr>
                                <m:t>𝜋</m:t>
                              </m:r>
                            </m:e>
                            <m:sub>
                              <m:r>
                                <a:rPr lang="ar-AE">
                                  <a:latin typeface="Cambria Math" panose="02040503050406030204" pitchFamily="18" charset="0"/>
                                </a:rPr>
                                <m:t>𝑡</m:t>
                              </m:r>
                            </m:sub>
                          </m:sSub>
                        </m:e>
                      </m:d>
                      <m:r>
                        <a:rPr lang="ar-AE">
                          <a:latin typeface="Cambria Math" panose="02040503050406030204" pitchFamily="18" charset="0"/>
                        </a:rPr>
                        <m:t>+</m:t>
                      </m:r>
                      <m:nary>
                        <m:naryPr>
                          <m:chr m:val="∑"/>
                          <m:limLoc m:val="undOvr"/>
                          <m:ctrlPr>
                            <a:rPr lang="ar-AE" i="1">
                              <a:latin typeface="Cambria Math" panose="02040503050406030204" pitchFamily="18" charset="0"/>
                            </a:rPr>
                          </m:ctrlPr>
                        </m:naryPr>
                        <m:sub>
                          <m:r>
                            <a:rPr lang="ar-AE">
                              <a:latin typeface="Cambria Math" panose="02040503050406030204" pitchFamily="18" charset="0"/>
                            </a:rPr>
                            <m:t>h</m:t>
                          </m:r>
                          <m:r>
                            <a:rPr lang="ar-AE">
                              <a:latin typeface="Cambria Math" panose="02040503050406030204" pitchFamily="18" charset="0"/>
                            </a:rPr>
                            <m:t>=1</m:t>
                          </m:r>
                        </m:sub>
                        <m:sup>
                          <m:r>
                            <a:rPr lang="ar-AE">
                              <a:latin typeface="Cambria Math" panose="02040503050406030204" pitchFamily="18" charset="0"/>
                            </a:rPr>
                            <m:t>3</m:t>
                          </m:r>
                        </m:sup>
                        <m:e>
                          <m:sSub>
                            <m:sSubPr>
                              <m:ctrlPr>
                                <a:rPr lang="ar-AE" i="1">
                                  <a:latin typeface="Cambria Math" panose="02040503050406030204" pitchFamily="18" charset="0"/>
                                </a:rPr>
                              </m:ctrlPr>
                            </m:sSubPr>
                            <m:e>
                              <m:r>
                                <a:rPr lang="ar-AE">
                                  <a:latin typeface="Cambria Math" panose="02040503050406030204" pitchFamily="18" charset="0"/>
                                </a:rPr>
                                <m:t>𝜔</m:t>
                              </m:r>
                            </m:e>
                            <m:sub>
                              <m:r>
                                <a:rPr lang="ar-AE">
                                  <a:latin typeface="Cambria Math" panose="02040503050406030204" pitchFamily="18" charset="0"/>
                                </a:rPr>
                                <m:t>h</m:t>
                              </m:r>
                              <m:r>
                                <a:rPr lang="ar-AE">
                                  <a:latin typeface="Cambria Math" panose="02040503050406030204" pitchFamily="18" charset="0"/>
                                </a:rPr>
                                <m:t>,</m:t>
                              </m:r>
                              <m:r>
                                <a:rPr lang="ar-AE">
                                  <a:latin typeface="Cambria Math" panose="02040503050406030204" pitchFamily="18" charset="0"/>
                                </a:rPr>
                                <m:t>𝑡</m:t>
                              </m:r>
                            </m:sub>
                          </m:sSub>
                        </m:e>
                      </m:nary>
                      <m:r>
                        <a:rPr lang="ar-AE">
                          <a:latin typeface="Cambria Math" panose="02040503050406030204" pitchFamily="18" charset="0"/>
                        </a:rPr>
                        <m:t>𝑅𝑃</m:t>
                      </m:r>
                      <m:sSub>
                        <m:sSubPr>
                          <m:ctrlPr>
                            <a:rPr lang="ar-AE" i="1">
                              <a:latin typeface="Cambria Math" panose="02040503050406030204" pitchFamily="18" charset="0"/>
                            </a:rPr>
                          </m:ctrlPr>
                        </m:sSubPr>
                        <m:e>
                          <m:r>
                            <a:rPr lang="ar-AE">
                              <a:latin typeface="Cambria Math" panose="02040503050406030204" pitchFamily="18" charset="0"/>
                            </a:rPr>
                            <m:t>𝐷</m:t>
                          </m:r>
                        </m:e>
                        <m:sub>
                          <m:r>
                            <a:rPr lang="ar-AE">
                              <a:latin typeface="Cambria Math" panose="02040503050406030204" pitchFamily="18" charset="0"/>
                            </a:rPr>
                            <m:t>𝑡</m:t>
                          </m:r>
                          <m:r>
                            <a:rPr lang="ar-AE">
                              <a:latin typeface="Cambria Math" panose="02040503050406030204" pitchFamily="18" charset="0"/>
                            </a:rPr>
                            <m:t>−</m:t>
                          </m:r>
                          <m:r>
                            <a:rPr lang="ar-AE">
                              <a:latin typeface="Cambria Math" panose="02040503050406030204" pitchFamily="18" charset="0"/>
                            </a:rPr>
                            <m:t>h</m:t>
                          </m:r>
                        </m:sub>
                      </m:sSub>
                      <m:r>
                        <a:rPr lang="ar-AE">
                          <a:latin typeface="Cambria Math" panose="02040503050406030204" pitchFamily="18" charset="0"/>
                        </a:rPr>
                        <m:t>+</m:t>
                      </m:r>
                      <m:sSub>
                        <m:sSubPr>
                          <m:ctrlPr>
                            <a:rPr lang="ar-AE" i="1">
                              <a:latin typeface="Cambria Math" panose="02040503050406030204" pitchFamily="18" charset="0"/>
                            </a:rPr>
                          </m:ctrlPr>
                        </m:sSubPr>
                        <m:e>
                          <m:r>
                            <a:rPr lang="ar-AE">
                              <a:latin typeface="Cambria Math" panose="02040503050406030204" pitchFamily="18" charset="0"/>
                            </a:rPr>
                            <m:t>𝜇</m:t>
                          </m:r>
                        </m:e>
                        <m:sub>
                          <m:r>
                            <a:rPr lang="ar-AE">
                              <a:latin typeface="Cambria Math" panose="02040503050406030204" pitchFamily="18" charset="0"/>
                            </a:rPr>
                            <m:t>𝑡</m:t>
                          </m:r>
                        </m:sub>
                      </m:sSub>
                      <m:r>
                        <a:rPr lang="ar-AE" b="0" i="0" smtClean="0">
                          <a:latin typeface="Cambria Math" panose="02040503050406030204" pitchFamily="18" charset="0"/>
                        </a:rPr>
                        <m:t>,</m:t>
                      </m:r>
                      <m:r>
                        <a:rPr lang="ar-AE">
                          <a:latin typeface="Cambria Math" panose="02040503050406030204" pitchFamily="18" charset="0"/>
                        </a:rPr>
                        <m:t>  </m:t>
                      </m:r>
                      <m:d>
                        <m:dPr>
                          <m:ctrlPr>
                            <a:rPr lang="ar-AE" i="1">
                              <a:latin typeface="Cambria Math" panose="02040503050406030204" pitchFamily="18" charset="0"/>
                            </a:rPr>
                          </m:ctrlPr>
                        </m:dPr>
                        <m:e>
                          <m:r>
                            <a:rPr lang="ar-AE">
                              <a:latin typeface="Cambria Math" panose="02040503050406030204" pitchFamily="18" charset="0"/>
                            </a:rPr>
                            <m:t>11</m:t>
                          </m:r>
                        </m:e>
                      </m:d>
                    </m:oMath>
                  </m:oMathPara>
                </a14:m>
                <a:endParaRPr lang="ar-AE" dirty="0"/>
              </a:p>
              <a:p>
                <a:pPr marL="0" lvl="0" indent="0">
                  <a:buNone/>
                </a:pPr>
                <a:endParaRPr lang="ar-AE" dirty="0"/>
              </a:p>
              <a:p>
                <a:pPr lvl="0"/>
                <a:r>
                  <a:rPr lang="en-ZA" dirty="0"/>
                  <a:t>The coefficients </a:t>
                </a:r>
                <a14:m>
                  <m:oMath xmlns:m="http://schemas.openxmlformats.org/officeDocument/2006/math">
                    <m:sSub>
                      <m:sSubPr>
                        <m:ctrlPr>
                          <a:rPr lang="ar-AE" i="1">
                            <a:latin typeface="Cambria Math" panose="02040503050406030204" pitchFamily="18" charset="0"/>
                          </a:rPr>
                        </m:ctrlPr>
                      </m:sSubPr>
                      <m:e>
                        <m:r>
                          <a:rPr lang="ar-AE">
                            <a:latin typeface="Cambria Math" panose="02040503050406030204" pitchFamily="18" charset="0"/>
                          </a:rPr>
                          <m:t>𝛼</m:t>
                        </m:r>
                      </m:e>
                      <m:sub>
                        <m:r>
                          <a:rPr lang="ar-AE">
                            <a:latin typeface="Cambria Math" panose="02040503050406030204" pitchFamily="18" charset="0"/>
                          </a:rPr>
                          <m:t>𝑡</m:t>
                        </m:r>
                      </m:sub>
                    </m:sSub>
                  </m:oMath>
                </a14:m>
                <a:r>
                  <a:rPr lang="ar-AE" dirty="0"/>
                  <a:t>, </a:t>
                </a:r>
                <a14:m>
                  <m:oMath xmlns:m="http://schemas.openxmlformats.org/officeDocument/2006/math">
                    <m:sSub>
                      <m:sSubPr>
                        <m:ctrlPr>
                          <a:rPr lang="ar-AE" i="1">
                            <a:latin typeface="Cambria Math" panose="02040503050406030204" pitchFamily="18" charset="0"/>
                          </a:rPr>
                        </m:ctrlPr>
                      </m:sSubPr>
                      <m:e>
                        <m:r>
                          <a:rPr lang="ar-AE">
                            <a:latin typeface="Cambria Math" panose="02040503050406030204" pitchFamily="18" charset="0"/>
                          </a:rPr>
                          <m:t>𝛽</m:t>
                        </m:r>
                      </m:e>
                      <m:sub>
                        <m:r>
                          <a:rPr lang="ar-AE">
                            <a:latin typeface="Cambria Math" panose="02040503050406030204" pitchFamily="18" charset="0"/>
                          </a:rPr>
                          <m:t>1,</m:t>
                        </m:r>
                        <m:r>
                          <a:rPr lang="ar-AE">
                            <a:latin typeface="Cambria Math" panose="02040503050406030204" pitchFamily="18" charset="0"/>
                          </a:rPr>
                          <m:t>𝑡</m:t>
                        </m:r>
                      </m:sub>
                    </m:sSub>
                  </m:oMath>
                </a14:m>
                <a:r>
                  <a:rPr lang="ar-AE" dirty="0"/>
                  <a:t>, </a:t>
                </a:r>
                <a:r>
                  <a:rPr lang="en-ZA" dirty="0"/>
                  <a:t>and </a:t>
                </a:r>
                <a14:m>
                  <m:oMath xmlns:m="http://schemas.openxmlformats.org/officeDocument/2006/math">
                    <m:sSub>
                      <m:sSubPr>
                        <m:ctrlPr>
                          <a:rPr lang="ar-AE" i="1">
                            <a:latin typeface="Cambria Math" panose="02040503050406030204" pitchFamily="18" charset="0"/>
                          </a:rPr>
                        </m:ctrlPr>
                      </m:sSubPr>
                      <m:e>
                        <m:r>
                          <a:rPr lang="ar-AE">
                            <a:latin typeface="Cambria Math" panose="02040503050406030204" pitchFamily="18" charset="0"/>
                          </a:rPr>
                          <m:t>𝜔</m:t>
                        </m:r>
                      </m:e>
                      <m:sub>
                        <m:r>
                          <a:rPr lang="ar-AE">
                            <a:latin typeface="Cambria Math" panose="02040503050406030204" pitchFamily="18" charset="0"/>
                          </a:rPr>
                          <m:t>h</m:t>
                        </m:r>
                        <m:r>
                          <a:rPr lang="ar-AE">
                            <a:latin typeface="Cambria Math" panose="02040503050406030204" pitchFamily="18" charset="0"/>
                          </a:rPr>
                          <m:t>,</m:t>
                        </m:r>
                        <m:r>
                          <a:rPr lang="ar-AE">
                            <a:latin typeface="Cambria Math" panose="02040503050406030204" pitchFamily="18" charset="0"/>
                          </a:rPr>
                          <m:t>𝑡</m:t>
                        </m:r>
                      </m:sub>
                    </m:sSub>
                  </m:oMath>
                </a14:m>
                <a:r>
                  <a:rPr lang="ar-AE" dirty="0"/>
                  <a:t> </a:t>
                </a:r>
                <a:r>
                  <a:rPr lang="en-ZA" dirty="0"/>
                  <a:t>vary over time.</a:t>
                </a:r>
              </a:p>
              <a:p>
                <a:pPr lvl="0"/>
                <a:r>
                  <a:rPr lang="en-ZA" dirty="0"/>
                  <a:t>This approach allows us to observe the stability of the coefficients over time, which is an indicator of non-linearity in the relationship between RPD and inflation.</a:t>
                </a:r>
                <a:endParaRPr dirty="0"/>
              </a:p>
            </p:txBody>
          </p:sp>
        </mc:Choice>
        <mc:Fallback>
          <p:sp>
            <p:nvSpPr>
              <p:cNvPr id="3" name="Content Placeholder 2">
                <a:extLst>
                  <a:ext uri="{FF2B5EF4-FFF2-40B4-BE49-F238E27FC236}">
                    <a16:creationId xmlns:a16="http://schemas.microsoft.com/office/drawing/2014/main" id="{9C966DDB-3364-1B41-9729-DB3686A721C5}"/>
                  </a:ext>
                </a:extLst>
              </p:cNvPr>
              <p:cNvSpPr>
                <a:spLocks noGrp="1" noRot="1" noChangeAspect="1" noMove="1" noResize="1" noEditPoints="1" noAdjustHandles="1" noChangeArrowheads="1" noChangeShapeType="1" noTextEdit="1"/>
              </p:cNvSpPr>
              <p:nvPr>
                <p:ph idx="1" hasCustomPrompt="1"/>
              </p:nvPr>
            </p:nvSpPr>
            <p:spPr>
              <a:blipFill>
                <a:blip r:embed="rId2"/>
                <a:stretch>
                  <a:fillRect l="-473" t="-1362"/>
                </a:stretch>
              </a:blipFill>
            </p:spPr>
            <p:txBody>
              <a:bodyPr/>
              <a:lstStyle/>
              <a:p>
                <a:r>
                  <a:rPr lang="en-US">
                    <a:noFill/>
                  </a:rPr>
                  <a:t> </a:t>
                </a:r>
              </a:p>
            </p:txBody>
          </p:sp>
        </mc:Fallback>
      </mc:AlternateContent>
      <p:sp>
        <p:nvSpPr>
          <p:cNvPr id="7" name="Slide Number Placeholder 5">
            <a:extLst>
              <a:ext uri="{FF2B5EF4-FFF2-40B4-BE49-F238E27FC236}">
                <a16:creationId xmlns:a16="http://schemas.microsoft.com/office/drawing/2014/main" id="{FB221DBE-BC54-6C4C-BA1C-95E280B67712}"/>
              </a:ext>
            </a:extLst>
          </p:cNvPr>
          <p:cNvSpPr>
            <a:spLocks noGrp="1"/>
          </p:cNvSpPr>
          <p:nvPr>
            <p:ph type="sldNum" sz="quarter" idx="12"/>
          </p:nvPr>
        </p:nvSpPr>
        <p:spPr>
          <a:xfrm>
            <a:off x="7557977" y="6313820"/>
            <a:ext cx="2743200" cy="365125"/>
          </a:xfrm>
        </p:spPr>
        <p:txBody>
          <a:bodyPr/>
          <a:lstStyle>
            <a:lvl1pPr>
              <a:defRPr sz="1100"/>
            </a:lvl1pPr>
          </a:lstStyle>
          <a:p>
            <a:fld id="{85DA3A08-9E66-614E-AAE5-F810EFDD6885}" type="slidenum">
              <a:rPr lang="en-US" smtClean="0"/>
              <a:pPr/>
              <a:t>16</a:t>
            </a:fld>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631292-24AE-5F41-8820-196C7D8E36A1}"/>
              </a:ext>
            </a:extLst>
          </p:cNvPr>
          <p:cNvSpPr>
            <a:spLocks noGrp="1"/>
          </p:cNvSpPr>
          <p:nvPr>
            <p:ph type="title"/>
          </p:nvPr>
        </p:nvSpPr>
        <p:spPr>
          <a:xfrm>
            <a:off x="1055553" y="365125"/>
            <a:ext cx="10977744" cy="666233"/>
          </a:xfrm>
        </p:spPr>
        <p:txBody>
          <a:bodyPr/>
          <a:lstStyle/>
          <a:p>
            <a:pPr marL="0" lvl="0" indent="0">
              <a:buNone/>
            </a:pPr>
            <a:r>
              <a:rPr lang="en-US" dirty="0"/>
              <a:t>… or even quadratic in nature</a:t>
            </a:r>
            <a:endParaRPr dirty="0"/>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9C966DDB-3364-1B41-9729-DB3686A721C5}"/>
                  </a:ext>
                </a:extLst>
              </p:cNvPr>
              <p:cNvSpPr>
                <a:spLocks noGrp="1"/>
              </p:cNvSpPr>
              <p:nvPr>
                <p:ph idx="1" hasCustomPrompt="1"/>
              </p:nvPr>
            </p:nvSpPr>
            <p:spPr/>
            <p:txBody>
              <a:bodyPr/>
              <a:lstStyle/>
              <a:p>
                <a:pPr marL="0" lvl="0" indent="0">
                  <a:buNone/>
                </a:pPr>
                <a:r>
                  <a:rPr lang="en-ZA" dirty="0"/>
                  <a:t>Next, we </a:t>
                </a:r>
                <a:r>
                  <a:rPr lang="en-ZA" dirty="0" err="1"/>
                  <a:t>utilise</a:t>
                </a:r>
                <a:r>
                  <a:rPr lang="en-ZA" dirty="0"/>
                  <a:t> a semi-parametric or partially linear approach to estimate the optimal level of inflation given the RPD. This approach allows us to model the relationship between inflation and RPD without imposing a strict functional form. Following the literature, we first specify a quadratic (U-shaped) relationship between inflation and RPD as follows:</a:t>
                </a:r>
              </a:p>
              <a:p>
                <a:pPr marL="0" lvl="0" indent="0">
                  <a:buNone/>
                </a:pPr>
                <a:endParaRPr lang="en-ZA" dirty="0"/>
              </a:p>
              <a:p>
                <a:pPr marL="0" lvl="0" indent="0">
                  <a:buNone/>
                </a:pPr>
                <a14:m>
                  <m:oMathPara xmlns:m="http://schemas.openxmlformats.org/officeDocument/2006/math">
                    <m:oMathParaPr>
                      <m:jc m:val="center"/>
                    </m:oMathParaPr>
                    <m:oMath xmlns:m="http://schemas.openxmlformats.org/officeDocument/2006/math">
                      <m:r>
                        <a:rPr lang="en-ZA">
                          <a:latin typeface="Cambria Math" panose="02040503050406030204" pitchFamily="18" charset="0"/>
                        </a:rPr>
                        <m:t>𝑅𝑃</m:t>
                      </m:r>
                      <m:sSub>
                        <m:sSubPr>
                          <m:ctrlPr>
                            <a:rPr lang="ar-AE" i="1">
                              <a:latin typeface="Cambria Math" panose="02040503050406030204" pitchFamily="18" charset="0"/>
                            </a:rPr>
                          </m:ctrlPr>
                        </m:sSubPr>
                        <m:e>
                          <m:r>
                            <a:rPr lang="ar-AE">
                              <a:latin typeface="Cambria Math" panose="02040503050406030204" pitchFamily="18" charset="0"/>
                            </a:rPr>
                            <m:t>𝐷</m:t>
                          </m:r>
                        </m:e>
                        <m:sub>
                          <m:r>
                            <a:rPr lang="ar-AE">
                              <a:latin typeface="Cambria Math" panose="02040503050406030204" pitchFamily="18" charset="0"/>
                            </a:rPr>
                            <m:t>𝑡</m:t>
                          </m:r>
                        </m:sub>
                      </m:sSub>
                      <m:r>
                        <a:rPr lang="ar-AE">
                          <a:latin typeface="Cambria Math" panose="02040503050406030204" pitchFamily="18" charset="0"/>
                        </a:rPr>
                        <m:t>=</m:t>
                      </m:r>
                      <m:r>
                        <a:rPr lang="ar-AE">
                          <a:latin typeface="Cambria Math" panose="02040503050406030204" pitchFamily="18" charset="0"/>
                        </a:rPr>
                        <m:t>𝛼</m:t>
                      </m:r>
                      <m:r>
                        <a:rPr lang="ar-AE">
                          <a:latin typeface="Cambria Math" panose="02040503050406030204" pitchFamily="18" charset="0"/>
                        </a:rPr>
                        <m:t>+</m:t>
                      </m:r>
                      <m:sSub>
                        <m:sSubPr>
                          <m:ctrlPr>
                            <a:rPr lang="ar-AE" i="1">
                              <a:latin typeface="Cambria Math" panose="02040503050406030204" pitchFamily="18" charset="0"/>
                            </a:rPr>
                          </m:ctrlPr>
                        </m:sSubPr>
                        <m:e>
                          <m:r>
                            <a:rPr lang="ar-AE">
                              <a:latin typeface="Cambria Math" panose="02040503050406030204" pitchFamily="18" charset="0"/>
                            </a:rPr>
                            <m:t>𝜋</m:t>
                          </m:r>
                        </m:e>
                        <m:sub>
                          <m:r>
                            <a:rPr lang="ar-AE">
                              <a:latin typeface="Cambria Math" panose="02040503050406030204" pitchFamily="18" charset="0"/>
                            </a:rPr>
                            <m:t>𝑡</m:t>
                          </m:r>
                        </m:sub>
                      </m:sSub>
                      <m:r>
                        <a:rPr lang="ar-AE">
                          <a:latin typeface="Cambria Math" panose="02040503050406030204" pitchFamily="18" charset="0"/>
                        </a:rPr>
                        <m:t>+</m:t>
                      </m:r>
                      <m:sSub>
                        <m:sSubPr>
                          <m:ctrlPr>
                            <a:rPr lang="ar-AE" i="1">
                              <a:latin typeface="Cambria Math" panose="02040503050406030204" pitchFamily="18" charset="0"/>
                            </a:rPr>
                          </m:ctrlPr>
                        </m:sSubPr>
                        <m:e>
                          <m:r>
                            <a:rPr lang="ar-AE">
                              <a:latin typeface="Cambria Math" panose="02040503050406030204" pitchFamily="18" charset="0"/>
                            </a:rPr>
                            <m:t>𝛽</m:t>
                          </m:r>
                        </m:e>
                        <m:sub>
                          <m:r>
                            <a:rPr lang="ar-AE">
                              <a:latin typeface="Cambria Math" panose="02040503050406030204" pitchFamily="18" charset="0"/>
                            </a:rPr>
                            <m:t>2</m:t>
                          </m:r>
                        </m:sub>
                      </m:sSub>
                      <m:sSubSup>
                        <m:sSubSupPr>
                          <m:ctrlPr>
                            <a:rPr lang="ar-AE" i="1">
                              <a:latin typeface="Cambria Math" panose="02040503050406030204" pitchFamily="18" charset="0"/>
                            </a:rPr>
                          </m:ctrlPr>
                        </m:sSubSupPr>
                        <m:e>
                          <m:r>
                            <a:rPr lang="ar-AE">
                              <a:latin typeface="Cambria Math" panose="02040503050406030204" pitchFamily="18" charset="0"/>
                            </a:rPr>
                            <m:t>𝜋</m:t>
                          </m:r>
                        </m:e>
                        <m:sub>
                          <m:r>
                            <a:rPr lang="ar-AE">
                              <a:latin typeface="Cambria Math" panose="02040503050406030204" pitchFamily="18" charset="0"/>
                            </a:rPr>
                            <m:t>𝑡</m:t>
                          </m:r>
                        </m:sub>
                        <m:sup>
                          <m:r>
                            <a:rPr lang="ar-AE">
                              <a:latin typeface="Cambria Math" panose="02040503050406030204" pitchFamily="18" charset="0"/>
                            </a:rPr>
                            <m:t>2</m:t>
                          </m:r>
                        </m:sup>
                      </m:sSubSup>
                      <m:r>
                        <a:rPr lang="ar-AE">
                          <a:latin typeface="Cambria Math" panose="02040503050406030204" pitchFamily="18" charset="0"/>
                        </a:rPr>
                        <m:t>+</m:t>
                      </m:r>
                      <m:nary>
                        <m:naryPr>
                          <m:chr m:val="∑"/>
                          <m:limLoc m:val="undOvr"/>
                          <m:ctrlPr>
                            <a:rPr lang="ar-AE" i="1">
                              <a:latin typeface="Cambria Math" panose="02040503050406030204" pitchFamily="18" charset="0"/>
                            </a:rPr>
                          </m:ctrlPr>
                        </m:naryPr>
                        <m:sub>
                          <m:r>
                            <a:rPr lang="ar-AE">
                              <a:latin typeface="Cambria Math" panose="02040503050406030204" pitchFamily="18" charset="0"/>
                            </a:rPr>
                            <m:t>h</m:t>
                          </m:r>
                          <m:r>
                            <a:rPr lang="ar-AE">
                              <a:latin typeface="Cambria Math" panose="02040503050406030204" pitchFamily="18" charset="0"/>
                            </a:rPr>
                            <m:t>=1</m:t>
                          </m:r>
                        </m:sub>
                        <m:sup>
                          <m:r>
                            <a:rPr lang="ar-AE">
                              <a:latin typeface="Cambria Math" panose="02040503050406030204" pitchFamily="18" charset="0"/>
                            </a:rPr>
                            <m:t>3</m:t>
                          </m:r>
                        </m:sup>
                        <m:e>
                          <m:sSub>
                            <m:sSubPr>
                              <m:ctrlPr>
                                <a:rPr lang="ar-AE" i="1">
                                  <a:latin typeface="Cambria Math" panose="02040503050406030204" pitchFamily="18" charset="0"/>
                                </a:rPr>
                              </m:ctrlPr>
                            </m:sSubPr>
                            <m:e>
                              <m:r>
                                <a:rPr lang="ar-AE">
                                  <a:latin typeface="Cambria Math" panose="02040503050406030204" pitchFamily="18" charset="0"/>
                                </a:rPr>
                                <m:t>𝜙</m:t>
                              </m:r>
                            </m:e>
                            <m:sub>
                              <m:r>
                                <a:rPr lang="ar-AE">
                                  <a:latin typeface="Cambria Math" panose="02040503050406030204" pitchFamily="18" charset="0"/>
                                </a:rPr>
                                <m:t>h</m:t>
                              </m:r>
                            </m:sub>
                          </m:sSub>
                        </m:e>
                      </m:nary>
                      <m:r>
                        <a:rPr lang="ar-AE">
                          <a:latin typeface="Cambria Math" panose="02040503050406030204" pitchFamily="18" charset="0"/>
                        </a:rPr>
                        <m:t>𝑅𝑃</m:t>
                      </m:r>
                      <m:sSub>
                        <m:sSubPr>
                          <m:ctrlPr>
                            <a:rPr lang="ar-AE" i="1">
                              <a:latin typeface="Cambria Math" panose="02040503050406030204" pitchFamily="18" charset="0"/>
                            </a:rPr>
                          </m:ctrlPr>
                        </m:sSubPr>
                        <m:e>
                          <m:r>
                            <a:rPr lang="ar-AE">
                              <a:latin typeface="Cambria Math" panose="02040503050406030204" pitchFamily="18" charset="0"/>
                            </a:rPr>
                            <m:t>𝐷</m:t>
                          </m:r>
                        </m:e>
                        <m:sub>
                          <m:r>
                            <a:rPr lang="ar-AE">
                              <a:latin typeface="Cambria Math" panose="02040503050406030204" pitchFamily="18" charset="0"/>
                            </a:rPr>
                            <m:t>𝑡</m:t>
                          </m:r>
                          <m:r>
                            <a:rPr lang="ar-AE">
                              <a:latin typeface="Cambria Math" panose="02040503050406030204" pitchFamily="18" charset="0"/>
                            </a:rPr>
                            <m:t>−</m:t>
                          </m:r>
                          <m:r>
                            <a:rPr lang="ar-AE">
                              <a:latin typeface="Cambria Math" panose="02040503050406030204" pitchFamily="18" charset="0"/>
                            </a:rPr>
                            <m:t>h</m:t>
                          </m:r>
                        </m:sub>
                      </m:sSub>
                      <m:r>
                        <a:rPr lang="ar-AE">
                          <a:latin typeface="Cambria Math" panose="02040503050406030204" pitchFamily="18" charset="0"/>
                        </a:rPr>
                        <m:t>+</m:t>
                      </m:r>
                      <m:sSub>
                        <m:sSubPr>
                          <m:ctrlPr>
                            <a:rPr lang="ar-AE" i="1">
                              <a:latin typeface="Cambria Math" panose="02040503050406030204" pitchFamily="18" charset="0"/>
                            </a:rPr>
                          </m:ctrlPr>
                        </m:sSubPr>
                        <m:e>
                          <m:r>
                            <a:rPr lang="ar-AE">
                              <a:latin typeface="Cambria Math" panose="02040503050406030204" pitchFamily="18" charset="0"/>
                            </a:rPr>
                            <m:t>𝜖</m:t>
                          </m:r>
                        </m:e>
                        <m:sub>
                          <m:r>
                            <a:rPr lang="ar-AE">
                              <a:latin typeface="Cambria Math" panose="02040503050406030204" pitchFamily="18" charset="0"/>
                            </a:rPr>
                            <m:t>𝑡</m:t>
                          </m:r>
                        </m:sub>
                      </m:sSub>
                      <m:r>
                        <a:rPr lang="ar-AE" b="0" i="0" smtClean="0">
                          <a:latin typeface="Cambria Math" panose="02040503050406030204" pitchFamily="18" charset="0"/>
                        </a:rPr>
                        <m:t>,</m:t>
                      </m:r>
                      <m:r>
                        <a:rPr lang="ar-AE">
                          <a:latin typeface="Cambria Math" panose="02040503050406030204" pitchFamily="18" charset="0"/>
                        </a:rPr>
                        <m:t>  </m:t>
                      </m:r>
                      <m:d>
                        <m:dPr>
                          <m:ctrlPr>
                            <a:rPr lang="ar-AE" i="1">
                              <a:latin typeface="Cambria Math" panose="02040503050406030204" pitchFamily="18" charset="0"/>
                            </a:rPr>
                          </m:ctrlPr>
                        </m:dPr>
                        <m:e>
                          <m:r>
                            <a:rPr lang="ar-AE">
                              <a:latin typeface="Cambria Math" panose="02040503050406030204" pitchFamily="18" charset="0"/>
                            </a:rPr>
                            <m:t>12</m:t>
                          </m:r>
                        </m:e>
                      </m:d>
                    </m:oMath>
                  </m:oMathPara>
                </a14:m>
                <a:endParaRPr lang="ar-AE" dirty="0"/>
              </a:p>
              <a:p>
                <a:pPr marL="0" lvl="0" indent="0">
                  <a:buNone/>
                </a:pPr>
                <a:endParaRPr lang="ar-AE" dirty="0"/>
              </a:p>
              <a:p>
                <a:pPr lvl="0"/>
                <a14:m>
                  <m:oMath xmlns:m="http://schemas.openxmlformats.org/officeDocument/2006/math">
                    <m:sSub>
                      <m:sSubPr>
                        <m:ctrlPr>
                          <a:rPr lang="ar-AE" i="1">
                            <a:latin typeface="Cambria Math" panose="02040503050406030204" pitchFamily="18" charset="0"/>
                          </a:rPr>
                        </m:ctrlPr>
                      </m:sSubPr>
                      <m:e>
                        <m:r>
                          <a:rPr lang="ar-AE">
                            <a:latin typeface="Cambria Math" panose="02040503050406030204" pitchFamily="18" charset="0"/>
                          </a:rPr>
                          <m:t>𝛽</m:t>
                        </m:r>
                      </m:e>
                      <m:sub>
                        <m:r>
                          <a:rPr lang="ar-AE">
                            <a:latin typeface="Cambria Math" panose="02040503050406030204" pitchFamily="18" charset="0"/>
                          </a:rPr>
                          <m:t>2</m:t>
                        </m:r>
                      </m:sub>
                    </m:sSub>
                  </m:oMath>
                </a14:m>
                <a:r>
                  <a:rPr lang="ar-AE" dirty="0"/>
                  <a:t> </a:t>
                </a:r>
                <a:r>
                  <a:rPr lang="en-ZA" dirty="0"/>
                  <a:t>captures the curvature of the relationship between inflation and RPD</a:t>
                </a:r>
                <a:endParaRPr dirty="0"/>
              </a:p>
            </p:txBody>
          </p:sp>
        </mc:Choice>
        <mc:Fallback>
          <p:sp>
            <p:nvSpPr>
              <p:cNvPr id="3" name="Content Placeholder 2">
                <a:extLst>
                  <a:ext uri="{FF2B5EF4-FFF2-40B4-BE49-F238E27FC236}">
                    <a16:creationId xmlns:a16="http://schemas.microsoft.com/office/drawing/2014/main" id="{9C966DDB-3364-1B41-9729-DB3686A721C5}"/>
                  </a:ext>
                </a:extLst>
              </p:cNvPr>
              <p:cNvSpPr>
                <a:spLocks noGrp="1" noRot="1" noChangeAspect="1" noMove="1" noResize="1" noEditPoints="1" noAdjustHandles="1" noChangeArrowheads="1" noChangeShapeType="1" noTextEdit="1"/>
              </p:cNvSpPr>
              <p:nvPr>
                <p:ph idx="1" hasCustomPrompt="1"/>
              </p:nvPr>
            </p:nvSpPr>
            <p:spPr>
              <a:blipFill>
                <a:blip r:embed="rId2"/>
                <a:stretch>
                  <a:fillRect l="-473" t="-1362"/>
                </a:stretch>
              </a:blipFill>
            </p:spPr>
            <p:txBody>
              <a:bodyPr/>
              <a:lstStyle/>
              <a:p>
                <a:r>
                  <a:rPr lang="en-US">
                    <a:noFill/>
                  </a:rPr>
                  <a:t> </a:t>
                </a:r>
              </a:p>
            </p:txBody>
          </p:sp>
        </mc:Fallback>
      </mc:AlternateContent>
      <p:sp>
        <p:nvSpPr>
          <p:cNvPr id="7" name="Slide Number Placeholder 5">
            <a:extLst>
              <a:ext uri="{FF2B5EF4-FFF2-40B4-BE49-F238E27FC236}">
                <a16:creationId xmlns:a16="http://schemas.microsoft.com/office/drawing/2014/main" id="{FB221DBE-BC54-6C4C-BA1C-95E280B67712}"/>
              </a:ext>
            </a:extLst>
          </p:cNvPr>
          <p:cNvSpPr>
            <a:spLocks noGrp="1"/>
          </p:cNvSpPr>
          <p:nvPr>
            <p:ph type="sldNum" sz="quarter" idx="12"/>
          </p:nvPr>
        </p:nvSpPr>
        <p:spPr>
          <a:xfrm>
            <a:off x="7557977" y="6313820"/>
            <a:ext cx="2743200" cy="365125"/>
          </a:xfrm>
        </p:spPr>
        <p:txBody>
          <a:bodyPr/>
          <a:lstStyle>
            <a:lvl1pPr>
              <a:defRPr sz="1100"/>
            </a:lvl1pPr>
          </a:lstStyle>
          <a:p>
            <a:fld id="{85DA3A08-9E66-614E-AAE5-F810EFDD6885}" type="slidenum">
              <a:rPr lang="en-US" smtClean="0"/>
              <a:pPr/>
              <a:t>17</a:t>
            </a:fld>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631292-24AE-5F41-8820-196C7D8E36A1}"/>
              </a:ext>
            </a:extLst>
          </p:cNvPr>
          <p:cNvSpPr>
            <a:spLocks noGrp="1"/>
          </p:cNvSpPr>
          <p:nvPr>
            <p:ph type="title"/>
          </p:nvPr>
        </p:nvSpPr>
        <p:spPr>
          <a:xfrm>
            <a:off x="1055553" y="365125"/>
            <a:ext cx="10977744" cy="666233"/>
          </a:xfrm>
        </p:spPr>
        <p:txBody>
          <a:bodyPr/>
          <a:lstStyle/>
          <a:p>
            <a:pPr marL="0" lvl="0" indent="0">
              <a:buNone/>
            </a:pPr>
            <a:r>
              <a:rPr lang="en-US" dirty="0"/>
              <a:t>This enables use to estimate RPD minimizing inflation, … </a:t>
            </a:r>
            <a:endParaRPr dirty="0"/>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9C966DDB-3364-1B41-9729-DB3686A721C5}"/>
                  </a:ext>
                </a:extLst>
              </p:cNvPr>
              <p:cNvSpPr>
                <a:spLocks noGrp="1"/>
              </p:cNvSpPr>
              <p:nvPr>
                <p:ph idx="1" hasCustomPrompt="1"/>
              </p:nvPr>
            </p:nvSpPr>
            <p:spPr/>
            <p:txBody>
              <a:bodyPr/>
              <a:lstStyle/>
              <a:p>
                <a:pPr marL="0" lvl="0" indent="0">
                  <a:buNone/>
                </a:pPr>
                <a:r>
                  <a:rPr lang="en-ZA" dirty="0"/>
                  <a:t>The optimal inflation rate that minimizes RPD can be derived by taking the first derivative of the equation with respect to </a:t>
                </a:r>
                <a14:m>
                  <m:oMath xmlns:m="http://schemas.openxmlformats.org/officeDocument/2006/math">
                    <m:sSub>
                      <m:sSubPr>
                        <m:ctrlPr>
                          <a:rPr lang="ar-AE" i="1">
                            <a:latin typeface="Cambria Math" panose="02040503050406030204" pitchFamily="18" charset="0"/>
                          </a:rPr>
                        </m:ctrlPr>
                      </m:sSubPr>
                      <m:e>
                        <m:r>
                          <a:rPr lang="ar-AE">
                            <a:latin typeface="Cambria Math" panose="02040503050406030204" pitchFamily="18" charset="0"/>
                          </a:rPr>
                          <m:t>𝜋</m:t>
                        </m:r>
                      </m:e>
                      <m:sub>
                        <m:r>
                          <a:rPr lang="ar-AE">
                            <a:latin typeface="Cambria Math" panose="02040503050406030204" pitchFamily="18" charset="0"/>
                          </a:rPr>
                          <m:t>𝑡</m:t>
                        </m:r>
                      </m:sub>
                    </m:sSub>
                  </m:oMath>
                </a14:m>
                <a:r>
                  <a:rPr lang="ar-AE" dirty="0"/>
                  <a:t> </a:t>
                </a:r>
                <a:r>
                  <a:rPr lang="en-ZA" dirty="0"/>
                  <a:t>and setting it to zero, yielding:</a:t>
                </a:r>
              </a:p>
              <a:p>
                <a:pPr lvl="0"/>
                <a:endParaRPr lang="en-ZA" dirty="0"/>
              </a:p>
              <a:p>
                <a:pPr marL="0" lvl="0" indent="0">
                  <a:buNone/>
                </a:pPr>
                <a14:m>
                  <m:oMathPara xmlns:m="http://schemas.openxmlformats.org/officeDocument/2006/math">
                    <m:oMathParaPr>
                      <m:jc m:val="center"/>
                    </m:oMathParaPr>
                    <m:oMath xmlns:m="http://schemas.openxmlformats.org/officeDocument/2006/math">
                      <m:sSubSup>
                        <m:sSubSupPr>
                          <m:ctrlPr>
                            <a:rPr lang="ar-AE" i="1">
                              <a:latin typeface="Cambria Math" panose="02040503050406030204" pitchFamily="18" charset="0"/>
                            </a:rPr>
                          </m:ctrlPr>
                        </m:sSubSupPr>
                        <m:e>
                          <m:r>
                            <a:rPr lang="ar-AE">
                              <a:latin typeface="Cambria Math" panose="02040503050406030204" pitchFamily="18" charset="0"/>
                            </a:rPr>
                            <m:t>𝜋</m:t>
                          </m:r>
                        </m:e>
                        <m:sub>
                          <m:r>
                            <a:rPr lang="ar-AE">
                              <a:latin typeface="Cambria Math" panose="02040503050406030204" pitchFamily="18" charset="0"/>
                            </a:rPr>
                            <m:t>𝑡</m:t>
                          </m:r>
                        </m:sub>
                        <m:sup>
                          <m:r>
                            <a:rPr lang="ar-AE">
                              <a:latin typeface="Cambria Math" panose="02040503050406030204" pitchFamily="18" charset="0"/>
                            </a:rPr>
                            <m:t>∗</m:t>
                          </m:r>
                        </m:sup>
                      </m:sSubSup>
                      <m:r>
                        <a:rPr lang="ar-AE">
                          <a:latin typeface="Cambria Math" panose="02040503050406030204" pitchFamily="18" charset="0"/>
                        </a:rPr>
                        <m:t>=−</m:t>
                      </m:r>
                      <m:f>
                        <m:fPr>
                          <m:ctrlPr>
                            <a:rPr lang="ar-AE" i="1">
                              <a:latin typeface="Cambria Math" panose="02040503050406030204" pitchFamily="18" charset="0"/>
                            </a:rPr>
                          </m:ctrlPr>
                        </m:fPr>
                        <m:num>
                          <m:r>
                            <a:rPr lang="ar-AE">
                              <a:latin typeface="Cambria Math" panose="02040503050406030204" pitchFamily="18" charset="0"/>
                            </a:rPr>
                            <m:t>1</m:t>
                          </m:r>
                        </m:num>
                        <m:den>
                          <m:r>
                            <a:rPr lang="ar-AE">
                              <a:latin typeface="Cambria Math" panose="02040503050406030204" pitchFamily="18" charset="0"/>
                            </a:rPr>
                            <m:t>2</m:t>
                          </m:r>
                          <m:sSub>
                            <m:sSubPr>
                              <m:ctrlPr>
                                <a:rPr lang="ar-AE" i="1">
                                  <a:latin typeface="Cambria Math" panose="02040503050406030204" pitchFamily="18" charset="0"/>
                                </a:rPr>
                              </m:ctrlPr>
                            </m:sSubPr>
                            <m:e>
                              <m:r>
                                <a:rPr lang="ar-AE">
                                  <a:latin typeface="Cambria Math" panose="02040503050406030204" pitchFamily="18" charset="0"/>
                                </a:rPr>
                                <m:t>𝛽</m:t>
                              </m:r>
                            </m:e>
                            <m:sub>
                              <m:r>
                                <a:rPr lang="ar-AE">
                                  <a:latin typeface="Cambria Math" panose="02040503050406030204" pitchFamily="18" charset="0"/>
                                </a:rPr>
                                <m:t>2</m:t>
                              </m:r>
                            </m:sub>
                          </m:sSub>
                        </m:den>
                      </m:f>
                      <m:r>
                        <a:rPr lang="ar-AE" b="0" i="0" smtClean="0">
                          <a:latin typeface="Cambria Math" panose="02040503050406030204" pitchFamily="18" charset="0"/>
                        </a:rPr>
                        <m:t>,</m:t>
                      </m:r>
                      <m:r>
                        <a:rPr lang="ar-AE">
                          <a:latin typeface="Cambria Math" panose="02040503050406030204" pitchFamily="18" charset="0"/>
                        </a:rPr>
                        <m:t>  </m:t>
                      </m:r>
                      <m:d>
                        <m:dPr>
                          <m:ctrlPr>
                            <a:rPr lang="ar-AE" i="1">
                              <a:latin typeface="Cambria Math" panose="02040503050406030204" pitchFamily="18" charset="0"/>
                            </a:rPr>
                          </m:ctrlPr>
                        </m:dPr>
                        <m:e>
                          <m:r>
                            <a:rPr lang="ar-AE">
                              <a:latin typeface="Cambria Math" panose="02040503050406030204" pitchFamily="18" charset="0"/>
                            </a:rPr>
                            <m:t>13</m:t>
                          </m:r>
                        </m:e>
                      </m:d>
                    </m:oMath>
                  </m:oMathPara>
                </a14:m>
                <a:endParaRPr lang="ar-AE" dirty="0"/>
              </a:p>
              <a:p>
                <a:pPr marL="0" lvl="0" indent="0">
                  <a:buNone/>
                </a:pPr>
                <a:endParaRPr lang="ar-AE" dirty="0"/>
              </a:p>
              <a:p>
                <a:pPr marL="0" lvl="0" indent="0">
                  <a:buNone/>
                </a:pPr>
                <a:r>
                  <a:rPr lang="en-ZA" dirty="0"/>
                  <a:t>To estimate this optimal inflation we implement a semi-parametric approach as follows:</a:t>
                </a:r>
              </a:p>
              <a:p>
                <a:pPr marL="0" lvl="0" indent="0">
                  <a:buNone/>
                </a:pPr>
                <a:endParaRPr lang="en-ZA" dirty="0"/>
              </a:p>
              <a:p>
                <a:pPr marL="0" lvl="0" indent="0">
                  <a:buNone/>
                </a:pPr>
                <a14:m>
                  <m:oMathPara xmlns:m="http://schemas.openxmlformats.org/officeDocument/2006/math">
                    <m:oMathParaPr>
                      <m:jc m:val="center"/>
                    </m:oMathParaPr>
                    <m:oMath xmlns:m="http://schemas.openxmlformats.org/officeDocument/2006/math">
                      <m:r>
                        <a:rPr lang="en-ZA">
                          <a:latin typeface="Cambria Math" panose="02040503050406030204" pitchFamily="18" charset="0"/>
                        </a:rPr>
                        <m:t>𝑅𝑃</m:t>
                      </m:r>
                      <m:sSub>
                        <m:sSubPr>
                          <m:ctrlPr>
                            <a:rPr lang="ar-AE" i="1">
                              <a:latin typeface="Cambria Math" panose="02040503050406030204" pitchFamily="18" charset="0"/>
                            </a:rPr>
                          </m:ctrlPr>
                        </m:sSubPr>
                        <m:e>
                          <m:r>
                            <a:rPr lang="ar-AE">
                              <a:latin typeface="Cambria Math" panose="02040503050406030204" pitchFamily="18" charset="0"/>
                            </a:rPr>
                            <m:t>𝐷</m:t>
                          </m:r>
                        </m:e>
                        <m:sub>
                          <m:r>
                            <a:rPr lang="ar-AE">
                              <a:latin typeface="Cambria Math" panose="02040503050406030204" pitchFamily="18" charset="0"/>
                            </a:rPr>
                            <m:t>𝑡</m:t>
                          </m:r>
                        </m:sub>
                      </m:sSub>
                      <m:r>
                        <a:rPr lang="ar-AE">
                          <a:latin typeface="Cambria Math" panose="02040503050406030204" pitchFamily="18" charset="0"/>
                        </a:rPr>
                        <m:t>=</m:t>
                      </m:r>
                      <m:r>
                        <a:rPr lang="ar-AE">
                          <a:latin typeface="Cambria Math" panose="02040503050406030204" pitchFamily="18" charset="0"/>
                        </a:rPr>
                        <m:t>𝑓</m:t>
                      </m:r>
                      <m:d>
                        <m:dPr>
                          <m:ctrlPr>
                            <a:rPr lang="ar-AE" i="1">
                              <a:latin typeface="Cambria Math" panose="02040503050406030204" pitchFamily="18" charset="0"/>
                            </a:rPr>
                          </m:ctrlPr>
                        </m:dPr>
                        <m:e>
                          <m:sSub>
                            <m:sSubPr>
                              <m:ctrlPr>
                                <a:rPr lang="ar-AE" i="1">
                                  <a:latin typeface="Cambria Math" panose="02040503050406030204" pitchFamily="18" charset="0"/>
                                </a:rPr>
                              </m:ctrlPr>
                            </m:sSubPr>
                            <m:e>
                              <m:r>
                                <a:rPr lang="ar-AE">
                                  <a:latin typeface="Cambria Math" panose="02040503050406030204" pitchFamily="18" charset="0"/>
                                </a:rPr>
                                <m:t>𝜋</m:t>
                              </m:r>
                            </m:e>
                            <m:sub>
                              <m:r>
                                <a:rPr lang="ar-AE">
                                  <a:latin typeface="Cambria Math" panose="02040503050406030204" pitchFamily="18" charset="0"/>
                                </a:rPr>
                                <m:t>𝑡</m:t>
                              </m:r>
                            </m:sub>
                          </m:sSub>
                        </m:e>
                      </m:d>
                      <m:r>
                        <a:rPr lang="ar-AE">
                          <a:latin typeface="Cambria Math" panose="02040503050406030204" pitchFamily="18" charset="0"/>
                        </a:rPr>
                        <m:t>+</m:t>
                      </m:r>
                      <m:nary>
                        <m:naryPr>
                          <m:chr m:val="∑"/>
                          <m:limLoc m:val="undOvr"/>
                          <m:ctrlPr>
                            <a:rPr lang="ar-AE" i="1">
                              <a:latin typeface="Cambria Math" panose="02040503050406030204" pitchFamily="18" charset="0"/>
                            </a:rPr>
                          </m:ctrlPr>
                        </m:naryPr>
                        <m:sub>
                          <m:r>
                            <a:rPr lang="ar-AE">
                              <a:latin typeface="Cambria Math" panose="02040503050406030204" pitchFamily="18" charset="0"/>
                            </a:rPr>
                            <m:t>h</m:t>
                          </m:r>
                          <m:r>
                            <a:rPr lang="ar-AE">
                              <a:latin typeface="Cambria Math" panose="02040503050406030204" pitchFamily="18" charset="0"/>
                            </a:rPr>
                            <m:t>=1</m:t>
                          </m:r>
                        </m:sub>
                        <m:sup>
                          <m:r>
                            <a:rPr lang="ar-AE">
                              <a:latin typeface="Cambria Math" panose="02040503050406030204" pitchFamily="18" charset="0"/>
                            </a:rPr>
                            <m:t>3</m:t>
                          </m:r>
                        </m:sup>
                        <m:e>
                          <m:sSub>
                            <m:sSubPr>
                              <m:ctrlPr>
                                <a:rPr lang="ar-AE" i="1">
                                  <a:latin typeface="Cambria Math" panose="02040503050406030204" pitchFamily="18" charset="0"/>
                                </a:rPr>
                              </m:ctrlPr>
                            </m:sSubPr>
                            <m:e>
                              <m:r>
                                <a:rPr lang="ar-AE">
                                  <a:latin typeface="Cambria Math" panose="02040503050406030204" pitchFamily="18" charset="0"/>
                                </a:rPr>
                                <m:t>𝜙</m:t>
                              </m:r>
                            </m:e>
                            <m:sub>
                              <m:r>
                                <a:rPr lang="ar-AE">
                                  <a:latin typeface="Cambria Math" panose="02040503050406030204" pitchFamily="18" charset="0"/>
                                </a:rPr>
                                <m:t>h</m:t>
                              </m:r>
                            </m:sub>
                          </m:sSub>
                        </m:e>
                      </m:nary>
                      <m:r>
                        <a:rPr lang="ar-AE">
                          <a:latin typeface="Cambria Math" panose="02040503050406030204" pitchFamily="18" charset="0"/>
                        </a:rPr>
                        <m:t>𝑅𝑃</m:t>
                      </m:r>
                      <m:sSub>
                        <m:sSubPr>
                          <m:ctrlPr>
                            <a:rPr lang="ar-AE" i="1">
                              <a:latin typeface="Cambria Math" panose="02040503050406030204" pitchFamily="18" charset="0"/>
                            </a:rPr>
                          </m:ctrlPr>
                        </m:sSubPr>
                        <m:e>
                          <m:r>
                            <a:rPr lang="ar-AE">
                              <a:latin typeface="Cambria Math" panose="02040503050406030204" pitchFamily="18" charset="0"/>
                            </a:rPr>
                            <m:t>𝐷</m:t>
                          </m:r>
                        </m:e>
                        <m:sub>
                          <m:r>
                            <a:rPr lang="ar-AE">
                              <a:latin typeface="Cambria Math" panose="02040503050406030204" pitchFamily="18" charset="0"/>
                            </a:rPr>
                            <m:t>𝑡</m:t>
                          </m:r>
                          <m:r>
                            <a:rPr lang="ar-AE">
                              <a:latin typeface="Cambria Math" panose="02040503050406030204" pitchFamily="18" charset="0"/>
                            </a:rPr>
                            <m:t>−</m:t>
                          </m:r>
                          <m:r>
                            <a:rPr lang="ar-AE">
                              <a:latin typeface="Cambria Math" panose="02040503050406030204" pitchFamily="18" charset="0"/>
                            </a:rPr>
                            <m:t>h</m:t>
                          </m:r>
                        </m:sub>
                      </m:sSub>
                      <m:r>
                        <a:rPr lang="ar-AE">
                          <a:latin typeface="Cambria Math" panose="02040503050406030204" pitchFamily="18" charset="0"/>
                        </a:rPr>
                        <m:t>+</m:t>
                      </m:r>
                      <m:sSub>
                        <m:sSubPr>
                          <m:ctrlPr>
                            <a:rPr lang="ar-AE" i="1">
                              <a:latin typeface="Cambria Math" panose="02040503050406030204" pitchFamily="18" charset="0"/>
                            </a:rPr>
                          </m:ctrlPr>
                        </m:sSubPr>
                        <m:e>
                          <m:r>
                            <a:rPr lang="ar-AE">
                              <a:latin typeface="Cambria Math" panose="02040503050406030204" pitchFamily="18" charset="0"/>
                            </a:rPr>
                            <m:t>𝜖</m:t>
                          </m:r>
                        </m:e>
                        <m:sub>
                          <m:r>
                            <a:rPr lang="ar-AE">
                              <a:latin typeface="Cambria Math" panose="02040503050406030204" pitchFamily="18" charset="0"/>
                            </a:rPr>
                            <m:t>𝑡</m:t>
                          </m:r>
                        </m:sub>
                      </m:sSub>
                      <m:r>
                        <a:rPr lang="ar-AE">
                          <a:latin typeface="Cambria Math" panose="02040503050406030204" pitchFamily="18" charset="0"/>
                        </a:rPr>
                        <m:t>,  </m:t>
                      </m:r>
                      <m:d>
                        <m:dPr>
                          <m:ctrlPr>
                            <a:rPr lang="ar-AE" i="1">
                              <a:latin typeface="Cambria Math" panose="02040503050406030204" pitchFamily="18" charset="0"/>
                            </a:rPr>
                          </m:ctrlPr>
                        </m:dPr>
                        <m:e>
                          <m:r>
                            <a:rPr lang="ar-AE">
                              <a:latin typeface="Cambria Math" panose="02040503050406030204" pitchFamily="18" charset="0"/>
                            </a:rPr>
                            <m:t>14</m:t>
                          </m:r>
                        </m:e>
                      </m:d>
                    </m:oMath>
                  </m:oMathPara>
                </a14:m>
                <a:endParaRPr lang="ar-AE" dirty="0"/>
              </a:p>
              <a:p>
                <a:pPr lvl="0"/>
                <a14:m>
                  <m:oMath xmlns:m="http://schemas.openxmlformats.org/officeDocument/2006/math">
                    <m:r>
                      <a:rPr lang="ar-AE">
                        <a:latin typeface="Cambria Math" panose="02040503050406030204" pitchFamily="18" charset="0"/>
                      </a:rPr>
                      <m:t>𝑓</m:t>
                    </m:r>
                    <m:d>
                      <m:dPr>
                        <m:ctrlPr>
                          <a:rPr lang="ar-AE" i="1">
                            <a:latin typeface="Cambria Math" panose="02040503050406030204" pitchFamily="18" charset="0"/>
                          </a:rPr>
                        </m:ctrlPr>
                      </m:dPr>
                      <m:e>
                        <m:sSub>
                          <m:sSubPr>
                            <m:ctrlPr>
                              <a:rPr lang="ar-AE" i="1">
                                <a:latin typeface="Cambria Math" panose="02040503050406030204" pitchFamily="18" charset="0"/>
                              </a:rPr>
                            </m:ctrlPr>
                          </m:sSubPr>
                          <m:e>
                            <m:r>
                              <a:rPr lang="ar-AE">
                                <a:latin typeface="Cambria Math" panose="02040503050406030204" pitchFamily="18" charset="0"/>
                              </a:rPr>
                              <m:t>𝜋</m:t>
                            </m:r>
                          </m:e>
                          <m:sub>
                            <m:r>
                              <a:rPr lang="ar-AE">
                                <a:latin typeface="Cambria Math" panose="02040503050406030204" pitchFamily="18" charset="0"/>
                              </a:rPr>
                              <m:t>𝑡</m:t>
                            </m:r>
                          </m:sub>
                        </m:sSub>
                      </m:e>
                    </m:d>
                  </m:oMath>
                </a14:m>
                <a:r>
                  <a:rPr lang="ar-AE" dirty="0"/>
                  <a:t> </a:t>
                </a:r>
                <a:r>
                  <a:rPr lang="en-ZA" dirty="0"/>
                  <a:t>is a non-linear smooth differentiable function of inflation and the RPD.</a:t>
                </a:r>
              </a:p>
              <a:p>
                <a:pPr lvl="0"/>
                <a:r>
                  <a:rPr lang="en-ZA" dirty="0"/>
                  <a:t>Therefore, the optimal inflation rate can be obtained by finding the minimum of the estimated </a:t>
                </a:r>
                <a14:m>
                  <m:oMath xmlns:m="http://schemas.openxmlformats.org/officeDocument/2006/math">
                    <m:r>
                      <a:rPr lang="en-ZA">
                        <a:latin typeface="Cambria Math" panose="02040503050406030204" pitchFamily="18" charset="0"/>
                      </a:rPr>
                      <m:t>𝑓</m:t>
                    </m:r>
                    <m:d>
                      <m:dPr>
                        <m:ctrlPr>
                          <a:rPr lang="ar-AE" i="1">
                            <a:latin typeface="Cambria Math" panose="02040503050406030204" pitchFamily="18" charset="0"/>
                          </a:rPr>
                        </m:ctrlPr>
                      </m:dPr>
                      <m:e>
                        <m:sSub>
                          <m:sSubPr>
                            <m:ctrlPr>
                              <a:rPr lang="ar-AE" i="1">
                                <a:latin typeface="Cambria Math" panose="02040503050406030204" pitchFamily="18" charset="0"/>
                              </a:rPr>
                            </m:ctrlPr>
                          </m:sSubPr>
                          <m:e>
                            <m:r>
                              <a:rPr lang="ar-AE">
                                <a:latin typeface="Cambria Math" panose="02040503050406030204" pitchFamily="18" charset="0"/>
                              </a:rPr>
                              <m:t>𝜋</m:t>
                            </m:r>
                          </m:e>
                          <m:sub>
                            <m:r>
                              <a:rPr lang="ar-AE">
                                <a:latin typeface="Cambria Math" panose="02040503050406030204" pitchFamily="18" charset="0"/>
                              </a:rPr>
                              <m:t>𝑡</m:t>
                            </m:r>
                          </m:sub>
                        </m:sSub>
                      </m:e>
                    </m:d>
                  </m:oMath>
                </a14:m>
                <a:r>
                  <a:rPr lang="ar-AE" dirty="0"/>
                  <a:t> </a:t>
                </a:r>
                <a:r>
                  <a:rPr lang="en-ZA" dirty="0"/>
                  <a:t>function. </a:t>
                </a:r>
                <a14:m>
                  <m:oMath xmlns:m="http://schemas.openxmlformats.org/officeDocument/2006/math">
                    <m:r>
                      <a:rPr lang="en-ZA">
                        <a:latin typeface="Cambria Math" panose="02040503050406030204" pitchFamily="18" charset="0"/>
                      </a:rPr>
                      <m:t>𝑓</m:t>
                    </m:r>
                    <m:d>
                      <m:dPr>
                        <m:ctrlPr>
                          <a:rPr lang="ar-AE" i="1">
                            <a:latin typeface="Cambria Math" panose="02040503050406030204" pitchFamily="18" charset="0"/>
                          </a:rPr>
                        </m:ctrlPr>
                      </m:dPr>
                      <m:e>
                        <m:sSub>
                          <m:sSubPr>
                            <m:ctrlPr>
                              <a:rPr lang="ar-AE" i="1">
                                <a:latin typeface="Cambria Math" panose="02040503050406030204" pitchFamily="18" charset="0"/>
                              </a:rPr>
                            </m:ctrlPr>
                          </m:sSubPr>
                          <m:e>
                            <m:r>
                              <a:rPr lang="ar-AE">
                                <a:latin typeface="Cambria Math" panose="02040503050406030204" pitchFamily="18" charset="0"/>
                              </a:rPr>
                              <m:t>𝜋</m:t>
                            </m:r>
                          </m:e>
                          <m:sub>
                            <m:r>
                              <a:rPr lang="ar-AE">
                                <a:latin typeface="Cambria Math" panose="02040503050406030204" pitchFamily="18" charset="0"/>
                              </a:rPr>
                              <m:t>𝑡</m:t>
                            </m:r>
                          </m:sub>
                        </m:sSub>
                      </m:e>
                    </m:d>
                  </m:oMath>
                </a14:m>
                <a:r>
                  <a:rPr lang="ar-AE" dirty="0"/>
                  <a:t> </a:t>
                </a:r>
                <a:r>
                  <a:rPr lang="en-ZA" dirty="0"/>
                  <a:t>is estimated in two stages.</a:t>
                </a:r>
                <a:endParaRPr dirty="0"/>
              </a:p>
            </p:txBody>
          </p:sp>
        </mc:Choice>
        <mc:Fallback>
          <p:sp>
            <p:nvSpPr>
              <p:cNvPr id="3" name="Content Placeholder 2">
                <a:extLst>
                  <a:ext uri="{FF2B5EF4-FFF2-40B4-BE49-F238E27FC236}">
                    <a16:creationId xmlns:a16="http://schemas.microsoft.com/office/drawing/2014/main" id="{9C966DDB-3364-1B41-9729-DB3686A721C5}"/>
                  </a:ext>
                </a:extLst>
              </p:cNvPr>
              <p:cNvSpPr>
                <a:spLocks noGrp="1" noRot="1" noChangeAspect="1" noMove="1" noResize="1" noEditPoints="1" noAdjustHandles="1" noChangeArrowheads="1" noChangeShapeType="1" noTextEdit="1"/>
              </p:cNvSpPr>
              <p:nvPr>
                <p:ph idx="1" hasCustomPrompt="1"/>
              </p:nvPr>
            </p:nvSpPr>
            <p:spPr>
              <a:blipFill>
                <a:blip r:embed="rId2"/>
                <a:stretch>
                  <a:fillRect l="-473" t="-1362" r="-946"/>
                </a:stretch>
              </a:blipFill>
            </p:spPr>
            <p:txBody>
              <a:bodyPr/>
              <a:lstStyle/>
              <a:p>
                <a:r>
                  <a:rPr lang="en-US">
                    <a:noFill/>
                  </a:rPr>
                  <a:t> </a:t>
                </a:r>
              </a:p>
            </p:txBody>
          </p:sp>
        </mc:Fallback>
      </mc:AlternateContent>
      <p:sp>
        <p:nvSpPr>
          <p:cNvPr id="7" name="Slide Number Placeholder 5">
            <a:extLst>
              <a:ext uri="{FF2B5EF4-FFF2-40B4-BE49-F238E27FC236}">
                <a16:creationId xmlns:a16="http://schemas.microsoft.com/office/drawing/2014/main" id="{FB221DBE-BC54-6C4C-BA1C-95E280B67712}"/>
              </a:ext>
            </a:extLst>
          </p:cNvPr>
          <p:cNvSpPr>
            <a:spLocks noGrp="1"/>
          </p:cNvSpPr>
          <p:nvPr>
            <p:ph type="sldNum" sz="quarter" idx="12"/>
          </p:nvPr>
        </p:nvSpPr>
        <p:spPr>
          <a:xfrm>
            <a:off x="7557977" y="6313820"/>
            <a:ext cx="2743200" cy="365125"/>
          </a:xfrm>
        </p:spPr>
        <p:txBody>
          <a:bodyPr/>
          <a:lstStyle>
            <a:lvl1pPr>
              <a:defRPr sz="1100"/>
            </a:lvl1pPr>
          </a:lstStyle>
          <a:p>
            <a:fld id="{85DA3A08-9E66-614E-AAE5-F810EFDD6885}" type="slidenum">
              <a:rPr lang="en-US" smtClean="0"/>
              <a:pPr/>
              <a:t>18</a:t>
            </a:fld>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631292-24AE-5F41-8820-196C7D8E36A1}"/>
              </a:ext>
            </a:extLst>
          </p:cNvPr>
          <p:cNvSpPr>
            <a:spLocks noGrp="1"/>
          </p:cNvSpPr>
          <p:nvPr>
            <p:ph type="title"/>
          </p:nvPr>
        </p:nvSpPr>
        <p:spPr>
          <a:xfrm>
            <a:off x="1055553" y="365125"/>
            <a:ext cx="10977744" cy="666233"/>
          </a:xfrm>
        </p:spPr>
        <p:txBody>
          <a:bodyPr/>
          <a:lstStyle/>
          <a:p>
            <a:pPr marL="0" lvl="0" indent="0">
              <a:buNone/>
            </a:pPr>
            <a:r>
              <a:rPr lang="en-US" dirty="0"/>
              <a:t>… using semi-parametric (kernel-based) methods</a:t>
            </a:r>
            <a:endParaRPr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9C966DDB-3364-1B41-9729-DB3686A721C5}"/>
                  </a:ext>
                </a:extLst>
              </p:cNvPr>
              <p:cNvSpPr>
                <a:spLocks noGrp="1"/>
              </p:cNvSpPr>
              <p:nvPr>
                <p:ph idx="1" hasCustomPrompt="1"/>
              </p:nvPr>
            </p:nvSpPr>
            <p:spPr/>
            <p:txBody>
              <a:bodyPr/>
              <a:lstStyle/>
              <a:p>
                <a:pPr marL="0" lvl="0" indent="0">
                  <a:buNone/>
                </a:pPr>
                <a:r>
                  <a:rPr dirty="0"/>
                  <a:t>First we estimate </a:t>
                </a:r>
                <a14:m>
                  <m:oMath xmlns:m="http://schemas.openxmlformats.org/officeDocument/2006/math">
                    <m:sSub>
                      <m:sSubPr>
                        <m:ctrlPr>
                          <a:rPr i="1">
                            <a:latin typeface="Cambria Math" panose="02040503050406030204" pitchFamily="18" charset="0"/>
                          </a:rPr>
                        </m:ctrlPr>
                      </m:sSubPr>
                      <m:e>
                        <m:r>
                          <a:rPr>
                            <a:latin typeface="Cambria Math" panose="02040503050406030204" pitchFamily="18" charset="0"/>
                          </a:rPr>
                          <m:t>𝜆</m:t>
                        </m:r>
                      </m:e>
                      <m:sub>
                        <m:r>
                          <a:rPr>
                            <a:latin typeface="Cambria Math" panose="02040503050406030204" pitchFamily="18" charset="0"/>
                          </a:rPr>
                          <m:t>h</m:t>
                        </m:r>
                      </m:sub>
                    </m:sSub>
                  </m:oMath>
                </a14:m>
                <a:r>
                  <a:rPr dirty="0"/>
                  <a:t> as follows:</a:t>
                </a:r>
                <a:endParaRPr lang="en-US" dirty="0"/>
              </a:p>
              <a:p>
                <a:pPr marL="0" lvl="0" indent="0">
                  <a:buNone/>
                </a:pPr>
                <a:endParaRPr dirty="0"/>
              </a:p>
              <a:p>
                <a:pPr marL="0" lvl="0" indent="0">
                  <a:buNone/>
                </a:pPr>
                <a14:m>
                  <m:oMathPara xmlns:m="http://schemas.openxmlformats.org/officeDocument/2006/math">
                    <m:oMathParaPr>
                      <m:jc m:val="center"/>
                    </m:oMathParaPr>
                    <m:oMath xmlns:m="http://schemas.openxmlformats.org/officeDocument/2006/math">
                      <m:r>
                        <a:rPr>
                          <a:latin typeface="Cambria Math" panose="02040503050406030204" pitchFamily="18" charset="0"/>
                        </a:rPr>
                        <m:t>𝑅𝑃</m:t>
                      </m:r>
                      <m:sSub>
                        <m:sSubPr>
                          <m:ctrlPr>
                            <a:rPr i="1">
                              <a:latin typeface="Cambria Math" panose="02040503050406030204" pitchFamily="18" charset="0"/>
                            </a:rPr>
                          </m:ctrlPr>
                        </m:sSubPr>
                        <m:e>
                          <m:r>
                            <a:rPr>
                              <a:latin typeface="Cambria Math" panose="02040503050406030204" pitchFamily="18" charset="0"/>
                            </a:rPr>
                            <m:t>𝐷</m:t>
                          </m:r>
                        </m:e>
                        <m:sub>
                          <m:r>
                            <a:rPr>
                              <a:latin typeface="Cambria Math" panose="02040503050406030204" pitchFamily="18" charset="0"/>
                            </a:rPr>
                            <m:t>𝑡</m:t>
                          </m:r>
                        </m:sub>
                      </m:sSub>
                      <m:r>
                        <a:rPr>
                          <a:latin typeface="Cambria Math" panose="02040503050406030204" pitchFamily="18" charset="0"/>
                        </a:rPr>
                        <m:t>=</m:t>
                      </m:r>
                      <m:nary>
                        <m:naryPr>
                          <m:chr m:val="∑"/>
                          <m:limLoc m:val="undOvr"/>
                          <m:ctrlPr>
                            <a:rPr i="1">
                              <a:latin typeface="Cambria Math" panose="02040503050406030204" pitchFamily="18" charset="0"/>
                            </a:rPr>
                          </m:ctrlPr>
                        </m:naryPr>
                        <m:sub>
                          <m:r>
                            <a:rPr>
                              <a:latin typeface="Cambria Math" panose="02040503050406030204" pitchFamily="18" charset="0"/>
                            </a:rPr>
                            <m:t>h</m:t>
                          </m:r>
                          <m:r>
                            <a:rPr>
                              <a:latin typeface="Cambria Math" panose="02040503050406030204" pitchFamily="18" charset="0"/>
                            </a:rPr>
                            <m:t>=1</m:t>
                          </m:r>
                        </m:sub>
                        <m:sup>
                          <m:r>
                            <a:rPr>
                              <a:latin typeface="Cambria Math" panose="02040503050406030204" pitchFamily="18" charset="0"/>
                            </a:rPr>
                            <m:t>3</m:t>
                          </m:r>
                        </m:sup>
                        <m:e>
                          <m:sSub>
                            <m:sSubPr>
                              <m:ctrlPr>
                                <a:rPr i="1">
                                  <a:latin typeface="Cambria Math" panose="02040503050406030204" pitchFamily="18" charset="0"/>
                                </a:rPr>
                              </m:ctrlPr>
                            </m:sSubPr>
                            <m:e>
                              <m:r>
                                <a:rPr>
                                  <a:latin typeface="Cambria Math" panose="02040503050406030204" pitchFamily="18" charset="0"/>
                                </a:rPr>
                                <m:t>𝜆</m:t>
                              </m:r>
                            </m:e>
                            <m:sub>
                              <m:r>
                                <a:rPr>
                                  <a:latin typeface="Cambria Math" panose="02040503050406030204" pitchFamily="18" charset="0"/>
                                </a:rPr>
                                <m:t>h</m:t>
                              </m:r>
                            </m:sub>
                          </m:sSub>
                        </m:e>
                      </m:nary>
                      <m:sSub>
                        <m:sSubPr>
                          <m:ctrlPr>
                            <a:rPr i="1">
                              <a:latin typeface="Cambria Math" panose="02040503050406030204" pitchFamily="18" charset="0"/>
                            </a:rPr>
                          </m:ctrlPr>
                        </m:sSubPr>
                        <m:e>
                          <m:bar>
                            <m:barPr>
                              <m:pos m:val="top"/>
                              <m:ctrlPr>
                                <a:rPr i="1">
                                  <a:latin typeface="Cambria Math" panose="02040503050406030204" pitchFamily="18" charset="0"/>
                                </a:rPr>
                              </m:ctrlPr>
                            </m:barPr>
                            <m:e>
                              <m:r>
                                <a:rPr>
                                  <a:latin typeface="Cambria Math" panose="02040503050406030204" pitchFamily="18" charset="0"/>
                                </a:rPr>
                                <m:t>𝑅𝑃𝐷</m:t>
                              </m:r>
                            </m:e>
                          </m:bar>
                        </m:e>
                        <m:sub>
                          <m:r>
                            <a:rPr>
                              <a:latin typeface="Cambria Math" panose="02040503050406030204" pitchFamily="18" charset="0"/>
                            </a:rPr>
                            <m:t>𝑡</m:t>
                          </m:r>
                          <m:r>
                            <a:rPr>
                              <a:latin typeface="Cambria Math" panose="02040503050406030204" pitchFamily="18" charset="0"/>
                            </a:rPr>
                            <m:t>−</m:t>
                          </m:r>
                          <m:r>
                            <a:rPr>
                              <a:latin typeface="Cambria Math" panose="02040503050406030204" pitchFamily="18" charset="0"/>
                            </a:rPr>
                            <m:t>h</m:t>
                          </m:r>
                        </m:sub>
                      </m:sSub>
                      <m:r>
                        <a:rPr>
                          <a:latin typeface="Cambria Math" panose="02040503050406030204" pitchFamily="18" charset="0"/>
                        </a:rPr>
                        <m:t>+</m:t>
                      </m:r>
                      <m:sSub>
                        <m:sSubPr>
                          <m:ctrlPr>
                            <a:rPr i="1">
                              <a:latin typeface="Cambria Math" panose="02040503050406030204" pitchFamily="18" charset="0"/>
                            </a:rPr>
                          </m:ctrlPr>
                        </m:sSubPr>
                        <m:e>
                          <m:r>
                            <a:rPr>
                              <a:latin typeface="Cambria Math" panose="02040503050406030204" pitchFamily="18" charset="0"/>
                            </a:rPr>
                            <m:t>𝜂</m:t>
                          </m:r>
                        </m:e>
                        <m:sub>
                          <m:r>
                            <a:rPr>
                              <a:latin typeface="Cambria Math" panose="02040503050406030204" pitchFamily="18" charset="0"/>
                            </a:rPr>
                            <m:t>𝑡</m:t>
                          </m:r>
                        </m:sub>
                      </m:sSub>
                      <m:r>
                        <a:rPr>
                          <a:latin typeface="Cambria Math" panose="02040503050406030204" pitchFamily="18" charset="0"/>
                        </a:rPr>
                        <m:t>,  </m:t>
                      </m:r>
                      <m:d>
                        <m:dPr>
                          <m:ctrlPr>
                            <a:rPr i="1">
                              <a:latin typeface="Cambria Math" panose="02040503050406030204" pitchFamily="18" charset="0"/>
                            </a:rPr>
                          </m:ctrlPr>
                        </m:dPr>
                        <m:e>
                          <m:r>
                            <a:rPr>
                              <a:latin typeface="Cambria Math" panose="02040503050406030204" pitchFamily="18" charset="0"/>
                            </a:rPr>
                            <m:t>15</m:t>
                          </m:r>
                        </m:e>
                      </m:d>
                    </m:oMath>
                  </m:oMathPara>
                </a14:m>
                <a:endParaRPr dirty="0"/>
              </a:p>
              <a:p>
                <a:pPr lvl="0"/>
                <a14:m>
                  <m:oMath xmlns:m="http://schemas.openxmlformats.org/officeDocument/2006/math">
                    <m:sSub>
                      <m:sSubPr>
                        <m:ctrlPr>
                          <a:rPr i="1">
                            <a:latin typeface="Cambria Math" panose="02040503050406030204" pitchFamily="18" charset="0"/>
                          </a:rPr>
                        </m:ctrlPr>
                      </m:sSubPr>
                      <m:e>
                        <m:bar>
                          <m:barPr>
                            <m:pos m:val="top"/>
                            <m:ctrlPr>
                              <a:rPr i="1">
                                <a:latin typeface="Cambria Math" panose="02040503050406030204" pitchFamily="18" charset="0"/>
                              </a:rPr>
                            </m:ctrlPr>
                          </m:barPr>
                          <m:e>
                            <m:r>
                              <a:rPr>
                                <a:latin typeface="Cambria Math" panose="02040503050406030204" pitchFamily="18" charset="0"/>
                              </a:rPr>
                              <m:t>𝑅𝑃𝐷</m:t>
                            </m:r>
                          </m:e>
                        </m:bar>
                      </m:e>
                      <m:sub>
                        <m:r>
                          <a:rPr>
                            <a:latin typeface="Cambria Math" panose="02040503050406030204" pitchFamily="18" charset="0"/>
                          </a:rPr>
                          <m:t>𝑡</m:t>
                        </m:r>
                        <m:r>
                          <a:rPr>
                            <a:latin typeface="Cambria Math" panose="02040503050406030204" pitchFamily="18" charset="0"/>
                          </a:rPr>
                          <m:t>−</m:t>
                        </m:r>
                        <m:r>
                          <a:rPr>
                            <a:latin typeface="Cambria Math" panose="02040503050406030204" pitchFamily="18" charset="0"/>
                          </a:rPr>
                          <m:t>h</m:t>
                        </m:r>
                      </m:sub>
                    </m:sSub>
                  </m:oMath>
                </a14:m>
                <a:r>
                  <a:rPr dirty="0"/>
                  <a:t> are the residuals from a non-parametric regression of each lag of </a:t>
                </a:r>
                <a14:m>
                  <m:oMath xmlns:m="http://schemas.openxmlformats.org/officeDocument/2006/math">
                    <m:r>
                      <a:rPr>
                        <a:latin typeface="Cambria Math" panose="02040503050406030204" pitchFamily="18" charset="0"/>
                      </a:rPr>
                      <m:t>𝑅𝑃</m:t>
                    </m:r>
                    <m:sSub>
                      <m:sSubPr>
                        <m:ctrlPr>
                          <a:rPr i="1">
                            <a:latin typeface="Cambria Math" panose="02040503050406030204" pitchFamily="18" charset="0"/>
                          </a:rPr>
                        </m:ctrlPr>
                      </m:sSubPr>
                      <m:e>
                        <m:r>
                          <a:rPr>
                            <a:latin typeface="Cambria Math" panose="02040503050406030204" pitchFamily="18" charset="0"/>
                          </a:rPr>
                          <m:t>𝐷</m:t>
                        </m:r>
                      </m:e>
                      <m:sub>
                        <m:r>
                          <a:rPr>
                            <a:latin typeface="Cambria Math" panose="02040503050406030204" pitchFamily="18" charset="0"/>
                          </a:rPr>
                          <m:t>𝑡</m:t>
                        </m:r>
                      </m:sub>
                    </m:sSub>
                  </m:oMath>
                </a14:m>
                <a:r>
                  <a:rPr dirty="0"/>
                  <a:t> on </a:t>
                </a:r>
                <a14:m>
                  <m:oMath xmlns:m="http://schemas.openxmlformats.org/officeDocument/2006/math">
                    <m:sSub>
                      <m:sSubPr>
                        <m:ctrlPr>
                          <a:rPr i="1">
                            <a:latin typeface="Cambria Math" panose="02040503050406030204" pitchFamily="18" charset="0"/>
                          </a:rPr>
                        </m:ctrlPr>
                      </m:sSubPr>
                      <m:e>
                        <m:r>
                          <a:rPr>
                            <a:latin typeface="Cambria Math" panose="02040503050406030204" pitchFamily="18" charset="0"/>
                          </a:rPr>
                          <m:t>𝜋</m:t>
                        </m:r>
                      </m:e>
                      <m:sub>
                        <m:r>
                          <a:rPr>
                            <a:latin typeface="Cambria Math" panose="02040503050406030204" pitchFamily="18" charset="0"/>
                          </a:rPr>
                          <m:t>𝑡</m:t>
                        </m:r>
                      </m:sub>
                    </m:sSub>
                  </m:oMath>
                </a14:m>
                <a:endParaRPr lang="en-US" dirty="0"/>
              </a:p>
              <a:p>
                <a:pPr marL="0" lvl="0" indent="0">
                  <a:buNone/>
                </a:pPr>
                <a:endParaRPr dirty="0"/>
              </a:p>
              <a:p>
                <a:pPr marL="0" lvl="0" indent="0">
                  <a:buNone/>
                </a:pPr>
                <a:r>
                  <a:rPr dirty="0"/>
                  <a:t>In the second stage, we estimate </a:t>
                </a:r>
                <a14:m>
                  <m:oMath xmlns:m="http://schemas.openxmlformats.org/officeDocument/2006/math">
                    <m:r>
                      <a:rPr>
                        <a:latin typeface="Cambria Math" panose="02040503050406030204" pitchFamily="18" charset="0"/>
                      </a:rPr>
                      <m:t>𝑓</m:t>
                    </m:r>
                    <m:d>
                      <m:dPr>
                        <m:ctrlPr>
                          <a:rPr i="1">
                            <a:latin typeface="Cambria Math" panose="02040503050406030204" pitchFamily="18" charset="0"/>
                          </a:rPr>
                        </m:ctrlPr>
                      </m:dPr>
                      <m:e>
                        <m:sSub>
                          <m:sSubPr>
                            <m:ctrlPr>
                              <a:rPr i="1">
                                <a:latin typeface="Cambria Math" panose="02040503050406030204" pitchFamily="18" charset="0"/>
                              </a:rPr>
                            </m:ctrlPr>
                          </m:sSubPr>
                          <m:e>
                            <m:r>
                              <a:rPr>
                                <a:latin typeface="Cambria Math" panose="02040503050406030204" pitchFamily="18" charset="0"/>
                              </a:rPr>
                              <m:t>𝜋</m:t>
                            </m:r>
                          </m:e>
                          <m:sub>
                            <m:r>
                              <a:rPr>
                                <a:latin typeface="Cambria Math" panose="02040503050406030204" pitchFamily="18" charset="0"/>
                              </a:rPr>
                              <m:t>𝑡</m:t>
                            </m:r>
                          </m:sub>
                        </m:sSub>
                      </m:e>
                    </m:d>
                  </m:oMath>
                </a14:m>
                <a:r>
                  <a:rPr dirty="0"/>
                  <a:t> non-parametrically as follows:</a:t>
                </a:r>
                <a:endParaRPr lang="en-US" dirty="0"/>
              </a:p>
              <a:p>
                <a:pPr marL="0" lvl="0" indent="0">
                  <a:buNone/>
                </a:pPr>
                <a:endParaRPr dirty="0"/>
              </a:p>
              <a:p>
                <a:pPr marL="0" lvl="0" indent="0">
                  <a:buNone/>
                </a:pPr>
                <a14:m>
                  <m:oMathPara xmlns:m="http://schemas.openxmlformats.org/officeDocument/2006/math">
                    <m:oMathParaPr>
                      <m:jc m:val="center"/>
                    </m:oMathParaPr>
                    <m:oMath xmlns:m="http://schemas.openxmlformats.org/officeDocument/2006/math">
                      <m:sSub>
                        <m:sSubPr>
                          <m:ctrlPr>
                            <a:rPr i="1">
                              <a:latin typeface="Cambria Math" panose="02040503050406030204" pitchFamily="18" charset="0"/>
                            </a:rPr>
                          </m:ctrlPr>
                        </m:sSubPr>
                        <m:e>
                          <m:acc>
                            <m:accPr>
                              <m:chr m:val="̂"/>
                              <m:ctrlPr>
                                <a:rPr i="1">
                                  <a:latin typeface="Cambria Math" panose="02040503050406030204" pitchFamily="18" charset="0"/>
                                </a:rPr>
                              </m:ctrlPr>
                            </m:accPr>
                            <m:e>
                              <m:r>
                                <a:rPr>
                                  <a:latin typeface="Cambria Math" panose="02040503050406030204" pitchFamily="18" charset="0"/>
                                </a:rPr>
                                <m:t>𝜂</m:t>
                              </m:r>
                            </m:e>
                          </m:acc>
                        </m:e>
                        <m:sub>
                          <m:r>
                            <a:rPr>
                              <a:latin typeface="Cambria Math" panose="02040503050406030204" pitchFamily="18" charset="0"/>
                            </a:rPr>
                            <m:t>𝑡</m:t>
                          </m:r>
                        </m:sub>
                      </m:sSub>
                      <m:r>
                        <a:rPr>
                          <a:latin typeface="Cambria Math" panose="02040503050406030204" pitchFamily="18" charset="0"/>
                        </a:rPr>
                        <m:t>=</m:t>
                      </m:r>
                      <m:r>
                        <a:rPr>
                          <a:latin typeface="Cambria Math" panose="02040503050406030204" pitchFamily="18" charset="0"/>
                        </a:rPr>
                        <m:t>𝑓</m:t>
                      </m:r>
                      <m:d>
                        <m:dPr>
                          <m:ctrlPr>
                            <a:rPr i="1">
                              <a:latin typeface="Cambria Math" panose="02040503050406030204" pitchFamily="18" charset="0"/>
                            </a:rPr>
                          </m:ctrlPr>
                        </m:dPr>
                        <m:e>
                          <m:sSub>
                            <m:sSubPr>
                              <m:ctrlPr>
                                <a:rPr i="1">
                                  <a:latin typeface="Cambria Math" panose="02040503050406030204" pitchFamily="18" charset="0"/>
                                </a:rPr>
                              </m:ctrlPr>
                            </m:sSubPr>
                            <m:e>
                              <m:r>
                                <a:rPr>
                                  <a:latin typeface="Cambria Math" panose="02040503050406030204" pitchFamily="18" charset="0"/>
                                </a:rPr>
                                <m:t>𝜋</m:t>
                              </m:r>
                            </m:e>
                            <m:sub>
                              <m:r>
                                <a:rPr>
                                  <a:latin typeface="Cambria Math" panose="02040503050406030204" pitchFamily="18" charset="0"/>
                                </a:rPr>
                                <m:t>𝑡</m:t>
                              </m:r>
                            </m:sub>
                          </m:sSub>
                        </m:e>
                      </m:d>
                      <m:r>
                        <a:rPr>
                          <a:latin typeface="Cambria Math" panose="02040503050406030204" pitchFamily="18" charset="0"/>
                        </a:rPr>
                        <m:t>+</m:t>
                      </m:r>
                      <m:sSub>
                        <m:sSubPr>
                          <m:ctrlPr>
                            <a:rPr i="1">
                              <a:latin typeface="Cambria Math" panose="02040503050406030204" pitchFamily="18" charset="0"/>
                            </a:rPr>
                          </m:ctrlPr>
                        </m:sSubPr>
                        <m:e>
                          <m:r>
                            <a:rPr>
                              <a:latin typeface="Cambria Math" panose="02040503050406030204" pitchFamily="18" charset="0"/>
                            </a:rPr>
                            <m:t>𝑣</m:t>
                          </m:r>
                        </m:e>
                        <m:sub>
                          <m:r>
                            <a:rPr>
                              <a:latin typeface="Cambria Math" panose="02040503050406030204" pitchFamily="18" charset="0"/>
                            </a:rPr>
                            <m:t>𝑡</m:t>
                          </m:r>
                        </m:sub>
                      </m:sSub>
                      <m:r>
                        <a:rPr>
                          <a:latin typeface="Cambria Math" panose="02040503050406030204" pitchFamily="18" charset="0"/>
                        </a:rPr>
                        <m:t>,  </m:t>
                      </m:r>
                      <m:d>
                        <m:dPr>
                          <m:ctrlPr>
                            <a:rPr i="1">
                              <a:latin typeface="Cambria Math" panose="02040503050406030204" pitchFamily="18" charset="0"/>
                            </a:rPr>
                          </m:ctrlPr>
                        </m:dPr>
                        <m:e>
                          <m:r>
                            <a:rPr>
                              <a:latin typeface="Cambria Math" panose="02040503050406030204" pitchFamily="18" charset="0"/>
                            </a:rPr>
                            <m:t>16</m:t>
                          </m:r>
                        </m:e>
                      </m:d>
                    </m:oMath>
                  </m:oMathPara>
                </a14:m>
                <a:endParaRPr dirty="0"/>
              </a:p>
              <a:p>
                <a:pPr lvl="0"/>
                <a14:m>
                  <m:oMath xmlns:m="http://schemas.openxmlformats.org/officeDocument/2006/math">
                    <m:sSub>
                      <m:sSubPr>
                        <m:ctrlPr>
                          <a:rPr i="1">
                            <a:latin typeface="Cambria Math" panose="02040503050406030204" pitchFamily="18" charset="0"/>
                          </a:rPr>
                        </m:ctrlPr>
                      </m:sSubPr>
                      <m:e>
                        <m:acc>
                          <m:accPr>
                            <m:chr m:val="̂"/>
                            <m:ctrlPr>
                              <a:rPr i="1">
                                <a:latin typeface="Cambria Math" panose="02040503050406030204" pitchFamily="18" charset="0"/>
                              </a:rPr>
                            </m:ctrlPr>
                          </m:accPr>
                          <m:e>
                            <m:r>
                              <a:rPr>
                                <a:latin typeface="Cambria Math" panose="02040503050406030204" pitchFamily="18" charset="0"/>
                              </a:rPr>
                              <m:t>𝜂</m:t>
                            </m:r>
                          </m:e>
                        </m:acc>
                      </m:e>
                      <m:sub>
                        <m:r>
                          <a:rPr>
                            <a:latin typeface="Cambria Math" panose="02040503050406030204" pitchFamily="18" charset="0"/>
                          </a:rPr>
                          <m:t>𝑡</m:t>
                        </m:r>
                      </m:sub>
                    </m:sSub>
                  </m:oMath>
                </a14:m>
                <a:r>
                  <a:rPr dirty="0"/>
                  <a:t> are the residuals from Equation 15</a:t>
                </a:r>
              </a:p>
              <a:p>
                <a:pPr lvl="0"/>
                <a14:m>
                  <m:oMath xmlns:m="http://schemas.openxmlformats.org/officeDocument/2006/math">
                    <m:r>
                      <a:rPr>
                        <a:latin typeface="Cambria Math" panose="02040503050406030204" pitchFamily="18" charset="0"/>
                      </a:rPr>
                      <m:t>𝑓</m:t>
                    </m:r>
                    <m:d>
                      <m:dPr>
                        <m:ctrlPr>
                          <a:rPr i="1">
                            <a:latin typeface="Cambria Math" panose="02040503050406030204" pitchFamily="18" charset="0"/>
                          </a:rPr>
                        </m:ctrlPr>
                      </m:dPr>
                      <m:e>
                        <m:sSub>
                          <m:sSubPr>
                            <m:ctrlPr>
                              <a:rPr i="1">
                                <a:latin typeface="Cambria Math" panose="02040503050406030204" pitchFamily="18" charset="0"/>
                              </a:rPr>
                            </m:ctrlPr>
                          </m:sSubPr>
                          <m:e>
                            <m:r>
                              <a:rPr>
                                <a:latin typeface="Cambria Math" panose="02040503050406030204" pitchFamily="18" charset="0"/>
                              </a:rPr>
                              <m:t>𝜋</m:t>
                            </m:r>
                          </m:e>
                          <m:sub>
                            <m:r>
                              <a:rPr>
                                <a:latin typeface="Cambria Math" panose="02040503050406030204" pitchFamily="18" charset="0"/>
                              </a:rPr>
                              <m:t>𝑡</m:t>
                            </m:r>
                          </m:sub>
                        </m:sSub>
                      </m:e>
                    </m:d>
                  </m:oMath>
                </a14:m>
                <a:r>
                  <a:rPr dirty="0"/>
                  <a:t> is estimated using a kernel regression method</a:t>
                </a:r>
              </a:p>
              <a:p>
                <a:pPr lvl="0"/>
                <a:r>
                  <a:rPr dirty="0"/>
                  <a:t>The bandwidth (</a:t>
                </a:r>
                <a14:m>
                  <m:oMath xmlns:m="http://schemas.openxmlformats.org/officeDocument/2006/math">
                    <m:r>
                      <a:rPr>
                        <a:latin typeface="Cambria Math" panose="02040503050406030204" pitchFamily="18" charset="0"/>
                      </a:rPr>
                      <m:t>h</m:t>
                    </m:r>
                  </m:oMath>
                </a14:m>
                <a:r>
                  <a:rPr dirty="0"/>
                  <a:t>) for the kernel estimator is selected using cross-validation to minimize the mean squared error.</a:t>
                </a:r>
              </a:p>
            </p:txBody>
          </p:sp>
        </mc:Choice>
        <mc:Fallback xmlns="">
          <p:sp>
            <p:nvSpPr>
              <p:cNvPr id="3" name="Content Placeholder 2">
                <a:extLst>
                  <a:ext uri="{FF2B5EF4-FFF2-40B4-BE49-F238E27FC236}">
                    <a16:creationId xmlns:a16="http://schemas.microsoft.com/office/drawing/2014/main" id="{9C966DDB-3364-1B41-9729-DB3686A721C5}"/>
                  </a:ext>
                </a:extLst>
              </p:cNvPr>
              <p:cNvSpPr>
                <a:spLocks noGrp="1" noRot="1" noChangeAspect="1" noMove="1" noResize="1" noEditPoints="1" noAdjustHandles="1" noChangeArrowheads="1" noChangeShapeType="1" noTextEdit="1"/>
              </p:cNvSpPr>
              <p:nvPr>
                <p:ph idx="1" hasCustomPrompt="1"/>
              </p:nvPr>
            </p:nvSpPr>
            <p:spPr>
              <a:blipFill>
                <a:blip r:embed="rId2"/>
                <a:stretch>
                  <a:fillRect l="-473" t="-5995"/>
                </a:stretch>
              </a:blipFill>
            </p:spPr>
            <p:txBody>
              <a:bodyPr/>
              <a:lstStyle/>
              <a:p>
                <a:r>
                  <a:rPr lang="en-US">
                    <a:noFill/>
                  </a:rPr>
                  <a:t> </a:t>
                </a:r>
              </a:p>
            </p:txBody>
          </p:sp>
        </mc:Fallback>
      </mc:AlternateContent>
      <p:sp>
        <p:nvSpPr>
          <p:cNvPr id="7" name="Slide Number Placeholder 5">
            <a:extLst>
              <a:ext uri="{FF2B5EF4-FFF2-40B4-BE49-F238E27FC236}">
                <a16:creationId xmlns:a16="http://schemas.microsoft.com/office/drawing/2014/main" id="{FB221DBE-BC54-6C4C-BA1C-95E280B67712}"/>
              </a:ext>
            </a:extLst>
          </p:cNvPr>
          <p:cNvSpPr>
            <a:spLocks noGrp="1"/>
          </p:cNvSpPr>
          <p:nvPr>
            <p:ph type="sldNum" sz="quarter" idx="12"/>
          </p:nvPr>
        </p:nvSpPr>
        <p:spPr>
          <a:xfrm>
            <a:off x="7557977" y="6313820"/>
            <a:ext cx="2743200" cy="365125"/>
          </a:xfrm>
        </p:spPr>
        <p:txBody>
          <a:bodyPr/>
          <a:lstStyle>
            <a:lvl1pPr>
              <a:defRPr sz="1100"/>
            </a:lvl1pPr>
          </a:lstStyle>
          <a:p>
            <a:fld id="{85DA3A08-9E66-614E-AAE5-F810EFDD6885}" type="slidenum">
              <a:rPr lang="en-US" smtClean="0"/>
              <a:pPr/>
              <a:t>19</a:t>
            </a:fld>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631292-24AE-5F41-8820-196C7D8E36A1}"/>
              </a:ext>
            </a:extLst>
          </p:cNvPr>
          <p:cNvSpPr>
            <a:spLocks noGrp="1"/>
          </p:cNvSpPr>
          <p:nvPr>
            <p:ph type="title"/>
          </p:nvPr>
        </p:nvSpPr>
        <p:spPr>
          <a:xfrm>
            <a:off x="1055553" y="365125"/>
            <a:ext cx="10977744" cy="666233"/>
          </a:xfrm>
        </p:spPr>
        <p:txBody>
          <a:bodyPr/>
          <a:lstStyle/>
          <a:p>
            <a:pPr lvl="0"/>
            <a:r>
              <a:rPr dirty="0"/>
              <a:t>M</a:t>
            </a:r>
            <a:r>
              <a:rPr lang="en-US" dirty="0"/>
              <a:t>ainly the Gaussian and </a:t>
            </a:r>
            <a:r>
              <a:rPr lang="en-ZA" dirty="0" err="1"/>
              <a:t>Epanechnikov</a:t>
            </a:r>
            <a:r>
              <a:rPr lang="en-ZA" dirty="0"/>
              <a:t> kernel were used</a:t>
            </a:r>
            <a:endParaRPr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9C966DDB-3364-1B41-9729-DB3686A721C5}"/>
                  </a:ext>
                </a:extLst>
              </p:cNvPr>
              <p:cNvSpPr>
                <a:spLocks noGrp="1"/>
              </p:cNvSpPr>
              <p:nvPr>
                <p:ph idx="1" hasCustomPrompt="1"/>
              </p:nvPr>
            </p:nvSpPr>
            <p:spPr/>
            <p:txBody>
              <a:bodyPr/>
              <a:lstStyle/>
              <a:p>
                <a:pPr lvl="0"/>
                <a:r>
                  <a:rPr dirty="0"/>
                  <a:t>As a treatment for extreme values of inflation, we further implement the unbounded Gaussian kernel and the outlier-robust </a:t>
                </a:r>
                <a:r>
                  <a:rPr dirty="0" err="1"/>
                  <a:t>Epanechnikov</a:t>
                </a:r>
                <a:r>
                  <a:rPr dirty="0"/>
                  <a:t> kernel.</a:t>
                </a:r>
              </a:p>
              <a:p>
                <a:pPr lvl="0"/>
                <a:r>
                  <a:rPr dirty="0"/>
                  <a:t>In essence, the semi-parametric approach captures the sensitivity of RPD to marginal increases in inflation.</a:t>
                </a:r>
              </a:p>
              <a:p>
                <a:pPr lvl="0"/>
                <a:r>
                  <a:rPr dirty="0"/>
                  <a:t>In that case, the optimal inflation rate can be obtained by finding the point where the first derivative (</a:t>
                </a:r>
                <a14:m>
                  <m:oMath xmlns:m="http://schemas.openxmlformats.org/officeDocument/2006/math">
                    <m:r>
                      <a:rPr>
                        <a:latin typeface="Cambria Math" panose="02040503050406030204" pitchFamily="18" charset="0"/>
                      </a:rPr>
                      <m:t>𝑓</m:t>
                    </m:r>
                    <m:r>
                      <a:rPr>
                        <a:latin typeface="Cambria Math" panose="02040503050406030204" pitchFamily="18" charset="0"/>
                      </a:rPr>
                      <m:t>′</m:t>
                    </m:r>
                    <m:d>
                      <m:dPr>
                        <m:ctrlPr>
                          <a:rPr i="1">
                            <a:latin typeface="Cambria Math" panose="02040503050406030204" pitchFamily="18" charset="0"/>
                          </a:rPr>
                        </m:ctrlPr>
                      </m:dPr>
                      <m:e>
                        <m:sSub>
                          <m:sSubPr>
                            <m:ctrlPr>
                              <a:rPr i="1">
                                <a:latin typeface="Cambria Math" panose="02040503050406030204" pitchFamily="18" charset="0"/>
                              </a:rPr>
                            </m:ctrlPr>
                          </m:sSubPr>
                          <m:e>
                            <m:r>
                              <a:rPr>
                                <a:latin typeface="Cambria Math" panose="02040503050406030204" pitchFamily="18" charset="0"/>
                              </a:rPr>
                              <m:t>𝜋</m:t>
                            </m:r>
                          </m:e>
                          <m:sub>
                            <m:r>
                              <a:rPr>
                                <a:latin typeface="Cambria Math" panose="02040503050406030204" pitchFamily="18" charset="0"/>
                              </a:rPr>
                              <m:t>𝑡</m:t>
                            </m:r>
                          </m:sub>
                        </m:sSub>
                      </m:e>
                    </m:d>
                  </m:oMath>
                </a14:m>
                <a:r>
                  <a:rPr dirty="0"/>
                  <a:t>) is equal to zero.</a:t>
                </a:r>
              </a:p>
              <a:p>
                <a:pPr lvl="0"/>
                <a:r>
                  <a:rPr dirty="0"/>
                  <a:t>Therefore, if </a:t>
                </a:r>
                <a14:m>
                  <m:oMath xmlns:m="http://schemas.openxmlformats.org/officeDocument/2006/math">
                    <m:r>
                      <a:rPr>
                        <a:latin typeface="Cambria Math" panose="02040503050406030204" pitchFamily="18" charset="0"/>
                      </a:rPr>
                      <m:t>𝑓</m:t>
                    </m:r>
                    <m:r>
                      <a:rPr>
                        <a:latin typeface="Cambria Math" panose="02040503050406030204" pitchFamily="18" charset="0"/>
                      </a:rPr>
                      <m:t>′</m:t>
                    </m:r>
                    <m:d>
                      <m:dPr>
                        <m:ctrlPr>
                          <a:rPr i="1">
                            <a:latin typeface="Cambria Math" panose="02040503050406030204" pitchFamily="18" charset="0"/>
                          </a:rPr>
                        </m:ctrlPr>
                      </m:dPr>
                      <m:e>
                        <m:sSub>
                          <m:sSubPr>
                            <m:ctrlPr>
                              <a:rPr i="1">
                                <a:latin typeface="Cambria Math" panose="02040503050406030204" pitchFamily="18" charset="0"/>
                              </a:rPr>
                            </m:ctrlPr>
                          </m:sSubPr>
                          <m:e>
                            <m:r>
                              <a:rPr>
                                <a:latin typeface="Cambria Math" panose="02040503050406030204" pitchFamily="18" charset="0"/>
                              </a:rPr>
                              <m:t>𝜋</m:t>
                            </m:r>
                          </m:e>
                          <m:sub>
                            <m:r>
                              <a:rPr>
                                <a:latin typeface="Cambria Math" panose="02040503050406030204" pitchFamily="18" charset="0"/>
                              </a:rPr>
                              <m:t>𝑡</m:t>
                            </m:r>
                          </m:sub>
                        </m:sSub>
                      </m:e>
                    </m:d>
                    <m:r>
                      <a:rPr>
                        <a:latin typeface="Cambria Math" panose="02040503050406030204" pitchFamily="18" charset="0"/>
                      </a:rPr>
                      <m:t>&gt;0</m:t>
                    </m:r>
                  </m:oMath>
                </a14:m>
                <a:r>
                  <a:rPr dirty="0"/>
                  <a:t> (</a:t>
                </a:r>
                <a14:m>
                  <m:oMath xmlns:m="http://schemas.openxmlformats.org/officeDocument/2006/math">
                    <m:r>
                      <a:rPr>
                        <a:latin typeface="Cambria Math" panose="02040503050406030204" pitchFamily="18" charset="0"/>
                      </a:rPr>
                      <m:t>𝑓</m:t>
                    </m:r>
                    <m:r>
                      <a:rPr>
                        <a:latin typeface="Cambria Math" panose="02040503050406030204" pitchFamily="18" charset="0"/>
                      </a:rPr>
                      <m:t>′</m:t>
                    </m:r>
                    <m:d>
                      <m:dPr>
                        <m:ctrlPr>
                          <a:rPr i="1">
                            <a:latin typeface="Cambria Math" panose="02040503050406030204" pitchFamily="18" charset="0"/>
                          </a:rPr>
                        </m:ctrlPr>
                      </m:dPr>
                      <m:e>
                        <m:sSub>
                          <m:sSubPr>
                            <m:ctrlPr>
                              <a:rPr i="1">
                                <a:latin typeface="Cambria Math" panose="02040503050406030204" pitchFamily="18" charset="0"/>
                              </a:rPr>
                            </m:ctrlPr>
                          </m:sSubPr>
                          <m:e>
                            <m:r>
                              <a:rPr>
                                <a:latin typeface="Cambria Math" panose="02040503050406030204" pitchFamily="18" charset="0"/>
                              </a:rPr>
                              <m:t>𝜋</m:t>
                            </m:r>
                          </m:e>
                          <m:sub>
                            <m:r>
                              <a:rPr>
                                <a:latin typeface="Cambria Math" panose="02040503050406030204" pitchFamily="18" charset="0"/>
                              </a:rPr>
                              <m:t>𝑡</m:t>
                            </m:r>
                          </m:sub>
                        </m:sSub>
                      </m:e>
                    </m:d>
                    <m:r>
                      <a:rPr>
                        <a:latin typeface="Cambria Math" panose="02040503050406030204" pitchFamily="18" charset="0"/>
                      </a:rPr>
                      <m:t>&lt;0</m:t>
                    </m:r>
                  </m:oMath>
                </a14:m>
                <a:r>
                  <a:rPr dirty="0"/>
                  <a:t>), then an increase in inflation (decrease) leads to an increase (decrease) in the RPD. </a:t>
                </a:r>
              </a:p>
            </p:txBody>
          </p:sp>
        </mc:Choice>
        <mc:Fallback xmlns="">
          <p:sp>
            <p:nvSpPr>
              <p:cNvPr id="3" name="Content Placeholder 2">
                <a:extLst>
                  <a:ext uri="{FF2B5EF4-FFF2-40B4-BE49-F238E27FC236}">
                    <a16:creationId xmlns:a16="http://schemas.microsoft.com/office/drawing/2014/main" id="{9C966DDB-3364-1B41-9729-DB3686A721C5}"/>
                  </a:ext>
                </a:extLst>
              </p:cNvPr>
              <p:cNvSpPr>
                <a:spLocks noGrp="1" noRot="1" noChangeAspect="1" noMove="1" noResize="1" noEditPoints="1" noAdjustHandles="1" noChangeArrowheads="1" noChangeShapeType="1" noTextEdit="1"/>
              </p:cNvSpPr>
              <p:nvPr>
                <p:ph idx="1" hasCustomPrompt="1"/>
              </p:nvPr>
            </p:nvSpPr>
            <p:spPr>
              <a:blipFill>
                <a:blip r:embed="rId2"/>
                <a:stretch>
                  <a:fillRect l="-355" t="-1362"/>
                </a:stretch>
              </a:blipFill>
            </p:spPr>
            <p:txBody>
              <a:bodyPr/>
              <a:lstStyle/>
              <a:p>
                <a:r>
                  <a:rPr lang="en-US">
                    <a:noFill/>
                  </a:rPr>
                  <a:t> </a:t>
                </a:r>
              </a:p>
            </p:txBody>
          </p:sp>
        </mc:Fallback>
      </mc:AlternateContent>
      <p:sp>
        <p:nvSpPr>
          <p:cNvPr id="7" name="Slide Number Placeholder 5">
            <a:extLst>
              <a:ext uri="{FF2B5EF4-FFF2-40B4-BE49-F238E27FC236}">
                <a16:creationId xmlns:a16="http://schemas.microsoft.com/office/drawing/2014/main" id="{FB221DBE-BC54-6C4C-BA1C-95E280B67712}"/>
              </a:ext>
            </a:extLst>
          </p:cNvPr>
          <p:cNvSpPr>
            <a:spLocks noGrp="1"/>
          </p:cNvSpPr>
          <p:nvPr>
            <p:ph type="sldNum" sz="quarter" idx="12"/>
          </p:nvPr>
        </p:nvSpPr>
        <p:spPr>
          <a:xfrm>
            <a:off x="7557977" y="6313820"/>
            <a:ext cx="2743200" cy="365125"/>
          </a:xfrm>
        </p:spPr>
        <p:txBody>
          <a:bodyPr/>
          <a:lstStyle>
            <a:lvl1pPr>
              <a:defRPr sz="1100"/>
            </a:lvl1pPr>
          </a:lstStyle>
          <a:p>
            <a:fld id="{85DA3A08-9E66-614E-AAE5-F810EFDD6885}" type="slidenum">
              <a:rPr lang="en-US" smtClean="0"/>
              <a:pPr/>
              <a:t>20</a:t>
            </a:fld>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631292-24AE-5F41-8820-196C7D8E36A1}"/>
              </a:ext>
            </a:extLst>
          </p:cNvPr>
          <p:cNvSpPr>
            <a:spLocks noGrp="1"/>
          </p:cNvSpPr>
          <p:nvPr>
            <p:ph type="title"/>
          </p:nvPr>
        </p:nvSpPr>
        <p:spPr>
          <a:xfrm>
            <a:off x="1055553" y="365125"/>
            <a:ext cx="10977744" cy="666233"/>
          </a:xfrm>
        </p:spPr>
        <p:txBody>
          <a:bodyPr>
            <a:normAutofit fontScale="90000"/>
          </a:bodyPr>
          <a:lstStyle/>
          <a:p>
            <a:pPr marL="0" lvl="0" indent="0">
              <a:buNone/>
            </a:pPr>
            <a:r>
              <a:rPr lang="en-US" dirty="0"/>
              <a:t>As outlined before, there is an important distinction between expected and unexpected inflation</a:t>
            </a:r>
            <a:endParaRPr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9C966DDB-3364-1B41-9729-DB3686A721C5}"/>
                  </a:ext>
                </a:extLst>
              </p:cNvPr>
              <p:cNvSpPr>
                <a:spLocks noGrp="1"/>
              </p:cNvSpPr>
              <p:nvPr>
                <p:ph idx="1" hasCustomPrompt="1"/>
              </p:nvPr>
            </p:nvSpPr>
            <p:spPr/>
            <p:txBody>
              <a:bodyPr/>
              <a:lstStyle/>
              <a:p>
                <a:pPr marL="0" lvl="0" indent="0">
                  <a:buNone/>
                </a:pPr>
                <a:r>
                  <a:rPr dirty="0"/>
                  <a:t>To further disentangle the effects of RPD on inflation, we decompose headline inflation into its expected and unexpected components. As discussed in the literature section, for example, theory suggests that inflation uncertainty has a more pronounced effect on RPD due to information frictions faced by firms when adjusting prices (Lucas 1973; </a:t>
                </a:r>
                <a:r>
                  <a:rPr dirty="0" err="1"/>
                  <a:t>Hercowitz</a:t>
                </a:r>
                <a:r>
                  <a:rPr dirty="0"/>
                  <a:t> 1981; Cukierman 1983)</a:t>
                </a:r>
              </a:p>
              <a:p>
                <a:pPr marL="0" lvl="0" indent="0">
                  <a:buNone/>
                </a:pPr>
                <a:r>
                  <a:rPr dirty="0"/>
                  <a:t>We therefore estimate the following model:</a:t>
                </a:r>
                <a:endParaRPr lang="en-US" dirty="0"/>
              </a:p>
              <a:p>
                <a:pPr marL="0" lvl="0" indent="0">
                  <a:buNone/>
                </a:pPr>
                <a:endParaRPr dirty="0"/>
              </a:p>
              <a:p>
                <a:pPr marL="0" lvl="0" indent="0">
                  <a:buNone/>
                </a:pPr>
                <a14:m>
                  <m:oMathPara xmlns:m="http://schemas.openxmlformats.org/officeDocument/2006/math">
                    <m:oMathParaPr>
                      <m:jc m:val="center"/>
                    </m:oMathParaPr>
                    <m:oMath xmlns:m="http://schemas.openxmlformats.org/officeDocument/2006/math">
                      <m:r>
                        <a:rPr>
                          <a:latin typeface="Cambria Math" panose="02040503050406030204" pitchFamily="18" charset="0"/>
                        </a:rPr>
                        <m:t>𝑅𝑃</m:t>
                      </m:r>
                      <m:sSub>
                        <m:sSubPr>
                          <m:ctrlPr>
                            <a:rPr i="1">
                              <a:latin typeface="Cambria Math" panose="02040503050406030204" pitchFamily="18" charset="0"/>
                            </a:rPr>
                          </m:ctrlPr>
                        </m:sSubPr>
                        <m:e>
                          <m:r>
                            <a:rPr>
                              <a:latin typeface="Cambria Math" panose="02040503050406030204" pitchFamily="18" charset="0"/>
                            </a:rPr>
                            <m:t>𝐷</m:t>
                          </m:r>
                        </m:e>
                        <m:sub>
                          <m:r>
                            <a:rPr>
                              <a:latin typeface="Cambria Math" panose="02040503050406030204" pitchFamily="18" charset="0"/>
                            </a:rPr>
                            <m:t>𝑡</m:t>
                          </m:r>
                        </m:sub>
                      </m:sSub>
                      <m:r>
                        <a:rPr>
                          <a:latin typeface="Cambria Math" panose="02040503050406030204" pitchFamily="18" charset="0"/>
                        </a:rPr>
                        <m:t>=</m:t>
                      </m:r>
                      <m:r>
                        <a:rPr>
                          <a:latin typeface="Cambria Math" panose="02040503050406030204" pitchFamily="18" charset="0"/>
                        </a:rPr>
                        <m:t>𝛼</m:t>
                      </m:r>
                      <m:r>
                        <a:rPr>
                          <a:latin typeface="Cambria Math" panose="02040503050406030204" pitchFamily="18" charset="0"/>
                        </a:rPr>
                        <m:t>+</m:t>
                      </m:r>
                      <m:sSub>
                        <m:sSubPr>
                          <m:ctrlPr>
                            <a:rPr i="1">
                              <a:latin typeface="Cambria Math" panose="02040503050406030204" pitchFamily="18" charset="0"/>
                            </a:rPr>
                          </m:ctrlPr>
                        </m:sSubPr>
                        <m:e>
                          <m:r>
                            <a:rPr>
                              <a:latin typeface="Cambria Math" panose="02040503050406030204" pitchFamily="18" charset="0"/>
                            </a:rPr>
                            <m:t>𝛽</m:t>
                          </m:r>
                        </m:e>
                        <m:sub>
                          <m:r>
                            <a:rPr>
                              <a:latin typeface="Cambria Math" panose="02040503050406030204" pitchFamily="18" charset="0"/>
                            </a:rPr>
                            <m:t>0</m:t>
                          </m:r>
                        </m:sub>
                      </m:sSub>
                      <m:r>
                        <a:rPr>
                          <a:latin typeface="Cambria Math" panose="02040503050406030204" pitchFamily="18" charset="0"/>
                        </a:rPr>
                        <m:t>𝐸𝐼</m:t>
                      </m:r>
                      <m:sSub>
                        <m:sSubPr>
                          <m:ctrlPr>
                            <a:rPr i="1">
                              <a:latin typeface="Cambria Math" panose="02040503050406030204" pitchFamily="18" charset="0"/>
                            </a:rPr>
                          </m:ctrlPr>
                        </m:sSubPr>
                        <m:e>
                          <m:r>
                            <a:rPr>
                              <a:latin typeface="Cambria Math" panose="02040503050406030204" pitchFamily="18" charset="0"/>
                            </a:rPr>
                            <m:t>𝑁</m:t>
                          </m:r>
                        </m:e>
                        <m:sub>
                          <m:r>
                            <a:rPr>
                              <a:latin typeface="Cambria Math" panose="02040503050406030204" pitchFamily="18" charset="0"/>
                            </a:rPr>
                            <m:t>𝑡</m:t>
                          </m:r>
                        </m:sub>
                      </m:sSub>
                      <m:r>
                        <a:rPr>
                          <a:latin typeface="Cambria Math" panose="02040503050406030204" pitchFamily="18" charset="0"/>
                        </a:rPr>
                        <m:t>+</m:t>
                      </m:r>
                      <m:sSub>
                        <m:sSubPr>
                          <m:ctrlPr>
                            <a:rPr i="1">
                              <a:latin typeface="Cambria Math" panose="02040503050406030204" pitchFamily="18" charset="0"/>
                            </a:rPr>
                          </m:ctrlPr>
                        </m:sSubPr>
                        <m:e>
                          <m:r>
                            <a:rPr>
                              <a:latin typeface="Cambria Math" panose="02040503050406030204" pitchFamily="18" charset="0"/>
                            </a:rPr>
                            <m:t>𝛽</m:t>
                          </m:r>
                        </m:e>
                        <m:sub>
                          <m:r>
                            <a:rPr>
                              <a:latin typeface="Cambria Math" panose="02040503050406030204" pitchFamily="18" charset="0"/>
                            </a:rPr>
                            <m:t>1</m:t>
                          </m:r>
                        </m:sub>
                      </m:sSub>
                      <m:r>
                        <a:rPr>
                          <a:latin typeface="Cambria Math" panose="02040503050406030204" pitchFamily="18" charset="0"/>
                        </a:rPr>
                        <m:t>𝑈𝐼</m:t>
                      </m:r>
                      <m:sSub>
                        <m:sSubPr>
                          <m:ctrlPr>
                            <a:rPr i="1">
                              <a:latin typeface="Cambria Math" panose="02040503050406030204" pitchFamily="18" charset="0"/>
                            </a:rPr>
                          </m:ctrlPr>
                        </m:sSubPr>
                        <m:e>
                          <m:r>
                            <a:rPr>
                              <a:latin typeface="Cambria Math" panose="02040503050406030204" pitchFamily="18" charset="0"/>
                            </a:rPr>
                            <m:t>𝑁</m:t>
                          </m:r>
                        </m:e>
                        <m:sub>
                          <m:r>
                            <a:rPr>
                              <a:latin typeface="Cambria Math" panose="02040503050406030204" pitchFamily="18" charset="0"/>
                            </a:rPr>
                            <m:t>𝑡</m:t>
                          </m:r>
                        </m:sub>
                      </m:sSub>
                      <m:r>
                        <a:rPr>
                          <a:latin typeface="Cambria Math" panose="02040503050406030204" pitchFamily="18" charset="0"/>
                        </a:rPr>
                        <m:t>+</m:t>
                      </m:r>
                      <m:r>
                        <a:rPr>
                          <a:latin typeface="Cambria Math" panose="02040503050406030204" pitchFamily="18" charset="0"/>
                        </a:rPr>
                        <m:t>𝑔</m:t>
                      </m:r>
                      <m:d>
                        <m:dPr>
                          <m:ctrlPr>
                            <a:rPr i="1">
                              <a:latin typeface="Cambria Math" panose="02040503050406030204" pitchFamily="18" charset="0"/>
                            </a:rPr>
                          </m:ctrlPr>
                        </m:dPr>
                        <m:e>
                          <m:r>
                            <a:rPr>
                              <a:latin typeface="Cambria Math" panose="02040503050406030204" pitchFamily="18" charset="0"/>
                            </a:rPr>
                            <m:t>𝑈𝐼</m:t>
                          </m:r>
                          <m:sSub>
                            <m:sSubPr>
                              <m:ctrlPr>
                                <a:rPr i="1">
                                  <a:latin typeface="Cambria Math" panose="02040503050406030204" pitchFamily="18" charset="0"/>
                                </a:rPr>
                              </m:ctrlPr>
                            </m:sSubPr>
                            <m:e>
                              <m:r>
                                <a:rPr>
                                  <a:latin typeface="Cambria Math" panose="02040503050406030204" pitchFamily="18" charset="0"/>
                                </a:rPr>
                                <m:t>𝑁</m:t>
                              </m:r>
                            </m:e>
                            <m:sub>
                              <m:r>
                                <a:rPr>
                                  <a:latin typeface="Cambria Math" panose="02040503050406030204" pitchFamily="18" charset="0"/>
                                </a:rPr>
                                <m:t>𝑡</m:t>
                              </m:r>
                            </m:sub>
                          </m:sSub>
                        </m:e>
                      </m:d>
                      <m:r>
                        <a:rPr>
                          <a:latin typeface="Cambria Math" panose="02040503050406030204" pitchFamily="18" charset="0"/>
                        </a:rPr>
                        <m:t>+</m:t>
                      </m:r>
                      <m:nary>
                        <m:naryPr>
                          <m:chr m:val="∑"/>
                          <m:limLoc m:val="undOvr"/>
                          <m:ctrlPr>
                            <a:rPr i="1">
                              <a:latin typeface="Cambria Math" panose="02040503050406030204" pitchFamily="18" charset="0"/>
                            </a:rPr>
                          </m:ctrlPr>
                        </m:naryPr>
                        <m:sub>
                          <m:r>
                            <a:rPr>
                              <a:latin typeface="Cambria Math" panose="02040503050406030204" pitchFamily="18" charset="0"/>
                            </a:rPr>
                            <m:t>𝑘</m:t>
                          </m:r>
                          <m:r>
                            <a:rPr>
                              <a:latin typeface="Cambria Math" panose="02040503050406030204" pitchFamily="18" charset="0"/>
                            </a:rPr>
                            <m:t>=1</m:t>
                          </m:r>
                        </m:sub>
                        <m:sup>
                          <m:r>
                            <a:rPr>
                              <a:latin typeface="Cambria Math" panose="02040503050406030204" pitchFamily="18" charset="0"/>
                            </a:rPr>
                            <m:t>3</m:t>
                          </m:r>
                        </m:sup>
                        <m:e>
                          <m:sSub>
                            <m:sSubPr>
                              <m:ctrlPr>
                                <a:rPr i="1">
                                  <a:latin typeface="Cambria Math" panose="02040503050406030204" pitchFamily="18" charset="0"/>
                                </a:rPr>
                              </m:ctrlPr>
                            </m:sSubPr>
                            <m:e>
                              <m:r>
                                <a:rPr>
                                  <a:latin typeface="Cambria Math" panose="02040503050406030204" pitchFamily="18" charset="0"/>
                                </a:rPr>
                                <m:t>𝜆</m:t>
                              </m:r>
                            </m:e>
                            <m:sub>
                              <m:r>
                                <a:rPr>
                                  <a:latin typeface="Cambria Math" panose="02040503050406030204" pitchFamily="18" charset="0"/>
                                </a:rPr>
                                <m:t>𝑘</m:t>
                              </m:r>
                            </m:sub>
                          </m:sSub>
                        </m:e>
                      </m:nary>
                      <m:r>
                        <a:rPr>
                          <a:latin typeface="Cambria Math" panose="02040503050406030204" pitchFamily="18" charset="0"/>
                        </a:rPr>
                        <m:t>𝑅𝑃</m:t>
                      </m:r>
                      <m:sSub>
                        <m:sSubPr>
                          <m:ctrlPr>
                            <a:rPr i="1">
                              <a:latin typeface="Cambria Math" panose="02040503050406030204" pitchFamily="18" charset="0"/>
                            </a:rPr>
                          </m:ctrlPr>
                        </m:sSubPr>
                        <m:e>
                          <m:r>
                            <a:rPr>
                              <a:latin typeface="Cambria Math" panose="02040503050406030204" pitchFamily="18" charset="0"/>
                            </a:rPr>
                            <m:t>𝐷</m:t>
                          </m:r>
                        </m:e>
                        <m:sub>
                          <m:r>
                            <a:rPr>
                              <a:latin typeface="Cambria Math" panose="02040503050406030204" pitchFamily="18" charset="0"/>
                            </a:rPr>
                            <m:t>𝑡</m:t>
                          </m:r>
                          <m:r>
                            <a:rPr>
                              <a:latin typeface="Cambria Math" panose="02040503050406030204" pitchFamily="18" charset="0"/>
                            </a:rPr>
                            <m:t>−</m:t>
                          </m:r>
                          <m:r>
                            <a:rPr>
                              <a:latin typeface="Cambria Math" panose="02040503050406030204" pitchFamily="18" charset="0"/>
                            </a:rPr>
                            <m:t>𝑘</m:t>
                          </m:r>
                        </m:sub>
                      </m:sSub>
                      <m:r>
                        <a:rPr>
                          <a:latin typeface="Cambria Math" panose="02040503050406030204" pitchFamily="18" charset="0"/>
                        </a:rPr>
                        <m:t>+</m:t>
                      </m:r>
                      <m:sSub>
                        <m:sSubPr>
                          <m:ctrlPr>
                            <a:rPr i="1">
                              <a:latin typeface="Cambria Math" panose="02040503050406030204" pitchFamily="18" charset="0"/>
                            </a:rPr>
                          </m:ctrlPr>
                        </m:sSubPr>
                        <m:e>
                          <m:r>
                            <a:rPr>
                              <a:latin typeface="Cambria Math" panose="02040503050406030204" pitchFamily="18" charset="0"/>
                            </a:rPr>
                            <m:t>𝜖</m:t>
                          </m:r>
                        </m:e>
                        <m:sub>
                          <m:r>
                            <a:rPr>
                              <a:latin typeface="Cambria Math" panose="02040503050406030204" pitchFamily="18" charset="0"/>
                            </a:rPr>
                            <m:t>𝑡</m:t>
                          </m:r>
                        </m:sub>
                      </m:sSub>
                      <m:r>
                        <a:rPr>
                          <a:latin typeface="Cambria Math" panose="02040503050406030204" pitchFamily="18" charset="0"/>
                        </a:rPr>
                        <m:t>,  </m:t>
                      </m:r>
                      <m:d>
                        <m:dPr>
                          <m:ctrlPr>
                            <a:rPr i="1">
                              <a:latin typeface="Cambria Math" panose="02040503050406030204" pitchFamily="18" charset="0"/>
                            </a:rPr>
                          </m:ctrlPr>
                        </m:dPr>
                        <m:e>
                          <m:r>
                            <a:rPr>
                              <a:latin typeface="Cambria Math" panose="02040503050406030204" pitchFamily="18" charset="0"/>
                            </a:rPr>
                            <m:t>17</m:t>
                          </m:r>
                        </m:e>
                      </m:d>
                    </m:oMath>
                  </m:oMathPara>
                </a14:m>
                <a:endParaRPr dirty="0"/>
              </a:p>
              <a:p>
                <a:pPr lvl="0"/>
                <a14:m>
                  <m:oMath xmlns:m="http://schemas.openxmlformats.org/officeDocument/2006/math">
                    <m:r>
                      <a:rPr>
                        <a:latin typeface="Cambria Math" panose="02040503050406030204" pitchFamily="18" charset="0"/>
                      </a:rPr>
                      <m:t>𝐸𝐼</m:t>
                    </m:r>
                    <m:sSub>
                      <m:sSubPr>
                        <m:ctrlPr>
                          <a:rPr i="1">
                            <a:latin typeface="Cambria Math" panose="02040503050406030204" pitchFamily="18" charset="0"/>
                          </a:rPr>
                        </m:ctrlPr>
                      </m:sSubPr>
                      <m:e>
                        <m:r>
                          <a:rPr>
                            <a:latin typeface="Cambria Math" panose="02040503050406030204" pitchFamily="18" charset="0"/>
                          </a:rPr>
                          <m:t>𝑁</m:t>
                        </m:r>
                      </m:e>
                      <m:sub>
                        <m:r>
                          <a:rPr>
                            <a:latin typeface="Cambria Math" panose="02040503050406030204" pitchFamily="18" charset="0"/>
                          </a:rPr>
                          <m:t>𝑡</m:t>
                        </m:r>
                      </m:sub>
                    </m:sSub>
                  </m:oMath>
                </a14:m>
                <a:r>
                  <a:rPr dirty="0"/>
                  <a:t> is the expected inflation rate and </a:t>
                </a:r>
                <a14:m>
                  <m:oMath xmlns:m="http://schemas.openxmlformats.org/officeDocument/2006/math">
                    <m:r>
                      <a:rPr>
                        <a:latin typeface="Cambria Math" panose="02040503050406030204" pitchFamily="18" charset="0"/>
                      </a:rPr>
                      <m:t>𝑈𝐼</m:t>
                    </m:r>
                    <m:sSub>
                      <m:sSubPr>
                        <m:ctrlPr>
                          <a:rPr i="1">
                            <a:latin typeface="Cambria Math" panose="02040503050406030204" pitchFamily="18" charset="0"/>
                          </a:rPr>
                        </m:ctrlPr>
                      </m:sSubPr>
                      <m:e>
                        <m:r>
                          <a:rPr>
                            <a:latin typeface="Cambria Math" panose="02040503050406030204" pitchFamily="18" charset="0"/>
                          </a:rPr>
                          <m:t>𝑁</m:t>
                        </m:r>
                      </m:e>
                      <m:sub>
                        <m:r>
                          <a:rPr>
                            <a:latin typeface="Cambria Math" panose="02040503050406030204" pitchFamily="18" charset="0"/>
                          </a:rPr>
                          <m:t>𝑡</m:t>
                        </m:r>
                      </m:sub>
                    </m:sSub>
                  </m:oMath>
                </a14:m>
                <a:r>
                  <a:rPr dirty="0"/>
                  <a:t> is the unexpected inflation rate</a:t>
                </a:r>
              </a:p>
              <a:p>
                <a:pPr lvl="0"/>
                <a14:m>
                  <m:oMath xmlns:m="http://schemas.openxmlformats.org/officeDocument/2006/math">
                    <m:r>
                      <a:rPr>
                        <a:latin typeface="Cambria Math" panose="02040503050406030204" pitchFamily="18" charset="0"/>
                      </a:rPr>
                      <m:t>𝑔</m:t>
                    </m:r>
                    <m:d>
                      <m:dPr>
                        <m:ctrlPr>
                          <a:rPr i="1">
                            <a:latin typeface="Cambria Math" panose="02040503050406030204" pitchFamily="18" charset="0"/>
                          </a:rPr>
                        </m:ctrlPr>
                      </m:dPr>
                      <m:e>
                        <m:r>
                          <a:rPr>
                            <a:latin typeface="Cambria Math" panose="02040503050406030204" pitchFamily="18" charset="0"/>
                          </a:rPr>
                          <m:t>𝑈𝐼</m:t>
                        </m:r>
                        <m:sSub>
                          <m:sSubPr>
                            <m:ctrlPr>
                              <a:rPr i="1">
                                <a:latin typeface="Cambria Math" panose="02040503050406030204" pitchFamily="18" charset="0"/>
                              </a:rPr>
                            </m:ctrlPr>
                          </m:sSubPr>
                          <m:e>
                            <m:r>
                              <a:rPr>
                                <a:latin typeface="Cambria Math" panose="02040503050406030204" pitchFamily="18" charset="0"/>
                              </a:rPr>
                              <m:t>𝑁</m:t>
                            </m:r>
                          </m:e>
                          <m:sub>
                            <m:r>
                              <a:rPr>
                                <a:latin typeface="Cambria Math" panose="02040503050406030204" pitchFamily="18" charset="0"/>
                              </a:rPr>
                              <m:t>𝑡</m:t>
                            </m:r>
                          </m:sub>
                        </m:sSub>
                      </m:e>
                    </m:d>
                  </m:oMath>
                </a14:m>
                <a:r>
                  <a:rPr dirty="0"/>
                  <a:t> is a non-linear function of unexpected inflation (</a:t>
                </a:r>
                <a14:m>
                  <m:oMath xmlns:m="http://schemas.openxmlformats.org/officeDocument/2006/math">
                    <m:r>
                      <a:rPr>
                        <a:latin typeface="Cambria Math" panose="02040503050406030204" pitchFamily="18" charset="0"/>
                      </a:rPr>
                      <m:t>𝑈𝐼</m:t>
                    </m:r>
                    <m:sSub>
                      <m:sSubPr>
                        <m:ctrlPr>
                          <a:rPr i="1">
                            <a:latin typeface="Cambria Math" panose="02040503050406030204" pitchFamily="18" charset="0"/>
                          </a:rPr>
                        </m:ctrlPr>
                      </m:sSubPr>
                      <m:e>
                        <m:r>
                          <a:rPr>
                            <a:latin typeface="Cambria Math" panose="02040503050406030204" pitchFamily="18" charset="0"/>
                          </a:rPr>
                          <m:t>𝑁</m:t>
                        </m:r>
                      </m:e>
                      <m:sub>
                        <m:r>
                          <a:rPr>
                            <a:latin typeface="Cambria Math" panose="02040503050406030204" pitchFamily="18" charset="0"/>
                          </a:rPr>
                          <m:t>𝑡</m:t>
                        </m:r>
                      </m:sub>
                    </m:sSub>
                  </m:oMath>
                </a14:m>
                <a:r>
                  <a:rPr dirty="0"/>
                  <a:t>).</a:t>
                </a:r>
              </a:p>
              <a:p>
                <a:pPr lvl="0"/>
                <a:r>
                  <a:rPr dirty="0"/>
                  <a:t>We obtain the expected using </a:t>
                </a:r>
                <a:r>
                  <a:rPr lang="en-ZA" dirty="0"/>
                  <a:t>one-period step ahead forecast of a fitted AMRA model of </a:t>
                </a:r>
                <a:r>
                  <a:rPr dirty="0"/>
                  <a:t>headline </a:t>
                </a:r>
                <a:r>
                  <a:rPr lang="en-ZA" dirty="0"/>
                  <a:t>inflation </a:t>
                </a:r>
                <a:r>
                  <a:rPr dirty="0"/>
                  <a:t>and unexpected inflation as the</a:t>
                </a:r>
                <a:r>
                  <a:rPr lang="en-US" dirty="0"/>
                  <a:t> rolling</a:t>
                </a:r>
                <a:r>
                  <a:rPr dirty="0"/>
                  <a:t> standard deviation of inflation. The estimation of </a:t>
                </a:r>
                <a14:m>
                  <m:oMath xmlns:m="http://schemas.openxmlformats.org/officeDocument/2006/math">
                    <m:r>
                      <a:rPr>
                        <a:latin typeface="Cambria Math" panose="02040503050406030204" pitchFamily="18" charset="0"/>
                      </a:rPr>
                      <m:t>𝑔</m:t>
                    </m:r>
                    <m:d>
                      <m:dPr>
                        <m:ctrlPr>
                          <a:rPr i="1">
                            <a:latin typeface="Cambria Math" panose="02040503050406030204" pitchFamily="18" charset="0"/>
                          </a:rPr>
                        </m:ctrlPr>
                      </m:dPr>
                      <m:e>
                        <m:r>
                          <a:rPr>
                            <a:latin typeface="Cambria Math" panose="02040503050406030204" pitchFamily="18" charset="0"/>
                          </a:rPr>
                          <m:t>𝑈𝐼</m:t>
                        </m:r>
                        <m:sSub>
                          <m:sSubPr>
                            <m:ctrlPr>
                              <a:rPr i="1">
                                <a:latin typeface="Cambria Math" panose="02040503050406030204" pitchFamily="18" charset="0"/>
                              </a:rPr>
                            </m:ctrlPr>
                          </m:sSubPr>
                          <m:e>
                            <m:r>
                              <a:rPr>
                                <a:latin typeface="Cambria Math" panose="02040503050406030204" pitchFamily="18" charset="0"/>
                              </a:rPr>
                              <m:t>𝑁</m:t>
                            </m:r>
                          </m:e>
                          <m:sub>
                            <m:r>
                              <a:rPr>
                                <a:latin typeface="Cambria Math" panose="02040503050406030204" pitchFamily="18" charset="0"/>
                              </a:rPr>
                              <m:t>𝑡</m:t>
                            </m:r>
                          </m:sub>
                        </m:sSub>
                      </m:e>
                    </m:d>
                  </m:oMath>
                </a14:m>
                <a:r>
                  <a:rPr dirty="0"/>
                  <a:t> follows the same two-stage semi-parametric approach outlined in Equation 15 and Equation 16. The number of lags is the same as in Equation 10.</a:t>
                </a:r>
              </a:p>
            </p:txBody>
          </p:sp>
        </mc:Choice>
        <mc:Fallback xmlns="">
          <p:sp>
            <p:nvSpPr>
              <p:cNvPr id="3" name="Content Placeholder 2">
                <a:extLst>
                  <a:ext uri="{FF2B5EF4-FFF2-40B4-BE49-F238E27FC236}">
                    <a16:creationId xmlns:a16="http://schemas.microsoft.com/office/drawing/2014/main" id="{9C966DDB-3364-1B41-9729-DB3686A721C5}"/>
                  </a:ext>
                </a:extLst>
              </p:cNvPr>
              <p:cNvSpPr>
                <a:spLocks noGrp="1" noRot="1" noChangeAspect="1" noMove="1" noResize="1" noEditPoints="1" noAdjustHandles="1" noChangeArrowheads="1" noChangeShapeType="1" noTextEdit="1"/>
              </p:cNvSpPr>
              <p:nvPr>
                <p:ph idx="1" hasCustomPrompt="1"/>
              </p:nvPr>
            </p:nvSpPr>
            <p:spPr>
              <a:blipFill>
                <a:blip r:embed="rId3"/>
                <a:stretch>
                  <a:fillRect l="-454" t="-1181"/>
                </a:stretch>
              </a:blipFill>
            </p:spPr>
            <p:txBody>
              <a:bodyPr/>
              <a:lstStyle/>
              <a:p>
                <a:r>
                  <a:rPr lang="en-ZA">
                    <a:noFill/>
                  </a:rPr>
                  <a:t> </a:t>
                </a:r>
              </a:p>
            </p:txBody>
          </p:sp>
        </mc:Fallback>
      </mc:AlternateContent>
      <p:sp>
        <p:nvSpPr>
          <p:cNvPr id="7" name="Slide Number Placeholder 5">
            <a:extLst>
              <a:ext uri="{FF2B5EF4-FFF2-40B4-BE49-F238E27FC236}">
                <a16:creationId xmlns:a16="http://schemas.microsoft.com/office/drawing/2014/main" id="{FB221DBE-BC54-6C4C-BA1C-95E280B67712}"/>
              </a:ext>
            </a:extLst>
          </p:cNvPr>
          <p:cNvSpPr>
            <a:spLocks noGrp="1"/>
          </p:cNvSpPr>
          <p:nvPr>
            <p:ph type="sldNum" sz="quarter" idx="12"/>
          </p:nvPr>
        </p:nvSpPr>
        <p:spPr>
          <a:xfrm>
            <a:off x="7557977" y="6313820"/>
            <a:ext cx="2743200" cy="365125"/>
          </a:xfrm>
        </p:spPr>
        <p:txBody>
          <a:bodyPr/>
          <a:lstStyle>
            <a:lvl1pPr>
              <a:defRPr sz="1100"/>
            </a:lvl1pPr>
          </a:lstStyle>
          <a:p>
            <a:fld id="{85DA3A08-9E66-614E-AAE5-F810EFDD6885}" type="slidenum">
              <a:rPr lang="en-US" smtClean="0"/>
              <a:pPr/>
              <a:t>21</a:t>
            </a:fld>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631292-24AE-5F41-8820-196C7D8E36A1}"/>
              </a:ext>
            </a:extLst>
          </p:cNvPr>
          <p:cNvSpPr>
            <a:spLocks noGrp="1"/>
          </p:cNvSpPr>
          <p:nvPr>
            <p:ph type="title"/>
          </p:nvPr>
        </p:nvSpPr>
        <p:spPr>
          <a:xfrm>
            <a:off x="1055553" y="365125"/>
            <a:ext cx="10977744" cy="666233"/>
          </a:xfrm>
        </p:spPr>
        <p:txBody>
          <a:bodyPr/>
          <a:lstStyle/>
          <a:p>
            <a:pPr marL="0" lvl="0" indent="0">
              <a:buNone/>
            </a:pPr>
            <a:r>
              <a:rPr lang="en-US" dirty="0"/>
              <a:t>Lastly, we estimate RPD-Inflation regimes using QQR</a:t>
            </a:r>
            <a:endParaRPr dirty="0"/>
          </a:p>
        </p:txBody>
      </p:sp>
      <p:sp>
        <p:nvSpPr>
          <p:cNvPr id="3" name="Content Placeholder 2">
            <a:extLst>
              <a:ext uri="{FF2B5EF4-FFF2-40B4-BE49-F238E27FC236}">
                <a16:creationId xmlns:a16="http://schemas.microsoft.com/office/drawing/2014/main" id="{9C966DDB-3364-1B41-9729-DB3686A721C5}"/>
              </a:ext>
            </a:extLst>
          </p:cNvPr>
          <p:cNvSpPr>
            <a:spLocks noGrp="1"/>
          </p:cNvSpPr>
          <p:nvPr>
            <p:ph idx="1" hasCustomPrompt="1"/>
          </p:nvPr>
        </p:nvSpPr>
        <p:spPr/>
        <p:txBody>
          <a:bodyPr/>
          <a:lstStyle/>
          <a:p>
            <a:r>
              <a:rPr dirty="0"/>
              <a:t>Lastly, and some-what novel to the RPD literature, we employ a quantile on quantile regression</a:t>
            </a:r>
            <a:r>
              <a:rPr lang="en-US" dirty="0"/>
              <a:t> (QQR)</a:t>
            </a:r>
            <a:r>
              <a:rPr dirty="0"/>
              <a:t> approach (</a:t>
            </a:r>
            <a:r>
              <a:rPr dirty="0" err="1"/>
              <a:t>Koenker</a:t>
            </a:r>
            <a:r>
              <a:rPr dirty="0"/>
              <a:t> 2017). </a:t>
            </a:r>
            <a:endParaRPr lang="en-US" dirty="0"/>
          </a:p>
          <a:p>
            <a:r>
              <a:rPr lang="en-US" dirty="0"/>
              <a:t>QQRs </a:t>
            </a:r>
            <a:r>
              <a:rPr dirty="0"/>
              <a:t>are robust to outliers and allows us to estimate the regime aspects of the relationship between RPD and inflation.</a:t>
            </a:r>
          </a:p>
          <a:p>
            <a:r>
              <a:rPr dirty="0"/>
              <a:t>For brevity, we do not explain the </a:t>
            </a:r>
            <a:r>
              <a:rPr lang="en-US" dirty="0"/>
              <a:t>QQR </a:t>
            </a:r>
            <a:r>
              <a:rPr dirty="0"/>
              <a:t>procedure</a:t>
            </a:r>
          </a:p>
        </p:txBody>
      </p:sp>
      <p:sp>
        <p:nvSpPr>
          <p:cNvPr id="7" name="Slide Number Placeholder 5">
            <a:extLst>
              <a:ext uri="{FF2B5EF4-FFF2-40B4-BE49-F238E27FC236}">
                <a16:creationId xmlns:a16="http://schemas.microsoft.com/office/drawing/2014/main" id="{FB221DBE-BC54-6C4C-BA1C-95E280B67712}"/>
              </a:ext>
            </a:extLst>
          </p:cNvPr>
          <p:cNvSpPr>
            <a:spLocks noGrp="1"/>
          </p:cNvSpPr>
          <p:nvPr>
            <p:ph type="sldNum" sz="quarter" idx="12"/>
          </p:nvPr>
        </p:nvSpPr>
        <p:spPr>
          <a:xfrm>
            <a:off x="7557977" y="6313820"/>
            <a:ext cx="2743200" cy="365125"/>
          </a:xfrm>
        </p:spPr>
        <p:txBody>
          <a:bodyPr/>
          <a:lstStyle>
            <a:lvl1pPr>
              <a:defRPr sz="1100"/>
            </a:lvl1pPr>
          </a:lstStyle>
          <a:p>
            <a:fld id="{85DA3A08-9E66-614E-AAE5-F810EFDD6885}" type="slidenum">
              <a:rPr lang="en-US" smtClean="0"/>
              <a:pPr/>
              <a:t>22</a:t>
            </a:fld>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806118-0840-574D-AD0F-62FBB748D13C}"/>
              </a:ext>
            </a:extLst>
          </p:cNvPr>
          <p:cNvSpPr>
            <a:spLocks noGrp="1"/>
          </p:cNvSpPr>
          <p:nvPr>
            <p:ph type="ctrTitle" hasCustomPrompt="1"/>
          </p:nvPr>
        </p:nvSpPr>
        <p:spPr>
          <a:xfrm>
            <a:off x="2997987" y="1817520"/>
            <a:ext cx="5242902" cy="1381125"/>
          </a:xfrm>
        </p:spPr>
        <p:txBody>
          <a:bodyPr/>
          <a:lstStyle/>
          <a:p>
            <a:pPr marL="0" lvl="0" indent="0">
              <a:buNone/>
            </a:pPr>
            <a:r>
              <a:rPr dirty="0"/>
              <a:t>Results</a:t>
            </a:r>
            <a:r>
              <a:rPr lang="en-US" dirty="0"/>
              <a:t> (what did we find?)</a:t>
            </a:r>
            <a:endParaRPr dirty="0"/>
          </a:p>
        </p:txBody>
      </p:sp>
      <p:sp>
        <p:nvSpPr>
          <p:cNvPr id="9" name="Slide Number Placeholder 5">
            <a:extLst>
              <a:ext uri="{FF2B5EF4-FFF2-40B4-BE49-F238E27FC236}">
                <a16:creationId xmlns:a16="http://schemas.microsoft.com/office/drawing/2014/main" id="{A50C40EB-9722-8244-8C4B-58C77EAC766D}"/>
              </a:ext>
            </a:extLst>
          </p:cNvPr>
          <p:cNvSpPr>
            <a:spLocks noGrp="1"/>
          </p:cNvSpPr>
          <p:nvPr>
            <p:ph type="sldNum" sz="quarter" idx="12"/>
          </p:nvPr>
        </p:nvSpPr>
        <p:spPr>
          <a:xfrm>
            <a:off x="7557977" y="6313820"/>
            <a:ext cx="2743200" cy="365125"/>
          </a:xfrm>
        </p:spPr>
        <p:txBody>
          <a:bodyPr/>
          <a:lstStyle>
            <a:lvl1pPr>
              <a:defRPr sz="1100"/>
            </a:lvl1pPr>
          </a:lstStyle>
          <a:p>
            <a:fld id="{85DA3A08-9E66-614E-AAE5-F810EFDD6885}" type="slidenum">
              <a:rPr lang="en-US" smtClean="0"/>
              <a:pPr/>
              <a:t>23</a:t>
            </a:fld>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631292-24AE-5F41-8820-196C7D8E36A1}"/>
              </a:ext>
            </a:extLst>
          </p:cNvPr>
          <p:cNvSpPr>
            <a:spLocks noGrp="1"/>
          </p:cNvSpPr>
          <p:nvPr>
            <p:ph type="title"/>
          </p:nvPr>
        </p:nvSpPr>
        <p:spPr>
          <a:xfrm>
            <a:off x="1055553" y="365125"/>
            <a:ext cx="10977744" cy="666233"/>
          </a:xfrm>
        </p:spPr>
        <p:txBody>
          <a:bodyPr/>
          <a:lstStyle/>
          <a:p>
            <a:pPr lvl="0"/>
            <a:r>
              <a:rPr lang="en-ZA" dirty="0"/>
              <a:t>RPD tends to rise rapidly with high inflation shocks</a:t>
            </a:r>
            <a:endParaRPr dirty="0"/>
          </a:p>
        </p:txBody>
      </p:sp>
      <p:pic>
        <p:nvPicPr>
          <p:cNvPr id="3" name="Picture 1" descr="inflation_relative_price_variance_presentation_files/figure-pptx/fig-rpd-1.png"/>
          <p:cNvPicPr>
            <a:picLocks noGrp="1" noChangeAspect="1"/>
          </p:cNvPicPr>
          <p:nvPr/>
        </p:nvPicPr>
        <p:blipFill>
          <a:blip r:embed="rId2"/>
          <a:stretch>
            <a:fillRect/>
          </a:stretch>
        </p:blipFill>
        <p:spPr bwMode="auto">
          <a:xfrm>
            <a:off x="1778000" y="1524000"/>
            <a:ext cx="9026358" cy="4513179"/>
          </a:xfrm>
          <a:prstGeom prst="rect">
            <a:avLst/>
          </a:prstGeom>
          <a:noFill/>
          <a:ln w="9525">
            <a:noFill/>
            <a:headEnd/>
            <a:tailEnd/>
          </a:ln>
        </p:spPr>
      </p:pic>
      <p:sp>
        <p:nvSpPr>
          <p:cNvPr id="7" name="Slide Number Placeholder 5">
            <a:extLst>
              <a:ext uri="{FF2B5EF4-FFF2-40B4-BE49-F238E27FC236}">
                <a16:creationId xmlns:a16="http://schemas.microsoft.com/office/drawing/2014/main" id="{FB221DBE-BC54-6C4C-BA1C-95E280B67712}"/>
              </a:ext>
            </a:extLst>
          </p:cNvPr>
          <p:cNvSpPr>
            <a:spLocks noGrp="1"/>
          </p:cNvSpPr>
          <p:nvPr>
            <p:ph type="sldNum" sz="quarter" idx="12"/>
          </p:nvPr>
        </p:nvSpPr>
        <p:spPr>
          <a:xfrm>
            <a:off x="7557977" y="6313820"/>
            <a:ext cx="2743200" cy="365125"/>
          </a:xfrm>
        </p:spPr>
        <p:txBody>
          <a:bodyPr/>
          <a:lstStyle>
            <a:lvl1pPr>
              <a:defRPr sz="1100"/>
            </a:lvl1pPr>
          </a:lstStyle>
          <a:p>
            <a:fld id="{85DA3A08-9E66-614E-AAE5-F810EFDD6885}" type="slidenum">
              <a:rPr lang="en-US" smtClean="0"/>
              <a:pPr/>
              <a:t>24</a:t>
            </a:fld>
            <a:endParaRPr lang="en-US" dirty="0"/>
          </a:p>
        </p:txBody>
      </p:sp>
      <p:sp>
        <p:nvSpPr>
          <p:cNvPr id="4" name="TextBox 3">
            <a:extLst>
              <a:ext uri="{FF2B5EF4-FFF2-40B4-BE49-F238E27FC236}">
                <a16:creationId xmlns:a16="http://schemas.microsoft.com/office/drawing/2014/main" id="{C478F715-E4B2-AA97-4296-4C5FD552B3BC}"/>
              </a:ext>
            </a:extLst>
          </p:cNvPr>
          <p:cNvSpPr txBox="1"/>
          <p:nvPr/>
        </p:nvSpPr>
        <p:spPr>
          <a:xfrm>
            <a:off x="2006051" y="1247001"/>
            <a:ext cx="2398481" cy="276999"/>
          </a:xfrm>
          <a:prstGeom prst="rect">
            <a:avLst/>
          </a:prstGeom>
          <a:noFill/>
        </p:spPr>
        <p:txBody>
          <a:bodyPr wrap="square" rtlCol="0">
            <a:spAutoFit/>
          </a:bodyPr>
          <a:lstStyle/>
          <a:p>
            <a:r>
              <a:rPr lang="en-US" sz="1200" b="1" dirty="0">
                <a:latin typeface="Arial" panose="020B0604020202020204" pitchFamily="34" charset="0"/>
                <a:cs typeface="Arial" panose="020B0604020202020204" pitchFamily="34" charset="0"/>
              </a:rPr>
              <a:t>Figure 3: RPD over-time</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631292-24AE-5F41-8820-196C7D8E36A1}"/>
              </a:ext>
            </a:extLst>
          </p:cNvPr>
          <p:cNvSpPr>
            <a:spLocks noGrp="1"/>
          </p:cNvSpPr>
          <p:nvPr>
            <p:ph type="title"/>
          </p:nvPr>
        </p:nvSpPr>
        <p:spPr>
          <a:xfrm>
            <a:off x="1055553" y="365125"/>
            <a:ext cx="10977744" cy="666233"/>
          </a:xfrm>
        </p:spPr>
        <p:txBody>
          <a:bodyPr/>
          <a:lstStyle/>
          <a:p>
            <a:pPr lvl="0"/>
            <a:r>
              <a:rPr lang="en-ZA" dirty="0"/>
              <a:t>Empirically, the RPD suggests lower optimal inflation</a:t>
            </a:r>
            <a:endParaRPr dirty="0"/>
          </a:p>
        </p:txBody>
      </p:sp>
      <p:pic>
        <p:nvPicPr>
          <p:cNvPr id="3" name="Picture 1" descr="inflation_relative_price_variance_presentation_files/figure-pptx/fig-rpd_inflation-1.png"/>
          <p:cNvPicPr>
            <a:picLocks noGrp="1" noChangeAspect="1"/>
          </p:cNvPicPr>
          <p:nvPr/>
        </p:nvPicPr>
        <p:blipFill>
          <a:blip r:embed="rId2"/>
          <a:stretch>
            <a:fillRect/>
          </a:stretch>
        </p:blipFill>
        <p:spPr bwMode="auto">
          <a:xfrm>
            <a:off x="1778000" y="1524000"/>
            <a:ext cx="9271000" cy="4635500"/>
          </a:xfrm>
          <a:prstGeom prst="rect">
            <a:avLst/>
          </a:prstGeom>
          <a:noFill/>
          <a:ln w="9525">
            <a:noFill/>
            <a:headEnd/>
            <a:tailEnd/>
          </a:ln>
        </p:spPr>
      </p:pic>
      <p:sp>
        <p:nvSpPr>
          <p:cNvPr id="7" name="Slide Number Placeholder 5">
            <a:extLst>
              <a:ext uri="{FF2B5EF4-FFF2-40B4-BE49-F238E27FC236}">
                <a16:creationId xmlns:a16="http://schemas.microsoft.com/office/drawing/2014/main" id="{FB221DBE-BC54-6C4C-BA1C-95E280B67712}"/>
              </a:ext>
            </a:extLst>
          </p:cNvPr>
          <p:cNvSpPr>
            <a:spLocks noGrp="1"/>
          </p:cNvSpPr>
          <p:nvPr>
            <p:ph type="sldNum" sz="quarter" idx="12"/>
          </p:nvPr>
        </p:nvSpPr>
        <p:spPr>
          <a:xfrm>
            <a:off x="7557977" y="6313820"/>
            <a:ext cx="2743200" cy="365125"/>
          </a:xfrm>
        </p:spPr>
        <p:txBody>
          <a:bodyPr/>
          <a:lstStyle>
            <a:lvl1pPr>
              <a:defRPr sz="1100"/>
            </a:lvl1pPr>
          </a:lstStyle>
          <a:p>
            <a:fld id="{85DA3A08-9E66-614E-AAE5-F810EFDD6885}" type="slidenum">
              <a:rPr lang="en-US" smtClean="0"/>
              <a:pPr/>
              <a:t>25</a:t>
            </a:fld>
            <a:endParaRPr lang="en-US" dirty="0"/>
          </a:p>
        </p:txBody>
      </p:sp>
      <p:sp>
        <p:nvSpPr>
          <p:cNvPr id="4" name="TextBox 3">
            <a:extLst>
              <a:ext uri="{FF2B5EF4-FFF2-40B4-BE49-F238E27FC236}">
                <a16:creationId xmlns:a16="http://schemas.microsoft.com/office/drawing/2014/main" id="{A86264BF-2D82-14E9-0EE5-7759A3EBAB4E}"/>
              </a:ext>
            </a:extLst>
          </p:cNvPr>
          <p:cNvSpPr txBox="1"/>
          <p:nvPr/>
        </p:nvSpPr>
        <p:spPr>
          <a:xfrm>
            <a:off x="2006051" y="1247001"/>
            <a:ext cx="3043027" cy="276999"/>
          </a:xfrm>
          <a:prstGeom prst="rect">
            <a:avLst/>
          </a:prstGeom>
          <a:noFill/>
        </p:spPr>
        <p:txBody>
          <a:bodyPr wrap="square" rtlCol="0">
            <a:spAutoFit/>
          </a:bodyPr>
          <a:lstStyle/>
          <a:p>
            <a:r>
              <a:rPr lang="en-US" sz="1200" b="1" dirty="0">
                <a:latin typeface="Arial" panose="020B0604020202020204" pitchFamily="34" charset="0"/>
                <a:cs typeface="Arial" panose="020B0604020202020204" pitchFamily="34" charset="0"/>
              </a:rPr>
              <a:t>Figure 4: RPD vs headline inflation</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631292-24AE-5F41-8820-196C7D8E36A1}"/>
              </a:ext>
            </a:extLst>
          </p:cNvPr>
          <p:cNvSpPr>
            <a:spLocks noGrp="1"/>
          </p:cNvSpPr>
          <p:nvPr>
            <p:ph type="title"/>
          </p:nvPr>
        </p:nvSpPr>
        <p:spPr>
          <a:xfrm>
            <a:off x="1055553" y="365125"/>
            <a:ext cx="10977744" cy="666233"/>
          </a:xfrm>
        </p:spPr>
        <p:txBody>
          <a:bodyPr/>
          <a:lstStyle/>
          <a:p>
            <a:pPr marL="0" lvl="0" indent="0">
              <a:buNone/>
            </a:pPr>
            <a:r>
              <a:rPr lang="en-US" dirty="0"/>
              <a:t>The baseline results suggests a non-linear relationship</a:t>
            </a:r>
            <a:endParaRPr dirty="0"/>
          </a:p>
        </p:txBody>
      </p:sp>
      <mc:AlternateContent xmlns:mc="http://schemas.openxmlformats.org/markup-compatibility/2006" xmlns:a14="http://schemas.microsoft.com/office/drawing/2010/main">
        <mc:Choice Requires="a14">
          <p:graphicFrame>
            <p:nvGraphicFramePr>
              <p:cNvPr id="434235368" name="Table 434235367"/>
              <p:cNvGraphicFramePr>
                <a:graphicFrameLocks noGrp="1"/>
              </p:cNvGraphicFramePr>
              <p:nvPr>
                <p:extLst>
                  <p:ext uri="{D42A27DB-BD31-4B8C-83A1-F6EECF244321}">
                    <p14:modId xmlns:p14="http://schemas.microsoft.com/office/powerpoint/2010/main" val="901234089"/>
                  </p:ext>
                </p:extLst>
              </p:nvPr>
            </p:nvGraphicFramePr>
            <p:xfrm>
              <a:off x="1174898" y="1532141"/>
              <a:ext cx="9842204" cy="4540927"/>
            </p:xfrm>
            <a:graphic>
              <a:graphicData uri="http://schemas.openxmlformats.org/drawingml/2006/table">
                <a:tbl>
                  <a:tblPr/>
                  <a:tblGrid>
                    <a:gridCol w="1527936">
                      <a:extLst>
                        <a:ext uri="{9D8B030D-6E8A-4147-A177-3AD203B41FA5}">
                          <a16:colId xmlns:a16="http://schemas.microsoft.com/office/drawing/2014/main" val="20000"/>
                        </a:ext>
                      </a:extLst>
                    </a:gridCol>
                    <a:gridCol w="1086662">
                      <a:extLst>
                        <a:ext uri="{9D8B030D-6E8A-4147-A177-3AD203B41FA5}">
                          <a16:colId xmlns:a16="http://schemas.microsoft.com/office/drawing/2014/main" val="20001"/>
                        </a:ext>
                      </a:extLst>
                    </a:gridCol>
                    <a:gridCol w="979014">
                      <a:extLst>
                        <a:ext uri="{9D8B030D-6E8A-4147-A177-3AD203B41FA5}">
                          <a16:colId xmlns:a16="http://schemas.microsoft.com/office/drawing/2014/main" val="20002"/>
                        </a:ext>
                      </a:extLst>
                    </a:gridCol>
                    <a:gridCol w="1018225">
                      <a:extLst>
                        <a:ext uri="{9D8B030D-6E8A-4147-A177-3AD203B41FA5}">
                          <a16:colId xmlns:a16="http://schemas.microsoft.com/office/drawing/2014/main" val="20003"/>
                        </a:ext>
                      </a:extLst>
                    </a:gridCol>
                    <a:gridCol w="1802150">
                      <a:extLst>
                        <a:ext uri="{9D8B030D-6E8A-4147-A177-3AD203B41FA5}">
                          <a16:colId xmlns:a16="http://schemas.microsoft.com/office/drawing/2014/main" val="20004"/>
                        </a:ext>
                      </a:extLst>
                    </a:gridCol>
                    <a:gridCol w="1694503">
                      <a:extLst>
                        <a:ext uri="{9D8B030D-6E8A-4147-A177-3AD203B41FA5}">
                          <a16:colId xmlns:a16="http://schemas.microsoft.com/office/drawing/2014/main" val="20005"/>
                        </a:ext>
                      </a:extLst>
                    </a:gridCol>
                    <a:gridCol w="1733714">
                      <a:extLst>
                        <a:ext uri="{9D8B030D-6E8A-4147-A177-3AD203B41FA5}">
                          <a16:colId xmlns:a16="http://schemas.microsoft.com/office/drawing/2014/main" val="20006"/>
                        </a:ext>
                      </a:extLst>
                    </a:gridCol>
                  </a:tblGrid>
                  <a:tr h="258989">
                    <a:tc>
                      <a:txBody>
                        <a:bodyPr/>
                        <a:lstStyle/>
                        <a:p>
                          <a:pPr marL="63500" marR="63500" algn="l">
                            <a:lnSpc>
                              <a:spcPct val="100000"/>
                            </a:lnSpc>
                            <a:spcBef>
                              <a:spcPts val="500"/>
                            </a:spcBef>
                            <a:spcAft>
                              <a:spcPts val="500"/>
                            </a:spcAft>
                            <a:buNone/>
                          </a:pPr>
                          <a:r>
                            <a:rPr sz="700" b="0" i="0" u="none" strike="noStrike" cap="none">
                              <a:solidFill>
                                <a:srgbClr val="000000">
                                  <a:alpha val="100000"/>
                                </a:srgbClr>
                              </a:solidFill>
                              <a:latin typeface="Arial"/>
                              <a:cs typeface="Helvetica"/>
                              <a:sym typeface="Helvetica"/>
                            </a:rPr>
                            <a:t> </a:t>
                          </a:r>
                        </a:p>
                      </a:txBody>
                      <a:tcPr marL="0" marR="0" marT="63500" marB="63500" anchor="ctr">
                        <a:lnL w="12700" cap="flat" cmpd="sng" algn="ctr">
                          <a:solidFill>
                            <a:srgbClr val="FFFFFF">
                              <a:alpha val="100000"/>
                            </a:srgbClr>
                          </a:solidFill>
                          <a:prstDash val="solid"/>
                        </a:lnL>
                        <a:lnR w="12700" cap="flat" cmpd="sng" algn="ctr">
                          <a:solidFill>
                            <a:srgbClr val="FFFFFF">
                              <a:alpha val="100000"/>
                            </a:srgbClr>
                          </a:solidFill>
                          <a:prstDash val="solid"/>
                        </a:lnR>
                        <a:lnT w="12700" cap="flat" cmpd="sng" algn="ctr">
                          <a:solidFill>
                            <a:srgbClr val="000000">
                              <a:alpha val="100000"/>
                            </a:srgbClr>
                          </a:solidFill>
                          <a:prstDash val="solid"/>
                        </a:lnT>
                        <a:lnB w="12700" cap="flat" cmpd="sng" algn="ctr">
                          <a:solidFill>
                            <a:srgbClr val="000000">
                              <a:alpha val="100000"/>
                            </a:srgbClr>
                          </a:solidFill>
                          <a:prstDash val="solid"/>
                        </a:lnB>
                        <a:solidFill>
                          <a:srgbClr val="FFFFFF">
                            <a:alpha val="0"/>
                          </a:srgbClr>
                        </a:solidFill>
                      </a:tcPr>
                    </a:tc>
                    <a:tc>
                      <a:txBody>
                        <a:bodyPr/>
                        <a:lstStyle/>
                        <a:p>
                          <a:pPr marL="63500" marR="63500" algn="ctr">
                            <a:lnSpc>
                              <a:spcPct val="100000"/>
                            </a:lnSpc>
                            <a:spcBef>
                              <a:spcPts val="500"/>
                            </a:spcBef>
                            <a:spcAft>
                              <a:spcPts val="500"/>
                            </a:spcAft>
                            <a:buNone/>
                          </a:pPr>
                          <a:r>
                            <a:rPr sz="1000" b="0" i="0" u="none" strike="noStrike" cap="none" dirty="0">
                              <a:solidFill>
                                <a:srgbClr val="000000">
                                  <a:alpha val="100000"/>
                                </a:srgbClr>
                              </a:solidFill>
                              <a:latin typeface="Arial"/>
                              <a:cs typeface="Helvetica"/>
                              <a:sym typeface="Helvetica"/>
                            </a:rPr>
                            <a:t>Full Sample</a:t>
                          </a:r>
                        </a:p>
                      </a:txBody>
                      <a:tcPr marL="0" marR="0" marT="63500" marB="63500" anchor="ctr">
                        <a:lnL w="12700" cap="flat" cmpd="sng" algn="ctr">
                          <a:solidFill>
                            <a:srgbClr val="FFFFFF">
                              <a:alpha val="100000"/>
                            </a:srgbClr>
                          </a:solidFill>
                          <a:prstDash val="solid"/>
                        </a:lnL>
                        <a:lnR w="12700" cap="flat" cmpd="sng" algn="ctr">
                          <a:solidFill>
                            <a:srgbClr val="FFFFFF">
                              <a:alpha val="100000"/>
                            </a:srgbClr>
                          </a:solidFill>
                          <a:prstDash val="solid"/>
                        </a:lnR>
                        <a:lnT w="12700" cap="flat" cmpd="sng" algn="ctr">
                          <a:solidFill>
                            <a:srgbClr val="000000">
                              <a:alpha val="100000"/>
                            </a:srgbClr>
                          </a:solidFill>
                          <a:prstDash val="solid"/>
                        </a:lnT>
                        <a:lnB w="12700" cap="flat" cmpd="sng" algn="ctr">
                          <a:solidFill>
                            <a:srgbClr val="000000">
                              <a:alpha val="100000"/>
                            </a:srgbClr>
                          </a:solidFill>
                          <a:prstDash val="solid"/>
                        </a:lnB>
                        <a:solidFill>
                          <a:srgbClr val="FFFFFF">
                            <a:alpha val="0"/>
                          </a:srgbClr>
                        </a:solidFill>
                      </a:tcPr>
                    </a:tc>
                    <a:tc>
                      <a:txBody>
                        <a:bodyPr/>
                        <a:lstStyle/>
                        <a:p>
                          <a:pPr marL="63500" marR="63500" algn="ctr">
                            <a:lnSpc>
                              <a:spcPct val="100000"/>
                            </a:lnSpc>
                            <a:spcBef>
                              <a:spcPts val="500"/>
                            </a:spcBef>
                            <a:spcAft>
                              <a:spcPts val="500"/>
                            </a:spcAft>
                            <a:buNone/>
                          </a:pPr>
                          <a:r>
                            <a:rPr sz="1000" b="0" i="0" u="none" strike="noStrike" cap="none" dirty="0">
                              <a:solidFill>
                                <a:srgbClr val="000000">
                                  <a:alpha val="100000"/>
                                </a:srgbClr>
                              </a:solidFill>
                              <a:latin typeface="Arial"/>
                              <a:cs typeface="Helvetica"/>
                              <a:sym typeface="Helvetica"/>
                            </a:rPr>
                            <a:t>Pre 2017</a:t>
                          </a:r>
                        </a:p>
                      </a:txBody>
                      <a:tcPr marL="0" marR="0" marT="63500" marB="63500" anchor="ctr">
                        <a:lnL w="12700" cap="flat" cmpd="sng" algn="ctr">
                          <a:solidFill>
                            <a:srgbClr val="FFFFFF">
                              <a:alpha val="100000"/>
                            </a:srgbClr>
                          </a:solidFill>
                          <a:prstDash val="solid"/>
                        </a:lnL>
                        <a:lnR w="12700" cap="flat" cmpd="sng" algn="ctr">
                          <a:solidFill>
                            <a:srgbClr val="FFFFFF">
                              <a:alpha val="100000"/>
                            </a:srgbClr>
                          </a:solidFill>
                          <a:prstDash val="solid"/>
                        </a:lnR>
                        <a:lnT w="12700" cap="flat" cmpd="sng" algn="ctr">
                          <a:solidFill>
                            <a:srgbClr val="000000">
                              <a:alpha val="100000"/>
                            </a:srgbClr>
                          </a:solidFill>
                          <a:prstDash val="solid"/>
                        </a:lnT>
                        <a:lnB w="12700" cap="flat" cmpd="sng" algn="ctr">
                          <a:solidFill>
                            <a:srgbClr val="000000">
                              <a:alpha val="100000"/>
                            </a:srgbClr>
                          </a:solidFill>
                          <a:prstDash val="solid"/>
                        </a:lnB>
                        <a:solidFill>
                          <a:srgbClr val="FFFFFF">
                            <a:alpha val="0"/>
                          </a:srgbClr>
                        </a:solidFill>
                      </a:tcPr>
                    </a:tc>
                    <a:tc>
                      <a:txBody>
                        <a:bodyPr/>
                        <a:lstStyle/>
                        <a:p>
                          <a:pPr marL="63500" marR="63500" algn="ctr">
                            <a:lnSpc>
                              <a:spcPct val="100000"/>
                            </a:lnSpc>
                            <a:spcBef>
                              <a:spcPts val="500"/>
                            </a:spcBef>
                            <a:spcAft>
                              <a:spcPts val="500"/>
                            </a:spcAft>
                            <a:buNone/>
                          </a:pPr>
                          <a:r>
                            <a:rPr sz="1000" b="0" i="0" u="none" strike="noStrike" cap="none">
                              <a:solidFill>
                                <a:srgbClr val="000000">
                                  <a:alpha val="100000"/>
                                </a:srgbClr>
                              </a:solidFill>
                              <a:latin typeface="Arial"/>
                              <a:cs typeface="Helvetica"/>
                              <a:sym typeface="Helvetica"/>
                            </a:rPr>
                            <a:t>Post 2017</a:t>
                          </a:r>
                        </a:p>
                      </a:txBody>
                      <a:tcPr marL="0" marR="0" marT="63500" marB="63500" anchor="ctr">
                        <a:lnL w="12700" cap="flat" cmpd="sng" algn="ctr">
                          <a:solidFill>
                            <a:srgbClr val="FFFFFF">
                              <a:alpha val="100000"/>
                            </a:srgbClr>
                          </a:solidFill>
                          <a:prstDash val="solid"/>
                        </a:lnL>
                        <a:lnR w="12700" cap="flat" cmpd="sng" algn="ctr">
                          <a:solidFill>
                            <a:srgbClr val="FFFFFF">
                              <a:alpha val="100000"/>
                            </a:srgbClr>
                          </a:solidFill>
                          <a:prstDash val="solid"/>
                        </a:lnR>
                        <a:lnT w="12700" cap="flat" cmpd="sng" algn="ctr">
                          <a:solidFill>
                            <a:srgbClr val="000000">
                              <a:alpha val="100000"/>
                            </a:srgbClr>
                          </a:solidFill>
                          <a:prstDash val="solid"/>
                        </a:lnT>
                        <a:lnB w="12700" cap="flat" cmpd="sng" algn="ctr">
                          <a:solidFill>
                            <a:srgbClr val="000000">
                              <a:alpha val="100000"/>
                            </a:srgbClr>
                          </a:solidFill>
                          <a:prstDash val="solid"/>
                        </a:lnB>
                        <a:solidFill>
                          <a:srgbClr val="FFFFFF">
                            <a:alpha val="0"/>
                          </a:srgbClr>
                        </a:solidFill>
                      </a:tcPr>
                    </a:tc>
                    <a:tc>
                      <a:txBody>
                        <a:bodyPr/>
                        <a:lstStyle/>
                        <a:p>
                          <a:pPr marL="63500" marR="63500" algn="ctr">
                            <a:lnSpc>
                              <a:spcPct val="100000"/>
                            </a:lnSpc>
                            <a:spcBef>
                              <a:spcPts val="500"/>
                            </a:spcBef>
                            <a:spcAft>
                              <a:spcPts val="500"/>
                            </a:spcAft>
                            <a:buNone/>
                          </a:pPr>
                          <a:r>
                            <a:rPr sz="1000" b="0" i="0" u="none" strike="noStrike" cap="none">
                              <a:solidFill>
                                <a:srgbClr val="000000">
                                  <a:alpha val="100000"/>
                                </a:srgbClr>
                              </a:solidFill>
                              <a:latin typeface="Arial"/>
                              <a:cs typeface="Helvetica"/>
                              <a:sym typeface="Helvetica"/>
                            </a:rPr>
                            <a:t>Full Sample: Squared Inflation</a:t>
                          </a:r>
                        </a:p>
                      </a:txBody>
                      <a:tcPr marL="0" marR="0" marT="63500" marB="63500" anchor="ctr">
                        <a:lnL w="12700" cap="flat" cmpd="sng" algn="ctr">
                          <a:solidFill>
                            <a:srgbClr val="FFFFFF">
                              <a:alpha val="100000"/>
                            </a:srgbClr>
                          </a:solidFill>
                          <a:prstDash val="solid"/>
                        </a:lnL>
                        <a:lnR w="12700" cap="flat" cmpd="sng" algn="ctr">
                          <a:solidFill>
                            <a:srgbClr val="FFFFFF">
                              <a:alpha val="100000"/>
                            </a:srgbClr>
                          </a:solidFill>
                          <a:prstDash val="solid"/>
                        </a:lnR>
                        <a:lnT w="12700" cap="flat" cmpd="sng" algn="ctr">
                          <a:solidFill>
                            <a:srgbClr val="000000">
                              <a:alpha val="100000"/>
                            </a:srgbClr>
                          </a:solidFill>
                          <a:prstDash val="solid"/>
                        </a:lnT>
                        <a:lnB w="12700" cap="flat" cmpd="sng" algn="ctr">
                          <a:solidFill>
                            <a:srgbClr val="000000">
                              <a:alpha val="100000"/>
                            </a:srgbClr>
                          </a:solidFill>
                          <a:prstDash val="solid"/>
                        </a:lnB>
                        <a:solidFill>
                          <a:srgbClr val="FFFFFF">
                            <a:alpha val="0"/>
                          </a:srgbClr>
                        </a:solidFill>
                      </a:tcPr>
                    </a:tc>
                    <a:tc>
                      <a:txBody>
                        <a:bodyPr/>
                        <a:lstStyle/>
                        <a:p>
                          <a:pPr marL="63500" marR="63500" algn="ctr">
                            <a:lnSpc>
                              <a:spcPct val="100000"/>
                            </a:lnSpc>
                            <a:spcBef>
                              <a:spcPts val="500"/>
                            </a:spcBef>
                            <a:spcAft>
                              <a:spcPts val="500"/>
                            </a:spcAft>
                            <a:buNone/>
                          </a:pPr>
                          <a:r>
                            <a:rPr sz="1000" b="0" i="0" u="none" strike="noStrike" cap="none">
                              <a:solidFill>
                                <a:srgbClr val="000000">
                                  <a:alpha val="100000"/>
                                </a:srgbClr>
                              </a:solidFill>
                              <a:latin typeface="Arial"/>
                              <a:cs typeface="Helvetica"/>
                              <a:sym typeface="Helvetica"/>
                            </a:rPr>
                            <a:t>Pre 2017: Squared Inflation</a:t>
                          </a:r>
                        </a:p>
                      </a:txBody>
                      <a:tcPr marL="0" marR="0" marT="63500" marB="63500" anchor="ctr">
                        <a:lnL w="12700" cap="flat" cmpd="sng" algn="ctr">
                          <a:solidFill>
                            <a:srgbClr val="FFFFFF">
                              <a:alpha val="100000"/>
                            </a:srgbClr>
                          </a:solidFill>
                          <a:prstDash val="solid"/>
                        </a:lnL>
                        <a:lnR w="12700" cap="flat" cmpd="sng" algn="ctr">
                          <a:solidFill>
                            <a:srgbClr val="FFFFFF">
                              <a:alpha val="100000"/>
                            </a:srgbClr>
                          </a:solidFill>
                          <a:prstDash val="solid"/>
                        </a:lnR>
                        <a:lnT w="12700" cap="flat" cmpd="sng" algn="ctr">
                          <a:solidFill>
                            <a:srgbClr val="000000">
                              <a:alpha val="100000"/>
                            </a:srgbClr>
                          </a:solidFill>
                          <a:prstDash val="solid"/>
                        </a:lnT>
                        <a:lnB w="12700" cap="flat" cmpd="sng" algn="ctr">
                          <a:solidFill>
                            <a:srgbClr val="000000">
                              <a:alpha val="100000"/>
                            </a:srgbClr>
                          </a:solidFill>
                          <a:prstDash val="solid"/>
                        </a:lnB>
                        <a:solidFill>
                          <a:srgbClr val="FFFFFF">
                            <a:alpha val="0"/>
                          </a:srgbClr>
                        </a:solidFill>
                      </a:tcPr>
                    </a:tc>
                    <a:tc>
                      <a:txBody>
                        <a:bodyPr/>
                        <a:lstStyle/>
                        <a:p>
                          <a:pPr marL="63500" marR="63500" algn="ctr">
                            <a:lnSpc>
                              <a:spcPct val="100000"/>
                            </a:lnSpc>
                            <a:spcBef>
                              <a:spcPts val="500"/>
                            </a:spcBef>
                            <a:spcAft>
                              <a:spcPts val="500"/>
                            </a:spcAft>
                            <a:buNone/>
                          </a:pPr>
                          <a:r>
                            <a:rPr sz="1000" b="0" i="0" u="none" strike="noStrike" cap="none">
                              <a:solidFill>
                                <a:srgbClr val="000000">
                                  <a:alpha val="100000"/>
                                </a:srgbClr>
                              </a:solidFill>
                              <a:latin typeface="Arial"/>
                              <a:cs typeface="Helvetica"/>
                              <a:sym typeface="Helvetica"/>
                            </a:rPr>
                            <a:t>Post 2017: Squared Inflation</a:t>
                          </a:r>
                        </a:p>
                      </a:txBody>
                      <a:tcPr marL="0" marR="0" marT="63500" marB="63500" anchor="ctr">
                        <a:lnL w="12700" cap="flat" cmpd="sng" algn="ctr">
                          <a:solidFill>
                            <a:srgbClr val="FFFFFF">
                              <a:alpha val="100000"/>
                            </a:srgbClr>
                          </a:solidFill>
                          <a:prstDash val="solid"/>
                        </a:lnL>
                        <a:lnR w="12700" cap="flat" cmpd="sng" algn="ctr">
                          <a:solidFill>
                            <a:srgbClr val="FFFFFF">
                              <a:alpha val="100000"/>
                            </a:srgbClr>
                          </a:solidFill>
                          <a:prstDash val="solid"/>
                        </a:lnR>
                        <a:lnT w="12700" cap="flat" cmpd="sng" algn="ctr">
                          <a:solidFill>
                            <a:srgbClr val="000000">
                              <a:alpha val="100000"/>
                            </a:srgbClr>
                          </a:solidFill>
                          <a:prstDash val="solid"/>
                        </a:lnT>
                        <a:lnB w="12700" cap="flat" cmpd="sng" algn="ctr">
                          <a:solidFill>
                            <a:srgbClr val="000000">
                              <a:alpha val="100000"/>
                            </a:srgbClr>
                          </a:solidFill>
                          <a:prstDash val="solid"/>
                        </a:lnB>
                        <a:solidFill>
                          <a:srgbClr val="FFFFFF">
                            <a:alpha val="0"/>
                          </a:srgbClr>
                        </a:solidFill>
                      </a:tcPr>
                    </a:tc>
                    <a:extLst>
                      <a:ext uri="{0D108BD9-81ED-4DB2-BD59-A6C34878D82A}">
                        <a16:rowId xmlns:a16="http://schemas.microsoft.com/office/drawing/2014/main" val="10000"/>
                      </a:ext>
                    </a:extLst>
                  </a:tr>
                  <a:tr h="350806">
                    <a:tc>
                      <a:txBody>
                        <a:bodyPr/>
                        <a:lstStyle/>
                        <a:p>
                          <a:pPr marL="63500" marR="63500" algn="l">
                            <a:lnSpc>
                              <a:spcPct val="100000"/>
                            </a:lnSpc>
                            <a:spcBef>
                              <a:spcPts val="500"/>
                            </a:spcBef>
                            <a:spcAft>
                              <a:spcPts val="500"/>
                            </a:spcAft>
                            <a:buNone/>
                          </a:pPr>
                          <a14:m>
                            <m:oMathPara xmlns:m="http://schemas.openxmlformats.org/officeDocument/2006/math">
                              <m:oMathParaPr>
                                <m:jc m:val="centerGroup"/>
                              </m:oMathParaPr>
                              <m:oMath xmlns:m="http://schemas.openxmlformats.org/officeDocument/2006/math">
                                <m:sSub>
                                  <m:sSubPr>
                                    <m:ctrlPr>
                                      <a:rPr sz="1000" b="1" i="1">
                                        <a:latin typeface="Cambria Math" panose="02040503050406030204" pitchFamily="18" charset="0"/>
                                      </a:rPr>
                                    </m:ctrlPr>
                                  </m:sSubPr>
                                  <m:e>
                                    <m:r>
                                      <a:rPr sz="1000" b="1" i="1">
                                        <a:latin typeface="Cambria Math" panose="02040503050406030204" pitchFamily="18" charset="0"/>
                                      </a:rPr>
                                      <m:t>𝝅</m:t>
                                    </m:r>
                                  </m:e>
                                  <m:sub>
                                    <m:r>
                                      <a:rPr sz="1000" b="1" i="1">
                                        <a:latin typeface="Cambria Math" panose="02040503050406030204" pitchFamily="18" charset="0"/>
                                      </a:rPr>
                                      <m:t>𝒕</m:t>
                                    </m:r>
                                  </m:sub>
                                </m:sSub>
                              </m:oMath>
                            </m:oMathPara>
                          </a14:m>
                          <a:endParaRPr sz="1000" b="1" dirty="0"/>
                        </a:p>
                      </a:txBody>
                      <a:tcPr marL="0" marR="0" marT="63500" marB="63500" anchor="ctr">
                        <a:lnL w="12700" cap="flat" cmpd="sng" algn="ctr">
                          <a:solidFill>
                            <a:srgbClr val="FFFFFF">
                              <a:alpha val="100000"/>
                            </a:srgbClr>
                          </a:solidFill>
                          <a:prstDash val="solid"/>
                        </a:lnL>
                        <a:lnR w="12700" cap="flat" cmpd="sng" algn="ctr">
                          <a:solidFill>
                            <a:srgbClr val="FFFFFF">
                              <a:alpha val="100000"/>
                            </a:srgbClr>
                          </a:solidFill>
                          <a:prstDash val="solid"/>
                        </a:lnR>
                        <a:lnT w="12700" cap="flat" cmpd="sng" algn="ctr">
                          <a:solidFill>
                            <a:srgbClr val="000000"/>
                          </a:solidFill>
                          <a:prstDash val="solid"/>
                          <a:round/>
                          <a:headEnd type="none" w="med" len="med"/>
                          <a:tailEnd type="none" w="med" len="med"/>
                        </a:lnT>
                        <a:lnB w="12700" cap="flat" cmpd="sng" algn="ctr">
                          <a:solidFill>
                            <a:srgbClr val="FFFFFF">
                              <a:alpha val="100000"/>
                            </a:srgbClr>
                          </a:solidFill>
                          <a:prstDash val="solid"/>
                        </a:lnB>
                        <a:solidFill>
                          <a:srgbClr val="FFFFFF">
                            <a:alpha val="0"/>
                          </a:srgbClr>
                        </a:solidFill>
                      </a:tcPr>
                    </a:tc>
                    <a:tc>
                      <a:txBody>
                        <a:bodyPr/>
                        <a:lstStyle/>
                        <a:p>
                          <a:pPr marL="63500" marR="63500" algn="ctr">
                            <a:lnSpc>
                              <a:spcPct val="100000"/>
                            </a:lnSpc>
                            <a:spcBef>
                              <a:spcPts val="500"/>
                            </a:spcBef>
                            <a:spcAft>
                              <a:spcPts val="500"/>
                            </a:spcAft>
                            <a:buNone/>
                          </a:pPr>
                          <a:r>
                            <a:rPr sz="1000" b="0" i="0" u="none" strike="noStrike" cap="none">
                              <a:solidFill>
                                <a:srgbClr val="000000">
                                  <a:alpha val="100000"/>
                                </a:srgbClr>
                              </a:solidFill>
                              <a:latin typeface="Arial"/>
                              <a:cs typeface="Helvetica"/>
                              <a:sym typeface="Helvetica"/>
                            </a:rPr>
                            <a:t>0.01*</a:t>
                          </a:r>
                        </a:p>
                      </a:txBody>
                      <a:tcPr marL="0" marR="0" marT="63500" marB="63500" anchor="ctr">
                        <a:lnL w="12700" cap="flat" cmpd="sng" algn="ctr">
                          <a:solidFill>
                            <a:srgbClr val="FFFFFF">
                              <a:alpha val="100000"/>
                            </a:srgbClr>
                          </a:solidFill>
                          <a:prstDash val="solid"/>
                        </a:lnL>
                        <a:lnR w="12700" cap="flat" cmpd="sng" algn="ctr">
                          <a:solidFill>
                            <a:srgbClr val="FFFFFF">
                              <a:alpha val="100000"/>
                            </a:srgbClr>
                          </a:solidFill>
                          <a:prstDash val="solid"/>
                        </a:lnR>
                        <a:lnT w="12700" cap="flat" cmpd="sng" algn="ctr">
                          <a:solidFill>
                            <a:srgbClr val="000000"/>
                          </a:solidFill>
                          <a:prstDash val="solid"/>
                          <a:round/>
                          <a:headEnd type="none" w="med" len="med"/>
                          <a:tailEnd type="none" w="med" len="med"/>
                        </a:lnT>
                        <a:lnB w="12700" cap="flat" cmpd="sng" algn="ctr">
                          <a:solidFill>
                            <a:srgbClr val="FFFFFF">
                              <a:alpha val="100000"/>
                            </a:srgbClr>
                          </a:solidFill>
                          <a:prstDash val="solid"/>
                        </a:lnB>
                        <a:solidFill>
                          <a:srgbClr val="FFFFFF">
                            <a:alpha val="0"/>
                          </a:srgbClr>
                        </a:solidFill>
                      </a:tcPr>
                    </a:tc>
                    <a:tc>
                      <a:txBody>
                        <a:bodyPr/>
                        <a:lstStyle/>
                        <a:p>
                          <a:pPr marL="63500" marR="63500" algn="ctr">
                            <a:lnSpc>
                              <a:spcPct val="100000"/>
                            </a:lnSpc>
                            <a:spcBef>
                              <a:spcPts val="500"/>
                            </a:spcBef>
                            <a:spcAft>
                              <a:spcPts val="500"/>
                            </a:spcAft>
                            <a:buNone/>
                          </a:pPr>
                          <a:r>
                            <a:rPr sz="1000" b="0" i="0" u="none" strike="noStrike" cap="none" dirty="0">
                              <a:solidFill>
                                <a:srgbClr val="000000">
                                  <a:alpha val="100000"/>
                                </a:srgbClr>
                              </a:solidFill>
                              <a:latin typeface="Arial"/>
                              <a:cs typeface="Helvetica"/>
                              <a:sym typeface="Helvetica"/>
                            </a:rPr>
                            <a:t>0.009 </a:t>
                          </a:r>
                        </a:p>
                      </a:txBody>
                      <a:tcPr marL="0" marR="0" marT="63500" marB="63500" anchor="ctr">
                        <a:lnL w="12700" cap="flat" cmpd="sng" algn="ctr">
                          <a:solidFill>
                            <a:srgbClr val="FFFFFF">
                              <a:alpha val="100000"/>
                            </a:srgbClr>
                          </a:solidFill>
                          <a:prstDash val="solid"/>
                        </a:lnL>
                        <a:lnR w="12700" cap="flat" cmpd="sng" algn="ctr">
                          <a:solidFill>
                            <a:srgbClr val="FFFFFF">
                              <a:alpha val="100000"/>
                            </a:srgbClr>
                          </a:solidFill>
                          <a:prstDash val="solid"/>
                        </a:lnR>
                        <a:lnT w="12700" cap="flat" cmpd="sng" algn="ctr">
                          <a:solidFill>
                            <a:srgbClr val="000000"/>
                          </a:solidFill>
                          <a:prstDash val="solid"/>
                          <a:round/>
                          <a:headEnd type="none" w="med" len="med"/>
                          <a:tailEnd type="none" w="med" len="med"/>
                        </a:lnT>
                        <a:lnB w="12700" cap="flat" cmpd="sng" algn="ctr">
                          <a:solidFill>
                            <a:srgbClr val="FFFFFF">
                              <a:alpha val="100000"/>
                            </a:srgbClr>
                          </a:solidFill>
                          <a:prstDash val="solid"/>
                        </a:lnB>
                        <a:solidFill>
                          <a:srgbClr val="FFFFFF">
                            <a:alpha val="0"/>
                          </a:srgbClr>
                        </a:solidFill>
                      </a:tcPr>
                    </a:tc>
                    <a:tc>
                      <a:txBody>
                        <a:bodyPr/>
                        <a:lstStyle/>
                        <a:p>
                          <a:pPr marL="63500" marR="63500" algn="ctr">
                            <a:lnSpc>
                              <a:spcPct val="100000"/>
                            </a:lnSpc>
                            <a:spcBef>
                              <a:spcPts val="500"/>
                            </a:spcBef>
                            <a:spcAft>
                              <a:spcPts val="500"/>
                            </a:spcAft>
                            <a:buNone/>
                          </a:pPr>
                          <a:r>
                            <a:rPr sz="1000" b="0" i="0" u="none" strike="noStrike" cap="none" dirty="0">
                              <a:solidFill>
                                <a:srgbClr val="000000">
                                  <a:alpha val="100000"/>
                                </a:srgbClr>
                              </a:solidFill>
                              <a:latin typeface="Arial"/>
                              <a:cs typeface="Helvetica"/>
                              <a:sym typeface="Helvetica"/>
                            </a:rPr>
                            <a:t>0.032***</a:t>
                          </a:r>
                        </a:p>
                      </a:txBody>
                      <a:tcPr marL="0" marR="0" marT="63500" marB="63500" anchor="ctr">
                        <a:lnL w="12700" cap="flat" cmpd="sng" algn="ctr">
                          <a:solidFill>
                            <a:srgbClr val="FFFFFF">
                              <a:alpha val="100000"/>
                            </a:srgbClr>
                          </a:solidFill>
                          <a:prstDash val="solid"/>
                        </a:lnL>
                        <a:lnR w="12700" cap="flat" cmpd="sng" algn="ctr">
                          <a:solidFill>
                            <a:srgbClr val="FFFFFF">
                              <a:alpha val="100000"/>
                            </a:srgbClr>
                          </a:solidFill>
                          <a:prstDash val="solid"/>
                        </a:lnR>
                        <a:lnT w="12700" cap="flat" cmpd="sng" algn="ctr">
                          <a:solidFill>
                            <a:srgbClr val="000000"/>
                          </a:solidFill>
                          <a:prstDash val="solid"/>
                          <a:round/>
                          <a:headEnd type="none" w="med" len="med"/>
                          <a:tailEnd type="none" w="med" len="med"/>
                        </a:lnT>
                        <a:lnB w="12700" cap="flat" cmpd="sng" algn="ctr">
                          <a:solidFill>
                            <a:srgbClr val="FFFFFF">
                              <a:alpha val="100000"/>
                            </a:srgbClr>
                          </a:solidFill>
                          <a:prstDash val="solid"/>
                        </a:lnB>
                        <a:solidFill>
                          <a:srgbClr val="FFFFFF">
                            <a:alpha val="0"/>
                          </a:srgbClr>
                        </a:solidFill>
                      </a:tcPr>
                    </a:tc>
                    <a:tc>
                      <a:txBody>
                        <a:bodyPr/>
                        <a:lstStyle/>
                        <a:p>
                          <a:pPr marL="63500" marR="63500" algn="ctr">
                            <a:lnSpc>
                              <a:spcPct val="100000"/>
                            </a:lnSpc>
                            <a:spcBef>
                              <a:spcPts val="500"/>
                            </a:spcBef>
                            <a:spcAft>
                              <a:spcPts val="500"/>
                            </a:spcAft>
                            <a:buNone/>
                          </a:pPr>
                          <a:r>
                            <a:rPr sz="1000" b="0" i="0" u="none" strike="noStrike" cap="none">
                              <a:solidFill>
                                <a:srgbClr val="000000">
                                  <a:alpha val="100000"/>
                                </a:srgbClr>
                              </a:solidFill>
                              <a:latin typeface="Arial"/>
                              <a:cs typeface="Helvetica"/>
                              <a:sym typeface="Helvetica"/>
                            </a:rPr>
                            <a:t>-0.046 </a:t>
                          </a:r>
                        </a:p>
                      </a:txBody>
                      <a:tcPr marL="0" marR="0" marT="63500" marB="63500" anchor="ctr">
                        <a:lnL w="12700" cap="flat" cmpd="sng" algn="ctr">
                          <a:solidFill>
                            <a:srgbClr val="FFFFFF">
                              <a:alpha val="100000"/>
                            </a:srgbClr>
                          </a:solidFill>
                          <a:prstDash val="solid"/>
                        </a:lnL>
                        <a:lnR w="12700" cap="flat" cmpd="sng" algn="ctr">
                          <a:solidFill>
                            <a:srgbClr val="FFFFFF">
                              <a:alpha val="100000"/>
                            </a:srgbClr>
                          </a:solidFill>
                          <a:prstDash val="solid"/>
                        </a:lnR>
                        <a:lnT w="12700" cap="flat" cmpd="sng" algn="ctr">
                          <a:solidFill>
                            <a:srgbClr val="000000"/>
                          </a:solidFill>
                          <a:prstDash val="solid"/>
                          <a:round/>
                          <a:headEnd type="none" w="med" len="med"/>
                          <a:tailEnd type="none" w="med" len="med"/>
                        </a:lnT>
                        <a:lnB w="12700" cap="flat" cmpd="sng" algn="ctr">
                          <a:solidFill>
                            <a:srgbClr val="FFFFFF">
                              <a:alpha val="100000"/>
                            </a:srgbClr>
                          </a:solidFill>
                          <a:prstDash val="solid"/>
                        </a:lnB>
                        <a:solidFill>
                          <a:srgbClr val="FFFFFF">
                            <a:alpha val="0"/>
                          </a:srgbClr>
                        </a:solidFill>
                      </a:tcPr>
                    </a:tc>
                    <a:tc>
                      <a:txBody>
                        <a:bodyPr/>
                        <a:lstStyle/>
                        <a:p>
                          <a:pPr marL="63500" marR="63500" algn="ctr">
                            <a:lnSpc>
                              <a:spcPct val="100000"/>
                            </a:lnSpc>
                            <a:spcBef>
                              <a:spcPts val="500"/>
                            </a:spcBef>
                            <a:spcAft>
                              <a:spcPts val="500"/>
                            </a:spcAft>
                            <a:buNone/>
                          </a:pPr>
                          <a:r>
                            <a:rPr sz="1000" b="0" i="0" u="none" strike="noStrike" cap="none">
                              <a:solidFill>
                                <a:srgbClr val="000000">
                                  <a:alpha val="100000"/>
                                </a:srgbClr>
                              </a:solidFill>
                              <a:latin typeface="Arial"/>
                              <a:cs typeface="Helvetica"/>
                              <a:sym typeface="Helvetica"/>
                            </a:rPr>
                            <a:t>-0.104 </a:t>
                          </a:r>
                        </a:p>
                      </a:txBody>
                      <a:tcPr marL="0" marR="0" marT="63500" marB="63500" anchor="ctr">
                        <a:lnL w="12700" cap="flat" cmpd="sng" algn="ctr">
                          <a:solidFill>
                            <a:srgbClr val="FFFFFF">
                              <a:alpha val="100000"/>
                            </a:srgbClr>
                          </a:solidFill>
                          <a:prstDash val="solid"/>
                        </a:lnL>
                        <a:lnR w="12700" cap="flat" cmpd="sng" algn="ctr">
                          <a:solidFill>
                            <a:srgbClr val="FFFFFF">
                              <a:alpha val="100000"/>
                            </a:srgbClr>
                          </a:solidFill>
                          <a:prstDash val="solid"/>
                        </a:lnR>
                        <a:lnT w="12700" cap="flat" cmpd="sng" algn="ctr">
                          <a:solidFill>
                            <a:srgbClr val="000000"/>
                          </a:solidFill>
                          <a:prstDash val="solid"/>
                          <a:round/>
                          <a:headEnd type="none" w="med" len="med"/>
                          <a:tailEnd type="none" w="med" len="med"/>
                        </a:lnT>
                        <a:lnB w="12700" cap="flat" cmpd="sng" algn="ctr">
                          <a:solidFill>
                            <a:srgbClr val="FFFFFF">
                              <a:alpha val="100000"/>
                            </a:srgbClr>
                          </a:solidFill>
                          <a:prstDash val="solid"/>
                        </a:lnB>
                        <a:solidFill>
                          <a:srgbClr val="FFFFFF">
                            <a:alpha val="0"/>
                          </a:srgbClr>
                        </a:solidFill>
                      </a:tcPr>
                    </a:tc>
                    <a:tc>
                      <a:txBody>
                        <a:bodyPr/>
                        <a:lstStyle/>
                        <a:p>
                          <a:pPr marL="63500" marR="63500" algn="ctr">
                            <a:lnSpc>
                              <a:spcPct val="100000"/>
                            </a:lnSpc>
                            <a:spcBef>
                              <a:spcPts val="500"/>
                            </a:spcBef>
                            <a:spcAft>
                              <a:spcPts val="500"/>
                            </a:spcAft>
                            <a:buNone/>
                          </a:pPr>
                          <a:r>
                            <a:rPr sz="1000" b="0" i="0" u="none" strike="noStrike" cap="none">
                              <a:solidFill>
                                <a:srgbClr val="000000">
                                  <a:alpha val="100000"/>
                                </a:srgbClr>
                              </a:solidFill>
                              <a:latin typeface="Arial"/>
                              <a:cs typeface="Helvetica"/>
                              <a:sym typeface="Helvetica"/>
                            </a:rPr>
                            <a:t>-0.033 </a:t>
                          </a:r>
                        </a:p>
                      </a:txBody>
                      <a:tcPr marL="0" marR="0" marT="63500" marB="63500" anchor="ctr">
                        <a:lnL w="12700" cap="flat" cmpd="sng" algn="ctr">
                          <a:solidFill>
                            <a:srgbClr val="FFFFFF">
                              <a:alpha val="100000"/>
                            </a:srgbClr>
                          </a:solidFill>
                          <a:prstDash val="solid"/>
                        </a:lnL>
                        <a:lnR w="12700" cap="flat" cmpd="sng" algn="ctr">
                          <a:solidFill>
                            <a:srgbClr val="FFFFFF">
                              <a:alpha val="100000"/>
                            </a:srgbClr>
                          </a:solidFill>
                          <a:prstDash val="solid"/>
                        </a:lnR>
                        <a:lnT w="12700" cap="flat" cmpd="sng" algn="ctr">
                          <a:solidFill>
                            <a:srgbClr val="000000"/>
                          </a:solidFill>
                          <a:prstDash val="solid"/>
                          <a:round/>
                          <a:headEnd type="none" w="med" len="med"/>
                          <a:tailEnd type="none" w="med" len="med"/>
                        </a:lnT>
                        <a:lnB w="12700" cap="flat" cmpd="sng" algn="ctr">
                          <a:solidFill>
                            <a:srgbClr val="FFFFFF">
                              <a:alpha val="100000"/>
                            </a:srgbClr>
                          </a:solidFill>
                          <a:prstDash val="solid"/>
                        </a:lnB>
                        <a:solidFill>
                          <a:srgbClr val="FFFFFF">
                            <a:alpha val="0"/>
                          </a:srgbClr>
                        </a:solidFill>
                      </a:tcPr>
                    </a:tc>
                    <a:extLst>
                      <a:ext uri="{0D108BD9-81ED-4DB2-BD59-A6C34878D82A}">
                        <a16:rowId xmlns:a16="http://schemas.microsoft.com/office/drawing/2014/main" val="10001"/>
                      </a:ext>
                    </a:extLst>
                  </a:tr>
                  <a:tr h="352147">
                    <a:tc>
                      <a:txBody>
                        <a:bodyPr/>
                        <a:lstStyle/>
                        <a:p>
                          <a:pPr marL="63500" marR="63500" algn="l">
                            <a:lnSpc>
                              <a:spcPct val="100000"/>
                            </a:lnSpc>
                            <a:spcBef>
                              <a:spcPts val="500"/>
                            </a:spcBef>
                            <a:spcAft>
                              <a:spcPts val="500"/>
                            </a:spcAft>
                            <a:buNone/>
                          </a:pPr>
                          <a14:m>
                            <m:oMathPara xmlns:m="http://schemas.openxmlformats.org/officeDocument/2006/math">
                              <m:oMathParaPr>
                                <m:jc m:val="centerGroup"/>
                              </m:oMathParaPr>
                              <m:oMath xmlns:m="http://schemas.openxmlformats.org/officeDocument/2006/math">
                                <m:sSubSup>
                                  <m:sSubSupPr>
                                    <m:ctrlPr>
                                      <a:rPr sz="1000" b="1" i="1">
                                        <a:latin typeface="Cambria Math" panose="02040503050406030204" pitchFamily="18" charset="0"/>
                                      </a:rPr>
                                    </m:ctrlPr>
                                  </m:sSubSupPr>
                                  <m:e>
                                    <m:r>
                                      <a:rPr sz="1000" b="1" i="1">
                                        <a:latin typeface="Cambria Math" panose="02040503050406030204" pitchFamily="18" charset="0"/>
                                      </a:rPr>
                                      <m:t>𝝅</m:t>
                                    </m:r>
                                  </m:e>
                                  <m:sub>
                                    <m:r>
                                      <a:rPr sz="1000" b="1" i="1">
                                        <a:latin typeface="Cambria Math" panose="02040503050406030204" pitchFamily="18" charset="0"/>
                                      </a:rPr>
                                      <m:t>𝒕</m:t>
                                    </m:r>
                                  </m:sub>
                                  <m:sup>
                                    <m:r>
                                      <a:rPr sz="1000" b="1" i="1">
                                        <a:latin typeface="Cambria Math" panose="02040503050406030204" pitchFamily="18" charset="0"/>
                                      </a:rPr>
                                      <m:t>𝟐</m:t>
                                    </m:r>
                                  </m:sup>
                                </m:sSubSup>
                              </m:oMath>
                            </m:oMathPara>
                          </a14:m>
                          <a:endParaRPr sz="1000" b="1" dirty="0"/>
                        </a:p>
                      </a:txBody>
                      <a:tcPr marL="0" marR="0" marT="63500" marB="63500" anchor="ctr">
                        <a:lnL w="12700" cap="flat" cmpd="sng" algn="ctr">
                          <a:solidFill>
                            <a:srgbClr val="FFFFFF">
                              <a:alpha val="100000"/>
                            </a:srgbClr>
                          </a:solidFill>
                          <a:prstDash val="solid"/>
                        </a:lnL>
                        <a:lnR w="12700" cap="flat" cmpd="sng" algn="ctr">
                          <a:solidFill>
                            <a:srgbClr val="FFFFFF">
                              <a:alpha val="100000"/>
                            </a:srgbClr>
                          </a:solidFill>
                          <a:prstDash val="solid"/>
                        </a:lnR>
                        <a:lnT w="12700" cap="flat" cmpd="sng" algn="ctr">
                          <a:solidFill>
                            <a:srgbClr val="FFFFFF">
                              <a:alpha val="100000"/>
                            </a:srgbClr>
                          </a:solidFill>
                          <a:prstDash val="solid"/>
                        </a:lnT>
                        <a:lnB w="12700" cap="flat" cmpd="sng" algn="ctr">
                          <a:solidFill>
                            <a:srgbClr val="FFFFFF">
                              <a:alpha val="100000"/>
                            </a:srgbClr>
                          </a:solidFill>
                          <a:prstDash val="solid"/>
                        </a:lnB>
                        <a:solidFill>
                          <a:srgbClr val="FFFFFF">
                            <a:alpha val="0"/>
                          </a:srgbClr>
                        </a:solidFill>
                      </a:tcPr>
                    </a:tc>
                    <a:tc>
                      <a:txBody>
                        <a:bodyPr/>
                        <a:lstStyle/>
                        <a:p>
                          <a:pPr marL="63500" marR="63500" algn="ctr">
                            <a:lnSpc>
                              <a:spcPct val="100000"/>
                            </a:lnSpc>
                            <a:spcBef>
                              <a:spcPts val="500"/>
                            </a:spcBef>
                            <a:spcAft>
                              <a:spcPts val="500"/>
                            </a:spcAft>
                            <a:buNone/>
                          </a:pPr>
                          <a:endParaRPr sz="1000" b="0" i="0" u="none" strike="noStrike" cap="none">
                            <a:solidFill>
                              <a:srgbClr val="000000">
                                <a:alpha val="100000"/>
                              </a:srgbClr>
                            </a:solidFill>
                            <a:latin typeface="Arial"/>
                            <a:cs typeface="Helvetica"/>
                            <a:sym typeface="Helvetica"/>
                          </a:endParaRPr>
                        </a:p>
                      </a:txBody>
                      <a:tcPr marL="0" marR="0" marT="63500" marB="63500" anchor="ctr">
                        <a:lnL w="12700" cap="flat" cmpd="sng" algn="ctr">
                          <a:solidFill>
                            <a:srgbClr val="FFFFFF">
                              <a:alpha val="100000"/>
                            </a:srgbClr>
                          </a:solidFill>
                          <a:prstDash val="solid"/>
                        </a:lnL>
                        <a:lnR w="12700" cap="flat" cmpd="sng" algn="ctr">
                          <a:solidFill>
                            <a:srgbClr val="FFFFFF">
                              <a:alpha val="100000"/>
                            </a:srgbClr>
                          </a:solidFill>
                          <a:prstDash val="solid"/>
                        </a:lnR>
                        <a:lnT w="12700" cap="flat" cmpd="sng" algn="ctr">
                          <a:solidFill>
                            <a:srgbClr val="FFFFFF">
                              <a:alpha val="100000"/>
                            </a:srgbClr>
                          </a:solidFill>
                          <a:prstDash val="solid"/>
                        </a:lnT>
                        <a:lnB w="12700" cap="flat" cmpd="sng" algn="ctr">
                          <a:solidFill>
                            <a:srgbClr val="FFFFFF">
                              <a:alpha val="100000"/>
                            </a:srgbClr>
                          </a:solidFill>
                          <a:prstDash val="solid"/>
                        </a:lnB>
                        <a:solidFill>
                          <a:srgbClr val="FFFFFF">
                            <a:alpha val="0"/>
                          </a:srgbClr>
                        </a:solidFill>
                      </a:tcPr>
                    </a:tc>
                    <a:tc>
                      <a:txBody>
                        <a:bodyPr/>
                        <a:lstStyle/>
                        <a:p>
                          <a:pPr marL="63500" marR="63500" algn="ctr">
                            <a:lnSpc>
                              <a:spcPct val="100000"/>
                            </a:lnSpc>
                            <a:spcBef>
                              <a:spcPts val="500"/>
                            </a:spcBef>
                            <a:spcAft>
                              <a:spcPts val="500"/>
                            </a:spcAft>
                            <a:buNone/>
                          </a:pPr>
                          <a:endParaRPr sz="1000" b="0" i="0" u="none" strike="noStrike" cap="none">
                            <a:solidFill>
                              <a:srgbClr val="000000">
                                <a:alpha val="100000"/>
                              </a:srgbClr>
                            </a:solidFill>
                            <a:latin typeface="Arial"/>
                            <a:cs typeface="Helvetica"/>
                            <a:sym typeface="Helvetica"/>
                          </a:endParaRPr>
                        </a:p>
                      </a:txBody>
                      <a:tcPr marL="0" marR="0" marT="63500" marB="63500" anchor="ctr">
                        <a:lnL w="12700" cap="flat" cmpd="sng" algn="ctr">
                          <a:solidFill>
                            <a:srgbClr val="FFFFFF">
                              <a:alpha val="100000"/>
                            </a:srgbClr>
                          </a:solidFill>
                          <a:prstDash val="solid"/>
                        </a:lnL>
                        <a:lnR w="12700" cap="flat" cmpd="sng" algn="ctr">
                          <a:solidFill>
                            <a:srgbClr val="FFFFFF">
                              <a:alpha val="100000"/>
                            </a:srgbClr>
                          </a:solidFill>
                          <a:prstDash val="solid"/>
                        </a:lnR>
                        <a:lnT w="12700" cap="flat" cmpd="sng" algn="ctr">
                          <a:solidFill>
                            <a:srgbClr val="FFFFFF">
                              <a:alpha val="100000"/>
                            </a:srgbClr>
                          </a:solidFill>
                          <a:prstDash val="solid"/>
                        </a:lnT>
                        <a:lnB w="12700" cap="flat" cmpd="sng" algn="ctr">
                          <a:solidFill>
                            <a:srgbClr val="FFFFFF">
                              <a:alpha val="100000"/>
                            </a:srgbClr>
                          </a:solidFill>
                          <a:prstDash val="solid"/>
                        </a:lnB>
                        <a:solidFill>
                          <a:srgbClr val="FFFFFF">
                            <a:alpha val="0"/>
                          </a:srgbClr>
                        </a:solidFill>
                      </a:tcPr>
                    </a:tc>
                    <a:tc>
                      <a:txBody>
                        <a:bodyPr/>
                        <a:lstStyle/>
                        <a:p>
                          <a:pPr marL="63500" marR="63500" algn="ctr">
                            <a:lnSpc>
                              <a:spcPct val="100000"/>
                            </a:lnSpc>
                            <a:spcBef>
                              <a:spcPts val="500"/>
                            </a:spcBef>
                            <a:spcAft>
                              <a:spcPts val="500"/>
                            </a:spcAft>
                            <a:buNone/>
                          </a:pPr>
                          <a:endParaRPr sz="1000" b="0" i="0" u="none" strike="noStrike" cap="none" dirty="0">
                            <a:solidFill>
                              <a:srgbClr val="000000">
                                <a:alpha val="100000"/>
                              </a:srgbClr>
                            </a:solidFill>
                            <a:latin typeface="Arial"/>
                            <a:cs typeface="Helvetica"/>
                            <a:sym typeface="Helvetica"/>
                          </a:endParaRPr>
                        </a:p>
                      </a:txBody>
                      <a:tcPr marL="0" marR="0" marT="63500" marB="63500" anchor="ctr">
                        <a:lnL w="12700" cap="flat" cmpd="sng" algn="ctr">
                          <a:solidFill>
                            <a:srgbClr val="FFFFFF">
                              <a:alpha val="100000"/>
                            </a:srgbClr>
                          </a:solidFill>
                          <a:prstDash val="solid"/>
                        </a:lnL>
                        <a:lnR w="12700" cap="flat" cmpd="sng" algn="ctr">
                          <a:solidFill>
                            <a:srgbClr val="FFFFFF">
                              <a:alpha val="100000"/>
                            </a:srgbClr>
                          </a:solidFill>
                          <a:prstDash val="solid"/>
                        </a:lnR>
                        <a:lnT w="12700" cap="flat" cmpd="sng" algn="ctr">
                          <a:solidFill>
                            <a:srgbClr val="FFFFFF">
                              <a:alpha val="100000"/>
                            </a:srgbClr>
                          </a:solidFill>
                          <a:prstDash val="solid"/>
                        </a:lnT>
                        <a:lnB w="12700" cap="flat" cmpd="sng" algn="ctr">
                          <a:solidFill>
                            <a:srgbClr val="FFFFFF">
                              <a:alpha val="100000"/>
                            </a:srgbClr>
                          </a:solidFill>
                          <a:prstDash val="solid"/>
                        </a:lnB>
                        <a:solidFill>
                          <a:srgbClr val="FFFFFF">
                            <a:alpha val="0"/>
                          </a:srgbClr>
                        </a:solidFill>
                      </a:tcPr>
                    </a:tc>
                    <a:tc>
                      <a:txBody>
                        <a:bodyPr/>
                        <a:lstStyle/>
                        <a:p>
                          <a:pPr marL="63500" marR="63500" algn="ctr">
                            <a:lnSpc>
                              <a:spcPct val="100000"/>
                            </a:lnSpc>
                            <a:spcBef>
                              <a:spcPts val="500"/>
                            </a:spcBef>
                            <a:spcAft>
                              <a:spcPts val="500"/>
                            </a:spcAft>
                            <a:buNone/>
                          </a:pPr>
                          <a:r>
                            <a:rPr sz="1000" b="0" i="0" u="none" strike="noStrike" cap="none" dirty="0">
                              <a:solidFill>
                                <a:srgbClr val="000000">
                                  <a:alpha val="100000"/>
                                </a:srgbClr>
                              </a:solidFill>
                              <a:latin typeface="Arial"/>
                              <a:cs typeface="Helvetica"/>
                              <a:sym typeface="Helvetica"/>
                            </a:rPr>
                            <a:t>0.006*</a:t>
                          </a:r>
                        </a:p>
                      </a:txBody>
                      <a:tcPr marL="0" marR="0" marT="63500" marB="63500" anchor="ctr">
                        <a:lnL w="12700" cap="flat" cmpd="sng" algn="ctr">
                          <a:solidFill>
                            <a:srgbClr val="FFFFFF">
                              <a:alpha val="100000"/>
                            </a:srgbClr>
                          </a:solidFill>
                          <a:prstDash val="solid"/>
                        </a:lnL>
                        <a:lnR w="12700" cap="flat" cmpd="sng" algn="ctr">
                          <a:solidFill>
                            <a:srgbClr val="FFFFFF">
                              <a:alpha val="100000"/>
                            </a:srgbClr>
                          </a:solidFill>
                          <a:prstDash val="solid"/>
                        </a:lnR>
                        <a:lnT w="12700" cap="flat" cmpd="sng" algn="ctr">
                          <a:solidFill>
                            <a:srgbClr val="FFFFFF">
                              <a:alpha val="100000"/>
                            </a:srgbClr>
                          </a:solidFill>
                          <a:prstDash val="solid"/>
                        </a:lnT>
                        <a:lnB w="12700" cap="flat" cmpd="sng" algn="ctr">
                          <a:solidFill>
                            <a:srgbClr val="FFFFFF">
                              <a:alpha val="100000"/>
                            </a:srgbClr>
                          </a:solidFill>
                          <a:prstDash val="solid"/>
                        </a:lnB>
                        <a:solidFill>
                          <a:srgbClr val="FFFFFF">
                            <a:alpha val="0"/>
                          </a:srgbClr>
                        </a:solidFill>
                      </a:tcPr>
                    </a:tc>
                    <a:tc>
                      <a:txBody>
                        <a:bodyPr/>
                        <a:lstStyle/>
                        <a:p>
                          <a:pPr marL="63500" marR="63500" algn="ctr">
                            <a:lnSpc>
                              <a:spcPct val="100000"/>
                            </a:lnSpc>
                            <a:spcBef>
                              <a:spcPts val="500"/>
                            </a:spcBef>
                            <a:spcAft>
                              <a:spcPts val="500"/>
                            </a:spcAft>
                            <a:buNone/>
                          </a:pPr>
                          <a:r>
                            <a:rPr sz="1000" b="0" i="0" u="none" strike="noStrike" cap="none">
                              <a:solidFill>
                                <a:srgbClr val="000000">
                                  <a:alpha val="100000"/>
                                </a:srgbClr>
                              </a:solidFill>
                              <a:latin typeface="Arial"/>
                              <a:cs typeface="Helvetica"/>
                              <a:sym typeface="Helvetica"/>
                            </a:rPr>
                            <a:t>0.011*</a:t>
                          </a:r>
                        </a:p>
                      </a:txBody>
                      <a:tcPr marL="0" marR="0" marT="63500" marB="63500" anchor="ctr">
                        <a:lnL w="12700" cap="flat" cmpd="sng" algn="ctr">
                          <a:solidFill>
                            <a:srgbClr val="FFFFFF">
                              <a:alpha val="100000"/>
                            </a:srgbClr>
                          </a:solidFill>
                          <a:prstDash val="solid"/>
                        </a:lnL>
                        <a:lnR w="12700" cap="flat" cmpd="sng" algn="ctr">
                          <a:solidFill>
                            <a:srgbClr val="FFFFFF">
                              <a:alpha val="100000"/>
                            </a:srgbClr>
                          </a:solidFill>
                          <a:prstDash val="solid"/>
                        </a:lnR>
                        <a:lnT w="12700" cap="flat" cmpd="sng" algn="ctr">
                          <a:solidFill>
                            <a:srgbClr val="FFFFFF">
                              <a:alpha val="100000"/>
                            </a:srgbClr>
                          </a:solidFill>
                          <a:prstDash val="solid"/>
                        </a:lnT>
                        <a:lnB w="12700" cap="flat" cmpd="sng" algn="ctr">
                          <a:solidFill>
                            <a:srgbClr val="FFFFFF">
                              <a:alpha val="100000"/>
                            </a:srgbClr>
                          </a:solidFill>
                          <a:prstDash val="solid"/>
                        </a:lnB>
                        <a:solidFill>
                          <a:srgbClr val="FFFFFF">
                            <a:alpha val="0"/>
                          </a:srgbClr>
                        </a:solidFill>
                      </a:tcPr>
                    </a:tc>
                    <a:tc>
                      <a:txBody>
                        <a:bodyPr/>
                        <a:lstStyle/>
                        <a:p>
                          <a:pPr marL="63500" marR="63500" algn="ctr">
                            <a:lnSpc>
                              <a:spcPct val="100000"/>
                            </a:lnSpc>
                            <a:spcBef>
                              <a:spcPts val="500"/>
                            </a:spcBef>
                            <a:spcAft>
                              <a:spcPts val="500"/>
                            </a:spcAft>
                            <a:buNone/>
                          </a:pPr>
                          <a:r>
                            <a:rPr sz="1000" b="0" i="0" u="none" strike="noStrike" cap="none">
                              <a:solidFill>
                                <a:srgbClr val="000000">
                                  <a:alpha val="100000"/>
                                </a:srgbClr>
                              </a:solidFill>
                              <a:latin typeface="Arial"/>
                              <a:cs typeface="Helvetica"/>
                              <a:sym typeface="Helvetica"/>
                            </a:rPr>
                            <a:t>0.007*</a:t>
                          </a:r>
                        </a:p>
                      </a:txBody>
                      <a:tcPr marL="0" marR="0" marT="63500" marB="63500" anchor="ctr">
                        <a:lnL w="12700" cap="flat" cmpd="sng" algn="ctr">
                          <a:solidFill>
                            <a:srgbClr val="FFFFFF">
                              <a:alpha val="100000"/>
                            </a:srgbClr>
                          </a:solidFill>
                          <a:prstDash val="solid"/>
                        </a:lnL>
                        <a:lnR w="12700" cap="flat" cmpd="sng" algn="ctr">
                          <a:solidFill>
                            <a:srgbClr val="FFFFFF">
                              <a:alpha val="100000"/>
                            </a:srgbClr>
                          </a:solidFill>
                          <a:prstDash val="solid"/>
                        </a:lnR>
                        <a:lnT w="12700" cap="flat" cmpd="sng" algn="ctr">
                          <a:solidFill>
                            <a:srgbClr val="FFFFFF">
                              <a:alpha val="100000"/>
                            </a:srgbClr>
                          </a:solidFill>
                          <a:prstDash val="solid"/>
                        </a:lnT>
                        <a:lnB w="12700" cap="flat" cmpd="sng" algn="ctr">
                          <a:solidFill>
                            <a:srgbClr val="FFFFFF">
                              <a:alpha val="100000"/>
                            </a:srgbClr>
                          </a:solidFill>
                          <a:prstDash val="solid"/>
                        </a:lnB>
                        <a:solidFill>
                          <a:srgbClr val="FFFFFF">
                            <a:alpha val="0"/>
                          </a:srgbClr>
                        </a:solidFill>
                      </a:tcPr>
                    </a:tc>
                    <a:extLst>
                      <a:ext uri="{0D108BD9-81ED-4DB2-BD59-A6C34878D82A}">
                        <a16:rowId xmlns:a16="http://schemas.microsoft.com/office/drawing/2014/main" val="10002"/>
                      </a:ext>
                    </a:extLst>
                  </a:tr>
                  <a:tr h="350806">
                    <a:tc>
                      <a:txBody>
                        <a:bodyPr/>
                        <a:lstStyle/>
                        <a:p>
                          <a:pPr marL="63500" marR="63500" algn="l">
                            <a:lnSpc>
                              <a:spcPct val="100000"/>
                            </a:lnSpc>
                            <a:spcBef>
                              <a:spcPts val="500"/>
                            </a:spcBef>
                            <a:spcAft>
                              <a:spcPts val="500"/>
                            </a:spcAft>
                            <a:buNone/>
                          </a:pPr>
                          <a14:m>
                            <m:oMathPara xmlns:m="http://schemas.openxmlformats.org/officeDocument/2006/math">
                              <m:oMathParaPr>
                                <m:jc m:val="centerGroup"/>
                              </m:oMathParaPr>
                              <m:oMath xmlns:m="http://schemas.openxmlformats.org/officeDocument/2006/math">
                                <m:r>
                                  <a:rPr sz="1000" b="1" i="1">
                                    <a:latin typeface="Cambria Math" panose="02040503050406030204" pitchFamily="18" charset="0"/>
                                  </a:rPr>
                                  <m:t>𝐑𝐏</m:t>
                                </m:r>
                                <m:sSub>
                                  <m:sSubPr>
                                    <m:ctrlPr>
                                      <a:rPr sz="1000" b="1" i="1">
                                        <a:latin typeface="Cambria Math" panose="02040503050406030204" pitchFamily="18" charset="0"/>
                                      </a:rPr>
                                    </m:ctrlPr>
                                  </m:sSubPr>
                                  <m:e>
                                    <m:r>
                                      <a:rPr sz="1000" b="1" i="1">
                                        <a:latin typeface="Cambria Math" panose="02040503050406030204" pitchFamily="18" charset="0"/>
                                      </a:rPr>
                                      <m:t>𝑫</m:t>
                                    </m:r>
                                  </m:e>
                                  <m:sub>
                                    <m:r>
                                      <a:rPr sz="1000" b="1" i="1">
                                        <a:latin typeface="Cambria Math" panose="02040503050406030204" pitchFamily="18" charset="0"/>
                                      </a:rPr>
                                      <m:t>𝐭</m:t>
                                    </m:r>
                                    <m:r>
                                      <a:rPr sz="1000" b="1">
                                        <a:latin typeface="Cambria Math" panose="02040503050406030204" pitchFamily="18" charset="0"/>
                                      </a:rPr>
                                      <m:t>−</m:t>
                                    </m:r>
                                    <m:r>
                                      <a:rPr sz="1000" b="1" i="1">
                                        <a:latin typeface="Cambria Math" panose="02040503050406030204" pitchFamily="18" charset="0"/>
                                      </a:rPr>
                                      <m:t>𝟑</m:t>
                                    </m:r>
                                  </m:sub>
                                </m:sSub>
                              </m:oMath>
                            </m:oMathPara>
                          </a14:m>
                          <a:endParaRPr sz="1000" b="1" dirty="0"/>
                        </a:p>
                      </a:txBody>
                      <a:tcPr marL="0" marR="0" marT="63500" marB="63500" anchor="ctr">
                        <a:lnL w="12700" cap="flat" cmpd="sng" algn="ctr">
                          <a:solidFill>
                            <a:srgbClr val="FFFFFF">
                              <a:alpha val="100000"/>
                            </a:srgbClr>
                          </a:solidFill>
                          <a:prstDash val="solid"/>
                        </a:lnL>
                        <a:lnR w="12700" cap="flat" cmpd="sng" algn="ctr">
                          <a:solidFill>
                            <a:srgbClr val="FFFFFF">
                              <a:alpha val="100000"/>
                            </a:srgbClr>
                          </a:solidFill>
                          <a:prstDash val="solid"/>
                        </a:lnR>
                        <a:lnT w="12700" cap="flat" cmpd="sng" algn="ctr">
                          <a:solidFill>
                            <a:srgbClr val="FFFFFF">
                              <a:alpha val="100000"/>
                            </a:srgbClr>
                          </a:solidFill>
                          <a:prstDash val="solid"/>
                        </a:lnT>
                        <a:lnB w="12700" cap="flat" cmpd="sng" algn="ctr">
                          <a:solidFill>
                            <a:srgbClr val="FFFFFF">
                              <a:alpha val="100000"/>
                            </a:srgbClr>
                          </a:solidFill>
                          <a:prstDash val="solid"/>
                        </a:lnB>
                        <a:solidFill>
                          <a:srgbClr val="FFFFFF">
                            <a:alpha val="0"/>
                          </a:srgbClr>
                        </a:solidFill>
                      </a:tcPr>
                    </a:tc>
                    <a:tc>
                      <a:txBody>
                        <a:bodyPr/>
                        <a:lstStyle/>
                        <a:p>
                          <a:pPr marL="63500" marR="63500" algn="ctr">
                            <a:lnSpc>
                              <a:spcPct val="100000"/>
                            </a:lnSpc>
                            <a:spcBef>
                              <a:spcPts val="500"/>
                            </a:spcBef>
                            <a:spcAft>
                              <a:spcPts val="500"/>
                            </a:spcAft>
                            <a:buNone/>
                          </a:pPr>
                          <a:r>
                            <a:rPr sz="1000" b="0" i="0" u="none" strike="noStrike" cap="none">
                              <a:solidFill>
                                <a:srgbClr val="000000">
                                  <a:alpha val="100000"/>
                                </a:srgbClr>
                              </a:solidFill>
                              <a:latin typeface="Arial"/>
                              <a:cs typeface="Helvetica"/>
                              <a:sym typeface="Helvetica"/>
                            </a:rPr>
                            <a:t>0.244***</a:t>
                          </a:r>
                        </a:p>
                      </a:txBody>
                      <a:tcPr marL="0" marR="0" marT="63500" marB="63500" anchor="ctr">
                        <a:lnL w="12700" cap="flat" cmpd="sng" algn="ctr">
                          <a:solidFill>
                            <a:srgbClr val="FFFFFF">
                              <a:alpha val="100000"/>
                            </a:srgbClr>
                          </a:solidFill>
                          <a:prstDash val="solid"/>
                        </a:lnL>
                        <a:lnR w="12700" cap="flat" cmpd="sng" algn="ctr">
                          <a:solidFill>
                            <a:srgbClr val="FFFFFF">
                              <a:alpha val="100000"/>
                            </a:srgbClr>
                          </a:solidFill>
                          <a:prstDash val="solid"/>
                        </a:lnR>
                        <a:lnT w="12700" cap="flat" cmpd="sng" algn="ctr">
                          <a:solidFill>
                            <a:srgbClr val="FFFFFF">
                              <a:alpha val="100000"/>
                            </a:srgbClr>
                          </a:solidFill>
                          <a:prstDash val="solid"/>
                        </a:lnT>
                        <a:lnB w="12700" cap="flat" cmpd="sng" algn="ctr">
                          <a:solidFill>
                            <a:srgbClr val="FFFFFF">
                              <a:alpha val="100000"/>
                            </a:srgbClr>
                          </a:solidFill>
                          <a:prstDash val="solid"/>
                        </a:lnB>
                        <a:solidFill>
                          <a:srgbClr val="FFFFFF">
                            <a:alpha val="0"/>
                          </a:srgbClr>
                        </a:solidFill>
                      </a:tcPr>
                    </a:tc>
                    <a:tc>
                      <a:txBody>
                        <a:bodyPr/>
                        <a:lstStyle/>
                        <a:p>
                          <a:pPr marL="63500" marR="63500" algn="ctr">
                            <a:lnSpc>
                              <a:spcPct val="100000"/>
                            </a:lnSpc>
                            <a:spcBef>
                              <a:spcPts val="500"/>
                            </a:spcBef>
                            <a:spcAft>
                              <a:spcPts val="500"/>
                            </a:spcAft>
                            <a:buNone/>
                          </a:pPr>
                          <a:r>
                            <a:rPr sz="1000" b="0" i="0" u="none" strike="noStrike" cap="none">
                              <a:solidFill>
                                <a:srgbClr val="000000">
                                  <a:alpha val="100000"/>
                                </a:srgbClr>
                              </a:solidFill>
                              <a:latin typeface="Arial"/>
                              <a:cs typeface="Helvetica"/>
                              <a:sym typeface="Helvetica"/>
                            </a:rPr>
                            <a:t>0.173*</a:t>
                          </a:r>
                        </a:p>
                      </a:txBody>
                      <a:tcPr marL="0" marR="0" marT="63500" marB="63500" anchor="ctr">
                        <a:lnL w="12700" cap="flat" cmpd="sng" algn="ctr">
                          <a:solidFill>
                            <a:srgbClr val="FFFFFF">
                              <a:alpha val="100000"/>
                            </a:srgbClr>
                          </a:solidFill>
                          <a:prstDash val="solid"/>
                        </a:lnL>
                        <a:lnR w="12700" cap="flat" cmpd="sng" algn="ctr">
                          <a:solidFill>
                            <a:srgbClr val="FFFFFF">
                              <a:alpha val="100000"/>
                            </a:srgbClr>
                          </a:solidFill>
                          <a:prstDash val="solid"/>
                        </a:lnR>
                        <a:lnT w="12700" cap="flat" cmpd="sng" algn="ctr">
                          <a:solidFill>
                            <a:srgbClr val="FFFFFF">
                              <a:alpha val="100000"/>
                            </a:srgbClr>
                          </a:solidFill>
                          <a:prstDash val="solid"/>
                        </a:lnT>
                        <a:lnB w="12700" cap="flat" cmpd="sng" algn="ctr">
                          <a:solidFill>
                            <a:srgbClr val="FFFFFF">
                              <a:alpha val="100000"/>
                            </a:srgbClr>
                          </a:solidFill>
                          <a:prstDash val="solid"/>
                        </a:lnB>
                        <a:solidFill>
                          <a:srgbClr val="FFFFFF">
                            <a:alpha val="0"/>
                          </a:srgbClr>
                        </a:solidFill>
                      </a:tcPr>
                    </a:tc>
                    <a:tc>
                      <a:txBody>
                        <a:bodyPr/>
                        <a:lstStyle/>
                        <a:p>
                          <a:pPr marL="63500" marR="63500" algn="ctr">
                            <a:lnSpc>
                              <a:spcPct val="100000"/>
                            </a:lnSpc>
                            <a:spcBef>
                              <a:spcPts val="500"/>
                            </a:spcBef>
                            <a:spcAft>
                              <a:spcPts val="500"/>
                            </a:spcAft>
                            <a:buNone/>
                          </a:pPr>
                          <a:r>
                            <a:rPr sz="1000" b="0" i="0" u="none" strike="noStrike" cap="none">
                              <a:solidFill>
                                <a:srgbClr val="000000">
                                  <a:alpha val="100000"/>
                                </a:srgbClr>
                              </a:solidFill>
                              <a:latin typeface="Arial"/>
                              <a:cs typeface="Helvetica"/>
                              <a:sym typeface="Helvetica"/>
                            </a:rPr>
                            <a:t>0.248**</a:t>
                          </a:r>
                        </a:p>
                      </a:txBody>
                      <a:tcPr marL="0" marR="0" marT="63500" marB="63500" anchor="ctr">
                        <a:lnL w="12700" cap="flat" cmpd="sng" algn="ctr">
                          <a:solidFill>
                            <a:srgbClr val="FFFFFF">
                              <a:alpha val="100000"/>
                            </a:srgbClr>
                          </a:solidFill>
                          <a:prstDash val="solid"/>
                        </a:lnL>
                        <a:lnR w="12700" cap="flat" cmpd="sng" algn="ctr">
                          <a:solidFill>
                            <a:srgbClr val="FFFFFF">
                              <a:alpha val="100000"/>
                            </a:srgbClr>
                          </a:solidFill>
                          <a:prstDash val="solid"/>
                        </a:lnR>
                        <a:lnT w="12700" cap="flat" cmpd="sng" algn="ctr">
                          <a:solidFill>
                            <a:srgbClr val="FFFFFF">
                              <a:alpha val="100000"/>
                            </a:srgbClr>
                          </a:solidFill>
                          <a:prstDash val="solid"/>
                        </a:lnT>
                        <a:lnB w="12700" cap="flat" cmpd="sng" algn="ctr">
                          <a:solidFill>
                            <a:srgbClr val="FFFFFF">
                              <a:alpha val="100000"/>
                            </a:srgbClr>
                          </a:solidFill>
                          <a:prstDash val="solid"/>
                        </a:lnB>
                        <a:solidFill>
                          <a:srgbClr val="FFFFFF">
                            <a:alpha val="0"/>
                          </a:srgbClr>
                        </a:solidFill>
                      </a:tcPr>
                    </a:tc>
                    <a:tc>
                      <a:txBody>
                        <a:bodyPr/>
                        <a:lstStyle/>
                        <a:p>
                          <a:pPr marL="63500" marR="63500" algn="ctr">
                            <a:lnSpc>
                              <a:spcPct val="100000"/>
                            </a:lnSpc>
                            <a:spcBef>
                              <a:spcPts val="500"/>
                            </a:spcBef>
                            <a:spcAft>
                              <a:spcPts val="500"/>
                            </a:spcAft>
                            <a:buNone/>
                          </a:pPr>
                          <a:r>
                            <a:rPr sz="1000" b="0" i="0" u="none" strike="noStrike" cap="none" dirty="0">
                              <a:solidFill>
                                <a:srgbClr val="000000">
                                  <a:alpha val="100000"/>
                                </a:srgbClr>
                              </a:solidFill>
                              <a:latin typeface="Arial"/>
                              <a:cs typeface="Helvetica"/>
                              <a:sym typeface="Helvetica"/>
                            </a:rPr>
                            <a:t>0.234***</a:t>
                          </a:r>
                        </a:p>
                      </a:txBody>
                      <a:tcPr marL="0" marR="0" marT="63500" marB="63500" anchor="ctr">
                        <a:lnL w="12700" cap="flat" cmpd="sng" algn="ctr">
                          <a:solidFill>
                            <a:srgbClr val="FFFFFF">
                              <a:alpha val="100000"/>
                            </a:srgbClr>
                          </a:solidFill>
                          <a:prstDash val="solid"/>
                        </a:lnL>
                        <a:lnR w="12700" cap="flat" cmpd="sng" algn="ctr">
                          <a:solidFill>
                            <a:srgbClr val="FFFFFF">
                              <a:alpha val="100000"/>
                            </a:srgbClr>
                          </a:solidFill>
                          <a:prstDash val="solid"/>
                        </a:lnR>
                        <a:lnT w="12700" cap="flat" cmpd="sng" algn="ctr">
                          <a:solidFill>
                            <a:srgbClr val="FFFFFF">
                              <a:alpha val="100000"/>
                            </a:srgbClr>
                          </a:solidFill>
                          <a:prstDash val="solid"/>
                        </a:lnT>
                        <a:lnB w="12700" cap="flat" cmpd="sng" algn="ctr">
                          <a:solidFill>
                            <a:srgbClr val="FFFFFF">
                              <a:alpha val="100000"/>
                            </a:srgbClr>
                          </a:solidFill>
                          <a:prstDash val="solid"/>
                        </a:lnB>
                        <a:solidFill>
                          <a:srgbClr val="FFFFFF">
                            <a:alpha val="0"/>
                          </a:srgbClr>
                        </a:solidFill>
                      </a:tcPr>
                    </a:tc>
                    <a:tc>
                      <a:txBody>
                        <a:bodyPr/>
                        <a:lstStyle/>
                        <a:p>
                          <a:pPr marL="63500" marR="63500" algn="ctr">
                            <a:lnSpc>
                              <a:spcPct val="100000"/>
                            </a:lnSpc>
                            <a:spcBef>
                              <a:spcPts val="500"/>
                            </a:spcBef>
                            <a:spcAft>
                              <a:spcPts val="500"/>
                            </a:spcAft>
                            <a:buNone/>
                          </a:pPr>
                          <a:r>
                            <a:rPr sz="1000" b="0" i="0" u="none" strike="noStrike" cap="none">
                              <a:solidFill>
                                <a:srgbClr val="000000">
                                  <a:alpha val="100000"/>
                                </a:srgbClr>
                              </a:solidFill>
                              <a:latin typeface="Arial"/>
                              <a:cs typeface="Helvetica"/>
                              <a:sym typeface="Helvetica"/>
                            </a:rPr>
                            <a:t>0.154 </a:t>
                          </a:r>
                        </a:p>
                      </a:txBody>
                      <a:tcPr marL="0" marR="0" marT="63500" marB="63500" anchor="ctr">
                        <a:lnL w="12700" cap="flat" cmpd="sng" algn="ctr">
                          <a:solidFill>
                            <a:srgbClr val="FFFFFF">
                              <a:alpha val="100000"/>
                            </a:srgbClr>
                          </a:solidFill>
                          <a:prstDash val="solid"/>
                        </a:lnL>
                        <a:lnR w="12700" cap="flat" cmpd="sng" algn="ctr">
                          <a:solidFill>
                            <a:srgbClr val="FFFFFF">
                              <a:alpha val="100000"/>
                            </a:srgbClr>
                          </a:solidFill>
                          <a:prstDash val="solid"/>
                        </a:lnR>
                        <a:lnT w="12700" cap="flat" cmpd="sng" algn="ctr">
                          <a:solidFill>
                            <a:srgbClr val="FFFFFF">
                              <a:alpha val="100000"/>
                            </a:srgbClr>
                          </a:solidFill>
                          <a:prstDash val="solid"/>
                        </a:lnT>
                        <a:lnB w="12700" cap="flat" cmpd="sng" algn="ctr">
                          <a:solidFill>
                            <a:srgbClr val="FFFFFF">
                              <a:alpha val="100000"/>
                            </a:srgbClr>
                          </a:solidFill>
                          <a:prstDash val="solid"/>
                        </a:lnB>
                        <a:solidFill>
                          <a:srgbClr val="FFFFFF">
                            <a:alpha val="0"/>
                          </a:srgbClr>
                        </a:solidFill>
                      </a:tcPr>
                    </a:tc>
                    <a:tc>
                      <a:txBody>
                        <a:bodyPr/>
                        <a:lstStyle/>
                        <a:p>
                          <a:pPr marL="63500" marR="63500" algn="ctr">
                            <a:lnSpc>
                              <a:spcPct val="100000"/>
                            </a:lnSpc>
                            <a:spcBef>
                              <a:spcPts val="500"/>
                            </a:spcBef>
                            <a:spcAft>
                              <a:spcPts val="500"/>
                            </a:spcAft>
                            <a:buNone/>
                          </a:pPr>
                          <a:r>
                            <a:rPr sz="1000" b="0" i="0" u="none" strike="noStrike" cap="none">
                              <a:solidFill>
                                <a:srgbClr val="000000">
                                  <a:alpha val="100000"/>
                                </a:srgbClr>
                              </a:solidFill>
                              <a:latin typeface="Arial"/>
                              <a:cs typeface="Helvetica"/>
                              <a:sym typeface="Helvetica"/>
                            </a:rPr>
                            <a:t>0.209**</a:t>
                          </a:r>
                        </a:p>
                      </a:txBody>
                      <a:tcPr marL="0" marR="0" marT="63500" marB="63500" anchor="ctr">
                        <a:lnL w="12700" cap="flat" cmpd="sng" algn="ctr">
                          <a:solidFill>
                            <a:srgbClr val="FFFFFF">
                              <a:alpha val="100000"/>
                            </a:srgbClr>
                          </a:solidFill>
                          <a:prstDash val="solid"/>
                        </a:lnL>
                        <a:lnR w="12700" cap="flat" cmpd="sng" algn="ctr">
                          <a:solidFill>
                            <a:srgbClr val="FFFFFF">
                              <a:alpha val="100000"/>
                            </a:srgbClr>
                          </a:solidFill>
                          <a:prstDash val="solid"/>
                        </a:lnR>
                        <a:lnT w="12700" cap="flat" cmpd="sng" algn="ctr">
                          <a:solidFill>
                            <a:srgbClr val="FFFFFF">
                              <a:alpha val="100000"/>
                            </a:srgbClr>
                          </a:solidFill>
                          <a:prstDash val="solid"/>
                        </a:lnT>
                        <a:lnB w="12700" cap="flat" cmpd="sng" algn="ctr">
                          <a:solidFill>
                            <a:srgbClr val="FFFFFF">
                              <a:alpha val="100000"/>
                            </a:srgbClr>
                          </a:solidFill>
                          <a:prstDash val="solid"/>
                        </a:lnB>
                        <a:solidFill>
                          <a:srgbClr val="FFFFFF">
                            <a:alpha val="0"/>
                          </a:srgbClr>
                        </a:solidFill>
                      </a:tcPr>
                    </a:tc>
                    <a:extLst>
                      <a:ext uri="{0D108BD9-81ED-4DB2-BD59-A6C34878D82A}">
                        <a16:rowId xmlns:a16="http://schemas.microsoft.com/office/drawing/2014/main" val="10003"/>
                      </a:ext>
                    </a:extLst>
                  </a:tr>
                  <a:tr h="350806">
                    <a:tc>
                      <a:txBody>
                        <a:bodyPr/>
                        <a:lstStyle/>
                        <a:p>
                          <a:pPr marL="63500" marR="63500" algn="l">
                            <a:lnSpc>
                              <a:spcPct val="100000"/>
                            </a:lnSpc>
                            <a:spcBef>
                              <a:spcPts val="500"/>
                            </a:spcBef>
                            <a:spcAft>
                              <a:spcPts val="500"/>
                            </a:spcAft>
                            <a:buNone/>
                          </a:pPr>
                          <a14:m>
                            <m:oMathPara xmlns:m="http://schemas.openxmlformats.org/officeDocument/2006/math">
                              <m:oMathParaPr>
                                <m:jc m:val="centerGroup"/>
                              </m:oMathParaPr>
                              <m:oMath xmlns:m="http://schemas.openxmlformats.org/officeDocument/2006/math">
                                <m:r>
                                  <a:rPr sz="1000" b="1" i="1">
                                    <a:latin typeface="Cambria Math" panose="02040503050406030204" pitchFamily="18" charset="0"/>
                                  </a:rPr>
                                  <m:t>𝐑𝐏</m:t>
                                </m:r>
                                <m:sSub>
                                  <m:sSubPr>
                                    <m:ctrlPr>
                                      <a:rPr sz="1000" b="1" i="1">
                                        <a:latin typeface="Cambria Math" panose="02040503050406030204" pitchFamily="18" charset="0"/>
                                      </a:rPr>
                                    </m:ctrlPr>
                                  </m:sSubPr>
                                  <m:e>
                                    <m:r>
                                      <a:rPr sz="1000" b="1" i="1">
                                        <a:latin typeface="Cambria Math" panose="02040503050406030204" pitchFamily="18" charset="0"/>
                                      </a:rPr>
                                      <m:t>𝑫</m:t>
                                    </m:r>
                                  </m:e>
                                  <m:sub>
                                    <m:r>
                                      <a:rPr sz="1000" b="1" i="1">
                                        <a:latin typeface="Cambria Math" panose="02040503050406030204" pitchFamily="18" charset="0"/>
                                      </a:rPr>
                                      <m:t>𝐭</m:t>
                                    </m:r>
                                    <m:r>
                                      <a:rPr sz="1000" b="1">
                                        <a:latin typeface="Cambria Math" panose="02040503050406030204" pitchFamily="18" charset="0"/>
                                      </a:rPr>
                                      <m:t>−</m:t>
                                    </m:r>
                                    <m:r>
                                      <a:rPr sz="1000" b="1" i="1">
                                        <a:latin typeface="Cambria Math" panose="02040503050406030204" pitchFamily="18" charset="0"/>
                                      </a:rPr>
                                      <m:t>𝟐</m:t>
                                    </m:r>
                                  </m:sub>
                                </m:sSub>
                              </m:oMath>
                            </m:oMathPara>
                          </a14:m>
                          <a:endParaRPr sz="1000" b="1" dirty="0"/>
                        </a:p>
                      </a:txBody>
                      <a:tcPr marL="0" marR="0" marT="63500" marB="63500" anchor="ctr">
                        <a:lnL w="12700" cap="flat" cmpd="sng" algn="ctr">
                          <a:solidFill>
                            <a:srgbClr val="FFFFFF">
                              <a:alpha val="100000"/>
                            </a:srgbClr>
                          </a:solidFill>
                          <a:prstDash val="solid"/>
                        </a:lnL>
                        <a:lnR w="12700" cap="flat" cmpd="sng" algn="ctr">
                          <a:solidFill>
                            <a:srgbClr val="FFFFFF">
                              <a:alpha val="100000"/>
                            </a:srgbClr>
                          </a:solidFill>
                          <a:prstDash val="solid"/>
                        </a:lnR>
                        <a:lnT w="12700" cap="flat" cmpd="sng" algn="ctr">
                          <a:solidFill>
                            <a:srgbClr val="FFFFFF">
                              <a:alpha val="100000"/>
                            </a:srgbClr>
                          </a:solidFill>
                          <a:prstDash val="solid"/>
                        </a:lnT>
                        <a:lnB w="12700" cap="flat" cmpd="sng" algn="ctr">
                          <a:solidFill>
                            <a:srgbClr val="FFFFFF">
                              <a:alpha val="100000"/>
                            </a:srgbClr>
                          </a:solidFill>
                          <a:prstDash val="solid"/>
                        </a:lnB>
                        <a:solidFill>
                          <a:srgbClr val="FFFFFF">
                            <a:alpha val="0"/>
                          </a:srgbClr>
                        </a:solidFill>
                      </a:tcPr>
                    </a:tc>
                    <a:tc>
                      <a:txBody>
                        <a:bodyPr/>
                        <a:lstStyle/>
                        <a:p>
                          <a:pPr marL="63500" marR="63500" algn="ctr">
                            <a:lnSpc>
                              <a:spcPct val="100000"/>
                            </a:lnSpc>
                            <a:spcBef>
                              <a:spcPts val="500"/>
                            </a:spcBef>
                            <a:spcAft>
                              <a:spcPts val="500"/>
                            </a:spcAft>
                            <a:buNone/>
                          </a:pPr>
                          <a:r>
                            <a:rPr sz="1000" b="0" i="0" u="none" strike="noStrike" cap="none">
                              <a:solidFill>
                                <a:srgbClr val="000000">
                                  <a:alpha val="100000"/>
                                </a:srgbClr>
                              </a:solidFill>
                              <a:latin typeface="Arial"/>
                              <a:cs typeface="Helvetica"/>
                              <a:sym typeface="Helvetica"/>
                            </a:rPr>
                            <a:t>-0.382***</a:t>
                          </a:r>
                        </a:p>
                      </a:txBody>
                      <a:tcPr marL="0" marR="0" marT="63500" marB="63500" anchor="ctr">
                        <a:lnL w="12700" cap="flat" cmpd="sng" algn="ctr">
                          <a:solidFill>
                            <a:srgbClr val="FFFFFF">
                              <a:alpha val="100000"/>
                            </a:srgbClr>
                          </a:solidFill>
                          <a:prstDash val="solid"/>
                        </a:lnL>
                        <a:lnR w="12700" cap="flat" cmpd="sng" algn="ctr">
                          <a:solidFill>
                            <a:srgbClr val="FFFFFF">
                              <a:alpha val="100000"/>
                            </a:srgbClr>
                          </a:solidFill>
                          <a:prstDash val="solid"/>
                        </a:lnR>
                        <a:lnT w="12700" cap="flat" cmpd="sng" algn="ctr">
                          <a:solidFill>
                            <a:srgbClr val="FFFFFF">
                              <a:alpha val="100000"/>
                            </a:srgbClr>
                          </a:solidFill>
                          <a:prstDash val="solid"/>
                        </a:lnT>
                        <a:lnB w="12700" cap="flat" cmpd="sng" algn="ctr">
                          <a:solidFill>
                            <a:srgbClr val="FFFFFF">
                              <a:alpha val="100000"/>
                            </a:srgbClr>
                          </a:solidFill>
                          <a:prstDash val="solid"/>
                        </a:lnB>
                        <a:solidFill>
                          <a:srgbClr val="FFFFFF">
                            <a:alpha val="0"/>
                          </a:srgbClr>
                        </a:solidFill>
                      </a:tcPr>
                    </a:tc>
                    <a:tc>
                      <a:txBody>
                        <a:bodyPr/>
                        <a:lstStyle/>
                        <a:p>
                          <a:pPr marL="63500" marR="63500" algn="ctr">
                            <a:lnSpc>
                              <a:spcPct val="100000"/>
                            </a:lnSpc>
                            <a:spcBef>
                              <a:spcPts val="500"/>
                            </a:spcBef>
                            <a:spcAft>
                              <a:spcPts val="500"/>
                            </a:spcAft>
                            <a:buNone/>
                          </a:pPr>
                          <a:r>
                            <a:rPr sz="1000" b="0" i="0" u="none" strike="noStrike" cap="none">
                              <a:solidFill>
                                <a:srgbClr val="000000">
                                  <a:alpha val="100000"/>
                                </a:srgbClr>
                              </a:solidFill>
                              <a:latin typeface="Arial"/>
                              <a:cs typeface="Helvetica"/>
                              <a:sym typeface="Helvetica"/>
                            </a:rPr>
                            <a:t>-0.14 </a:t>
                          </a:r>
                        </a:p>
                      </a:txBody>
                      <a:tcPr marL="0" marR="0" marT="63500" marB="63500" anchor="ctr">
                        <a:lnL w="12700" cap="flat" cmpd="sng" algn="ctr">
                          <a:solidFill>
                            <a:srgbClr val="FFFFFF">
                              <a:alpha val="100000"/>
                            </a:srgbClr>
                          </a:solidFill>
                          <a:prstDash val="solid"/>
                        </a:lnL>
                        <a:lnR w="12700" cap="flat" cmpd="sng" algn="ctr">
                          <a:solidFill>
                            <a:srgbClr val="FFFFFF">
                              <a:alpha val="100000"/>
                            </a:srgbClr>
                          </a:solidFill>
                          <a:prstDash val="solid"/>
                        </a:lnR>
                        <a:lnT w="12700" cap="flat" cmpd="sng" algn="ctr">
                          <a:solidFill>
                            <a:srgbClr val="FFFFFF">
                              <a:alpha val="100000"/>
                            </a:srgbClr>
                          </a:solidFill>
                          <a:prstDash val="solid"/>
                        </a:lnT>
                        <a:lnB w="12700" cap="flat" cmpd="sng" algn="ctr">
                          <a:solidFill>
                            <a:srgbClr val="FFFFFF">
                              <a:alpha val="100000"/>
                            </a:srgbClr>
                          </a:solidFill>
                          <a:prstDash val="solid"/>
                        </a:lnB>
                        <a:solidFill>
                          <a:srgbClr val="FFFFFF">
                            <a:alpha val="0"/>
                          </a:srgbClr>
                        </a:solidFill>
                      </a:tcPr>
                    </a:tc>
                    <a:tc>
                      <a:txBody>
                        <a:bodyPr/>
                        <a:lstStyle/>
                        <a:p>
                          <a:pPr marL="63500" marR="63500" algn="ctr">
                            <a:lnSpc>
                              <a:spcPct val="100000"/>
                            </a:lnSpc>
                            <a:spcBef>
                              <a:spcPts val="500"/>
                            </a:spcBef>
                            <a:spcAft>
                              <a:spcPts val="500"/>
                            </a:spcAft>
                            <a:buNone/>
                          </a:pPr>
                          <a:r>
                            <a:rPr sz="1000" b="0" i="0" u="none" strike="noStrike" cap="none">
                              <a:solidFill>
                                <a:srgbClr val="000000">
                                  <a:alpha val="100000"/>
                                </a:srgbClr>
                              </a:solidFill>
                              <a:latin typeface="Arial"/>
                              <a:cs typeface="Helvetica"/>
                              <a:sym typeface="Helvetica"/>
                            </a:rPr>
                            <a:t>-0.645***</a:t>
                          </a:r>
                        </a:p>
                      </a:txBody>
                      <a:tcPr marL="0" marR="0" marT="63500" marB="63500" anchor="ctr">
                        <a:lnL w="12700" cap="flat" cmpd="sng" algn="ctr">
                          <a:solidFill>
                            <a:srgbClr val="FFFFFF">
                              <a:alpha val="100000"/>
                            </a:srgbClr>
                          </a:solidFill>
                          <a:prstDash val="solid"/>
                        </a:lnL>
                        <a:lnR w="12700" cap="flat" cmpd="sng" algn="ctr">
                          <a:solidFill>
                            <a:srgbClr val="FFFFFF">
                              <a:alpha val="100000"/>
                            </a:srgbClr>
                          </a:solidFill>
                          <a:prstDash val="solid"/>
                        </a:lnR>
                        <a:lnT w="12700" cap="flat" cmpd="sng" algn="ctr">
                          <a:solidFill>
                            <a:srgbClr val="FFFFFF">
                              <a:alpha val="100000"/>
                            </a:srgbClr>
                          </a:solidFill>
                          <a:prstDash val="solid"/>
                        </a:lnT>
                        <a:lnB w="12700" cap="flat" cmpd="sng" algn="ctr">
                          <a:solidFill>
                            <a:srgbClr val="FFFFFF">
                              <a:alpha val="100000"/>
                            </a:srgbClr>
                          </a:solidFill>
                          <a:prstDash val="solid"/>
                        </a:lnB>
                        <a:solidFill>
                          <a:srgbClr val="FFFFFF">
                            <a:alpha val="0"/>
                          </a:srgbClr>
                        </a:solidFill>
                      </a:tcPr>
                    </a:tc>
                    <a:tc>
                      <a:txBody>
                        <a:bodyPr/>
                        <a:lstStyle/>
                        <a:p>
                          <a:pPr marL="63500" marR="63500" algn="ctr">
                            <a:lnSpc>
                              <a:spcPct val="100000"/>
                            </a:lnSpc>
                            <a:spcBef>
                              <a:spcPts val="500"/>
                            </a:spcBef>
                            <a:spcAft>
                              <a:spcPts val="500"/>
                            </a:spcAft>
                            <a:buNone/>
                          </a:pPr>
                          <a:r>
                            <a:rPr sz="1000" b="0" i="0" u="none" strike="noStrike" cap="none" dirty="0">
                              <a:solidFill>
                                <a:srgbClr val="000000">
                                  <a:alpha val="100000"/>
                                </a:srgbClr>
                              </a:solidFill>
                              <a:latin typeface="Arial"/>
                              <a:cs typeface="Helvetica"/>
                              <a:sym typeface="Helvetica"/>
                            </a:rPr>
                            <a:t>-0.363***</a:t>
                          </a:r>
                        </a:p>
                      </a:txBody>
                      <a:tcPr marL="0" marR="0" marT="63500" marB="63500" anchor="ctr">
                        <a:lnL w="12700" cap="flat" cmpd="sng" algn="ctr">
                          <a:solidFill>
                            <a:srgbClr val="FFFFFF">
                              <a:alpha val="100000"/>
                            </a:srgbClr>
                          </a:solidFill>
                          <a:prstDash val="solid"/>
                        </a:lnL>
                        <a:lnR w="12700" cap="flat" cmpd="sng" algn="ctr">
                          <a:solidFill>
                            <a:srgbClr val="FFFFFF">
                              <a:alpha val="100000"/>
                            </a:srgbClr>
                          </a:solidFill>
                          <a:prstDash val="solid"/>
                        </a:lnR>
                        <a:lnT w="12700" cap="flat" cmpd="sng" algn="ctr">
                          <a:solidFill>
                            <a:srgbClr val="FFFFFF">
                              <a:alpha val="100000"/>
                            </a:srgbClr>
                          </a:solidFill>
                          <a:prstDash val="solid"/>
                        </a:lnT>
                        <a:lnB w="12700" cap="flat" cmpd="sng" algn="ctr">
                          <a:solidFill>
                            <a:srgbClr val="FFFFFF">
                              <a:alpha val="100000"/>
                            </a:srgbClr>
                          </a:solidFill>
                          <a:prstDash val="solid"/>
                        </a:lnB>
                        <a:solidFill>
                          <a:srgbClr val="FFFFFF">
                            <a:alpha val="0"/>
                          </a:srgbClr>
                        </a:solidFill>
                      </a:tcPr>
                    </a:tc>
                    <a:tc>
                      <a:txBody>
                        <a:bodyPr/>
                        <a:lstStyle/>
                        <a:p>
                          <a:pPr marL="63500" marR="63500" algn="ctr">
                            <a:lnSpc>
                              <a:spcPct val="100000"/>
                            </a:lnSpc>
                            <a:spcBef>
                              <a:spcPts val="500"/>
                            </a:spcBef>
                            <a:spcAft>
                              <a:spcPts val="500"/>
                            </a:spcAft>
                            <a:buNone/>
                          </a:pPr>
                          <a:r>
                            <a:rPr sz="1000" b="0" i="0" u="none" strike="noStrike" cap="none">
                              <a:solidFill>
                                <a:srgbClr val="000000">
                                  <a:alpha val="100000"/>
                                </a:srgbClr>
                              </a:solidFill>
                              <a:latin typeface="Arial"/>
                              <a:cs typeface="Helvetica"/>
                              <a:sym typeface="Helvetica"/>
                            </a:rPr>
                            <a:t>-0.111 </a:t>
                          </a:r>
                        </a:p>
                      </a:txBody>
                      <a:tcPr marL="0" marR="0" marT="63500" marB="63500" anchor="ctr">
                        <a:lnL w="12700" cap="flat" cmpd="sng" algn="ctr">
                          <a:solidFill>
                            <a:srgbClr val="FFFFFF">
                              <a:alpha val="100000"/>
                            </a:srgbClr>
                          </a:solidFill>
                          <a:prstDash val="solid"/>
                        </a:lnL>
                        <a:lnR w="12700" cap="flat" cmpd="sng" algn="ctr">
                          <a:solidFill>
                            <a:srgbClr val="FFFFFF">
                              <a:alpha val="100000"/>
                            </a:srgbClr>
                          </a:solidFill>
                          <a:prstDash val="solid"/>
                        </a:lnR>
                        <a:lnT w="12700" cap="flat" cmpd="sng" algn="ctr">
                          <a:solidFill>
                            <a:srgbClr val="FFFFFF">
                              <a:alpha val="100000"/>
                            </a:srgbClr>
                          </a:solidFill>
                          <a:prstDash val="solid"/>
                        </a:lnT>
                        <a:lnB w="12700" cap="flat" cmpd="sng" algn="ctr">
                          <a:solidFill>
                            <a:srgbClr val="FFFFFF">
                              <a:alpha val="100000"/>
                            </a:srgbClr>
                          </a:solidFill>
                          <a:prstDash val="solid"/>
                        </a:lnB>
                        <a:solidFill>
                          <a:srgbClr val="FFFFFF">
                            <a:alpha val="0"/>
                          </a:srgbClr>
                        </a:solidFill>
                      </a:tcPr>
                    </a:tc>
                    <a:tc>
                      <a:txBody>
                        <a:bodyPr/>
                        <a:lstStyle/>
                        <a:p>
                          <a:pPr marL="63500" marR="63500" algn="ctr">
                            <a:lnSpc>
                              <a:spcPct val="100000"/>
                            </a:lnSpc>
                            <a:spcBef>
                              <a:spcPts val="500"/>
                            </a:spcBef>
                            <a:spcAft>
                              <a:spcPts val="500"/>
                            </a:spcAft>
                            <a:buNone/>
                          </a:pPr>
                          <a:r>
                            <a:rPr sz="1000" b="0" i="0" u="none" strike="noStrike" cap="none">
                              <a:solidFill>
                                <a:srgbClr val="000000">
                                  <a:alpha val="100000"/>
                                </a:srgbClr>
                              </a:solidFill>
                              <a:latin typeface="Arial"/>
                              <a:cs typeface="Helvetica"/>
                              <a:sym typeface="Helvetica"/>
                            </a:rPr>
                            <a:t>-0.609***</a:t>
                          </a:r>
                        </a:p>
                      </a:txBody>
                      <a:tcPr marL="0" marR="0" marT="63500" marB="63500" anchor="ctr">
                        <a:lnL w="12700" cap="flat" cmpd="sng" algn="ctr">
                          <a:solidFill>
                            <a:srgbClr val="FFFFFF">
                              <a:alpha val="100000"/>
                            </a:srgbClr>
                          </a:solidFill>
                          <a:prstDash val="solid"/>
                        </a:lnL>
                        <a:lnR w="12700" cap="flat" cmpd="sng" algn="ctr">
                          <a:solidFill>
                            <a:srgbClr val="FFFFFF">
                              <a:alpha val="100000"/>
                            </a:srgbClr>
                          </a:solidFill>
                          <a:prstDash val="solid"/>
                        </a:lnR>
                        <a:lnT w="12700" cap="flat" cmpd="sng" algn="ctr">
                          <a:solidFill>
                            <a:srgbClr val="FFFFFF">
                              <a:alpha val="100000"/>
                            </a:srgbClr>
                          </a:solidFill>
                          <a:prstDash val="solid"/>
                        </a:lnT>
                        <a:lnB w="12700" cap="flat" cmpd="sng" algn="ctr">
                          <a:solidFill>
                            <a:srgbClr val="FFFFFF">
                              <a:alpha val="100000"/>
                            </a:srgbClr>
                          </a:solidFill>
                          <a:prstDash val="solid"/>
                        </a:lnB>
                        <a:solidFill>
                          <a:srgbClr val="FFFFFF">
                            <a:alpha val="0"/>
                          </a:srgbClr>
                        </a:solidFill>
                      </a:tcPr>
                    </a:tc>
                    <a:extLst>
                      <a:ext uri="{0D108BD9-81ED-4DB2-BD59-A6C34878D82A}">
                        <a16:rowId xmlns:a16="http://schemas.microsoft.com/office/drawing/2014/main" val="10004"/>
                      </a:ext>
                    </a:extLst>
                  </a:tr>
                  <a:tr h="350806">
                    <a:tc>
                      <a:txBody>
                        <a:bodyPr/>
                        <a:lstStyle/>
                        <a:p>
                          <a:pPr marL="63500" marR="63500" algn="l">
                            <a:lnSpc>
                              <a:spcPct val="100000"/>
                            </a:lnSpc>
                            <a:spcBef>
                              <a:spcPts val="500"/>
                            </a:spcBef>
                            <a:spcAft>
                              <a:spcPts val="500"/>
                            </a:spcAft>
                            <a:buNone/>
                          </a:pPr>
                          <a14:m>
                            <m:oMathPara xmlns:m="http://schemas.openxmlformats.org/officeDocument/2006/math">
                              <m:oMathParaPr>
                                <m:jc m:val="centerGroup"/>
                              </m:oMathParaPr>
                              <m:oMath xmlns:m="http://schemas.openxmlformats.org/officeDocument/2006/math">
                                <m:r>
                                  <a:rPr sz="1000" b="1" i="1">
                                    <a:latin typeface="Cambria Math" panose="02040503050406030204" pitchFamily="18" charset="0"/>
                                  </a:rPr>
                                  <m:t>𝐑𝐏</m:t>
                                </m:r>
                                <m:sSub>
                                  <m:sSubPr>
                                    <m:ctrlPr>
                                      <a:rPr sz="1000" b="1" i="1">
                                        <a:latin typeface="Cambria Math" panose="02040503050406030204" pitchFamily="18" charset="0"/>
                                      </a:rPr>
                                    </m:ctrlPr>
                                  </m:sSubPr>
                                  <m:e>
                                    <m:r>
                                      <a:rPr sz="1000" b="1" i="1">
                                        <a:latin typeface="Cambria Math" panose="02040503050406030204" pitchFamily="18" charset="0"/>
                                      </a:rPr>
                                      <m:t>𝑫</m:t>
                                    </m:r>
                                  </m:e>
                                  <m:sub>
                                    <m:r>
                                      <a:rPr sz="1000" b="1" i="1">
                                        <a:latin typeface="Cambria Math" panose="02040503050406030204" pitchFamily="18" charset="0"/>
                                      </a:rPr>
                                      <m:t>𝐭</m:t>
                                    </m:r>
                                    <m:r>
                                      <a:rPr sz="1000" b="1">
                                        <a:latin typeface="Cambria Math" panose="02040503050406030204" pitchFamily="18" charset="0"/>
                                      </a:rPr>
                                      <m:t>−</m:t>
                                    </m:r>
                                    <m:r>
                                      <a:rPr sz="1000" b="1" i="1">
                                        <a:latin typeface="Cambria Math" panose="02040503050406030204" pitchFamily="18" charset="0"/>
                                      </a:rPr>
                                      <m:t>𝟏</m:t>
                                    </m:r>
                                  </m:sub>
                                </m:sSub>
                              </m:oMath>
                            </m:oMathPara>
                          </a14:m>
                          <a:endParaRPr sz="1000" b="1" dirty="0"/>
                        </a:p>
                      </a:txBody>
                      <a:tcPr marL="0" marR="0" marT="63500" marB="63500" anchor="ctr">
                        <a:lnL w="12700" cap="flat" cmpd="sng" algn="ctr">
                          <a:solidFill>
                            <a:srgbClr val="FFFFFF">
                              <a:alpha val="100000"/>
                            </a:srgbClr>
                          </a:solidFill>
                          <a:prstDash val="solid"/>
                        </a:lnL>
                        <a:lnR w="12700" cap="flat" cmpd="sng" algn="ctr">
                          <a:solidFill>
                            <a:srgbClr val="FFFFFF">
                              <a:alpha val="100000"/>
                            </a:srgbClr>
                          </a:solidFill>
                          <a:prstDash val="solid"/>
                        </a:lnR>
                        <a:lnT w="12700" cap="flat" cmpd="sng" algn="ctr">
                          <a:solidFill>
                            <a:srgbClr val="FFFFFF">
                              <a:alpha val="100000"/>
                            </a:srgbClr>
                          </a:solidFill>
                          <a:prstDash val="solid"/>
                        </a:lnT>
                        <a:lnB w="12700" cap="flat" cmpd="sng" algn="ctr">
                          <a:solidFill>
                            <a:srgbClr val="FFFFFF">
                              <a:alpha val="100000"/>
                            </a:srgbClr>
                          </a:solidFill>
                          <a:prstDash val="solid"/>
                        </a:lnB>
                        <a:solidFill>
                          <a:srgbClr val="FFFFFF">
                            <a:alpha val="0"/>
                          </a:srgbClr>
                        </a:solidFill>
                      </a:tcPr>
                    </a:tc>
                    <a:tc>
                      <a:txBody>
                        <a:bodyPr/>
                        <a:lstStyle/>
                        <a:p>
                          <a:pPr marL="63500" marR="63500" algn="ctr">
                            <a:lnSpc>
                              <a:spcPct val="100000"/>
                            </a:lnSpc>
                            <a:spcBef>
                              <a:spcPts val="500"/>
                            </a:spcBef>
                            <a:spcAft>
                              <a:spcPts val="500"/>
                            </a:spcAft>
                            <a:buNone/>
                          </a:pPr>
                          <a:r>
                            <a:rPr sz="1000" b="0" i="0" u="none" strike="noStrike" cap="none">
                              <a:solidFill>
                                <a:srgbClr val="000000">
                                  <a:alpha val="100000"/>
                                </a:srgbClr>
                              </a:solidFill>
                              <a:latin typeface="Arial"/>
                              <a:cs typeface="Helvetica"/>
                              <a:sym typeface="Helvetica"/>
                            </a:rPr>
                            <a:t>1.039***</a:t>
                          </a:r>
                        </a:p>
                      </a:txBody>
                      <a:tcPr marL="0" marR="0" marT="63500" marB="63500" anchor="ctr">
                        <a:lnL w="12700" cap="flat" cmpd="sng" algn="ctr">
                          <a:solidFill>
                            <a:srgbClr val="FFFFFF">
                              <a:alpha val="100000"/>
                            </a:srgbClr>
                          </a:solidFill>
                          <a:prstDash val="solid"/>
                        </a:lnL>
                        <a:lnR w="12700" cap="flat" cmpd="sng" algn="ctr">
                          <a:solidFill>
                            <a:srgbClr val="FFFFFF">
                              <a:alpha val="100000"/>
                            </a:srgbClr>
                          </a:solidFill>
                          <a:prstDash val="solid"/>
                        </a:lnR>
                        <a:lnT w="12700" cap="flat" cmpd="sng" algn="ctr">
                          <a:solidFill>
                            <a:srgbClr val="FFFFFF">
                              <a:alpha val="100000"/>
                            </a:srgbClr>
                          </a:solidFill>
                          <a:prstDash val="solid"/>
                        </a:lnT>
                        <a:lnB w="12700" cap="flat" cmpd="sng" algn="ctr">
                          <a:solidFill>
                            <a:srgbClr val="FFFFFF">
                              <a:alpha val="100000"/>
                            </a:srgbClr>
                          </a:solidFill>
                          <a:prstDash val="solid"/>
                        </a:lnB>
                        <a:solidFill>
                          <a:srgbClr val="FFFFFF">
                            <a:alpha val="0"/>
                          </a:srgbClr>
                        </a:solidFill>
                      </a:tcPr>
                    </a:tc>
                    <a:tc>
                      <a:txBody>
                        <a:bodyPr/>
                        <a:lstStyle/>
                        <a:p>
                          <a:pPr marL="63500" marR="63500" algn="ctr">
                            <a:lnSpc>
                              <a:spcPct val="100000"/>
                            </a:lnSpc>
                            <a:spcBef>
                              <a:spcPts val="500"/>
                            </a:spcBef>
                            <a:spcAft>
                              <a:spcPts val="500"/>
                            </a:spcAft>
                            <a:buNone/>
                          </a:pPr>
                          <a:r>
                            <a:rPr sz="1000" b="0" i="0" u="none" strike="noStrike" cap="none">
                              <a:solidFill>
                                <a:srgbClr val="000000">
                                  <a:alpha val="100000"/>
                                </a:srgbClr>
                              </a:solidFill>
                              <a:latin typeface="Arial"/>
                              <a:cs typeface="Helvetica"/>
                              <a:sym typeface="Helvetica"/>
                            </a:rPr>
                            <a:t>0.896***</a:t>
                          </a:r>
                        </a:p>
                      </a:txBody>
                      <a:tcPr marL="0" marR="0" marT="63500" marB="63500" anchor="ctr">
                        <a:lnL w="12700" cap="flat" cmpd="sng" algn="ctr">
                          <a:solidFill>
                            <a:srgbClr val="FFFFFF">
                              <a:alpha val="100000"/>
                            </a:srgbClr>
                          </a:solidFill>
                          <a:prstDash val="solid"/>
                        </a:lnL>
                        <a:lnR w="12700" cap="flat" cmpd="sng" algn="ctr">
                          <a:solidFill>
                            <a:srgbClr val="FFFFFF">
                              <a:alpha val="100000"/>
                            </a:srgbClr>
                          </a:solidFill>
                          <a:prstDash val="solid"/>
                        </a:lnR>
                        <a:lnT w="12700" cap="flat" cmpd="sng" algn="ctr">
                          <a:solidFill>
                            <a:srgbClr val="FFFFFF">
                              <a:alpha val="100000"/>
                            </a:srgbClr>
                          </a:solidFill>
                          <a:prstDash val="solid"/>
                        </a:lnT>
                        <a:lnB w="12700" cap="flat" cmpd="sng" algn="ctr">
                          <a:solidFill>
                            <a:srgbClr val="FFFFFF">
                              <a:alpha val="100000"/>
                            </a:srgbClr>
                          </a:solidFill>
                          <a:prstDash val="solid"/>
                        </a:lnB>
                        <a:solidFill>
                          <a:srgbClr val="FFFFFF">
                            <a:alpha val="0"/>
                          </a:srgbClr>
                        </a:solidFill>
                      </a:tcPr>
                    </a:tc>
                    <a:tc>
                      <a:txBody>
                        <a:bodyPr/>
                        <a:lstStyle/>
                        <a:p>
                          <a:pPr marL="63500" marR="63500" algn="ctr">
                            <a:lnSpc>
                              <a:spcPct val="100000"/>
                            </a:lnSpc>
                            <a:spcBef>
                              <a:spcPts val="500"/>
                            </a:spcBef>
                            <a:spcAft>
                              <a:spcPts val="500"/>
                            </a:spcAft>
                            <a:buNone/>
                          </a:pPr>
                          <a:r>
                            <a:rPr sz="1000" b="0" i="0" u="none" strike="noStrike" cap="none">
                              <a:solidFill>
                                <a:srgbClr val="000000">
                                  <a:alpha val="100000"/>
                                </a:srgbClr>
                              </a:solidFill>
                              <a:latin typeface="Arial"/>
                              <a:cs typeface="Helvetica"/>
                              <a:sym typeface="Helvetica"/>
                            </a:rPr>
                            <a:t>1.116***</a:t>
                          </a:r>
                        </a:p>
                      </a:txBody>
                      <a:tcPr marL="0" marR="0" marT="63500" marB="63500" anchor="ctr">
                        <a:lnL w="12700" cap="flat" cmpd="sng" algn="ctr">
                          <a:solidFill>
                            <a:srgbClr val="FFFFFF">
                              <a:alpha val="100000"/>
                            </a:srgbClr>
                          </a:solidFill>
                          <a:prstDash val="solid"/>
                        </a:lnL>
                        <a:lnR w="12700" cap="flat" cmpd="sng" algn="ctr">
                          <a:solidFill>
                            <a:srgbClr val="FFFFFF">
                              <a:alpha val="100000"/>
                            </a:srgbClr>
                          </a:solidFill>
                          <a:prstDash val="solid"/>
                        </a:lnR>
                        <a:lnT w="12700" cap="flat" cmpd="sng" algn="ctr">
                          <a:solidFill>
                            <a:srgbClr val="FFFFFF">
                              <a:alpha val="100000"/>
                            </a:srgbClr>
                          </a:solidFill>
                          <a:prstDash val="solid"/>
                        </a:lnT>
                        <a:lnB w="12700" cap="flat" cmpd="sng" algn="ctr">
                          <a:solidFill>
                            <a:srgbClr val="FFFFFF">
                              <a:alpha val="100000"/>
                            </a:srgbClr>
                          </a:solidFill>
                          <a:prstDash val="solid"/>
                        </a:lnB>
                        <a:solidFill>
                          <a:srgbClr val="FFFFFF">
                            <a:alpha val="0"/>
                          </a:srgbClr>
                        </a:solidFill>
                      </a:tcPr>
                    </a:tc>
                    <a:tc>
                      <a:txBody>
                        <a:bodyPr/>
                        <a:lstStyle/>
                        <a:p>
                          <a:pPr marL="63500" marR="63500" algn="ctr">
                            <a:lnSpc>
                              <a:spcPct val="100000"/>
                            </a:lnSpc>
                            <a:spcBef>
                              <a:spcPts val="500"/>
                            </a:spcBef>
                            <a:spcAft>
                              <a:spcPts val="500"/>
                            </a:spcAft>
                            <a:buNone/>
                          </a:pPr>
                          <a:r>
                            <a:rPr sz="1000" b="0" i="0" u="none" strike="noStrike" cap="none" dirty="0">
                              <a:solidFill>
                                <a:srgbClr val="000000">
                                  <a:alpha val="100000"/>
                                </a:srgbClr>
                              </a:solidFill>
                              <a:latin typeface="Arial"/>
                              <a:cs typeface="Helvetica"/>
                              <a:sym typeface="Helvetica"/>
                            </a:rPr>
                            <a:t>1.017***</a:t>
                          </a:r>
                        </a:p>
                      </a:txBody>
                      <a:tcPr marL="0" marR="0" marT="63500" marB="63500" anchor="ctr">
                        <a:lnL w="12700" cap="flat" cmpd="sng" algn="ctr">
                          <a:solidFill>
                            <a:srgbClr val="FFFFFF">
                              <a:alpha val="100000"/>
                            </a:srgbClr>
                          </a:solidFill>
                          <a:prstDash val="solid"/>
                        </a:lnL>
                        <a:lnR w="12700" cap="flat" cmpd="sng" algn="ctr">
                          <a:solidFill>
                            <a:srgbClr val="FFFFFF">
                              <a:alpha val="100000"/>
                            </a:srgbClr>
                          </a:solidFill>
                          <a:prstDash val="solid"/>
                        </a:lnR>
                        <a:lnT w="12700" cap="flat" cmpd="sng" algn="ctr">
                          <a:solidFill>
                            <a:srgbClr val="FFFFFF">
                              <a:alpha val="100000"/>
                            </a:srgbClr>
                          </a:solidFill>
                          <a:prstDash val="solid"/>
                        </a:lnT>
                        <a:lnB w="12700" cap="flat" cmpd="sng" algn="ctr">
                          <a:solidFill>
                            <a:srgbClr val="FFFFFF">
                              <a:alpha val="100000"/>
                            </a:srgbClr>
                          </a:solidFill>
                          <a:prstDash val="solid"/>
                        </a:lnB>
                        <a:solidFill>
                          <a:srgbClr val="FFFFFF">
                            <a:alpha val="0"/>
                          </a:srgbClr>
                        </a:solidFill>
                      </a:tcPr>
                    </a:tc>
                    <a:tc>
                      <a:txBody>
                        <a:bodyPr/>
                        <a:lstStyle/>
                        <a:p>
                          <a:pPr marL="63500" marR="63500" algn="ctr">
                            <a:lnSpc>
                              <a:spcPct val="100000"/>
                            </a:lnSpc>
                            <a:spcBef>
                              <a:spcPts val="500"/>
                            </a:spcBef>
                            <a:spcAft>
                              <a:spcPts val="500"/>
                            </a:spcAft>
                            <a:buNone/>
                          </a:pPr>
                          <a:r>
                            <a:rPr sz="1000" b="0" i="0" u="none" strike="noStrike" cap="none">
                              <a:solidFill>
                                <a:srgbClr val="000000">
                                  <a:alpha val="100000"/>
                                </a:srgbClr>
                              </a:solidFill>
                              <a:latin typeface="Arial"/>
                              <a:cs typeface="Helvetica"/>
                              <a:sym typeface="Helvetica"/>
                            </a:rPr>
                            <a:t>0.864***</a:t>
                          </a:r>
                        </a:p>
                      </a:txBody>
                      <a:tcPr marL="0" marR="0" marT="63500" marB="63500" anchor="ctr">
                        <a:lnL w="12700" cap="flat" cmpd="sng" algn="ctr">
                          <a:solidFill>
                            <a:srgbClr val="FFFFFF">
                              <a:alpha val="100000"/>
                            </a:srgbClr>
                          </a:solidFill>
                          <a:prstDash val="solid"/>
                        </a:lnL>
                        <a:lnR w="12700" cap="flat" cmpd="sng" algn="ctr">
                          <a:solidFill>
                            <a:srgbClr val="FFFFFF">
                              <a:alpha val="100000"/>
                            </a:srgbClr>
                          </a:solidFill>
                          <a:prstDash val="solid"/>
                        </a:lnR>
                        <a:lnT w="12700" cap="flat" cmpd="sng" algn="ctr">
                          <a:solidFill>
                            <a:srgbClr val="FFFFFF">
                              <a:alpha val="100000"/>
                            </a:srgbClr>
                          </a:solidFill>
                          <a:prstDash val="solid"/>
                        </a:lnT>
                        <a:lnB w="12700" cap="flat" cmpd="sng" algn="ctr">
                          <a:solidFill>
                            <a:srgbClr val="FFFFFF">
                              <a:alpha val="100000"/>
                            </a:srgbClr>
                          </a:solidFill>
                          <a:prstDash val="solid"/>
                        </a:lnB>
                        <a:solidFill>
                          <a:srgbClr val="FFFFFF">
                            <a:alpha val="0"/>
                          </a:srgbClr>
                        </a:solidFill>
                      </a:tcPr>
                    </a:tc>
                    <a:tc>
                      <a:txBody>
                        <a:bodyPr/>
                        <a:lstStyle/>
                        <a:p>
                          <a:pPr marL="63500" marR="63500" algn="ctr">
                            <a:lnSpc>
                              <a:spcPct val="100000"/>
                            </a:lnSpc>
                            <a:spcBef>
                              <a:spcPts val="500"/>
                            </a:spcBef>
                            <a:spcAft>
                              <a:spcPts val="500"/>
                            </a:spcAft>
                            <a:buNone/>
                          </a:pPr>
                          <a:r>
                            <a:rPr sz="1000" b="0" i="0" u="none" strike="noStrike" cap="none">
                              <a:solidFill>
                                <a:srgbClr val="000000">
                                  <a:alpha val="100000"/>
                                </a:srgbClr>
                              </a:solidFill>
                              <a:latin typeface="Arial"/>
                              <a:cs typeface="Helvetica"/>
                              <a:sym typeface="Helvetica"/>
                            </a:rPr>
                            <a:t>1.063***</a:t>
                          </a:r>
                        </a:p>
                      </a:txBody>
                      <a:tcPr marL="0" marR="0" marT="63500" marB="63500" anchor="ctr">
                        <a:lnL w="12700" cap="flat" cmpd="sng" algn="ctr">
                          <a:solidFill>
                            <a:srgbClr val="FFFFFF">
                              <a:alpha val="100000"/>
                            </a:srgbClr>
                          </a:solidFill>
                          <a:prstDash val="solid"/>
                        </a:lnL>
                        <a:lnR w="12700" cap="flat" cmpd="sng" algn="ctr">
                          <a:solidFill>
                            <a:srgbClr val="FFFFFF">
                              <a:alpha val="100000"/>
                            </a:srgbClr>
                          </a:solidFill>
                          <a:prstDash val="solid"/>
                        </a:lnR>
                        <a:lnT w="12700" cap="flat" cmpd="sng" algn="ctr">
                          <a:solidFill>
                            <a:srgbClr val="FFFFFF">
                              <a:alpha val="100000"/>
                            </a:srgbClr>
                          </a:solidFill>
                          <a:prstDash val="solid"/>
                        </a:lnT>
                        <a:lnB w="12700" cap="flat" cmpd="sng" algn="ctr">
                          <a:solidFill>
                            <a:srgbClr val="FFFFFF">
                              <a:alpha val="100000"/>
                            </a:srgbClr>
                          </a:solidFill>
                          <a:prstDash val="solid"/>
                        </a:lnB>
                        <a:solidFill>
                          <a:srgbClr val="FFFFFF">
                            <a:alpha val="0"/>
                          </a:srgbClr>
                        </a:solidFill>
                      </a:tcPr>
                    </a:tc>
                    <a:extLst>
                      <a:ext uri="{0D108BD9-81ED-4DB2-BD59-A6C34878D82A}">
                        <a16:rowId xmlns:a16="http://schemas.microsoft.com/office/drawing/2014/main" val="10005"/>
                      </a:ext>
                    </a:extLst>
                  </a:tr>
                  <a:tr h="350806">
                    <a:tc>
                      <a:txBody>
                        <a:bodyPr/>
                        <a:lstStyle/>
                        <a:p>
                          <a:pPr marL="63500" marR="63500" algn="l">
                            <a:lnSpc>
                              <a:spcPct val="100000"/>
                            </a:lnSpc>
                            <a:spcBef>
                              <a:spcPts val="500"/>
                            </a:spcBef>
                            <a:spcAft>
                              <a:spcPts val="500"/>
                            </a:spcAft>
                            <a:buNone/>
                          </a:pPr>
                          <a14:m>
                            <m:oMathPara xmlns:m="http://schemas.openxmlformats.org/officeDocument/2006/math">
                              <m:oMathParaPr>
                                <m:jc m:val="centerGroup"/>
                              </m:oMathParaPr>
                              <m:oMath xmlns:m="http://schemas.openxmlformats.org/officeDocument/2006/math">
                                <m:sSub>
                                  <m:sSubPr>
                                    <m:ctrlPr>
                                      <a:rPr sz="1000" b="1" i="1">
                                        <a:latin typeface="Cambria Math" panose="02040503050406030204" pitchFamily="18" charset="0"/>
                                      </a:rPr>
                                    </m:ctrlPr>
                                  </m:sSubPr>
                                  <m:e>
                                    <m:r>
                                      <a:rPr sz="1000" b="1" i="1">
                                        <a:latin typeface="Cambria Math" panose="02040503050406030204" pitchFamily="18" charset="0"/>
                                      </a:rPr>
                                      <m:t>𝑫</m:t>
                                    </m:r>
                                  </m:e>
                                  <m:sub>
                                    <m:r>
                                      <a:rPr sz="1000" b="1" i="1">
                                        <a:latin typeface="Cambria Math" panose="02040503050406030204" pitchFamily="18" charset="0"/>
                                      </a:rPr>
                                      <m:t>𝟐𝟎𝟐𝟐</m:t>
                                    </m:r>
                                    <m:r>
                                      <a:rPr sz="1000" b="1" i="1">
                                        <a:latin typeface="Cambria Math" panose="02040503050406030204" pitchFamily="18" charset="0"/>
                                      </a:rPr>
                                      <m:t>𝒎</m:t>
                                    </m:r>
                                    <m:r>
                                      <a:rPr sz="1000" b="1" i="1">
                                        <a:latin typeface="Cambria Math" panose="02040503050406030204" pitchFamily="18" charset="0"/>
                                      </a:rPr>
                                      <m:t>𝟖</m:t>
                                    </m:r>
                                  </m:sub>
                                </m:sSub>
                              </m:oMath>
                            </m:oMathPara>
                          </a14:m>
                          <a:endParaRPr sz="1000" b="1" dirty="0"/>
                        </a:p>
                      </a:txBody>
                      <a:tcPr marL="0" marR="0" marT="63500" marB="63500" anchor="ctr">
                        <a:lnL w="12700" cap="flat" cmpd="sng" algn="ctr">
                          <a:solidFill>
                            <a:srgbClr val="FFFFFF">
                              <a:alpha val="100000"/>
                            </a:srgbClr>
                          </a:solidFill>
                          <a:prstDash val="solid"/>
                        </a:lnL>
                        <a:lnR w="12700" cap="flat" cmpd="sng" algn="ctr">
                          <a:solidFill>
                            <a:srgbClr val="FFFFFF">
                              <a:alpha val="100000"/>
                            </a:srgbClr>
                          </a:solidFill>
                          <a:prstDash val="solid"/>
                        </a:lnR>
                        <a:lnT w="12700" cap="flat" cmpd="sng" algn="ctr">
                          <a:solidFill>
                            <a:srgbClr val="FFFFFF">
                              <a:alpha val="100000"/>
                            </a:srgbClr>
                          </a:solidFill>
                          <a:prstDash val="solid"/>
                        </a:lnT>
                        <a:lnB w="12700" cap="flat" cmpd="sng" algn="ctr">
                          <a:solidFill>
                            <a:srgbClr val="FFFFFF">
                              <a:alpha val="100000"/>
                            </a:srgbClr>
                          </a:solidFill>
                          <a:prstDash val="solid"/>
                        </a:lnB>
                        <a:solidFill>
                          <a:srgbClr val="FFFFFF">
                            <a:alpha val="0"/>
                          </a:srgbClr>
                        </a:solidFill>
                      </a:tcPr>
                    </a:tc>
                    <a:tc>
                      <a:txBody>
                        <a:bodyPr/>
                        <a:lstStyle/>
                        <a:p>
                          <a:pPr marL="63500" marR="63500" algn="ctr">
                            <a:lnSpc>
                              <a:spcPct val="100000"/>
                            </a:lnSpc>
                            <a:spcBef>
                              <a:spcPts val="500"/>
                            </a:spcBef>
                            <a:spcAft>
                              <a:spcPts val="500"/>
                            </a:spcAft>
                            <a:buNone/>
                          </a:pPr>
                          <a:r>
                            <a:rPr sz="1000" b="0" i="0" u="none" strike="noStrike" cap="none">
                              <a:solidFill>
                                <a:srgbClr val="000000">
                                  <a:alpha val="100000"/>
                                </a:srgbClr>
                              </a:solidFill>
                              <a:latin typeface="Arial"/>
                              <a:cs typeface="Helvetica"/>
                              <a:sym typeface="Helvetica"/>
                            </a:rPr>
                            <a:t>0.026 </a:t>
                          </a:r>
                        </a:p>
                      </a:txBody>
                      <a:tcPr marL="0" marR="0" marT="63500" marB="63500" anchor="ctr">
                        <a:lnL w="12700" cap="flat" cmpd="sng" algn="ctr">
                          <a:solidFill>
                            <a:srgbClr val="FFFFFF">
                              <a:alpha val="100000"/>
                            </a:srgbClr>
                          </a:solidFill>
                          <a:prstDash val="solid"/>
                        </a:lnL>
                        <a:lnR w="12700" cap="flat" cmpd="sng" algn="ctr">
                          <a:solidFill>
                            <a:srgbClr val="FFFFFF">
                              <a:alpha val="100000"/>
                            </a:srgbClr>
                          </a:solidFill>
                          <a:prstDash val="solid"/>
                        </a:lnR>
                        <a:lnT w="12700" cap="flat" cmpd="sng" algn="ctr">
                          <a:solidFill>
                            <a:srgbClr val="FFFFFF">
                              <a:alpha val="100000"/>
                            </a:srgbClr>
                          </a:solidFill>
                          <a:prstDash val="solid"/>
                        </a:lnT>
                        <a:lnB w="12700" cap="flat" cmpd="sng" algn="ctr">
                          <a:solidFill>
                            <a:srgbClr val="FFFFFF">
                              <a:alpha val="100000"/>
                            </a:srgbClr>
                          </a:solidFill>
                          <a:prstDash val="solid"/>
                        </a:lnB>
                        <a:solidFill>
                          <a:srgbClr val="FFFFFF">
                            <a:alpha val="0"/>
                          </a:srgbClr>
                        </a:solidFill>
                      </a:tcPr>
                    </a:tc>
                    <a:tc>
                      <a:txBody>
                        <a:bodyPr/>
                        <a:lstStyle/>
                        <a:p>
                          <a:pPr marL="63500" marR="63500" algn="ctr">
                            <a:lnSpc>
                              <a:spcPct val="100000"/>
                            </a:lnSpc>
                            <a:spcBef>
                              <a:spcPts val="500"/>
                            </a:spcBef>
                            <a:spcAft>
                              <a:spcPts val="500"/>
                            </a:spcAft>
                            <a:buNone/>
                          </a:pPr>
                          <a:endParaRPr sz="1000" b="0" i="0" u="none" strike="noStrike" cap="none">
                            <a:solidFill>
                              <a:srgbClr val="000000">
                                <a:alpha val="100000"/>
                              </a:srgbClr>
                            </a:solidFill>
                            <a:latin typeface="Arial"/>
                            <a:cs typeface="Helvetica"/>
                            <a:sym typeface="Helvetica"/>
                          </a:endParaRPr>
                        </a:p>
                      </a:txBody>
                      <a:tcPr marL="0" marR="0" marT="63500" marB="63500" anchor="ctr">
                        <a:lnL w="12700" cap="flat" cmpd="sng" algn="ctr">
                          <a:solidFill>
                            <a:srgbClr val="FFFFFF">
                              <a:alpha val="100000"/>
                            </a:srgbClr>
                          </a:solidFill>
                          <a:prstDash val="solid"/>
                        </a:lnL>
                        <a:lnR w="12700" cap="flat" cmpd="sng" algn="ctr">
                          <a:solidFill>
                            <a:srgbClr val="FFFFFF">
                              <a:alpha val="100000"/>
                            </a:srgbClr>
                          </a:solidFill>
                          <a:prstDash val="solid"/>
                        </a:lnR>
                        <a:lnT w="12700" cap="flat" cmpd="sng" algn="ctr">
                          <a:solidFill>
                            <a:srgbClr val="FFFFFF">
                              <a:alpha val="100000"/>
                            </a:srgbClr>
                          </a:solidFill>
                          <a:prstDash val="solid"/>
                        </a:lnT>
                        <a:lnB w="12700" cap="flat" cmpd="sng" algn="ctr">
                          <a:solidFill>
                            <a:srgbClr val="FFFFFF">
                              <a:alpha val="100000"/>
                            </a:srgbClr>
                          </a:solidFill>
                          <a:prstDash val="solid"/>
                        </a:lnB>
                        <a:solidFill>
                          <a:srgbClr val="FFFFFF">
                            <a:alpha val="0"/>
                          </a:srgbClr>
                        </a:solidFill>
                      </a:tcPr>
                    </a:tc>
                    <a:tc>
                      <a:txBody>
                        <a:bodyPr/>
                        <a:lstStyle/>
                        <a:p>
                          <a:pPr marL="63500" marR="63500" algn="ctr">
                            <a:lnSpc>
                              <a:spcPct val="100000"/>
                            </a:lnSpc>
                            <a:spcBef>
                              <a:spcPts val="500"/>
                            </a:spcBef>
                            <a:spcAft>
                              <a:spcPts val="500"/>
                            </a:spcAft>
                            <a:buNone/>
                          </a:pPr>
                          <a:r>
                            <a:rPr sz="1000" b="0" i="0" u="none" strike="noStrike" cap="none">
                              <a:solidFill>
                                <a:srgbClr val="000000">
                                  <a:alpha val="100000"/>
                                </a:srgbClr>
                              </a:solidFill>
                              <a:latin typeface="Arial"/>
                              <a:cs typeface="Helvetica"/>
                              <a:sym typeface="Helvetica"/>
                            </a:rPr>
                            <a:t>0.024 </a:t>
                          </a:r>
                        </a:p>
                      </a:txBody>
                      <a:tcPr marL="0" marR="0" marT="63500" marB="63500" anchor="ctr">
                        <a:lnL w="12700" cap="flat" cmpd="sng" algn="ctr">
                          <a:solidFill>
                            <a:srgbClr val="FFFFFF">
                              <a:alpha val="100000"/>
                            </a:srgbClr>
                          </a:solidFill>
                          <a:prstDash val="solid"/>
                        </a:lnL>
                        <a:lnR w="12700" cap="flat" cmpd="sng" algn="ctr">
                          <a:solidFill>
                            <a:srgbClr val="FFFFFF">
                              <a:alpha val="100000"/>
                            </a:srgbClr>
                          </a:solidFill>
                          <a:prstDash val="solid"/>
                        </a:lnR>
                        <a:lnT w="12700" cap="flat" cmpd="sng" algn="ctr">
                          <a:solidFill>
                            <a:srgbClr val="FFFFFF">
                              <a:alpha val="100000"/>
                            </a:srgbClr>
                          </a:solidFill>
                          <a:prstDash val="solid"/>
                        </a:lnT>
                        <a:lnB w="12700" cap="flat" cmpd="sng" algn="ctr">
                          <a:solidFill>
                            <a:srgbClr val="FFFFFF">
                              <a:alpha val="100000"/>
                            </a:srgbClr>
                          </a:solidFill>
                          <a:prstDash val="solid"/>
                        </a:lnB>
                        <a:solidFill>
                          <a:srgbClr val="FFFFFF">
                            <a:alpha val="0"/>
                          </a:srgbClr>
                        </a:solidFill>
                      </a:tcPr>
                    </a:tc>
                    <a:tc>
                      <a:txBody>
                        <a:bodyPr/>
                        <a:lstStyle/>
                        <a:p>
                          <a:pPr marL="63500" marR="63500" algn="ctr">
                            <a:lnSpc>
                              <a:spcPct val="100000"/>
                            </a:lnSpc>
                            <a:spcBef>
                              <a:spcPts val="500"/>
                            </a:spcBef>
                            <a:spcAft>
                              <a:spcPts val="500"/>
                            </a:spcAft>
                            <a:buNone/>
                          </a:pPr>
                          <a:r>
                            <a:rPr sz="1000" b="0" i="0" u="none" strike="noStrike" cap="none" dirty="0">
                              <a:solidFill>
                                <a:srgbClr val="000000">
                                  <a:alpha val="100000"/>
                                </a:srgbClr>
                              </a:solidFill>
                              <a:latin typeface="Arial"/>
                              <a:cs typeface="Helvetica"/>
                              <a:sym typeface="Helvetica"/>
                            </a:rPr>
                            <a:t>-0.001 </a:t>
                          </a:r>
                        </a:p>
                      </a:txBody>
                      <a:tcPr marL="0" marR="0" marT="63500" marB="63500" anchor="ctr">
                        <a:lnL w="12700" cap="flat" cmpd="sng" algn="ctr">
                          <a:solidFill>
                            <a:srgbClr val="FFFFFF">
                              <a:alpha val="100000"/>
                            </a:srgbClr>
                          </a:solidFill>
                          <a:prstDash val="solid"/>
                        </a:lnL>
                        <a:lnR w="12700" cap="flat" cmpd="sng" algn="ctr">
                          <a:solidFill>
                            <a:srgbClr val="FFFFFF">
                              <a:alpha val="100000"/>
                            </a:srgbClr>
                          </a:solidFill>
                          <a:prstDash val="solid"/>
                        </a:lnR>
                        <a:lnT w="12700" cap="flat" cmpd="sng" algn="ctr">
                          <a:solidFill>
                            <a:srgbClr val="FFFFFF">
                              <a:alpha val="100000"/>
                            </a:srgbClr>
                          </a:solidFill>
                          <a:prstDash val="solid"/>
                        </a:lnT>
                        <a:lnB w="12700" cap="flat" cmpd="sng" algn="ctr">
                          <a:solidFill>
                            <a:srgbClr val="FFFFFF">
                              <a:alpha val="100000"/>
                            </a:srgbClr>
                          </a:solidFill>
                          <a:prstDash val="solid"/>
                        </a:lnB>
                        <a:solidFill>
                          <a:srgbClr val="FFFFFF">
                            <a:alpha val="0"/>
                          </a:srgbClr>
                        </a:solidFill>
                      </a:tcPr>
                    </a:tc>
                    <a:tc>
                      <a:txBody>
                        <a:bodyPr/>
                        <a:lstStyle/>
                        <a:p>
                          <a:pPr marL="63500" marR="63500" algn="ctr">
                            <a:lnSpc>
                              <a:spcPct val="100000"/>
                            </a:lnSpc>
                            <a:spcBef>
                              <a:spcPts val="500"/>
                            </a:spcBef>
                            <a:spcAft>
                              <a:spcPts val="500"/>
                            </a:spcAft>
                            <a:buNone/>
                          </a:pPr>
                          <a:endParaRPr sz="1000" b="0" i="0" u="none" strike="noStrike" cap="none">
                            <a:solidFill>
                              <a:srgbClr val="000000">
                                <a:alpha val="100000"/>
                              </a:srgbClr>
                            </a:solidFill>
                            <a:latin typeface="Arial"/>
                            <a:cs typeface="Helvetica"/>
                            <a:sym typeface="Helvetica"/>
                          </a:endParaRPr>
                        </a:p>
                      </a:txBody>
                      <a:tcPr marL="0" marR="0" marT="63500" marB="63500" anchor="ctr">
                        <a:lnL w="12700" cap="flat" cmpd="sng" algn="ctr">
                          <a:solidFill>
                            <a:srgbClr val="FFFFFF">
                              <a:alpha val="100000"/>
                            </a:srgbClr>
                          </a:solidFill>
                          <a:prstDash val="solid"/>
                        </a:lnL>
                        <a:lnR w="12700" cap="flat" cmpd="sng" algn="ctr">
                          <a:solidFill>
                            <a:srgbClr val="FFFFFF">
                              <a:alpha val="100000"/>
                            </a:srgbClr>
                          </a:solidFill>
                          <a:prstDash val="solid"/>
                        </a:lnR>
                        <a:lnT w="12700" cap="flat" cmpd="sng" algn="ctr">
                          <a:solidFill>
                            <a:srgbClr val="FFFFFF">
                              <a:alpha val="100000"/>
                            </a:srgbClr>
                          </a:solidFill>
                          <a:prstDash val="solid"/>
                        </a:lnT>
                        <a:lnB w="12700" cap="flat" cmpd="sng" algn="ctr">
                          <a:solidFill>
                            <a:srgbClr val="FFFFFF">
                              <a:alpha val="100000"/>
                            </a:srgbClr>
                          </a:solidFill>
                          <a:prstDash val="solid"/>
                        </a:lnB>
                        <a:solidFill>
                          <a:srgbClr val="FFFFFF">
                            <a:alpha val="0"/>
                          </a:srgbClr>
                        </a:solidFill>
                      </a:tcPr>
                    </a:tc>
                    <a:tc>
                      <a:txBody>
                        <a:bodyPr/>
                        <a:lstStyle/>
                        <a:p>
                          <a:pPr marL="63500" marR="63500" algn="ctr">
                            <a:lnSpc>
                              <a:spcPct val="100000"/>
                            </a:lnSpc>
                            <a:spcBef>
                              <a:spcPts val="500"/>
                            </a:spcBef>
                            <a:spcAft>
                              <a:spcPts val="500"/>
                            </a:spcAft>
                            <a:buNone/>
                          </a:pPr>
                          <a:r>
                            <a:rPr sz="1000" b="0" i="0" u="none" strike="noStrike" cap="none">
                              <a:solidFill>
                                <a:srgbClr val="000000">
                                  <a:alpha val="100000"/>
                                </a:srgbClr>
                              </a:solidFill>
                              <a:latin typeface="Arial"/>
                              <a:cs typeface="Helvetica"/>
                              <a:sym typeface="Helvetica"/>
                            </a:rPr>
                            <a:t>-0.012 </a:t>
                          </a:r>
                        </a:p>
                      </a:txBody>
                      <a:tcPr marL="0" marR="0" marT="63500" marB="63500" anchor="ctr">
                        <a:lnL w="12700" cap="flat" cmpd="sng" algn="ctr">
                          <a:solidFill>
                            <a:srgbClr val="FFFFFF">
                              <a:alpha val="100000"/>
                            </a:srgbClr>
                          </a:solidFill>
                          <a:prstDash val="solid"/>
                        </a:lnL>
                        <a:lnR w="12700" cap="flat" cmpd="sng" algn="ctr">
                          <a:solidFill>
                            <a:srgbClr val="FFFFFF">
                              <a:alpha val="100000"/>
                            </a:srgbClr>
                          </a:solidFill>
                          <a:prstDash val="solid"/>
                        </a:lnR>
                        <a:lnT w="12700" cap="flat" cmpd="sng" algn="ctr">
                          <a:solidFill>
                            <a:srgbClr val="FFFFFF">
                              <a:alpha val="100000"/>
                            </a:srgbClr>
                          </a:solidFill>
                          <a:prstDash val="solid"/>
                        </a:lnT>
                        <a:lnB w="12700" cap="flat" cmpd="sng" algn="ctr">
                          <a:solidFill>
                            <a:srgbClr val="FFFFFF">
                              <a:alpha val="100000"/>
                            </a:srgbClr>
                          </a:solidFill>
                          <a:prstDash val="solid"/>
                        </a:lnB>
                        <a:solidFill>
                          <a:srgbClr val="FFFFFF">
                            <a:alpha val="0"/>
                          </a:srgbClr>
                        </a:solidFill>
                      </a:tcPr>
                    </a:tc>
                    <a:extLst>
                      <a:ext uri="{0D108BD9-81ED-4DB2-BD59-A6C34878D82A}">
                        <a16:rowId xmlns:a16="http://schemas.microsoft.com/office/drawing/2014/main" val="10006"/>
                      </a:ext>
                    </a:extLst>
                  </a:tr>
                  <a:tr h="350806">
                    <a:tc>
                      <a:txBody>
                        <a:bodyPr/>
                        <a:lstStyle/>
                        <a:p>
                          <a:pPr marL="63500" marR="63500" algn="l">
                            <a:lnSpc>
                              <a:spcPct val="100000"/>
                            </a:lnSpc>
                            <a:spcBef>
                              <a:spcPts val="500"/>
                            </a:spcBef>
                            <a:spcAft>
                              <a:spcPts val="500"/>
                            </a:spcAft>
                            <a:buNone/>
                          </a:pPr>
                          <a14:m>
                            <m:oMathPara xmlns:m="http://schemas.openxmlformats.org/officeDocument/2006/math">
                              <m:oMathParaPr>
                                <m:jc m:val="centerGroup"/>
                              </m:oMathParaPr>
                              <m:oMath xmlns:m="http://schemas.openxmlformats.org/officeDocument/2006/math">
                                <m:sSub>
                                  <m:sSubPr>
                                    <m:ctrlPr>
                                      <a:rPr sz="1000" b="1" i="1">
                                        <a:latin typeface="Cambria Math" panose="02040503050406030204" pitchFamily="18" charset="0"/>
                                      </a:rPr>
                                    </m:ctrlPr>
                                  </m:sSubPr>
                                  <m:e>
                                    <m:r>
                                      <a:rPr sz="1000" b="1" i="1">
                                        <a:latin typeface="Cambria Math" panose="02040503050406030204" pitchFamily="18" charset="0"/>
                                      </a:rPr>
                                      <m:t>𝑫</m:t>
                                    </m:r>
                                  </m:e>
                                  <m:sub>
                                    <m:r>
                                      <a:rPr sz="1000" b="1" i="1">
                                        <a:latin typeface="Cambria Math" panose="02040503050406030204" pitchFamily="18" charset="0"/>
                                      </a:rPr>
                                      <m:t>𝟐𝟎𝟐𝟎</m:t>
                                    </m:r>
                                    <m:r>
                                      <a:rPr sz="1000" b="1" i="1">
                                        <a:latin typeface="Cambria Math" panose="02040503050406030204" pitchFamily="18" charset="0"/>
                                      </a:rPr>
                                      <m:t>𝒎</m:t>
                                    </m:r>
                                    <m:r>
                                      <a:rPr sz="1000" b="1" i="1">
                                        <a:latin typeface="Cambria Math" panose="02040503050406030204" pitchFamily="18" charset="0"/>
                                      </a:rPr>
                                      <m:t>𝟐</m:t>
                                    </m:r>
                                  </m:sub>
                                </m:sSub>
                              </m:oMath>
                            </m:oMathPara>
                          </a14:m>
                          <a:endParaRPr sz="1000" b="1" dirty="0"/>
                        </a:p>
                      </a:txBody>
                      <a:tcPr marL="0" marR="0" marT="63500" marB="63500" anchor="ctr">
                        <a:lnL w="12700" cap="flat" cmpd="sng" algn="ctr">
                          <a:solidFill>
                            <a:srgbClr val="FFFFFF">
                              <a:alpha val="100000"/>
                            </a:srgbClr>
                          </a:solidFill>
                          <a:prstDash val="solid"/>
                        </a:lnL>
                        <a:lnR w="12700" cap="flat" cmpd="sng" algn="ctr">
                          <a:solidFill>
                            <a:srgbClr val="FFFFFF">
                              <a:alpha val="100000"/>
                            </a:srgbClr>
                          </a:solidFill>
                          <a:prstDash val="solid"/>
                        </a:lnR>
                        <a:lnT w="12700" cap="flat" cmpd="sng" algn="ctr">
                          <a:solidFill>
                            <a:srgbClr val="FFFFFF">
                              <a:alpha val="100000"/>
                            </a:srgbClr>
                          </a:solidFill>
                          <a:prstDash val="solid"/>
                        </a:lnT>
                        <a:lnB w="12700" cap="flat" cmpd="sng" algn="ctr">
                          <a:solidFill>
                            <a:srgbClr val="FFFFFF">
                              <a:alpha val="100000"/>
                            </a:srgbClr>
                          </a:solidFill>
                          <a:prstDash val="solid"/>
                        </a:lnB>
                        <a:solidFill>
                          <a:srgbClr val="FFFFFF">
                            <a:alpha val="0"/>
                          </a:srgbClr>
                        </a:solidFill>
                      </a:tcPr>
                    </a:tc>
                    <a:tc>
                      <a:txBody>
                        <a:bodyPr/>
                        <a:lstStyle/>
                        <a:p>
                          <a:pPr marL="63500" marR="63500" algn="ctr">
                            <a:lnSpc>
                              <a:spcPct val="100000"/>
                            </a:lnSpc>
                            <a:spcBef>
                              <a:spcPts val="500"/>
                            </a:spcBef>
                            <a:spcAft>
                              <a:spcPts val="500"/>
                            </a:spcAft>
                            <a:buNone/>
                          </a:pPr>
                          <a:r>
                            <a:rPr sz="1000" b="0" i="0" u="none" strike="noStrike" cap="none">
                              <a:solidFill>
                                <a:srgbClr val="000000">
                                  <a:alpha val="100000"/>
                                </a:srgbClr>
                              </a:solidFill>
                              <a:latin typeface="Arial"/>
                              <a:cs typeface="Helvetica"/>
                              <a:sym typeface="Helvetica"/>
                            </a:rPr>
                            <a:t>-0.116 </a:t>
                          </a:r>
                        </a:p>
                      </a:txBody>
                      <a:tcPr marL="0" marR="0" marT="63500" marB="63500" anchor="ctr">
                        <a:lnL w="12700" cap="flat" cmpd="sng" algn="ctr">
                          <a:solidFill>
                            <a:srgbClr val="FFFFFF">
                              <a:alpha val="100000"/>
                            </a:srgbClr>
                          </a:solidFill>
                          <a:prstDash val="solid"/>
                        </a:lnL>
                        <a:lnR w="12700" cap="flat" cmpd="sng" algn="ctr">
                          <a:solidFill>
                            <a:srgbClr val="FFFFFF">
                              <a:alpha val="100000"/>
                            </a:srgbClr>
                          </a:solidFill>
                          <a:prstDash val="solid"/>
                        </a:lnR>
                        <a:lnT w="12700" cap="flat" cmpd="sng" algn="ctr">
                          <a:solidFill>
                            <a:srgbClr val="FFFFFF">
                              <a:alpha val="100000"/>
                            </a:srgbClr>
                          </a:solidFill>
                          <a:prstDash val="solid"/>
                        </a:lnT>
                        <a:lnB w="12700" cap="flat" cmpd="sng" algn="ctr">
                          <a:solidFill>
                            <a:srgbClr val="FFFFFF">
                              <a:alpha val="100000"/>
                            </a:srgbClr>
                          </a:solidFill>
                          <a:prstDash val="solid"/>
                        </a:lnB>
                        <a:solidFill>
                          <a:srgbClr val="FFFFFF">
                            <a:alpha val="0"/>
                          </a:srgbClr>
                        </a:solidFill>
                      </a:tcPr>
                    </a:tc>
                    <a:tc>
                      <a:txBody>
                        <a:bodyPr/>
                        <a:lstStyle/>
                        <a:p>
                          <a:pPr marL="63500" marR="63500" algn="ctr">
                            <a:lnSpc>
                              <a:spcPct val="100000"/>
                            </a:lnSpc>
                            <a:spcBef>
                              <a:spcPts val="500"/>
                            </a:spcBef>
                            <a:spcAft>
                              <a:spcPts val="500"/>
                            </a:spcAft>
                            <a:buNone/>
                          </a:pPr>
                          <a:endParaRPr sz="1000" b="0" i="0" u="none" strike="noStrike" cap="none">
                            <a:solidFill>
                              <a:srgbClr val="000000">
                                <a:alpha val="100000"/>
                              </a:srgbClr>
                            </a:solidFill>
                            <a:latin typeface="Arial"/>
                            <a:cs typeface="Helvetica"/>
                            <a:sym typeface="Helvetica"/>
                          </a:endParaRPr>
                        </a:p>
                      </a:txBody>
                      <a:tcPr marL="0" marR="0" marT="63500" marB="63500" anchor="ctr">
                        <a:lnL w="12700" cap="flat" cmpd="sng" algn="ctr">
                          <a:solidFill>
                            <a:srgbClr val="FFFFFF">
                              <a:alpha val="100000"/>
                            </a:srgbClr>
                          </a:solidFill>
                          <a:prstDash val="solid"/>
                        </a:lnL>
                        <a:lnR w="12700" cap="flat" cmpd="sng" algn="ctr">
                          <a:solidFill>
                            <a:srgbClr val="FFFFFF">
                              <a:alpha val="100000"/>
                            </a:srgbClr>
                          </a:solidFill>
                          <a:prstDash val="solid"/>
                        </a:lnR>
                        <a:lnT w="12700" cap="flat" cmpd="sng" algn="ctr">
                          <a:solidFill>
                            <a:srgbClr val="FFFFFF">
                              <a:alpha val="100000"/>
                            </a:srgbClr>
                          </a:solidFill>
                          <a:prstDash val="solid"/>
                        </a:lnT>
                        <a:lnB w="12700" cap="flat" cmpd="sng" algn="ctr">
                          <a:solidFill>
                            <a:srgbClr val="FFFFFF">
                              <a:alpha val="100000"/>
                            </a:srgbClr>
                          </a:solidFill>
                          <a:prstDash val="solid"/>
                        </a:lnB>
                        <a:solidFill>
                          <a:srgbClr val="FFFFFF">
                            <a:alpha val="0"/>
                          </a:srgbClr>
                        </a:solidFill>
                      </a:tcPr>
                    </a:tc>
                    <a:tc>
                      <a:txBody>
                        <a:bodyPr/>
                        <a:lstStyle/>
                        <a:p>
                          <a:pPr marL="63500" marR="63500" algn="ctr">
                            <a:lnSpc>
                              <a:spcPct val="100000"/>
                            </a:lnSpc>
                            <a:spcBef>
                              <a:spcPts val="500"/>
                            </a:spcBef>
                            <a:spcAft>
                              <a:spcPts val="500"/>
                            </a:spcAft>
                            <a:buNone/>
                          </a:pPr>
                          <a:r>
                            <a:rPr sz="1000" b="0" i="0" u="none" strike="noStrike" cap="none">
                              <a:solidFill>
                                <a:srgbClr val="000000">
                                  <a:alpha val="100000"/>
                                </a:srgbClr>
                              </a:solidFill>
                              <a:latin typeface="Arial"/>
                              <a:cs typeface="Helvetica"/>
                              <a:sym typeface="Helvetica"/>
                            </a:rPr>
                            <a:t>-0.213**</a:t>
                          </a:r>
                        </a:p>
                      </a:txBody>
                      <a:tcPr marL="0" marR="0" marT="63500" marB="63500" anchor="ctr">
                        <a:lnL w="12700" cap="flat" cmpd="sng" algn="ctr">
                          <a:solidFill>
                            <a:srgbClr val="FFFFFF">
                              <a:alpha val="100000"/>
                            </a:srgbClr>
                          </a:solidFill>
                          <a:prstDash val="solid"/>
                        </a:lnL>
                        <a:lnR w="12700" cap="flat" cmpd="sng" algn="ctr">
                          <a:solidFill>
                            <a:srgbClr val="FFFFFF">
                              <a:alpha val="100000"/>
                            </a:srgbClr>
                          </a:solidFill>
                          <a:prstDash val="solid"/>
                        </a:lnR>
                        <a:lnT w="12700" cap="flat" cmpd="sng" algn="ctr">
                          <a:solidFill>
                            <a:srgbClr val="FFFFFF">
                              <a:alpha val="100000"/>
                            </a:srgbClr>
                          </a:solidFill>
                          <a:prstDash val="solid"/>
                        </a:lnT>
                        <a:lnB w="12700" cap="flat" cmpd="sng" algn="ctr">
                          <a:solidFill>
                            <a:srgbClr val="FFFFFF">
                              <a:alpha val="100000"/>
                            </a:srgbClr>
                          </a:solidFill>
                          <a:prstDash val="solid"/>
                        </a:lnB>
                        <a:solidFill>
                          <a:srgbClr val="FFFFFF">
                            <a:alpha val="0"/>
                          </a:srgbClr>
                        </a:solidFill>
                      </a:tcPr>
                    </a:tc>
                    <a:tc>
                      <a:txBody>
                        <a:bodyPr/>
                        <a:lstStyle/>
                        <a:p>
                          <a:pPr marL="63500" marR="63500" algn="ctr">
                            <a:lnSpc>
                              <a:spcPct val="100000"/>
                            </a:lnSpc>
                            <a:spcBef>
                              <a:spcPts val="500"/>
                            </a:spcBef>
                            <a:spcAft>
                              <a:spcPts val="500"/>
                            </a:spcAft>
                            <a:buNone/>
                          </a:pPr>
                          <a:r>
                            <a:rPr sz="1000" b="0" i="0" u="none" strike="noStrike" cap="none" dirty="0">
                              <a:solidFill>
                                <a:srgbClr val="000000">
                                  <a:alpha val="100000"/>
                                </a:srgbClr>
                              </a:solidFill>
                              <a:latin typeface="Arial"/>
                              <a:cs typeface="Helvetica"/>
                              <a:sym typeface="Helvetica"/>
                            </a:rPr>
                            <a:t>-0.106 </a:t>
                          </a:r>
                        </a:p>
                      </a:txBody>
                      <a:tcPr marL="0" marR="0" marT="63500" marB="63500" anchor="ctr">
                        <a:lnL w="12700" cap="flat" cmpd="sng" algn="ctr">
                          <a:solidFill>
                            <a:srgbClr val="FFFFFF">
                              <a:alpha val="100000"/>
                            </a:srgbClr>
                          </a:solidFill>
                          <a:prstDash val="solid"/>
                        </a:lnL>
                        <a:lnR w="12700" cap="flat" cmpd="sng" algn="ctr">
                          <a:solidFill>
                            <a:srgbClr val="FFFFFF">
                              <a:alpha val="100000"/>
                            </a:srgbClr>
                          </a:solidFill>
                          <a:prstDash val="solid"/>
                        </a:lnR>
                        <a:lnT w="12700" cap="flat" cmpd="sng" algn="ctr">
                          <a:solidFill>
                            <a:srgbClr val="FFFFFF">
                              <a:alpha val="100000"/>
                            </a:srgbClr>
                          </a:solidFill>
                          <a:prstDash val="solid"/>
                        </a:lnT>
                        <a:lnB w="12700" cap="flat" cmpd="sng" algn="ctr">
                          <a:solidFill>
                            <a:srgbClr val="FFFFFF">
                              <a:alpha val="100000"/>
                            </a:srgbClr>
                          </a:solidFill>
                          <a:prstDash val="solid"/>
                        </a:lnB>
                        <a:solidFill>
                          <a:srgbClr val="FFFFFF">
                            <a:alpha val="0"/>
                          </a:srgbClr>
                        </a:solidFill>
                      </a:tcPr>
                    </a:tc>
                    <a:tc>
                      <a:txBody>
                        <a:bodyPr/>
                        <a:lstStyle/>
                        <a:p>
                          <a:pPr marL="63500" marR="63500" algn="ctr">
                            <a:lnSpc>
                              <a:spcPct val="100000"/>
                            </a:lnSpc>
                            <a:spcBef>
                              <a:spcPts val="500"/>
                            </a:spcBef>
                            <a:spcAft>
                              <a:spcPts val="500"/>
                            </a:spcAft>
                            <a:buNone/>
                          </a:pPr>
                          <a:endParaRPr sz="1000" b="0" i="0" u="none" strike="noStrike" cap="none">
                            <a:solidFill>
                              <a:srgbClr val="000000">
                                <a:alpha val="100000"/>
                              </a:srgbClr>
                            </a:solidFill>
                            <a:latin typeface="Arial"/>
                            <a:cs typeface="Helvetica"/>
                            <a:sym typeface="Helvetica"/>
                          </a:endParaRPr>
                        </a:p>
                      </a:txBody>
                      <a:tcPr marL="0" marR="0" marT="63500" marB="63500" anchor="ctr">
                        <a:lnL w="12700" cap="flat" cmpd="sng" algn="ctr">
                          <a:solidFill>
                            <a:srgbClr val="FFFFFF">
                              <a:alpha val="100000"/>
                            </a:srgbClr>
                          </a:solidFill>
                          <a:prstDash val="solid"/>
                        </a:lnL>
                        <a:lnR w="12700" cap="flat" cmpd="sng" algn="ctr">
                          <a:solidFill>
                            <a:srgbClr val="FFFFFF">
                              <a:alpha val="100000"/>
                            </a:srgbClr>
                          </a:solidFill>
                          <a:prstDash val="solid"/>
                        </a:lnR>
                        <a:lnT w="12700" cap="flat" cmpd="sng" algn="ctr">
                          <a:solidFill>
                            <a:srgbClr val="FFFFFF">
                              <a:alpha val="100000"/>
                            </a:srgbClr>
                          </a:solidFill>
                          <a:prstDash val="solid"/>
                        </a:lnT>
                        <a:lnB w="12700" cap="flat" cmpd="sng" algn="ctr">
                          <a:solidFill>
                            <a:srgbClr val="FFFFFF">
                              <a:alpha val="100000"/>
                            </a:srgbClr>
                          </a:solidFill>
                          <a:prstDash val="solid"/>
                        </a:lnB>
                        <a:solidFill>
                          <a:srgbClr val="FFFFFF">
                            <a:alpha val="0"/>
                          </a:srgbClr>
                        </a:solidFill>
                      </a:tcPr>
                    </a:tc>
                    <a:tc>
                      <a:txBody>
                        <a:bodyPr/>
                        <a:lstStyle/>
                        <a:p>
                          <a:pPr marL="63500" marR="63500" algn="ctr">
                            <a:lnSpc>
                              <a:spcPct val="100000"/>
                            </a:lnSpc>
                            <a:spcBef>
                              <a:spcPts val="500"/>
                            </a:spcBef>
                            <a:spcAft>
                              <a:spcPts val="500"/>
                            </a:spcAft>
                            <a:buNone/>
                          </a:pPr>
                          <a:r>
                            <a:rPr sz="1000" b="0" i="0" u="none" strike="noStrike" cap="none">
                              <a:solidFill>
                                <a:srgbClr val="000000">
                                  <a:alpha val="100000"/>
                                </a:srgbClr>
                              </a:solidFill>
                              <a:latin typeface="Arial"/>
                              <a:cs typeface="Helvetica"/>
                              <a:sym typeface="Helvetica"/>
                            </a:rPr>
                            <a:t>-0.205**</a:t>
                          </a:r>
                        </a:p>
                      </a:txBody>
                      <a:tcPr marL="0" marR="0" marT="63500" marB="63500" anchor="ctr">
                        <a:lnL w="12700" cap="flat" cmpd="sng" algn="ctr">
                          <a:solidFill>
                            <a:srgbClr val="FFFFFF">
                              <a:alpha val="100000"/>
                            </a:srgbClr>
                          </a:solidFill>
                          <a:prstDash val="solid"/>
                        </a:lnL>
                        <a:lnR w="12700" cap="flat" cmpd="sng" algn="ctr">
                          <a:solidFill>
                            <a:srgbClr val="FFFFFF">
                              <a:alpha val="100000"/>
                            </a:srgbClr>
                          </a:solidFill>
                          <a:prstDash val="solid"/>
                        </a:lnR>
                        <a:lnT w="12700" cap="flat" cmpd="sng" algn="ctr">
                          <a:solidFill>
                            <a:srgbClr val="FFFFFF">
                              <a:alpha val="100000"/>
                            </a:srgbClr>
                          </a:solidFill>
                          <a:prstDash val="solid"/>
                        </a:lnT>
                        <a:lnB w="12700" cap="flat" cmpd="sng" algn="ctr">
                          <a:solidFill>
                            <a:srgbClr val="FFFFFF">
                              <a:alpha val="100000"/>
                            </a:srgbClr>
                          </a:solidFill>
                          <a:prstDash val="solid"/>
                        </a:lnB>
                        <a:solidFill>
                          <a:srgbClr val="FFFFFF">
                            <a:alpha val="0"/>
                          </a:srgbClr>
                        </a:solidFill>
                      </a:tcPr>
                    </a:tc>
                    <a:extLst>
                      <a:ext uri="{0D108BD9-81ED-4DB2-BD59-A6C34878D82A}">
                        <a16:rowId xmlns:a16="http://schemas.microsoft.com/office/drawing/2014/main" val="10007"/>
                      </a:ext>
                    </a:extLst>
                  </a:tr>
                  <a:tr h="350806">
                    <a:tc>
                      <a:txBody>
                        <a:bodyPr/>
                        <a:lstStyle/>
                        <a:p>
                          <a:pPr marL="63500" marR="63500" algn="l">
                            <a:lnSpc>
                              <a:spcPct val="100000"/>
                            </a:lnSpc>
                            <a:spcBef>
                              <a:spcPts val="500"/>
                            </a:spcBef>
                            <a:spcAft>
                              <a:spcPts val="500"/>
                            </a:spcAft>
                            <a:buNone/>
                          </a:pPr>
                          <a14:m>
                            <m:oMathPara xmlns:m="http://schemas.openxmlformats.org/officeDocument/2006/math">
                              <m:oMathParaPr>
                                <m:jc m:val="centerGroup"/>
                              </m:oMathParaPr>
                              <m:oMath xmlns:m="http://schemas.openxmlformats.org/officeDocument/2006/math">
                                <m:sSub>
                                  <m:sSubPr>
                                    <m:ctrlPr>
                                      <a:rPr sz="1000" b="1" i="1">
                                        <a:latin typeface="Cambria Math" panose="02040503050406030204" pitchFamily="18" charset="0"/>
                                      </a:rPr>
                                    </m:ctrlPr>
                                  </m:sSubPr>
                                  <m:e>
                                    <m:r>
                                      <a:rPr sz="1000" b="1" i="1">
                                        <a:latin typeface="Cambria Math" panose="02040503050406030204" pitchFamily="18" charset="0"/>
                                      </a:rPr>
                                      <m:t>𝑫</m:t>
                                    </m:r>
                                  </m:e>
                                  <m:sub>
                                    <m:r>
                                      <a:rPr sz="1000" b="1" i="1">
                                        <a:latin typeface="Cambria Math" panose="02040503050406030204" pitchFamily="18" charset="0"/>
                                      </a:rPr>
                                      <m:t>𝟐𝟎𝟏𝟕</m:t>
                                    </m:r>
                                    <m:r>
                                      <a:rPr sz="1000" b="1" i="1">
                                        <a:latin typeface="Cambria Math" panose="02040503050406030204" pitchFamily="18" charset="0"/>
                                      </a:rPr>
                                      <m:t>𝒎</m:t>
                                    </m:r>
                                    <m:r>
                                      <a:rPr sz="1000" b="1" i="1">
                                        <a:latin typeface="Cambria Math" panose="02040503050406030204" pitchFamily="18" charset="0"/>
                                      </a:rPr>
                                      <m:t>𝟕</m:t>
                                    </m:r>
                                  </m:sub>
                                </m:sSub>
                              </m:oMath>
                            </m:oMathPara>
                          </a14:m>
                          <a:endParaRPr sz="1000" b="1" dirty="0"/>
                        </a:p>
                      </a:txBody>
                      <a:tcPr marL="0" marR="0" marT="63500" marB="63500" anchor="ctr">
                        <a:lnL w="12700" cap="flat" cmpd="sng" algn="ctr">
                          <a:solidFill>
                            <a:srgbClr val="FFFFFF">
                              <a:alpha val="100000"/>
                            </a:srgbClr>
                          </a:solidFill>
                          <a:prstDash val="solid"/>
                        </a:lnL>
                        <a:lnR w="12700" cap="flat" cmpd="sng" algn="ctr">
                          <a:solidFill>
                            <a:srgbClr val="FFFFFF">
                              <a:alpha val="100000"/>
                            </a:srgbClr>
                          </a:solidFill>
                          <a:prstDash val="solid"/>
                        </a:lnR>
                        <a:lnT w="12700" cap="flat" cmpd="sng" algn="ctr">
                          <a:solidFill>
                            <a:srgbClr val="FFFFFF">
                              <a:alpha val="100000"/>
                            </a:srgbClr>
                          </a:solidFill>
                          <a:prstDash val="solid"/>
                        </a:lnT>
                        <a:lnB w="12700" cap="flat" cmpd="sng" algn="ctr">
                          <a:solidFill>
                            <a:srgbClr val="FFFFFF">
                              <a:alpha val="100000"/>
                            </a:srgbClr>
                          </a:solidFill>
                          <a:prstDash val="solid"/>
                        </a:lnB>
                        <a:solidFill>
                          <a:srgbClr val="FFFFFF">
                            <a:alpha val="0"/>
                          </a:srgbClr>
                        </a:solidFill>
                      </a:tcPr>
                    </a:tc>
                    <a:tc>
                      <a:txBody>
                        <a:bodyPr/>
                        <a:lstStyle/>
                        <a:p>
                          <a:pPr marL="63500" marR="63500" algn="ctr">
                            <a:lnSpc>
                              <a:spcPct val="100000"/>
                            </a:lnSpc>
                            <a:spcBef>
                              <a:spcPts val="500"/>
                            </a:spcBef>
                            <a:spcAft>
                              <a:spcPts val="500"/>
                            </a:spcAft>
                            <a:buNone/>
                          </a:pPr>
                          <a:r>
                            <a:rPr sz="1000" b="0" i="0" u="none" strike="noStrike" cap="none">
                              <a:solidFill>
                                <a:srgbClr val="000000">
                                  <a:alpha val="100000"/>
                                </a:srgbClr>
                              </a:solidFill>
                              <a:latin typeface="Arial"/>
                              <a:cs typeface="Helvetica"/>
                              <a:sym typeface="Helvetica"/>
                            </a:rPr>
                            <a:t>0.156*</a:t>
                          </a:r>
                        </a:p>
                      </a:txBody>
                      <a:tcPr marL="0" marR="0" marT="63500" marB="63500" anchor="ctr">
                        <a:lnL w="12700" cap="flat" cmpd="sng" algn="ctr">
                          <a:solidFill>
                            <a:srgbClr val="FFFFFF">
                              <a:alpha val="100000"/>
                            </a:srgbClr>
                          </a:solidFill>
                          <a:prstDash val="solid"/>
                        </a:lnL>
                        <a:lnR w="12700" cap="flat" cmpd="sng" algn="ctr">
                          <a:solidFill>
                            <a:srgbClr val="FFFFFF">
                              <a:alpha val="100000"/>
                            </a:srgbClr>
                          </a:solidFill>
                          <a:prstDash val="solid"/>
                        </a:lnR>
                        <a:lnT w="12700" cap="flat" cmpd="sng" algn="ctr">
                          <a:solidFill>
                            <a:srgbClr val="FFFFFF">
                              <a:alpha val="100000"/>
                            </a:srgbClr>
                          </a:solidFill>
                          <a:prstDash val="solid"/>
                        </a:lnT>
                        <a:lnB w="12700" cap="flat" cmpd="sng" algn="ctr">
                          <a:solidFill>
                            <a:srgbClr val="FFFFFF">
                              <a:alpha val="100000"/>
                            </a:srgbClr>
                          </a:solidFill>
                          <a:prstDash val="solid"/>
                        </a:lnB>
                        <a:solidFill>
                          <a:srgbClr val="FFFFFF">
                            <a:alpha val="0"/>
                          </a:srgbClr>
                        </a:solidFill>
                      </a:tcPr>
                    </a:tc>
                    <a:tc>
                      <a:txBody>
                        <a:bodyPr/>
                        <a:lstStyle/>
                        <a:p>
                          <a:pPr marL="63500" marR="63500" algn="ctr">
                            <a:lnSpc>
                              <a:spcPct val="100000"/>
                            </a:lnSpc>
                            <a:spcBef>
                              <a:spcPts val="500"/>
                            </a:spcBef>
                            <a:spcAft>
                              <a:spcPts val="500"/>
                            </a:spcAft>
                            <a:buNone/>
                          </a:pPr>
                          <a:endParaRPr sz="1000" b="0" i="0" u="none" strike="noStrike" cap="none">
                            <a:solidFill>
                              <a:srgbClr val="000000">
                                <a:alpha val="100000"/>
                              </a:srgbClr>
                            </a:solidFill>
                            <a:latin typeface="Arial"/>
                            <a:cs typeface="Helvetica"/>
                            <a:sym typeface="Helvetica"/>
                          </a:endParaRPr>
                        </a:p>
                      </a:txBody>
                      <a:tcPr marL="0" marR="0" marT="63500" marB="63500" anchor="ctr">
                        <a:lnL w="12700" cap="flat" cmpd="sng" algn="ctr">
                          <a:solidFill>
                            <a:srgbClr val="FFFFFF">
                              <a:alpha val="100000"/>
                            </a:srgbClr>
                          </a:solidFill>
                          <a:prstDash val="solid"/>
                        </a:lnL>
                        <a:lnR w="12700" cap="flat" cmpd="sng" algn="ctr">
                          <a:solidFill>
                            <a:srgbClr val="FFFFFF">
                              <a:alpha val="100000"/>
                            </a:srgbClr>
                          </a:solidFill>
                          <a:prstDash val="solid"/>
                        </a:lnR>
                        <a:lnT w="12700" cap="flat" cmpd="sng" algn="ctr">
                          <a:solidFill>
                            <a:srgbClr val="FFFFFF">
                              <a:alpha val="100000"/>
                            </a:srgbClr>
                          </a:solidFill>
                          <a:prstDash val="solid"/>
                        </a:lnT>
                        <a:lnB w="12700" cap="flat" cmpd="sng" algn="ctr">
                          <a:solidFill>
                            <a:srgbClr val="FFFFFF">
                              <a:alpha val="100000"/>
                            </a:srgbClr>
                          </a:solidFill>
                          <a:prstDash val="solid"/>
                        </a:lnB>
                        <a:solidFill>
                          <a:srgbClr val="FFFFFF">
                            <a:alpha val="0"/>
                          </a:srgbClr>
                        </a:solidFill>
                      </a:tcPr>
                    </a:tc>
                    <a:tc>
                      <a:txBody>
                        <a:bodyPr/>
                        <a:lstStyle/>
                        <a:p>
                          <a:pPr marL="63500" marR="63500" algn="ctr">
                            <a:lnSpc>
                              <a:spcPct val="100000"/>
                            </a:lnSpc>
                            <a:spcBef>
                              <a:spcPts val="500"/>
                            </a:spcBef>
                            <a:spcAft>
                              <a:spcPts val="500"/>
                            </a:spcAft>
                            <a:buNone/>
                          </a:pPr>
                          <a:endParaRPr sz="1000" b="0" i="0" u="none" strike="noStrike" cap="none">
                            <a:solidFill>
                              <a:srgbClr val="000000">
                                <a:alpha val="100000"/>
                              </a:srgbClr>
                            </a:solidFill>
                            <a:latin typeface="Arial"/>
                            <a:cs typeface="Helvetica"/>
                            <a:sym typeface="Helvetica"/>
                          </a:endParaRPr>
                        </a:p>
                      </a:txBody>
                      <a:tcPr marL="0" marR="0" marT="63500" marB="63500" anchor="ctr">
                        <a:lnL w="12700" cap="flat" cmpd="sng" algn="ctr">
                          <a:solidFill>
                            <a:srgbClr val="FFFFFF">
                              <a:alpha val="100000"/>
                            </a:srgbClr>
                          </a:solidFill>
                          <a:prstDash val="solid"/>
                        </a:lnL>
                        <a:lnR w="12700" cap="flat" cmpd="sng" algn="ctr">
                          <a:solidFill>
                            <a:srgbClr val="FFFFFF">
                              <a:alpha val="100000"/>
                            </a:srgbClr>
                          </a:solidFill>
                          <a:prstDash val="solid"/>
                        </a:lnR>
                        <a:lnT w="12700" cap="flat" cmpd="sng" algn="ctr">
                          <a:solidFill>
                            <a:srgbClr val="FFFFFF">
                              <a:alpha val="100000"/>
                            </a:srgbClr>
                          </a:solidFill>
                          <a:prstDash val="solid"/>
                        </a:lnT>
                        <a:lnB w="12700" cap="flat" cmpd="sng" algn="ctr">
                          <a:solidFill>
                            <a:srgbClr val="FFFFFF">
                              <a:alpha val="100000"/>
                            </a:srgbClr>
                          </a:solidFill>
                          <a:prstDash val="solid"/>
                        </a:lnB>
                        <a:solidFill>
                          <a:srgbClr val="FFFFFF">
                            <a:alpha val="0"/>
                          </a:srgbClr>
                        </a:solidFill>
                      </a:tcPr>
                    </a:tc>
                    <a:tc>
                      <a:txBody>
                        <a:bodyPr/>
                        <a:lstStyle/>
                        <a:p>
                          <a:pPr marL="63500" marR="63500" algn="ctr">
                            <a:lnSpc>
                              <a:spcPct val="100000"/>
                            </a:lnSpc>
                            <a:spcBef>
                              <a:spcPts val="500"/>
                            </a:spcBef>
                            <a:spcAft>
                              <a:spcPts val="500"/>
                            </a:spcAft>
                            <a:buNone/>
                          </a:pPr>
                          <a:r>
                            <a:rPr sz="1000" b="0" i="0" u="none" strike="noStrike" cap="none" dirty="0">
                              <a:solidFill>
                                <a:srgbClr val="000000">
                                  <a:alpha val="100000"/>
                                </a:srgbClr>
                              </a:solidFill>
                              <a:latin typeface="Arial"/>
                              <a:cs typeface="Helvetica"/>
                              <a:sym typeface="Helvetica"/>
                            </a:rPr>
                            <a:t>0.161*</a:t>
                          </a:r>
                        </a:p>
                      </a:txBody>
                      <a:tcPr marL="0" marR="0" marT="63500" marB="63500" anchor="ctr">
                        <a:lnL w="12700" cap="flat" cmpd="sng" algn="ctr">
                          <a:solidFill>
                            <a:srgbClr val="FFFFFF">
                              <a:alpha val="100000"/>
                            </a:srgbClr>
                          </a:solidFill>
                          <a:prstDash val="solid"/>
                        </a:lnL>
                        <a:lnR w="12700" cap="flat" cmpd="sng" algn="ctr">
                          <a:solidFill>
                            <a:srgbClr val="FFFFFF">
                              <a:alpha val="100000"/>
                            </a:srgbClr>
                          </a:solidFill>
                          <a:prstDash val="solid"/>
                        </a:lnR>
                        <a:lnT w="12700" cap="flat" cmpd="sng" algn="ctr">
                          <a:solidFill>
                            <a:srgbClr val="FFFFFF">
                              <a:alpha val="100000"/>
                            </a:srgbClr>
                          </a:solidFill>
                          <a:prstDash val="solid"/>
                        </a:lnT>
                        <a:lnB w="12700" cap="flat" cmpd="sng" algn="ctr">
                          <a:solidFill>
                            <a:srgbClr val="FFFFFF">
                              <a:alpha val="100000"/>
                            </a:srgbClr>
                          </a:solidFill>
                          <a:prstDash val="solid"/>
                        </a:lnB>
                        <a:solidFill>
                          <a:srgbClr val="FFFFFF">
                            <a:alpha val="0"/>
                          </a:srgbClr>
                        </a:solidFill>
                      </a:tcPr>
                    </a:tc>
                    <a:tc>
                      <a:txBody>
                        <a:bodyPr/>
                        <a:lstStyle/>
                        <a:p>
                          <a:pPr marL="63500" marR="63500" algn="ctr">
                            <a:lnSpc>
                              <a:spcPct val="100000"/>
                            </a:lnSpc>
                            <a:spcBef>
                              <a:spcPts val="500"/>
                            </a:spcBef>
                            <a:spcAft>
                              <a:spcPts val="500"/>
                            </a:spcAft>
                            <a:buNone/>
                          </a:pPr>
                          <a:endParaRPr sz="1000" b="0" i="0" u="none" strike="noStrike" cap="none" dirty="0">
                            <a:solidFill>
                              <a:srgbClr val="000000">
                                <a:alpha val="100000"/>
                              </a:srgbClr>
                            </a:solidFill>
                            <a:latin typeface="Arial"/>
                            <a:cs typeface="Helvetica"/>
                            <a:sym typeface="Helvetica"/>
                          </a:endParaRPr>
                        </a:p>
                      </a:txBody>
                      <a:tcPr marL="0" marR="0" marT="63500" marB="63500" anchor="ctr">
                        <a:lnL w="12700" cap="flat" cmpd="sng" algn="ctr">
                          <a:solidFill>
                            <a:srgbClr val="FFFFFF">
                              <a:alpha val="100000"/>
                            </a:srgbClr>
                          </a:solidFill>
                          <a:prstDash val="solid"/>
                        </a:lnL>
                        <a:lnR w="12700" cap="flat" cmpd="sng" algn="ctr">
                          <a:solidFill>
                            <a:srgbClr val="FFFFFF">
                              <a:alpha val="100000"/>
                            </a:srgbClr>
                          </a:solidFill>
                          <a:prstDash val="solid"/>
                        </a:lnR>
                        <a:lnT w="12700" cap="flat" cmpd="sng" algn="ctr">
                          <a:solidFill>
                            <a:srgbClr val="FFFFFF">
                              <a:alpha val="100000"/>
                            </a:srgbClr>
                          </a:solidFill>
                          <a:prstDash val="solid"/>
                        </a:lnT>
                        <a:lnB w="12700" cap="flat" cmpd="sng" algn="ctr">
                          <a:solidFill>
                            <a:srgbClr val="FFFFFF">
                              <a:alpha val="100000"/>
                            </a:srgbClr>
                          </a:solidFill>
                          <a:prstDash val="solid"/>
                        </a:lnB>
                        <a:solidFill>
                          <a:srgbClr val="FFFFFF">
                            <a:alpha val="0"/>
                          </a:srgbClr>
                        </a:solidFill>
                      </a:tcPr>
                    </a:tc>
                    <a:tc>
                      <a:txBody>
                        <a:bodyPr/>
                        <a:lstStyle/>
                        <a:p>
                          <a:pPr marL="63500" marR="63500" algn="ctr">
                            <a:lnSpc>
                              <a:spcPct val="100000"/>
                            </a:lnSpc>
                            <a:spcBef>
                              <a:spcPts val="500"/>
                            </a:spcBef>
                            <a:spcAft>
                              <a:spcPts val="500"/>
                            </a:spcAft>
                            <a:buNone/>
                          </a:pPr>
                          <a:endParaRPr sz="1000" b="0" i="0" u="none" strike="noStrike" cap="none">
                            <a:solidFill>
                              <a:srgbClr val="000000">
                                <a:alpha val="100000"/>
                              </a:srgbClr>
                            </a:solidFill>
                            <a:latin typeface="Arial"/>
                            <a:cs typeface="Helvetica"/>
                            <a:sym typeface="Helvetica"/>
                          </a:endParaRPr>
                        </a:p>
                      </a:txBody>
                      <a:tcPr marL="0" marR="0" marT="63500" marB="63500" anchor="ctr">
                        <a:lnL w="12700" cap="flat" cmpd="sng" algn="ctr">
                          <a:solidFill>
                            <a:srgbClr val="FFFFFF">
                              <a:alpha val="100000"/>
                            </a:srgbClr>
                          </a:solidFill>
                          <a:prstDash val="solid"/>
                        </a:lnL>
                        <a:lnR w="12700" cap="flat" cmpd="sng" algn="ctr">
                          <a:solidFill>
                            <a:srgbClr val="FFFFFF">
                              <a:alpha val="100000"/>
                            </a:srgbClr>
                          </a:solidFill>
                          <a:prstDash val="solid"/>
                        </a:lnR>
                        <a:lnT w="12700" cap="flat" cmpd="sng" algn="ctr">
                          <a:solidFill>
                            <a:srgbClr val="FFFFFF">
                              <a:alpha val="100000"/>
                            </a:srgbClr>
                          </a:solidFill>
                          <a:prstDash val="solid"/>
                        </a:lnT>
                        <a:lnB w="12700" cap="flat" cmpd="sng" algn="ctr">
                          <a:solidFill>
                            <a:srgbClr val="FFFFFF">
                              <a:alpha val="100000"/>
                            </a:srgbClr>
                          </a:solidFill>
                          <a:prstDash val="solid"/>
                        </a:lnB>
                        <a:solidFill>
                          <a:srgbClr val="FFFFFF">
                            <a:alpha val="0"/>
                          </a:srgbClr>
                        </a:solidFill>
                      </a:tcPr>
                    </a:tc>
                    <a:extLst>
                      <a:ext uri="{0D108BD9-81ED-4DB2-BD59-A6C34878D82A}">
                        <a16:rowId xmlns:a16="http://schemas.microsoft.com/office/drawing/2014/main" val="10008"/>
                      </a:ext>
                    </a:extLst>
                  </a:tr>
                  <a:tr h="350806">
                    <a:tc>
                      <a:txBody>
                        <a:bodyPr/>
                        <a:lstStyle/>
                        <a:p>
                          <a:pPr marL="63500" marR="63500" algn="l">
                            <a:lnSpc>
                              <a:spcPct val="100000"/>
                            </a:lnSpc>
                            <a:spcBef>
                              <a:spcPts val="500"/>
                            </a:spcBef>
                            <a:spcAft>
                              <a:spcPts val="500"/>
                            </a:spcAft>
                            <a:buNone/>
                          </a:pPr>
                          <a14:m>
                            <m:oMathPara xmlns:m="http://schemas.openxmlformats.org/officeDocument/2006/math">
                              <m:oMathParaPr>
                                <m:jc m:val="centerGroup"/>
                              </m:oMathParaPr>
                              <m:oMath xmlns:m="http://schemas.openxmlformats.org/officeDocument/2006/math">
                                <m:sSub>
                                  <m:sSubPr>
                                    <m:ctrlPr>
                                      <a:rPr sz="1000" b="1" i="1">
                                        <a:latin typeface="Cambria Math" panose="02040503050406030204" pitchFamily="18" charset="0"/>
                                      </a:rPr>
                                    </m:ctrlPr>
                                  </m:sSubPr>
                                  <m:e>
                                    <m:r>
                                      <a:rPr sz="1000" b="1" i="1">
                                        <a:latin typeface="Cambria Math" panose="02040503050406030204" pitchFamily="18" charset="0"/>
                                      </a:rPr>
                                      <m:t>𝑫</m:t>
                                    </m:r>
                                  </m:e>
                                  <m:sub>
                                    <m:r>
                                      <a:rPr sz="1000" b="1" i="1">
                                        <a:latin typeface="Cambria Math" panose="02040503050406030204" pitchFamily="18" charset="0"/>
                                      </a:rPr>
                                      <m:t>𝟐𝟎𝟏𝟒</m:t>
                                    </m:r>
                                    <m:r>
                                      <a:rPr sz="1000" b="1" i="1">
                                        <a:latin typeface="Cambria Math" panose="02040503050406030204" pitchFamily="18" charset="0"/>
                                      </a:rPr>
                                      <m:t>𝒎</m:t>
                                    </m:r>
                                    <m:r>
                                      <a:rPr sz="1000" b="1" i="1">
                                        <a:latin typeface="Cambria Math" panose="02040503050406030204" pitchFamily="18" charset="0"/>
                                      </a:rPr>
                                      <m:t>𝟕</m:t>
                                    </m:r>
                                  </m:sub>
                                </m:sSub>
                              </m:oMath>
                            </m:oMathPara>
                          </a14:m>
                          <a:endParaRPr sz="1000" b="1" dirty="0"/>
                        </a:p>
                      </a:txBody>
                      <a:tcPr marL="0" marR="0" marT="63500" marB="63500" anchor="ctr">
                        <a:lnL w="12700" cap="flat" cmpd="sng" algn="ctr">
                          <a:solidFill>
                            <a:srgbClr val="FFFFFF">
                              <a:alpha val="100000"/>
                            </a:srgbClr>
                          </a:solidFill>
                          <a:prstDash val="solid"/>
                        </a:lnL>
                        <a:lnR w="12700" cap="flat" cmpd="sng" algn="ctr">
                          <a:solidFill>
                            <a:srgbClr val="FFFFFF">
                              <a:alpha val="100000"/>
                            </a:srgbClr>
                          </a:solidFill>
                          <a:prstDash val="solid"/>
                        </a:lnR>
                        <a:lnT w="12700" cap="flat" cmpd="sng" algn="ctr">
                          <a:solidFill>
                            <a:srgbClr val="FFFFFF">
                              <a:alpha val="100000"/>
                            </a:srgbClr>
                          </a:solidFill>
                          <a:prstDash val="solid"/>
                        </a:lnT>
                        <a:lnB w="12700" cap="flat" cmpd="sng" algn="ctr">
                          <a:solidFill>
                            <a:srgbClr val="FFFFFF">
                              <a:alpha val="100000"/>
                            </a:srgbClr>
                          </a:solidFill>
                          <a:prstDash val="solid"/>
                        </a:lnB>
                        <a:solidFill>
                          <a:srgbClr val="FFFFFF">
                            <a:alpha val="0"/>
                          </a:srgbClr>
                        </a:solidFill>
                      </a:tcPr>
                    </a:tc>
                    <a:tc>
                      <a:txBody>
                        <a:bodyPr/>
                        <a:lstStyle/>
                        <a:p>
                          <a:pPr marL="63500" marR="63500" algn="ctr">
                            <a:lnSpc>
                              <a:spcPct val="100000"/>
                            </a:lnSpc>
                            <a:spcBef>
                              <a:spcPts val="500"/>
                            </a:spcBef>
                            <a:spcAft>
                              <a:spcPts val="500"/>
                            </a:spcAft>
                            <a:buNone/>
                          </a:pPr>
                          <a:r>
                            <a:rPr sz="1000" b="0" i="0" u="none" strike="noStrike" cap="none">
                              <a:solidFill>
                                <a:srgbClr val="000000">
                                  <a:alpha val="100000"/>
                                </a:srgbClr>
                              </a:solidFill>
                              <a:latin typeface="Arial"/>
                              <a:cs typeface="Helvetica"/>
                              <a:sym typeface="Helvetica"/>
                            </a:rPr>
                            <a:t>-0.098 </a:t>
                          </a:r>
                        </a:p>
                      </a:txBody>
                      <a:tcPr marL="0" marR="0" marT="63500" marB="63500" anchor="ctr">
                        <a:lnL w="12700" cap="flat" cmpd="sng" algn="ctr">
                          <a:solidFill>
                            <a:srgbClr val="FFFFFF">
                              <a:alpha val="100000"/>
                            </a:srgbClr>
                          </a:solidFill>
                          <a:prstDash val="solid"/>
                        </a:lnL>
                        <a:lnR w="12700" cap="flat" cmpd="sng" algn="ctr">
                          <a:solidFill>
                            <a:srgbClr val="FFFFFF">
                              <a:alpha val="100000"/>
                            </a:srgbClr>
                          </a:solidFill>
                          <a:prstDash val="solid"/>
                        </a:lnR>
                        <a:lnT w="12700" cap="flat" cmpd="sng" algn="ctr">
                          <a:solidFill>
                            <a:srgbClr val="FFFFFF">
                              <a:alpha val="100000"/>
                            </a:srgbClr>
                          </a:solidFill>
                          <a:prstDash val="solid"/>
                        </a:lnT>
                        <a:lnB w="12700" cap="flat" cmpd="sng" algn="ctr">
                          <a:solidFill>
                            <a:srgbClr val="FFFFFF">
                              <a:alpha val="100000"/>
                            </a:srgbClr>
                          </a:solidFill>
                          <a:prstDash val="solid"/>
                        </a:lnB>
                        <a:solidFill>
                          <a:srgbClr val="FFFFFF">
                            <a:alpha val="0"/>
                          </a:srgbClr>
                        </a:solidFill>
                      </a:tcPr>
                    </a:tc>
                    <a:tc>
                      <a:txBody>
                        <a:bodyPr/>
                        <a:lstStyle/>
                        <a:p>
                          <a:pPr marL="63500" marR="63500" algn="ctr">
                            <a:lnSpc>
                              <a:spcPct val="100000"/>
                            </a:lnSpc>
                            <a:spcBef>
                              <a:spcPts val="500"/>
                            </a:spcBef>
                            <a:spcAft>
                              <a:spcPts val="500"/>
                            </a:spcAft>
                            <a:buNone/>
                          </a:pPr>
                          <a:r>
                            <a:rPr sz="1000" b="0" i="0" u="none" strike="noStrike" cap="none">
                              <a:solidFill>
                                <a:srgbClr val="000000">
                                  <a:alpha val="100000"/>
                                </a:srgbClr>
                              </a:solidFill>
                              <a:latin typeface="Arial"/>
                              <a:cs typeface="Helvetica"/>
                              <a:sym typeface="Helvetica"/>
                            </a:rPr>
                            <a:t>-0.087 </a:t>
                          </a:r>
                        </a:p>
                      </a:txBody>
                      <a:tcPr marL="0" marR="0" marT="63500" marB="63500" anchor="ctr">
                        <a:lnL w="12700" cap="flat" cmpd="sng" algn="ctr">
                          <a:solidFill>
                            <a:srgbClr val="FFFFFF">
                              <a:alpha val="100000"/>
                            </a:srgbClr>
                          </a:solidFill>
                          <a:prstDash val="solid"/>
                        </a:lnL>
                        <a:lnR w="12700" cap="flat" cmpd="sng" algn="ctr">
                          <a:solidFill>
                            <a:srgbClr val="FFFFFF">
                              <a:alpha val="100000"/>
                            </a:srgbClr>
                          </a:solidFill>
                          <a:prstDash val="solid"/>
                        </a:lnR>
                        <a:lnT w="12700" cap="flat" cmpd="sng" algn="ctr">
                          <a:solidFill>
                            <a:srgbClr val="FFFFFF">
                              <a:alpha val="100000"/>
                            </a:srgbClr>
                          </a:solidFill>
                          <a:prstDash val="solid"/>
                        </a:lnT>
                        <a:lnB w="12700" cap="flat" cmpd="sng" algn="ctr">
                          <a:solidFill>
                            <a:srgbClr val="FFFFFF">
                              <a:alpha val="100000"/>
                            </a:srgbClr>
                          </a:solidFill>
                          <a:prstDash val="solid"/>
                        </a:lnB>
                        <a:solidFill>
                          <a:srgbClr val="FFFFFF">
                            <a:alpha val="0"/>
                          </a:srgbClr>
                        </a:solidFill>
                      </a:tcPr>
                    </a:tc>
                    <a:tc>
                      <a:txBody>
                        <a:bodyPr/>
                        <a:lstStyle/>
                        <a:p>
                          <a:pPr marL="63500" marR="63500" algn="ctr">
                            <a:lnSpc>
                              <a:spcPct val="100000"/>
                            </a:lnSpc>
                            <a:spcBef>
                              <a:spcPts val="500"/>
                            </a:spcBef>
                            <a:spcAft>
                              <a:spcPts val="500"/>
                            </a:spcAft>
                            <a:buNone/>
                          </a:pPr>
                          <a:endParaRPr sz="1000" b="0" i="0" u="none" strike="noStrike" cap="none">
                            <a:solidFill>
                              <a:srgbClr val="000000">
                                <a:alpha val="100000"/>
                              </a:srgbClr>
                            </a:solidFill>
                            <a:latin typeface="Arial"/>
                            <a:cs typeface="Helvetica"/>
                            <a:sym typeface="Helvetica"/>
                          </a:endParaRPr>
                        </a:p>
                      </a:txBody>
                      <a:tcPr marL="0" marR="0" marT="63500" marB="63500" anchor="ctr">
                        <a:lnL w="12700" cap="flat" cmpd="sng" algn="ctr">
                          <a:solidFill>
                            <a:srgbClr val="FFFFFF">
                              <a:alpha val="100000"/>
                            </a:srgbClr>
                          </a:solidFill>
                          <a:prstDash val="solid"/>
                        </a:lnL>
                        <a:lnR w="12700" cap="flat" cmpd="sng" algn="ctr">
                          <a:solidFill>
                            <a:srgbClr val="FFFFFF">
                              <a:alpha val="100000"/>
                            </a:srgbClr>
                          </a:solidFill>
                          <a:prstDash val="solid"/>
                        </a:lnR>
                        <a:lnT w="12700" cap="flat" cmpd="sng" algn="ctr">
                          <a:solidFill>
                            <a:srgbClr val="FFFFFF">
                              <a:alpha val="100000"/>
                            </a:srgbClr>
                          </a:solidFill>
                          <a:prstDash val="solid"/>
                        </a:lnT>
                        <a:lnB w="12700" cap="flat" cmpd="sng" algn="ctr">
                          <a:solidFill>
                            <a:srgbClr val="FFFFFF">
                              <a:alpha val="100000"/>
                            </a:srgbClr>
                          </a:solidFill>
                          <a:prstDash val="solid"/>
                        </a:lnB>
                        <a:solidFill>
                          <a:srgbClr val="FFFFFF">
                            <a:alpha val="0"/>
                          </a:srgbClr>
                        </a:solidFill>
                      </a:tcPr>
                    </a:tc>
                    <a:tc>
                      <a:txBody>
                        <a:bodyPr/>
                        <a:lstStyle/>
                        <a:p>
                          <a:pPr marL="63500" marR="63500" algn="ctr">
                            <a:lnSpc>
                              <a:spcPct val="100000"/>
                            </a:lnSpc>
                            <a:spcBef>
                              <a:spcPts val="500"/>
                            </a:spcBef>
                            <a:spcAft>
                              <a:spcPts val="500"/>
                            </a:spcAft>
                            <a:buNone/>
                          </a:pPr>
                          <a:r>
                            <a:rPr sz="1000" b="0" i="0" u="none" strike="noStrike" cap="none">
                              <a:solidFill>
                                <a:srgbClr val="000000">
                                  <a:alpha val="100000"/>
                                </a:srgbClr>
                              </a:solidFill>
                              <a:latin typeface="Arial"/>
                              <a:cs typeface="Helvetica"/>
                              <a:sym typeface="Helvetica"/>
                            </a:rPr>
                            <a:t>-0.105 </a:t>
                          </a:r>
                        </a:p>
                      </a:txBody>
                      <a:tcPr marL="0" marR="0" marT="63500" marB="63500" anchor="ctr">
                        <a:lnL w="12700" cap="flat" cmpd="sng" algn="ctr">
                          <a:solidFill>
                            <a:srgbClr val="FFFFFF">
                              <a:alpha val="100000"/>
                            </a:srgbClr>
                          </a:solidFill>
                          <a:prstDash val="solid"/>
                        </a:lnL>
                        <a:lnR w="12700" cap="flat" cmpd="sng" algn="ctr">
                          <a:solidFill>
                            <a:srgbClr val="FFFFFF">
                              <a:alpha val="100000"/>
                            </a:srgbClr>
                          </a:solidFill>
                          <a:prstDash val="solid"/>
                        </a:lnR>
                        <a:lnT w="12700" cap="flat" cmpd="sng" algn="ctr">
                          <a:solidFill>
                            <a:srgbClr val="FFFFFF">
                              <a:alpha val="100000"/>
                            </a:srgbClr>
                          </a:solidFill>
                          <a:prstDash val="solid"/>
                        </a:lnT>
                        <a:lnB w="12700" cap="flat" cmpd="sng" algn="ctr">
                          <a:solidFill>
                            <a:srgbClr val="FFFFFF">
                              <a:alpha val="100000"/>
                            </a:srgbClr>
                          </a:solidFill>
                          <a:prstDash val="solid"/>
                        </a:lnB>
                        <a:solidFill>
                          <a:srgbClr val="FFFFFF">
                            <a:alpha val="0"/>
                          </a:srgbClr>
                        </a:solidFill>
                      </a:tcPr>
                    </a:tc>
                    <a:tc>
                      <a:txBody>
                        <a:bodyPr/>
                        <a:lstStyle/>
                        <a:p>
                          <a:pPr marL="63500" marR="63500" algn="ctr">
                            <a:lnSpc>
                              <a:spcPct val="100000"/>
                            </a:lnSpc>
                            <a:spcBef>
                              <a:spcPts val="500"/>
                            </a:spcBef>
                            <a:spcAft>
                              <a:spcPts val="500"/>
                            </a:spcAft>
                            <a:buNone/>
                          </a:pPr>
                          <a:r>
                            <a:rPr sz="1000" b="0" i="0" u="none" strike="noStrike" cap="none" dirty="0">
                              <a:solidFill>
                                <a:srgbClr val="000000">
                                  <a:alpha val="100000"/>
                                </a:srgbClr>
                              </a:solidFill>
                              <a:latin typeface="Arial"/>
                              <a:cs typeface="Helvetica"/>
                              <a:sym typeface="Helvetica"/>
                            </a:rPr>
                            <a:t>-0.096 </a:t>
                          </a:r>
                        </a:p>
                      </a:txBody>
                      <a:tcPr marL="0" marR="0" marT="63500" marB="63500" anchor="ctr">
                        <a:lnL w="12700" cap="flat" cmpd="sng" algn="ctr">
                          <a:solidFill>
                            <a:srgbClr val="FFFFFF">
                              <a:alpha val="100000"/>
                            </a:srgbClr>
                          </a:solidFill>
                          <a:prstDash val="solid"/>
                        </a:lnL>
                        <a:lnR w="12700" cap="flat" cmpd="sng" algn="ctr">
                          <a:solidFill>
                            <a:srgbClr val="FFFFFF">
                              <a:alpha val="100000"/>
                            </a:srgbClr>
                          </a:solidFill>
                          <a:prstDash val="solid"/>
                        </a:lnR>
                        <a:lnT w="12700" cap="flat" cmpd="sng" algn="ctr">
                          <a:solidFill>
                            <a:srgbClr val="FFFFFF">
                              <a:alpha val="100000"/>
                            </a:srgbClr>
                          </a:solidFill>
                          <a:prstDash val="solid"/>
                        </a:lnT>
                        <a:lnB w="12700" cap="flat" cmpd="sng" algn="ctr">
                          <a:solidFill>
                            <a:srgbClr val="FFFFFF">
                              <a:alpha val="100000"/>
                            </a:srgbClr>
                          </a:solidFill>
                          <a:prstDash val="solid"/>
                        </a:lnB>
                        <a:solidFill>
                          <a:srgbClr val="FFFFFF">
                            <a:alpha val="0"/>
                          </a:srgbClr>
                        </a:solidFill>
                      </a:tcPr>
                    </a:tc>
                    <a:tc>
                      <a:txBody>
                        <a:bodyPr/>
                        <a:lstStyle/>
                        <a:p>
                          <a:pPr marL="63500" marR="63500" algn="ctr">
                            <a:lnSpc>
                              <a:spcPct val="100000"/>
                            </a:lnSpc>
                            <a:spcBef>
                              <a:spcPts val="500"/>
                            </a:spcBef>
                            <a:spcAft>
                              <a:spcPts val="500"/>
                            </a:spcAft>
                            <a:buNone/>
                          </a:pPr>
                          <a:endParaRPr sz="1000" b="0" i="0" u="none" strike="noStrike" cap="none">
                            <a:solidFill>
                              <a:srgbClr val="000000">
                                <a:alpha val="100000"/>
                              </a:srgbClr>
                            </a:solidFill>
                            <a:latin typeface="Arial"/>
                            <a:cs typeface="Helvetica"/>
                            <a:sym typeface="Helvetica"/>
                          </a:endParaRPr>
                        </a:p>
                      </a:txBody>
                      <a:tcPr marL="0" marR="0" marT="63500" marB="63500" anchor="ctr">
                        <a:lnL w="12700" cap="flat" cmpd="sng" algn="ctr">
                          <a:solidFill>
                            <a:srgbClr val="FFFFFF">
                              <a:alpha val="100000"/>
                            </a:srgbClr>
                          </a:solidFill>
                          <a:prstDash val="solid"/>
                        </a:lnL>
                        <a:lnR w="12700" cap="flat" cmpd="sng" algn="ctr">
                          <a:solidFill>
                            <a:srgbClr val="FFFFFF">
                              <a:alpha val="100000"/>
                            </a:srgbClr>
                          </a:solidFill>
                          <a:prstDash val="solid"/>
                        </a:lnR>
                        <a:lnT w="12700" cap="flat" cmpd="sng" algn="ctr">
                          <a:solidFill>
                            <a:srgbClr val="FFFFFF">
                              <a:alpha val="100000"/>
                            </a:srgbClr>
                          </a:solidFill>
                          <a:prstDash val="solid"/>
                        </a:lnT>
                        <a:lnB w="12700" cap="flat" cmpd="sng" algn="ctr">
                          <a:solidFill>
                            <a:srgbClr val="FFFFFF">
                              <a:alpha val="100000"/>
                            </a:srgbClr>
                          </a:solidFill>
                          <a:prstDash val="solid"/>
                        </a:lnB>
                        <a:solidFill>
                          <a:srgbClr val="FFFFFF">
                            <a:alpha val="0"/>
                          </a:srgbClr>
                        </a:solidFill>
                      </a:tcPr>
                    </a:tc>
                    <a:extLst>
                      <a:ext uri="{0D108BD9-81ED-4DB2-BD59-A6C34878D82A}">
                        <a16:rowId xmlns:a16="http://schemas.microsoft.com/office/drawing/2014/main" val="10009"/>
                      </a:ext>
                    </a:extLst>
                  </a:tr>
                  <a:tr h="350806">
                    <a:tc>
                      <a:txBody>
                        <a:bodyPr/>
                        <a:lstStyle/>
                        <a:p>
                          <a:pPr marL="63500" marR="63500" algn="l">
                            <a:lnSpc>
                              <a:spcPct val="100000"/>
                            </a:lnSpc>
                            <a:spcBef>
                              <a:spcPts val="500"/>
                            </a:spcBef>
                            <a:spcAft>
                              <a:spcPts val="500"/>
                            </a:spcAft>
                            <a:buNone/>
                          </a:pPr>
                          <a14:m>
                            <m:oMathPara xmlns:m="http://schemas.openxmlformats.org/officeDocument/2006/math">
                              <m:oMathParaPr>
                                <m:jc m:val="centerGroup"/>
                              </m:oMathParaPr>
                              <m:oMath xmlns:m="http://schemas.openxmlformats.org/officeDocument/2006/math">
                                <m:sSub>
                                  <m:sSubPr>
                                    <m:ctrlPr>
                                      <a:rPr sz="1000" b="1" i="1">
                                        <a:latin typeface="Cambria Math" panose="02040503050406030204" pitchFamily="18" charset="0"/>
                                      </a:rPr>
                                    </m:ctrlPr>
                                  </m:sSubPr>
                                  <m:e>
                                    <m:r>
                                      <a:rPr sz="1000" b="1" i="1">
                                        <a:latin typeface="Cambria Math" panose="02040503050406030204" pitchFamily="18" charset="0"/>
                                      </a:rPr>
                                      <m:t>𝑫</m:t>
                                    </m:r>
                                  </m:e>
                                  <m:sub>
                                    <m:r>
                                      <a:rPr sz="1000" b="1" i="1">
                                        <a:latin typeface="Cambria Math" panose="02040503050406030204" pitchFamily="18" charset="0"/>
                                      </a:rPr>
                                      <m:t>𝟐𝟎𝟏𝟏</m:t>
                                    </m:r>
                                    <m:r>
                                      <a:rPr sz="1000" b="1" i="1">
                                        <a:latin typeface="Cambria Math" panose="02040503050406030204" pitchFamily="18" charset="0"/>
                                      </a:rPr>
                                      <m:t>𝒎</m:t>
                                    </m:r>
                                    <m:r>
                                      <a:rPr sz="1000" b="1" i="1">
                                        <a:latin typeface="Cambria Math" panose="02040503050406030204" pitchFamily="18" charset="0"/>
                                      </a:rPr>
                                      <m:t>𝟏𝟐</m:t>
                                    </m:r>
                                  </m:sub>
                                </m:sSub>
                              </m:oMath>
                            </m:oMathPara>
                          </a14:m>
                          <a:endParaRPr sz="1000" b="1" dirty="0"/>
                        </a:p>
                      </a:txBody>
                      <a:tcPr marL="0" marR="0" marT="63500" marB="63500" anchor="ctr">
                        <a:lnL w="12700" cap="flat" cmpd="sng" algn="ctr">
                          <a:solidFill>
                            <a:srgbClr val="FFFFFF">
                              <a:alpha val="100000"/>
                            </a:srgbClr>
                          </a:solidFill>
                          <a:prstDash val="solid"/>
                        </a:lnL>
                        <a:lnR w="12700" cap="flat" cmpd="sng" algn="ctr">
                          <a:solidFill>
                            <a:srgbClr val="FFFFFF">
                              <a:alpha val="100000"/>
                            </a:srgbClr>
                          </a:solidFill>
                          <a:prstDash val="solid"/>
                        </a:lnR>
                        <a:lnT w="12700" cap="flat" cmpd="sng" algn="ctr">
                          <a:solidFill>
                            <a:srgbClr val="FFFFFF">
                              <a:alpha val="100000"/>
                            </a:srgbClr>
                          </a:solidFill>
                          <a:prstDash val="solid"/>
                        </a:lnT>
                        <a:lnB w="12700" cap="flat" cmpd="sng" algn="ctr">
                          <a:solidFill>
                            <a:srgbClr val="FFFFFF">
                              <a:alpha val="100000"/>
                            </a:srgbClr>
                          </a:solidFill>
                          <a:prstDash val="solid"/>
                        </a:lnB>
                        <a:solidFill>
                          <a:srgbClr val="FFFFFF">
                            <a:alpha val="0"/>
                          </a:srgbClr>
                        </a:solidFill>
                      </a:tcPr>
                    </a:tc>
                    <a:tc>
                      <a:txBody>
                        <a:bodyPr/>
                        <a:lstStyle/>
                        <a:p>
                          <a:pPr marL="63500" marR="63500" algn="ctr">
                            <a:lnSpc>
                              <a:spcPct val="100000"/>
                            </a:lnSpc>
                            <a:spcBef>
                              <a:spcPts val="500"/>
                            </a:spcBef>
                            <a:spcAft>
                              <a:spcPts val="500"/>
                            </a:spcAft>
                            <a:buNone/>
                          </a:pPr>
                          <a:r>
                            <a:rPr sz="1000" b="0" i="0" u="none" strike="noStrike" cap="none">
                              <a:solidFill>
                                <a:srgbClr val="000000">
                                  <a:alpha val="100000"/>
                                </a:srgbClr>
                              </a:solidFill>
                              <a:latin typeface="Arial"/>
                              <a:cs typeface="Helvetica"/>
                              <a:sym typeface="Helvetica"/>
                            </a:rPr>
                            <a:t>0.042 </a:t>
                          </a:r>
                        </a:p>
                      </a:txBody>
                      <a:tcPr marL="0" marR="0" marT="63500" marB="63500" anchor="ctr">
                        <a:lnL w="12700" cap="flat" cmpd="sng" algn="ctr">
                          <a:solidFill>
                            <a:srgbClr val="FFFFFF">
                              <a:alpha val="100000"/>
                            </a:srgbClr>
                          </a:solidFill>
                          <a:prstDash val="solid"/>
                        </a:lnL>
                        <a:lnR w="12700" cap="flat" cmpd="sng" algn="ctr">
                          <a:solidFill>
                            <a:srgbClr val="FFFFFF">
                              <a:alpha val="100000"/>
                            </a:srgbClr>
                          </a:solidFill>
                          <a:prstDash val="solid"/>
                        </a:lnR>
                        <a:lnT w="12700" cap="flat" cmpd="sng" algn="ctr">
                          <a:solidFill>
                            <a:srgbClr val="FFFFFF">
                              <a:alpha val="100000"/>
                            </a:srgbClr>
                          </a:solidFill>
                          <a:prstDash val="solid"/>
                        </a:lnT>
                        <a:lnB w="12700" cap="flat" cmpd="sng" algn="ctr">
                          <a:solidFill>
                            <a:srgbClr val="FFFFFF">
                              <a:alpha val="100000"/>
                            </a:srgbClr>
                          </a:solidFill>
                          <a:prstDash val="solid"/>
                        </a:lnB>
                        <a:solidFill>
                          <a:srgbClr val="FFFFFF">
                            <a:alpha val="0"/>
                          </a:srgbClr>
                        </a:solidFill>
                      </a:tcPr>
                    </a:tc>
                    <a:tc>
                      <a:txBody>
                        <a:bodyPr/>
                        <a:lstStyle/>
                        <a:p>
                          <a:pPr marL="63500" marR="63500" algn="ctr">
                            <a:lnSpc>
                              <a:spcPct val="100000"/>
                            </a:lnSpc>
                            <a:spcBef>
                              <a:spcPts val="500"/>
                            </a:spcBef>
                            <a:spcAft>
                              <a:spcPts val="500"/>
                            </a:spcAft>
                            <a:buNone/>
                          </a:pPr>
                          <a:r>
                            <a:rPr sz="1000" b="0" i="0" u="none" strike="noStrike" cap="none">
                              <a:solidFill>
                                <a:srgbClr val="000000">
                                  <a:alpha val="100000"/>
                                </a:srgbClr>
                              </a:solidFill>
                              <a:latin typeface="Arial"/>
                              <a:cs typeface="Helvetica"/>
                              <a:sym typeface="Helvetica"/>
                            </a:rPr>
                            <a:t>0.027 </a:t>
                          </a:r>
                        </a:p>
                      </a:txBody>
                      <a:tcPr marL="0" marR="0" marT="63500" marB="63500" anchor="ctr">
                        <a:lnL w="12700" cap="flat" cmpd="sng" algn="ctr">
                          <a:solidFill>
                            <a:srgbClr val="FFFFFF">
                              <a:alpha val="100000"/>
                            </a:srgbClr>
                          </a:solidFill>
                          <a:prstDash val="solid"/>
                        </a:lnL>
                        <a:lnR w="12700" cap="flat" cmpd="sng" algn="ctr">
                          <a:solidFill>
                            <a:srgbClr val="FFFFFF">
                              <a:alpha val="100000"/>
                            </a:srgbClr>
                          </a:solidFill>
                          <a:prstDash val="solid"/>
                        </a:lnR>
                        <a:lnT w="12700" cap="flat" cmpd="sng" algn="ctr">
                          <a:solidFill>
                            <a:srgbClr val="FFFFFF">
                              <a:alpha val="100000"/>
                            </a:srgbClr>
                          </a:solidFill>
                          <a:prstDash val="solid"/>
                        </a:lnT>
                        <a:lnB w="12700" cap="flat" cmpd="sng" algn="ctr">
                          <a:solidFill>
                            <a:srgbClr val="FFFFFF">
                              <a:alpha val="100000"/>
                            </a:srgbClr>
                          </a:solidFill>
                          <a:prstDash val="solid"/>
                        </a:lnB>
                        <a:solidFill>
                          <a:srgbClr val="FFFFFF">
                            <a:alpha val="0"/>
                          </a:srgbClr>
                        </a:solidFill>
                      </a:tcPr>
                    </a:tc>
                    <a:tc>
                      <a:txBody>
                        <a:bodyPr/>
                        <a:lstStyle/>
                        <a:p>
                          <a:pPr marL="63500" marR="63500" algn="ctr">
                            <a:lnSpc>
                              <a:spcPct val="100000"/>
                            </a:lnSpc>
                            <a:spcBef>
                              <a:spcPts val="500"/>
                            </a:spcBef>
                            <a:spcAft>
                              <a:spcPts val="500"/>
                            </a:spcAft>
                            <a:buNone/>
                          </a:pPr>
                          <a:endParaRPr sz="1000" b="0" i="0" u="none" strike="noStrike" cap="none">
                            <a:solidFill>
                              <a:srgbClr val="000000">
                                <a:alpha val="100000"/>
                              </a:srgbClr>
                            </a:solidFill>
                            <a:latin typeface="Arial"/>
                            <a:cs typeface="Helvetica"/>
                            <a:sym typeface="Helvetica"/>
                          </a:endParaRPr>
                        </a:p>
                      </a:txBody>
                      <a:tcPr marL="0" marR="0" marT="63500" marB="63500" anchor="ctr">
                        <a:lnL w="12700" cap="flat" cmpd="sng" algn="ctr">
                          <a:solidFill>
                            <a:srgbClr val="FFFFFF">
                              <a:alpha val="100000"/>
                            </a:srgbClr>
                          </a:solidFill>
                          <a:prstDash val="solid"/>
                        </a:lnL>
                        <a:lnR w="12700" cap="flat" cmpd="sng" algn="ctr">
                          <a:solidFill>
                            <a:srgbClr val="FFFFFF">
                              <a:alpha val="100000"/>
                            </a:srgbClr>
                          </a:solidFill>
                          <a:prstDash val="solid"/>
                        </a:lnR>
                        <a:lnT w="12700" cap="flat" cmpd="sng" algn="ctr">
                          <a:solidFill>
                            <a:srgbClr val="FFFFFF">
                              <a:alpha val="100000"/>
                            </a:srgbClr>
                          </a:solidFill>
                          <a:prstDash val="solid"/>
                        </a:lnT>
                        <a:lnB w="12700" cap="flat" cmpd="sng" algn="ctr">
                          <a:solidFill>
                            <a:srgbClr val="FFFFFF">
                              <a:alpha val="100000"/>
                            </a:srgbClr>
                          </a:solidFill>
                          <a:prstDash val="solid"/>
                        </a:lnB>
                        <a:solidFill>
                          <a:srgbClr val="FFFFFF">
                            <a:alpha val="0"/>
                          </a:srgbClr>
                        </a:solidFill>
                      </a:tcPr>
                    </a:tc>
                    <a:tc>
                      <a:txBody>
                        <a:bodyPr/>
                        <a:lstStyle/>
                        <a:p>
                          <a:pPr marL="63500" marR="63500" algn="ctr">
                            <a:lnSpc>
                              <a:spcPct val="100000"/>
                            </a:lnSpc>
                            <a:spcBef>
                              <a:spcPts val="500"/>
                            </a:spcBef>
                            <a:spcAft>
                              <a:spcPts val="500"/>
                            </a:spcAft>
                            <a:buNone/>
                          </a:pPr>
                          <a:r>
                            <a:rPr sz="1000" b="0" i="0" u="none" strike="noStrike" cap="none">
                              <a:solidFill>
                                <a:srgbClr val="000000">
                                  <a:alpha val="100000"/>
                                </a:srgbClr>
                              </a:solidFill>
                              <a:latin typeface="Arial"/>
                              <a:cs typeface="Helvetica"/>
                              <a:sym typeface="Helvetica"/>
                            </a:rPr>
                            <a:t>0.047 </a:t>
                          </a:r>
                        </a:p>
                      </a:txBody>
                      <a:tcPr marL="0" marR="0" marT="63500" marB="63500" anchor="ctr">
                        <a:lnL w="12700" cap="flat" cmpd="sng" algn="ctr">
                          <a:solidFill>
                            <a:srgbClr val="FFFFFF">
                              <a:alpha val="100000"/>
                            </a:srgbClr>
                          </a:solidFill>
                          <a:prstDash val="solid"/>
                        </a:lnL>
                        <a:lnR w="12700" cap="flat" cmpd="sng" algn="ctr">
                          <a:solidFill>
                            <a:srgbClr val="FFFFFF">
                              <a:alpha val="100000"/>
                            </a:srgbClr>
                          </a:solidFill>
                          <a:prstDash val="solid"/>
                        </a:lnR>
                        <a:lnT w="12700" cap="flat" cmpd="sng" algn="ctr">
                          <a:solidFill>
                            <a:srgbClr val="FFFFFF">
                              <a:alpha val="100000"/>
                            </a:srgbClr>
                          </a:solidFill>
                          <a:prstDash val="solid"/>
                        </a:lnT>
                        <a:lnB w="12700" cap="flat" cmpd="sng" algn="ctr">
                          <a:solidFill>
                            <a:srgbClr val="FFFFFF">
                              <a:alpha val="100000"/>
                            </a:srgbClr>
                          </a:solidFill>
                          <a:prstDash val="solid"/>
                        </a:lnB>
                        <a:solidFill>
                          <a:srgbClr val="FFFFFF">
                            <a:alpha val="0"/>
                          </a:srgbClr>
                        </a:solidFill>
                      </a:tcPr>
                    </a:tc>
                    <a:tc>
                      <a:txBody>
                        <a:bodyPr/>
                        <a:lstStyle/>
                        <a:p>
                          <a:pPr marL="63500" marR="63500" algn="ctr">
                            <a:lnSpc>
                              <a:spcPct val="100000"/>
                            </a:lnSpc>
                            <a:spcBef>
                              <a:spcPts val="500"/>
                            </a:spcBef>
                            <a:spcAft>
                              <a:spcPts val="500"/>
                            </a:spcAft>
                            <a:buNone/>
                          </a:pPr>
                          <a:r>
                            <a:rPr sz="1000" b="0" i="0" u="none" strike="noStrike" cap="none" dirty="0">
                              <a:solidFill>
                                <a:srgbClr val="000000">
                                  <a:alpha val="100000"/>
                                </a:srgbClr>
                              </a:solidFill>
                              <a:latin typeface="Arial"/>
                              <a:cs typeface="Helvetica"/>
                              <a:sym typeface="Helvetica"/>
                            </a:rPr>
                            <a:t>0.037 </a:t>
                          </a:r>
                        </a:p>
                      </a:txBody>
                      <a:tcPr marL="0" marR="0" marT="63500" marB="63500" anchor="ctr">
                        <a:lnL w="12700" cap="flat" cmpd="sng" algn="ctr">
                          <a:solidFill>
                            <a:srgbClr val="FFFFFF">
                              <a:alpha val="100000"/>
                            </a:srgbClr>
                          </a:solidFill>
                          <a:prstDash val="solid"/>
                        </a:lnL>
                        <a:lnR w="12700" cap="flat" cmpd="sng" algn="ctr">
                          <a:solidFill>
                            <a:srgbClr val="FFFFFF">
                              <a:alpha val="100000"/>
                            </a:srgbClr>
                          </a:solidFill>
                          <a:prstDash val="solid"/>
                        </a:lnR>
                        <a:lnT w="12700" cap="flat" cmpd="sng" algn="ctr">
                          <a:solidFill>
                            <a:srgbClr val="FFFFFF">
                              <a:alpha val="100000"/>
                            </a:srgbClr>
                          </a:solidFill>
                          <a:prstDash val="solid"/>
                        </a:lnT>
                        <a:lnB w="12700" cap="flat" cmpd="sng" algn="ctr">
                          <a:solidFill>
                            <a:srgbClr val="FFFFFF">
                              <a:alpha val="100000"/>
                            </a:srgbClr>
                          </a:solidFill>
                          <a:prstDash val="solid"/>
                        </a:lnB>
                        <a:solidFill>
                          <a:srgbClr val="FFFFFF">
                            <a:alpha val="0"/>
                          </a:srgbClr>
                        </a:solidFill>
                      </a:tcPr>
                    </a:tc>
                    <a:tc>
                      <a:txBody>
                        <a:bodyPr/>
                        <a:lstStyle/>
                        <a:p>
                          <a:pPr marL="63500" marR="63500" algn="ctr">
                            <a:lnSpc>
                              <a:spcPct val="100000"/>
                            </a:lnSpc>
                            <a:spcBef>
                              <a:spcPts val="500"/>
                            </a:spcBef>
                            <a:spcAft>
                              <a:spcPts val="500"/>
                            </a:spcAft>
                            <a:buNone/>
                          </a:pPr>
                          <a:endParaRPr sz="1000" b="0" i="0" u="none" strike="noStrike" cap="none">
                            <a:solidFill>
                              <a:srgbClr val="000000">
                                <a:alpha val="100000"/>
                              </a:srgbClr>
                            </a:solidFill>
                            <a:latin typeface="Arial"/>
                            <a:cs typeface="Helvetica"/>
                            <a:sym typeface="Helvetica"/>
                          </a:endParaRPr>
                        </a:p>
                      </a:txBody>
                      <a:tcPr marL="0" marR="0" marT="63500" marB="63500" anchor="ctr">
                        <a:lnL w="12700" cap="flat" cmpd="sng" algn="ctr">
                          <a:solidFill>
                            <a:srgbClr val="FFFFFF">
                              <a:alpha val="100000"/>
                            </a:srgbClr>
                          </a:solidFill>
                          <a:prstDash val="solid"/>
                        </a:lnL>
                        <a:lnR w="12700" cap="flat" cmpd="sng" algn="ctr">
                          <a:solidFill>
                            <a:srgbClr val="FFFFFF">
                              <a:alpha val="100000"/>
                            </a:srgbClr>
                          </a:solidFill>
                          <a:prstDash val="solid"/>
                        </a:lnR>
                        <a:lnT w="12700" cap="flat" cmpd="sng" algn="ctr">
                          <a:solidFill>
                            <a:srgbClr val="FFFFFF">
                              <a:alpha val="100000"/>
                            </a:srgbClr>
                          </a:solidFill>
                          <a:prstDash val="solid"/>
                        </a:lnT>
                        <a:lnB w="12700" cap="flat" cmpd="sng" algn="ctr">
                          <a:solidFill>
                            <a:srgbClr val="FFFFFF">
                              <a:alpha val="100000"/>
                            </a:srgbClr>
                          </a:solidFill>
                          <a:prstDash val="solid"/>
                        </a:lnB>
                        <a:solidFill>
                          <a:srgbClr val="FFFFFF">
                            <a:alpha val="0"/>
                          </a:srgbClr>
                        </a:solidFill>
                      </a:tcPr>
                    </a:tc>
                    <a:extLst>
                      <a:ext uri="{0D108BD9-81ED-4DB2-BD59-A6C34878D82A}">
                        <a16:rowId xmlns:a16="http://schemas.microsoft.com/office/drawing/2014/main" val="10010"/>
                      </a:ext>
                    </a:extLst>
                  </a:tr>
                  <a:tr h="350806">
                    <a:tc>
                      <a:txBody>
                        <a:bodyPr/>
                        <a:lstStyle/>
                        <a:p>
                          <a:pPr marL="63500" marR="63500" algn="l">
                            <a:lnSpc>
                              <a:spcPct val="100000"/>
                            </a:lnSpc>
                            <a:spcBef>
                              <a:spcPts val="500"/>
                            </a:spcBef>
                            <a:spcAft>
                              <a:spcPts val="500"/>
                            </a:spcAft>
                            <a:buNone/>
                          </a:pPr>
                          <a14:m>
                            <m:oMathPara xmlns:m="http://schemas.openxmlformats.org/officeDocument/2006/math">
                              <m:oMathParaPr>
                                <m:jc m:val="centerGroup"/>
                              </m:oMathParaPr>
                              <m:oMath xmlns:m="http://schemas.openxmlformats.org/officeDocument/2006/math">
                                <m:r>
                                  <a:rPr sz="1000" b="1" i="1">
                                    <a:latin typeface="Cambria Math" panose="02040503050406030204" pitchFamily="18" charset="0"/>
                                  </a:rPr>
                                  <m:t>𝐂</m:t>
                                </m:r>
                              </m:oMath>
                            </m:oMathPara>
                          </a14:m>
                          <a:endParaRPr sz="1000" b="1" dirty="0"/>
                        </a:p>
                      </a:txBody>
                      <a:tcPr marL="0" marR="0" marT="63500" marB="63500" anchor="ctr">
                        <a:lnL w="12700" cap="flat" cmpd="sng" algn="ctr">
                          <a:solidFill>
                            <a:srgbClr val="FFFFFF">
                              <a:alpha val="100000"/>
                            </a:srgbClr>
                          </a:solidFill>
                          <a:prstDash val="solid"/>
                        </a:lnL>
                        <a:lnR w="12700" cap="flat" cmpd="sng" algn="ctr">
                          <a:solidFill>
                            <a:srgbClr val="FFFFFF">
                              <a:alpha val="100000"/>
                            </a:srgbClr>
                          </a:solidFill>
                          <a:prstDash val="solid"/>
                        </a:lnR>
                        <a:lnT w="12700" cap="flat" cmpd="sng" algn="ctr">
                          <a:solidFill>
                            <a:srgbClr val="FFFFFF">
                              <a:alpha val="100000"/>
                            </a:srgbClr>
                          </a:solidFill>
                          <a:prstDash val="solid"/>
                        </a:lnT>
                        <a:lnB w="12700" cap="flat" cmpd="sng" algn="ctr">
                          <a:solidFill>
                            <a:srgbClr val="000000">
                              <a:alpha val="100000"/>
                            </a:srgbClr>
                          </a:solidFill>
                          <a:prstDash val="solid"/>
                        </a:lnB>
                        <a:solidFill>
                          <a:srgbClr val="FFFFFF">
                            <a:alpha val="0"/>
                          </a:srgbClr>
                        </a:solidFill>
                      </a:tcPr>
                    </a:tc>
                    <a:tc>
                      <a:txBody>
                        <a:bodyPr/>
                        <a:lstStyle/>
                        <a:p>
                          <a:pPr marL="63500" marR="63500" algn="ctr">
                            <a:lnSpc>
                              <a:spcPct val="100000"/>
                            </a:lnSpc>
                            <a:spcBef>
                              <a:spcPts val="500"/>
                            </a:spcBef>
                            <a:spcAft>
                              <a:spcPts val="500"/>
                            </a:spcAft>
                            <a:buNone/>
                          </a:pPr>
                          <a:r>
                            <a:rPr sz="1000" b="0" i="0" u="none" strike="noStrike" cap="none">
                              <a:solidFill>
                                <a:srgbClr val="000000">
                                  <a:alpha val="100000"/>
                                </a:srgbClr>
                              </a:solidFill>
                              <a:latin typeface="Arial"/>
                              <a:cs typeface="Helvetica"/>
                              <a:sym typeface="Helvetica"/>
                            </a:rPr>
                            <a:t>0.044 </a:t>
                          </a:r>
                        </a:p>
                      </a:txBody>
                      <a:tcPr marL="0" marR="0" marT="63500" marB="63500" anchor="ctr">
                        <a:lnL w="12700" cap="flat" cmpd="sng" algn="ctr">
                          <a:solidFill>
                            <a:srgbClr val="FFFFFF">
                              <a:alpha val="100000"/>
                            </a:srgbClr>
                          </a:solidFill>
                          <a:prstDash val="solid"/>
                        </a:lnL>
                        <a:lnR w="12700" cap="flat" cmpd="sng" algn="ctr">
                          <a:solidFill>
                            <a:srgbClr val="FFFFFF">
                              <a:alpha val="100000"/>
                            </a:srgbClr>
                          </a:solidFill>
                          <a:prstDash val="solid"/>
                        </a:lnR>
                        <a:lnT w="12700" cap="flat" cmpd="sng" algn="ctr">
                          <a:solidFill>
                            <a:srgbClr val="FFFFFF">
                              <a:alpha val="100000"/>
                            </a:srgbClr>
                          </a:solidFill>
                          <a:prstDash val="solid"/>
                        </a:lnT>
                        <a:lnB w="12700" cap="flat" cmpd="sng" algn="ctr">
                          <a:solidFill>
                            <a:srgbClr val="000000">
                              <a:alpha val="100000"/>
                            </a:srgbClr>
                          </a:solidFill>
                          <a:prstDash val="solid"/>
                        </a:lnB>
                        <a:solidFill>
                          <a:srgbClr val="FFFFFF">
                            <a:alpha val="0"/>
                          </a:srgbClr>
                        </a:solidFill>
                      </a:tcPr>
                    </a:tc>
                    <a:tc>
                      <a:txBody>
                        <a:bodyPr/>
                        <a:lstStyle/>
                        <a:p>
                          <a:pPr marL="63500" marR="63500" algn="ctr">
                            <a:lnSpc>
                              <a:spcPct val="100000"/>
                            </a:lnSpc>
                            <a:spcBef>
                              <a:spcPts val="500"/>
                            </a:spcBef>
                            <a:spcAft>
                              <a:spcPts val="500"/>
                            </a:spcAft>
                            <a:buNone/>
                          </a:pPr>
                          <a:r>
                            <a:rPr sz="1000" b="0" i="0" u="none" strike="noStrike" cap="none">
                              <a:solidFill>
                                <a:srgbClr val="000000">
                                  <a:alpha val="100000"/>
                                </a:srgbClr>
                              </a:solidFill>
                              <a:latin typeface="Arial"/>
                              <a:cs typeface="Helvetica"/>
                              <a:sym typeface="Helvetica"/>
                            </a:rPr>
                            <a:t>0.012 </a:t>
                          </a:r>
                        </a:p>
                      </a:txBody>
                      <a:tcPr marL="0" marR="0" marT="63500" marB="63500" anchor="ctr">
                        <a:lnL w="12700" cap="flat" cmpd="sng" algn="ctr">
                          <a:solidFill>
                            <a:srgbClr val="FFFFFF">
                              <a:alpha val="100000"/>
                            </a:srgbClr>
                          </a:solidFill>
                          <a:prstDash val="solid"/>
                        </a:lnL>
                        <a:lnR w="12700" cap="flat" cmpd="sng" algn="ctr">
                          <a:solidFill>
                            <a:srgbClr val="FFFFFF">
                              <a:alpha val="100000"/>
                            </a:srgbClr>
                          </a:solidFill>
                          <a:prstDash val="solid"/>
                        </a:lnR>
                        <a:lnT w="12700" cap="flat" cmpd="sng" algn="ctr">
                          <a:solidFill>
                            <a:srgbClr val="FFFFFF">
                              <a:alpha val="100000"/>
                            </a:srgbClr>
                          </a:solidFill>
                          <a:prstDash val="solid"/>
                        </a:lnT>
                        <a:lnB w="12700" cap="flat" cmpd="sng" algn="ctr">
                          <a:solidFill>
                            <a:srgbClr val="000000">
                              <a:alpha val="100000"/>
                            </a:srgbClr>
                          </a:solidFill>
                          <a:prstDash val="solid"/>
                        </a:lnB>
                        <a:solidFill>
                          <a:srgbClr val="FFFFFF">
                            <a:alpha val="0"/>
                          </a:srgbClr>
                        </a:solidFill>
                      </a:tcPr>
                    </a:tc>
                    <a:tc>
                      <a:txBody>
                        <a:bodyPr/>
                        <a:lstStyle/>
                        <a:p>
                          <a:pPr marL="63500" marR="63500" algn="ctr">
                            <a:lnSpc>
                              <a:spcPct val="100000"/>
                            </a:lnSpc>
                            <a:spcBef>
                              <a:spcPts val="500"/>
                            </a:spcBef>
                            <a:spcAft>
                              <a:spcPts val="500"/>
                            </a:spcAft>
                            <a:buNone/>
                          </a:pPr>
                          <a:r>
                            <a:rPr sz="1000" b="0" i="0" u="none" strike="noStrike" cap="none">
                              <a:solidFill>
                                <a:srgbClr val="000000">
                                  <a:alpha val="100000"/>
                                </a:srgbClr>
                              </a:solidFill>
                              <a:latin typeface="Arial"/>
                              <a:cs typeface="Helvetica"/>
                              <a:sym typeface="Helvetica"/>
                            </a:rPr>
                            <a:t>0.117***</a:t>
                          </a:r>
                        </a:p>
                      </a:txBody>
                      <a:tcPr marL="0" marR="0" marT="63500" marB="63500" anchor="ctr">
                        <a:lnL w="12700" cap="flat" cmpd="sng" algn="ctr">
                          <a:solidFill>
                            <a:srgbClr val="FFFFFF">
                              <a:alpha val="100000"/>
                            </a:srgbClr>
                          </a:solidFill>
                          <a:prstDash val="solid"/>
                        </a:lnL>
                        <a:lnR w="12700" cap="flat" cmpd="sng" algn="ctr">
                          <a:solidFill>
                            <a:srgbClr val="FFFFFF">
                              <a:alpha val="100000"/>
                            </a:srgbClr>
                          </a:solidFill>
                          <a:prstDash val="solid"/>
                        </a:lnR>
                        <a:lnT w="12700" cap="flat" cmpd="sng" algn="ctr">
                          <a:solidFill>
                            <a:srgbClr val="FFFFFF">
                              <a:alpha val="100000"/>
                            </a:srgbClr>
                          </a:solidFill>
                          <a:prstDash val="solid"/>
                        </a:lnT>
                        <a:lnB w="12700" cap="flat" cmpd="sng" algn="ctr">
                          <a:solidFill>
                            <a:srgbClr val="000000">
                              <a:alpha val="100000"/>
                            </a:srgbClr>
                          </a:solidFill>
                          <a:prstDash val="solid"/>
                        </a:lnB>
                        <a:solidFill>
                          <a:srgbClr val="FFFFFF">
                            <a:alpha val="0"/>
                          </a:srgbClr>
                        </a:solidFill>
                      </a:tcPr>
                    </a:tc>
                    <a:tc>
                      <a:txBody>
                        <a:bodyPr/>
                        <a:lstStyle/>
                        <a:p>
                          <a:pPr marL="63500" marR="63500" algn="ctr">
                            <a:lnSpc>
                              <a:spcPct val="100000"/>
                            </a:lnSpc>
                            <a:spcBef>
                              <a:spcPts val="500"/>
                            </a:spcBef>
                            <a:spcAft>
                              <a:spcPts val="500"/>
                            </a:spcAft>
                            <a:buNone/>
                          </a:pPr>
                          <a:r>
                            <a:rPr sz="1000" b="0" i="0" u="none" strike="noStrike" cap="none" dirty="0">
                              <a:solidFill>
                                <a:srgbClr val="000000">
                                  <a:alpha val="100000"/>
                                </a:srgbClr>
                              </a:solidFill>
                              <a:latin typeface="Arial"/>
                              <a:cs typeface="Helvetica"/>
                              <a:sym typeface="Helvetica"/>
                            </a:rPr>
                            <a:t>0.184**</a:t>
                          </a:r>
                        </a:p>
                      </a:txBody>
                      <a:tcPr marL="0" marR="0" marT="63500" marB="63500" anchor="ctr">
                        <a:lnL w="12700" cap="flat" cmpd="sng" algn="ctr">
                          <a:solidFill>
                            <a:srgbClr val="FFFFFF">
                              <a:alpha val="100000"/>
                            </a:srgbClr>
                          </a:solidFill>
                          <a:prstDash val="solid"/>
                        </a:lnL>
                        <a:lnR w="12700" cap="flat" cmpd="sng" algn="ctr">
                          <a:solidFill>
                            <a:srgbClr val="FFFFFF">
                              <a:alpha val="100000"/>
                            </a:srgbClr>
                          </a:solidFill>
                          <a:prstDash val="solid"/>
                        </a:lnR>
                        <a:lnT w="12700" cap="flat" cmpd="sng" algn="ctr">
                          <a:solidFill>
                            <a:srgbClr val="FFFFFF">
                              <a:alpha val="100000"/>
                            </a:srgbClr>
                          </a:solidFill>
                          <a:prstDash val="solid"/>
                        </a:lnT>
                        <a:lnB w="12700" cap="flat" cmpd="sng" algn="ctr">
                          <a:solidFill>
                            <a:srgbClr val="000000">
                              <a:alpha val="100000"/>
                            </a:srgbClr>
                          </a:solidFill>
                          <a:prstDash val="solid"/>
                        </a:lnB>
                        <a:solidFill>
                          <a:srgbClr val="FFFFFF">
                            <a:alpha val="0"/>
                          </a:srgbClr>
                        </a:solidFill>
                      </a:tcPr>
                    </a:tc>
                    <a:tc>
                      <a:txBody>
                        <a:bodyPr/>
                        <a:lstStyle/>
                        <a:p>
                          <a:pPr marL="63500" marR="63500" algn="ctr">
                            <a:lnSpc>
                              <a:spcPct val="100000"/>
                            </a:lnSpc>
                            <a:spcBef>
                              <a:spcPts val="500"/>
                            </a:spcBef>
                            <a:spcAft>
                              <a:spcPts val="500"/>
                            </a:spcAft>
                            <a:buNone/>
                          </a:pPr>
                          <a:r>
                            <a:rPr sz="1000" b="0" i="0" u="none" strike="noStrike" cap="none" dirty="0">
                              <a:solidFill>
                                <a:srgbClr val="000000">
                                  <a:alpha val="100000"/>
                                </a:srgbClr>
                              </a:solidFill>
                              <a:latin typeface="Arial"/>
                              <a:cs typeface="Helvetica"/>
                              <a:sym typeface="Helvetica"/>
                            </a:rPr>
                            <a:t>0.326*</a:t>
                          </a:r>
                        </a:p>
                      </a:txBody>
                      <a:tcPr marL="0" marR="0" marT="63500" marB="63500" anchor="ctr">
                        <a:lnL w="12700" cap="flat" cmpd="sng" algn="ctr">
                          <a:solidFill>
                            <a:srgbClr val="FFFFFF">
                              <a:alpha val="100000"/>
                            </a:srgbClr>
                          </a:solidFill>
                          <a:prstDash val="solid"/>
                        </a:lnL>
                        <a:lnR w="12700" cap="flat" cmpd="sng" algn="ctr">
                          <a:solidFill>
                            <a:srgbClr val="FFFFFF">
                              <a:alpha val="100000"/>
                            </a:srgbClr>
                          </a:solidFill>
                          <a:prstDash val="solid"/>
                        </a:lnR>
                        <a:lnT w="12700" cap="flat" cmpd="sng" algn="ctr">
                          <a:solidFill>
                            <a:srgbClr val="FFFFFF">
                              <a:alpha val="100000"/>
                            </a:srgbClr>
                          </a:solidFill>
                          <a:prstDash val="solid"/>
                        </a:lnT>
                        <a:lnB w="12700" cap="flat" cmpd="sng" algn="ctr">
                          <a:solidFill>
                            <a:srgbClr val="000000">
                              <a:alpha val="100000"/>
                            </a:srgbClr>
                          </a:solidFill>
                          <a:prstDash val="solid"/>
                        </a:lnB>
                        <a:solidFill>
                          <a:srgbClr val="FFFFFF">
                            <a:alpha val="0"/>
                          </a:srgbClr>
                        </a:solidFill>
                      </a:tcPr>
                    </a:tc>
                    <a:tc>
                      <a:txBody>
                        <a:bodyPr/>
                        <a:lstStyle/>
                        <a:p>
                          <a:pPr marL="63500" marR="63500" algn="ctr">
                            <a:lnSpc>
                              <a:spcPct val="100000"/>
                            </a:lnSpc>
                            <a:spcBef>
                              <a:spcPts val="500"/>
                            </a:spcBef>
                            <a:spcAft>
                              <a:spcPts val="500"/>
                            </a:spcAft>
                            <a:buNone/>
                          </a:pPr>
                          <a:r>
                            <a:rPr sz="1000" b="0" i="0" u="none" strike="noStrike" cap="none" dirty="0">
                              <a:solidFill>
                                <a:srgbClr val="000000">
                                  <a:alpha val="100000"/>
                                </a:srgbClr>
                              </a:solidFill>
                              <a:latin typeface="Arial"/>
                              <a:cs typeface="Helvetica"/>
                              <a:sym typeface="Helvetica"/>
                            </a:rPr>
                            <a:t>0.304**</a:t>
                          </a:r>
                        </a:p>
                      </a:txBody>
                      <a:tcPr marL="0" marR="0" marT="63500" marB="63500" anchor="ctr">
                        <a:lnL w="12700" cap="flat" cmpd="sng" algn="ctr">
                          <a:solidFill>
                            <a:srgbClr val="FFFFFF">
                              <a:alpha val="100000"/>
                            </a:srgbClr>
                          </a:solidFill>
                          <a:prstDash val="solid"/>
                        </a:lnL>
                        <a:lnR w="12700" cap="flat" cmpd="sng" algn="ctr">
                          <a:solidFill>
                            <a:srgbClr val="FFFFFF">
                              <a:alpha val="100000"/>
                            </a:srgbClr>
                          </a:solidFill>
                          <a:prstDash val="solid"/>
                        </a:lnR>
                        <a:lnT w="12700" cap="flat" cmpd="sng" algn="ctr">
                          <a:solidFill>
                            <a:srgbClr val="FFFFFF">
                              <a:alpha val="100000"/>
                            </a:srgbClr>
                          </a:solidFill>
                          <a:prstDash val="solid"/>
                        </a:lnT>
                        <a:lnB w="12700" cap="flat" cmpd="sng" algn="ctr">
                          <a:solidFill>
                            <a:srgbClr val="000000">
                              <a:alpha val="100000"/>
                            </a:srgbClr>
                          </a:solidFill>
                          <a:prstDash val="solid"/>
                        </a:lnB>
                        <a:solidFill>
                          <a:srgbClr val="FFFFFF">
                            <a:alpha val="0"/>
                          </a:srgbClr>
                        </a:solidFill>
                      </a:tcPr>
                    </a:tc>
                    <a:extLst>
                      <a:ext uri="{0D108BD9-81ED-4DB2-BD59-A6C34878D82A}">
                        <a16:rowId xmlns:a16="http://schemas.microsoft.com/office/drawing/2014/main" val="10011"/>
                      </a:ext>
                    </a:extLst>
                  </a:tr>
                  <a:tr h="176361">
                    <a:tc gridSpan="7">
                      <a:txBody>
                        <a:bodyPr/>
                        <a:lstStyle/>
                        <a:p>
                          <a:pPr marL="63500" marR="63500" algn="l">
                            <a:lnSpc>
                              <a:spcPct val="100000"/>
                            </a:lnSpc>
                            <a:spcBef>
                              <a:spcPts val="500"/>
                            </a:spcBef>
                            <a:spcAft>
                              <a:spcPts val="500"/>
                            </a:spcAft>
                            <a:buNone/>
                          </a:pPr>
                          <a:r>
                            <a:rPr sz="800" b="0" i="0" u="none" strike="noStrike" cap="none" dirty="0">
                              <a:solidFill>
                                <a:srgbClr val="000000">
                                  <a:alpha val="100000"/>
                                </a:srgbClr>
                              </a:solidFill>
                              <a:latin typeface="Arial"/>
                              <a:cs typeface="Helvetica"/>
                              <a:sym typeface="Helvetica"/>
                            </a:rPr>
                            <a:t>Note: *** = p value &lt; 0.01, ** = 0.01 &lt; p value &lt; 0.05, * = 0.05 &lt; p value &lt; 0.1.</a:t>
                          </a:r>
                        </a:p>
                      </a:txBody>
                      <a:tcPr marL="0" marR="0" marT="63500" marB="63500" anchor="ctr">
                        <a:lnL w="0" cap="flat" cmpd="sng" algn="ctr">
                          <a:noFill/>
                          <a:prstDash val="solid"/>
                        </a:lnL>
                        <a:lnR w="0" cap="flat" cmpd="sng" algn="ctr">
                          <a:noFill/>
                          <a:prstDash val="solid"/>
                        </a:lnR>
                        <a:lnT w="12700" cap="flat" cmpd="sng" algn="ctr">
                          <a:solidFill>
                            <a:srgbClr val="000000"/>
                          </a:solidFill>
                          <a:prstDash val="solid"/>
                          <a:round/>
                          <a:headEnd type="none" w="med" len="med"/>
                          <a:tailEnd type="none" w="med" len="med"/>
                        </a:lnT>
                        <a:lnB w="0" cap="flat" cmpd="sng" algn="ctr">
                          <a:noFill/>
                          <a:prstDash val="solid"/>
                        </a:lnB>
                        <a:solidFill>
                          <a:srgbClr val="FFFFFF">
                            <a:alpha val="0"/>
                          </a:srgbClr>
                        </a:solidFill>
                      </a:tcPr>
                    </a:tc>
                    <a:tc hMerge="1">
                      <a:txBody>
                        <a:bodyPr/>
                        <a:lstStyle/>
                        <a:p>
                          <a:pPr marL="63500" marR="63500" algn="ctr">
                            <a:lnSpc>
                              <a:spcPct val="100000"/>
                            </a:lnSpc>
                            <a:spcBef>
                              <a:spcPts val="500"/>
                            </a:spcBef>
                            <a:spcAft>
                              <a:spcPts val="500"/>
                            </a:spcAft>
                            <a:buNone/>
                          </a:pPr>
                          <a:r>
                            <a:rPr sz="700" b="0" i="0" u="none" strike="noStrike" cap="none">
                              <a:solidFill>
                                <a:srgbClr val="000000">
                                  <a:alpha val="100000"/>
                                </a:srgbClr>
                              </a:solidFill>
                              <a:latin typeface="Arial"/>
                              <a:cs typeface="Helvetica"/>
                              <a:sym typeface="Helvetica"/>
                            </a:rPr>
                            <a:t>Note: *** = p value &lt; 0.01, ** = 0.01 &lt; p value &lt; 0.05, * = 0.05 &lt; p value &lt; 0.1.</a:t>
                          </a:r>
                        </a:p>
                      </a:txBody>
                      <a:tcPr marL="0" marR="0" marT="63500" marB="63500" anchor="ctr">
                        <a:lnL w="0" cap="flat" cmpd="sng" algn="ctr">
                          <a:noFill/>
                          <a:prstDash val="solid"/>
                        </a:lnL>
                        <a:lnR w="0" cap="flat" cmpd="sng" algn="ctr">
                          <a:noFill/>
                          <a:prstDash val="solid"/>
                        </a:lnR>
                        <a:lnT w="0" cap="flat" cmpd="sng" algn="ctr">
                          <a:noFill/>
                          <a:prstDash val="solid"/>
                        </a:lnT>
                        <a:lnB w="0" cap="flat" cmpd="sng" algn="ctr">
                          <a:noFill/>
                          <a:prstDash val="solid"/>
                        </a:lnB>
                        <a:solidFill>
                          <a:srgbClr val="FFFFFF">
                            <a:alpha val="0"/>
                          </a:srgbClr>
                        </a:solidFill>
                      </a:tcPr>
                    </a:tc>
                    <a:tc hMerge="1">
                      <a:txBody>
                        <a:bodyPr/>
                        <a:lstStyle/>
                        <a:p>
                          <a:pPr marL="63500" marR="63500" algn="l">
                            <a:lnSpc>
                              <a:spcPct val="100000"/>
                            </a:lnSpc>
                            <a:spcBef>
                              <a:spcPts val="500"/>
                            </a:spcBef>
                            <a:spcAft>
                              <a:spcPts val="500"/>
                            </a:spcAft>
                            <a:buNone/>
                          </a:pPr>
                          <a:r>
                            <a:rPr sz="700" b="0" i="0" u="none" strike="noStrike" cap="none">
                              <a:solidFill>
                                <a:srgbClr val="000000">
                                  <a:alpha val="100000"/>
                                </a:srgbClr>
                              </a:solidFill>
                              <a:latin typeface="Arial"/>
                              <a:cs typeface="Helvetica"/>
                              <a:sym typeface="Helvetica"/>
                            </a:rPr>
                            <a:t>Note: *** = p value &lt; 0.01, ** = 0.01 &lt; p value &lt; 0.05, * = 0.05 &lt; p value &lt; 0.1.</a:t>
                          </a:r>
                        </a:p>
                      </a:txBody>
                      <a:tcPr marL="0" marR="0" marT="63500" marB="63500" anchor="ctr">
                        <a:lnL w="0" cap="flat" cmpd="sng" algn="ctr">
                          <a:noFill/>
                          <a:prstDash val="solid"/>
                        </a:lnL>
                        <a:lnR w="0" cap="flat" cmpd="sng" algn="ctr">
                          <a:noFill/>
                          <a:prstDash val="solid"/>
                        </a:lnR>
                        <a:lnT w="0" cap="flat" cmpd="sng" algn="ctr">
                          <a:noFill/>
                          <a:prstDash val="solid"/>
                        </a:lnT>
                        <a:lnB w="0" cap="flat" cmpd="sng" algn="ctr">
                          <a:noFill/>
                          <a:prstDash val="solid"/>
                        </a:lnB>
                        <a:solidFill>
                          <a:srgbClr val="FFFFFF">
                            <a:alpha val="0"/>
                          </a:srgbClr>
                        </a:solidFill>
                      </a:tcPr>
                    </a:tc>
                    <a:tc hMerge="1">
                      <a:txBody>
                        <a:bodyPr/>
                        <a:lstStyle/>
                        <a:p>
                          <a:pPr marL="63500" marR="63500" algn="l">
                            <a:lnSpc>
                              <a:spcPct val="100000"/>
                            </a:lnSpc>
                            <a:spcBef>
                              <a:spcPts val="500"/>
                            </a:spcBef>
                            <a:spcAft>
                              <a:spcPts val="500"/>
                            </a:spcAft>
                            <a:buNone/>
                          </a:pPr>
                          <a:r>
                            <a:rPr sz="700" b="0" i="0" u="none" strike="noStrike" cap="none">
                              <a:solidFill>
                                <a:srgbClr val="000000">
                                  <a:alpha val="100000"/>
                                </a:srgbClr>
                              </a:solidFill>
                              <a:latin typeface="Arial"/>
                              <a:cs typeface="Helvetica"/>
                              <a:sym typeface="Helvetica"/>
                            </a:rPr>
                            <a:t>Note: *** = p value &lt; 0.01, ** = 0.01 &lt; p value &lt; 0.05, * = 0.05 &lt; p value &lt; 0.1.</a:t>
                          </a:r>
                        </a:p>
                      </a:txBody>
                      <a:tcPr marL="0" marR="0" marT="63500" marB="63500" anchor="ctr">
                        <a:lnL w="0" cap="flat" cmpd="sng" algn="ctr">
                          <a:noFill/>
                          <a:prstDash val="solid"/>
                        </a:lnL>
                        <a:lnR w="0" cap="flat" cmpd="sng" algn="ctr">
                          <a:noFill/>
                          <a:prstDash val="solid"/>
                        </a:lnR>
                        <a:lnT w="0" cap="flat" cmpd="sng" algn="ctr">
                          <a:noFill/>
                          <a:prstDash val="solid"/>
                        </a:lnT>
                        <a:lnB w="0" cap="flat" cmpd="sng" algn="ctr">
                          <a:noFill/>
                          <a:prstDash val="solid"/>
                        </a:lnB>
                        <a:solidFill>
                          <a:srgbClr val="FFFFFF">
                            <a:alpha val="0"/>
                          </a:srgbClr>
                        </a:solidFill>
                      </a:tcPr>
                    </a:tc>
                    <a:tc hMerge="1">
                      <a:txBody>
                        <a:bodyPr/>
                        <a:lstStyle/>
                        <a:p>
                          <a:pPr marL="63500" marR="63500" algn="l">
                            <a:lnSpc>
                              <a:spcPct val="100000"/>
                            </a:lnSpc>
                            <a:spcBef>
                              <a:spcPts val="500"/>
                            </a:spcBef>
                            <a:spcAft>
                              <a:spcPts val="500"/>
                            </a:spcAft>
                            <a:buNone/>
                          </a:pPr>
                          <a:r>
                            <a:rPr sz="700" b="0" i="0" u="none" strike="noStrike" cap="none">
                              <a:solidFill>
                                <a:srgbClr val="000000">
                                  <a:alpha val="100000"/>
                                </a:srgbClr>
                              </a:solidFill>
                              <a:latin typeface="Arial"/>
                              <a:cs typeface="Helvetica"/>
                              <a:sym typeface="Helvetica"/>
                            </a:rPr>
                            <a:t>Note: *** = p value &lt; 0.01, ** = 0.01 &lt; p value &lt; 0.05, * = 0.05 &lt; p value &lt; 0.1.</a:t>
                          </a:r>
                        </a:p>
                      </a:txBody>
                      <a:tcPr marL="0" marR="0" marT="63500" marB="63500" anchor="ctr">
                        <a:lnL w="0" cap="flat" cmpd="sng" algn="ctr">
                          <a:noFill/>
                          <a:prstDash val="solid"/>
                        </a:lnL>
                        <a:lnR w="0" cap="flat" cmpd="sng" algn="ctr">
                          <a:noFill/>
                          <a:prstDash val="solid"/>
                        </a:lnR>
                        <a:lnT w="0" cap="flat" cmpd="sng" algn="ctr">
                          <a:noFill/>
                          <a:prstDash val="solid"/>
                        </a:lnT>
                        <a:lnB w="0" cap="flat" cmpd="sng" algn="ctr">
                          <a:noFill/>
                          <a:prstDash val="solid"/>
                        </a:lnB>
                        <a:solidFill>
                          <a:srgbClr val="FFFFFF">
                            <a:alpha val="0"/>
                          </a:srgbClr>
                        </a:solidFill>
                      </a:tcPr>
                    </a:tc>
                    <a:tc hMerge="1">
                      <a:txBody>
                        <a:bodyPr/>
                        <a:lstStyle/>
                        <a:p>
                          <a:pPr marL="63500" marR="63500" algn="l">
                            <a:lnSpc>
                              <a:spcPct val="100000"/>
                            </a:lnSpc>
                            <a:spcBef>
                              <a:spcPts val="500"/>
                            </a:spcBef>
                            <a:spcAft>
                              <a:spcPts val="500"/>
                            </a:spcAft>
                            <a:buNone/>
                          </a:pPr>
                          <a:r>
                            <a:rPr sz="700" b="0" i="0" u="none" strike="noStrike" cap="none">
                              <a:solidFill>
                                <a:srgbClr val="000000">
                                  <a:alpha val="100000"/>
                                </a:srgbClr>
                              </a:solidFill>
                              <a:latin typeface="Arial"/>
                              <a:cs typeface="Helvetica"/>
                              <a:sym typeface="Helvetica"/>
                            </a:rPr>
                            <a:t>Note: *** = p value &lt; 0.01, ** = 0.01 &lt; p value &lt; 0.05, * = 0.05 &lt; p value &lt; 0.1.</a:t>
                          </a:r>
                        </a:p>
                      </a:txBody>
                      <a:tcPr marL="0" marR="0" marT="63500" marB="63500" anchor="ctr">
                        <a:lnL w="0" cap="flat" cmpd="sng" algn="ctr">
                          <a:noFill/>
                          <a:prstDash val="solid"/>
                        </a:lnL>
                        <a:lnR w="0" cap="flat" cmpd="sng" algn="ctr">
                          <a:noFill/>
                          <a:prstDash val="solid"/>
                        </a:lnR>
                        <a:lnT w="0" cap="flat" cmpd="sng" algn="ctr">
                          <a:noFill/>
                          <a:prstDash val="solid"/>
                        </a:lnT>
                        <a:lnB w="0" cap="flat" cmpd="sng" algn="ctr">
                          <a:noFill/>
                          <a:prstDash val="solid"/>
                        </a:lnB>
                        <a:solidFill>
                          <a:srgbClr val="FFFFFF">
                            <a:alpha val="0"/>
                          </a:srgbClr>
                        </a:solidFill>
                      </a:tcPr>
                    </a:tc>
                    <a:tc hMerge="1">
                      <a:txBody>
                        <a:bodyPr/>
                        <a:lstStyle/>
                        <a:p>
                          <a:pPr marL="63500" marR="63500" algn="l">
                            <a:lnSpc>
                              <a:spcPct val="100000"/>
                            </a:lnSpc>
                            <a:spcBef>
                              <a:spcPts val="500"/>
                            </a:spcBef>
                            <a:spcAft>
                              <a:spcPts val="500"/>
                            </a:spcAft>
                            <a:buNone/>
                          </a:pPr>
                          <a:r>
                            <a:rPr sz="700" b="0" i="0" u="none" strike="noStrike" cap="none">
                              <a:solidFill>
                                <a:srgbClr val="000000">
                                  <a:alpha val="100000"/>
                                </a:srgbClr>
                              </a:solidFill>
                              <a:latin typeface="Arial"/>
                              <a:cs typeface="Helvetica"/>
                              <a:sym typeface="Helvetica"/>
                            </a:rPr>
                            <a:t>Note: *** = p value &lt; 0.01, ** = 0.01 &lt; p value &lt; 0.05, * = 0.05 &lt; p value &lt; 0.1.</a:t>
                          </a:r>
                        </a:p>
                      </a:txBody>
                      <a:tcPr marL="0" marR="0" marT="63500" marB="63500" anchor="ctr">
                        <a:lnL w="0" cap="flat" cmpd="sng" algn="ctr">
                          <a:noFill/>
                          <a:prstDash val="solid"/>
                        </a:lnL>
                        <a:lnR w="0" cap="flat" cmpd="sng" algn="ctr">
                          <a:noFill/>
                          <a:prstDash val="solid"/>
                        </a:lnR>
                        <a:lnT w="0" cap="flat" cmpd="sng" algn="ctr">
                          <a:noFill/>
                          <a:prstDash val="solid"/>
                        </a:lnT>
                        <a:lnB w="0" cap="flat" cmpd="sng" algn="ctr">
                          <a:noFill/>
                          <a:prstDash val="solid"/>
                        </a:lnB>
                        <a:solidFill>
                          <a:srgbClr val="FFFFFF">
                            <a:alpha val="0"/>
                          </a:srgbClr>
                        </a:solidFill>
                      </a:tcPr>
                    </a:tc>
                    <a:extLst>
                      <a:ext uri="{0D108BD9-81ED-4DB2-BD59-A6C34878D82A}">
                        <a16:rowId xmlns:a16="http://schemas.microsoft.com/office/drawing/2014/main" val="10012"/>
                      </a:ext>
                    </a:extLst>
                  </a:tr>
                </a:tbl>
              </a:graphicData>
            </a:graphic>
          </p:graphicFrame>
        </mc:Choice>
        <mc:Fallback xmlns="">
          <p:graphicFrame>
            <p:nvGraphicFramePr>
              <p:cNvPr id="434235368" name="Table 434235367"/>
              <p:cNvGraphicFramePr>
                <a:graphicFrameLocks noGrp="1"/>
              </p:cNvGraphicFramePr>
              <p:nvPr>
                <p:extLst>
                  <p:ext uri="{D42A27DB-BD31-4B8C-83A1-F6EECF244321}">
                    <p14:modId xmlns:p14="http://schemas.microsoft.com/office/powerpoint/2010/main" val="901234089"/>
                  </p:ext>
                </p:extLst>
              </p:nvPr>
            </p:nvGraphicFramePr>
            <p:xfrm>
              <a:off x="1174898" y="1532141"/>
              <a:ext cx="9842204" cy="4540927"/>
            </p:xfrm>
            <a:graphic>
              <a:graphicData uri="http://schemas.openxmlformats.org/drawingml/2006/table">
                <a:tbl>
                  <a:tblPr/>
                  <a:tblGrid>
                    <a:gridCol w="1527936">
                      <a:extLst>
                        <a:ext uri="{9D8B030D-6E8A-4147-A177-3AD203B41FA5}">
                          <a16:colId xmlns:a16="http://schemas.microsoft.com/office/drawing/2014/main" val="20000"/>
                        </a:ext>
                      </a:extLst>
                    </a:gridCol>
                    <a:gridCol w="1086662">
                      <a:extLst>
                        <a:ext uri="{9D8B030D-6E8A-4147-A177-3AD203B41FA5}">
                          <a16:colId xmlns:a16="http://schemas.microsoft.com/office/drawing/2014/main" val="20001"/>
                        </a:ext>
                      </a:extLst>
                    </a:gridCol>
                    <a:gridCol w="979014">
                      <a:extLst>
                        <a:ext uri="{9D8B030D-6E8A-4147-A177-3AD203B41FA5}">
                          <a16:colId xmlns:a16="http://schemas.microsoft.com/office/drawing/2014/main" val="20002"/>
                        </a:ext>
                      </a:extLst>
                    </a:gridCol>
                    <a:gridCol w="1018225">
                      <a:extLst>
                        <a:ext uri="{9D8B030D-6E8A-4147-A177-3AD203B41FA5}">
                          <a16:colId xmlns:a16="http://schemas.microsoft.com/office/drawing/2014/main" val="20003"/>
                        </a:ext>
                      </a:extLst>
                    </a:gridCol>
                    <a:gridCol w="1802150">
                      <a:extLst>
                        <a:ext uri="{9D8B030D-6E8A-4147-A177-3AD203B41FA5}">
                          <a16:colId xmlns:a16="http://schemas.microsoft.com/office/drawing/2014/main" val="20004"/>
                        </a:ext>
                      </a:extLst>
                    </a:gridCol>
                    <a:gridCol w="1694503">
                      <a:extLst>
                        <a:ext uri="{9D8B030D-6E8A-4147-A177-3AD203B41FA5}">
                          <a16:colId xmlns:a16="http://schemas.microsoft.com/office/drawing/2014/main" val="20005"/>
                        </a:ext>
                      </a:extLst>
                    </a:gridCol>
                    <a:gridCol w="1733714">
                      <a:extLst>
                        <a:ext uri="{9D8B030D-6E8A-4147-A177-3AD203B41FA5}">
                          <a16:colId xmlns:a16="http://schemas.microsoft.com/office/drawing/2014/main" val="20006"/>
                        </a:ext>
                      </a:extLst>
                    </a:gridCol>
                  </a:tblGrid>
                  <a:tr h="431800">
                    <a:tc>
                      <a:txBody>
                        <a:bodyPr/>
                        <a:lstStyle/>
                        <a:p>
                          <a:pPr marL="63500" marR="63500" algn="l">
                            <a:lnSpc>
                              <a:spcPct val="100000"/>
                            </a:lnSpc>
                            <a:spcBef>
                              <a:spcPts val="500"/>
                            </a:spcBef>
                            <a:spcAft>
                              <a:spcPts val="500"/>
                            </a:spcAft>
                            <a:buNone/>
                          </a:pPr>
                          <a:r>
                            <a:rPr sz="700" b="0" i="0" u="none" strike="noStrike" cap="none">
                              <a:solidFill>
                                <a:srgbClr val="000000">
                                  <a:alpha val="100000"/>
                                </a:srgbClr>
                              </a:solidFill>
                              <a:latin typeface="Arial"/>
                              <a:cs typeface="Helvetica"/>
                              <a:sym typeface="Helvetica"/>
                            </a:rPr>
                            <a:t> </a:t>
                          </a:r>
                        </a:p>
                      </a:txBody>
                      <a:tcPr marL="0" marR="0" marT="63500" marB="63500" anchor="ctr">
                        <a:lnL w="12700" cap="flat" cmpd="sng" algn="ctr">
                          <a:solidFill>
                            <a:srgbClr val="FFFFFF">
                              <a:alpha val="100000"/>
                            </a:srgbClr>
                          </a:solidFill>
                          <a:prstDash val="solid"/>
                        </a:lnL>
                        <a:lnR w="12700" cap="flat" cmpd="sng" algn="ctr">
                          <a:solidFill>
                            <a:srgbClr val="FFFFFF">
                              <a:alpha val="100000"/>
                            </a:srgbClr>
                          </a:solidFill>
                          <a:prstDash val="solid"/>
                        </a:lnR>
                        <a:lnT w="12700" cap="flat" cmpd="sng" algn="ctr">
                          <a:solidFill>
                            <a:srgbClr val="000000">
                              <a:alpha val="100000"/>
                            </a:srgbClr>
                          </a:solidFill>
                          <a:prstDash val="solid"/>
                        </a:lnT>
                        <a:lnB w="12700" cap="flat" cmpd="sng" algn="ctr">
                          <a:solidFill>
                            <a:srgbClr val="000000">
                              <a:alpha val="100000"/>
                            </a:srgbClr>
                          </a:solidFill>
                          <a:prstDash val="solid"/>
                        </a:lnB>
                        <a:solidFill>
                          <a:srgbClr val="FFFFFF">
                            <a:alpha val="0"/>
                          </a:srgbClr>
                        </a:solidFill>
                      </a:tcPr>
                    </a:tc>
                    <a:tc>
                      <a:txBody>
                        <a:bodyPr/>
                        <a:lstStyle/>
                        <a:p>
                          <a:pPr marL="63500" marR="63500" algn="ctr">
                            <a:lnSpc>
                              <a:spcPct val="100000"/>
                            </a:lnSpc>
                            <a:spcBef>
                              <a:spcPts val="500"/>
                            </a:spcBef>
                            <a:spcAft>
                              <a:spcPts val="500"/>
                            </a:spcAft>
                            <a:buNone/>
                          </a:pPr>
                          <a:r>
                            <a:rPr sz="1000" b="0" i="0" u="none" strike="noStrike" cap="none" dirty="0">
                              <a:solidFill>
                                <a:srgbClr val="000000">
                                  <a:alpha val="100000"/>
                                </a:srgbClr>
                              </a:solidFill>
                              <a:latin typeface="Arial"/>
                              <a:cs typeface="Helvetica"/>
                              <a:sym typeface="Helvetica"/>
                            </a:rPr>
                            <a:t>Full Sample</a:t>
                          </a:r>
                        </a:p>
                      </a:txBody>
                      <a:tcPr marL="0" marR="0" marT="63500" marB="63500" anchor="ctr">
                        <a:lnL w="12700" cap="flat" cmpd="sng" algn="ctr">
                          <a:solidFill>
                            <a:srgbClr val="FFFFFF">
                              <a:alpha val="100000"/>
                            </a:srgbClr>
                          </a:solidFill>
                          <a:prstDash val="solid"/>
                        </a:lnL>
                        <a:lnR w="12700" cap="flat" cmpd="sng" algn="ctr">
                          <a:solidFill>
                            <a:srgbClr val="FFFFFF">
                              <a:alpha val="100000"/>
                            </a:srgbClr>
                          </a:solidFill>
                          <a:prstDash val="solid"/>
                        </a:lnR>
                        <a:lnT w="12700" cap="flat" cmpd="sng" algn="ctr">
                          <a:solidFill>
                            <a:srgbClr val="000000">
                              <a:alpha val="100000"/>
                            </a:srgbClr>
                          </a:solidFill>
                          <a:prstDash val="solid"/>
                        </a:lnT>
                        <a:lnB w="12700" cap="flat" cmpd="sng" algn="ctr">
                          <a:solidFill>
                            <a:srgbClr val="000000">
                              <a:alpha val="100000"/>
                            </a:srgbClr>
                          </a:solidFill>
                          <a:prstDash val="solid"/>
                        </a:lnB>
                        <a:solidFill>
                          <a:srgbClr val="FFFFFF">
                            <a:alpha val="0"/>
                          </a:srgbClr>
                        </a:solidFill>
                      </a:tcPr>
                    </a:tc>
                    <a:tc>
                      <a:txBody>
                        <a:bodyPr/>
                        <a:lstStyle/>
                        <a:p>
                          <a:pPr marL="63500" marR="63500" algn="ctr">
                            <a:lnSpc>
                              <a:spcPct val="100000"/>
                            </a:lnSpc>
                            <a:spcBef>
                              <a:spcPts val="500"/>
                            </a:spcBef>
                            <a:spcAft>
                              <a:spcPts val="500"/>
                            </a:spcAft>
                            <a:buNone/>
                          </a:pPr>
                          <a:r>
                            <a:rPr sz="1000" b="0" i="0" u="none" strike="noStrike" cap="none" dirty="0">
                              <a:solidFill>
                                <a:srgbClr val="000000">
                                  <a:alpha val="100000"/>
                                </a:srgbClr>
                              </a:solidFill>
                              <a:latin typeface="Arial"/>
                              <a:cs typeface="Helvetica"/>
                              <a:sym typeface="Helvetica"/>
                            </a:rPr>
                            <a:t>Pre 2017</a:t>
                          </a:r>
                        </a:p>
                      </a:txBody>
                      <a:tcPr marL="0" marR="0" marT="63500" marB="63500" anchor="ctr">
                        <a:lnL w="12700" cap="flat" cmpd="sng" algn="ctr">
                          <a:solidFill>
                            <a:srgbClr val="FFFFFF">
                              <a:alpha val="100000"/>
                            </a:srgbClr>
                          </a:solidFill>
                          <a:prstDash val="solid"/>
                        </a:lnL>
                        <a:lnR w="12700" cap="flat" cmpd="sng" algn="ctr">
                          <a:solidFill>
                            <a:srgbClr val="FFFFFF">
                              <a:alpha val="100000"/>
                            </a:srgbClr>
                          </a:solidFill>
                          <a:prstDash val="solid"/>
                        </a:lnR>
                        <a:lnT w="12700" cap="flat" cmpd="sng" algn="ctr">
                          <a:solidFill>
                            <a:srgbClr val="000000">
                              <a:alpha val="100000"/>
                            </a:srgbClr>
                          </a:solidFill>
                          <a:prstDash val="solid"/>
                        </a:lnT>
                        <a:lnB w="12700" cap="flat" cmpd="sng" algn="ctr">
                          <a:solidFill>
                            <a:srgbClr val="000000">
                              <a:alpha val="100000"/>
                            </a:srgbClr>
                          </a:solidFill>
                          <a:prstDash val="solid"/>
                        </a:lnB>
                        <a:solidFill>
                          <a:srgbClr val="FFFFFF">
                            <a:alpha val="0"/>
                          </a:srgbClr>
                        </a:solidFill>
                      </a:tcPr>
                    </a:tc>
                    <a:tc>
                      <a:txBody>
                        <a:bodyPr/>
                        <a:lstStyle/>
                        <a:p>
                          <a:pPr marL="63500" marR="63500" algn="ctr">
                            <a:lnSpc>
                              <a:spcPct val="100000"/>
                            </a:lnSpc>
                            <a:spcBef>
                              <a:spcPts val="500"/>
                            </a:spcBef>
                            <a:spcAft>
                              <a:spcPts val="500"/>
                            </a:spcAft>
                            <a:buNone/>
                          </a:pPr>
                          <a:r>
                            <a:rPr sz="1000" b="0" i="0" u="none" strike="noStrike" cap="none">
                              <a:solidFill>
                                <a:srgbClr val="000000">
                                  <a:alpha val="100000"/>
                                </a:srgbClr>
                              </a:solidFill>
                              <a:latin typeface="Arial"/>
                              <a:cs typeface="Helvetica"/>
                              <a:sym typeface="Helvetica"/>
                            </a:rPr>
                            <a:t>Post 2017</a:t>
                          </a:r>
                        </a:p>
                      </a:txBody>
                      <a:tcPr marL="0" marR="0" marT="63500" marB="63500" anchor="ctr">
                        <a:lnL w="12700" cap="flat" cmpd="sng" algn="ctr">
                          <a:solidFill>
                            <a:srgbClr val="FFFFFF">
                              <a:alpha val="100000"/>
                            </a:srgbClr>
                          </a:solidFill>
                          <a:prstDash val="solid"/>
                        </a:lnL>
                        <a:lnR w="12700" cap="flat" cmpd="sng" algn="ctr">
                          <a:solidFill>
                            <a:srgbClr val="FFFFFF">
                              <a:alpha val="100000"/>
                            </a:srgbClr>
                          </a:solidFill>
                          <a:prstDash val="solid"/>
                        </a:lnR>
                        <a:lnT w="12700" cap="flat" cmpd="sng" algn="ctr">
                          <a:solidFill>
                            <a:srgbClr val="000000">
                              <a:alpha val="100000"/>
                            </a:srgbClr>
                          </a:solidFill>
                          <a:prstDash val="solid"/>
                        </a:lnT>
                        <a:lnB w="12700" cap="flat" cmpd="sng" algn="ctr">
                          <a:solidFill>
                            <a:srgbClr val="000000">
                              <a:alpha val="100000"/>
                            </a:srgbClr>
                          </a:solidFill>
                          <a:prstDash val="solid"/>
                        </a:lnB>
                        <a:solidFill>
                          <a:srgbClr val="FFFFFF">
                            <a:alpha val="0"/>
                          </a:srgbClr>
                        </a:solidFill>
                      </a:tcPr>
                    </a:tc>
                    <a:tc>
                      <a:txBody>
                        <a:bodyPr/>
                        <a:lstStyle/>
                        <a:p>
                          <a:pPr marL="63500" marR="63500" algn="ctr">
                            <a:lnSpc>
                              <a:spcPct val="100000"/>
                            </a:lnSpc>
                            <a:spcBef>
                              <a:spcPts val="500"/>
                            </a:spcBef>
                            <a:spcAft>
                              <a:spcPts val="500"/>
                            </a:spcAft>
                            <a:buNone/>
                          </a:pPr>
                          <a:r>
                            <a:rPr sz="1000" b="0" i="0" u="none" strike="noStrike" cap="none">
                              <a:solidFill>
                                <a:srgbClr val="000000">
                                  <a:alpha val="100000"/>
                                </a:srgbClr>
                              </a:solidFill>
                              <a:latin typeface="Arial"/>
                              <a:cs typeface="Helvetica"/>
                              <a:sym typeface="Helvetica"/>
                            </a:rPr>
                            <a:t>Full Sample: Squared Inflation</a:t>
                          </a:r>
                        </a:p>
                      </a:txBody>
                      <a:tcPr marL="0" marR="0" marT="63500" marB="63500" anchor="ctr">
                        <a:lnL w="12700" cap="flat" cmpd="sng" algn="ctr">
                          <a:solidFill>
                            <a:srgbClr val="FFFFFF">
                              <a:alpha val="100000"/>
                            </a:srgbClr>
                          </a:solidFill>
                          <a:prstDash val="solid"/>
                        </a:lnL>
                        <a:lnR w="12700" cap="flat" cmpd="sng" algn="ctr">
                          <a:solidFill>
                            <a:srgbClr val="FFFFFF">
                              <a:alpha val="100000"/>
                            </a:srgbClr>
                          </a:solidFill>
                          <a:prstDash val="solid"/>
                        </a:lnR>
                        <a:lnT w="12700" cap="flat" cmpd="sng" algn="ctr">
                          <a:solidFill>
                            <a:srgbClr val="000000">
                              <a:alpha val="100000"/>
                            </a:srgbClr>
                          </a:solidFill>
                          <a:prstDash val="solid"/>
                        </a:lnT>
                        <a:lnB w="12700" cap="flat" cmpd="sng" algn="ctr">
                          <a:solidFill>
                            <a:srgbClr val="000000">
                              <a:alpha val="100000"/>
                            </a:srgbClr>
                          </a:solidFill>
                          <a:prstDash val="solid"/>
                        </a:lnB>
                        <a:solidFill>
                          <a:srgbClr val="FFFFFF">
                            <a:alpha val="0"/>
                          </a:srgbClr>
                        </a:solidFill>
                      </a:tcPr>
                    </a:tc>
                    <a:tc>
                      <a:txBody>
                        <a:bodyPr/>
                        <a:lstStyle/>
                        <a:p>
                          <a:pPr marL="63500" marR="63500" algn="ctr">
                            <a:lnSpc>
                              <a:spcPct val="100000"/>
                            </a:lnSpc>
                            <a:spcBef>
                              <a:spcPts val="500"/>
                            </a:spcBef>
                            <a:spcAft>
                              <a:spcPts val="500"/>
                            </a:spcAft>
                            <a:buNone/>
                          </a:pPr>
                          <a:r>
                            <a:rPr sz="1000" b="0" i="0" u="none" strike="noStrike" cap="none">
                              <a:solidFill>
                                <a:srgbClr val="000000">
                                  <a:alpha val="100000"/>
                                </a:srgbClr>
                              </a:solidFill>
                              <a:latin typeface="Arial"/>
                              <a:cs typeface="Helvetica"/>
                              <a:sym typeface="Helvetica"/>
                            </a:rPr>
                            <a:t>Pre 2017: Squared Inflation</a:t>
                          </a:r>
                        </a:p>
                      </a:txBody>
                      <a:tcPr marL="0" marR="0" marT="63500" marB="63500" anchor="ctr">
                        <a:lnL w="12700" cap="flat" cmpd="sng" algn="ctr">
                          <a:solidFill>
                            <a:srgbClr val="FFFFFF">
                              <a:alpha val="100000"/>
                            </a:srgbClr>
                          </a:solidFill>
                          <a:prstDash val="solid"/>
                        </a:lnL>
                        <a:lnR w="12700" cap="flat" cmpd="sng" algn="ctr">
                          <a:solidFill>
                            <a:srgbClr val="FFFFFF">
                              <a:alpha val="100000"/>
                            </a:srgbClr>
                          </a:solidFill>
                          <a:prstDash val="solid"/>
                        </a:lnR>
                        <a:lnT w="12700" cap="flat" cmpd="sng" algn="ctr">
                          <a:solidFill>
                            <a:srgbClr val="000000">
                              <a:alpha val="100000"/>
                            </a:srgbClr>
                          </a:solidFill>
                          <a:prstDash val="solid"/>
                        </a:lnT>
                        <a:lnB w="12700" cap="flat" cmpd="sng" algn="ctr">
                          <a:solidFill>
                            <a:srgbClr val="000000">
                              <a:alpha val="100000"/>
                            </a:srgbClr>
                          </a:solidFill>
                          <a:prstDash val="solid"/>
                        </a:lnB>
                        <a:solidFill>
                          <a:srgbClr val="FFFFFF">
                            <a:alpha val="0"/>
                          </a:srgbClr>
                        </a:solidFill>
                      </a:tcPr>
                    </a:tc>
                    <a:tc>
                      <a:txBody>
                        <a:bodyPr/>
                        <a:lstStyle/>
                        <a:p>
                          <a:pPr marL="63500" marR="63500" algn="ctr">
                            <a:lnSpc>
                              <a:spcPct val="100000"/>
                            </a:lnSpc>
                            <a:spcBef>
                              <a:spcPts val="500"/>
                            </a:spcBef>
                            <a:spcAft>
                              <a:spcPts val="500"/>
                            </a:spcAft>
                            <a:buNone/>
                          </a:pPr>
                          <a:r>
                            <a:rPr sz="1000" b="0" i="0" u="none" strike="noStrike" cap="none">
                              <a:solidFill>
                                <a:srgbClr val="000000">
                                  <a:alpha val="100000"/>
                                </a:srgbClr>
                              </a:solidFill>
                              <a:latin typeface="Arial"/>
                              <a:cs typeface="Helvetica"/>
                              <a:sym typeface="Helvetica"/>
                            </a:rPr>
                            <a:t>Post 2017: Squared Inflation</a:t>
                          </a:r>
                        </a:p>
                      </a:txBody>
                      <a:tcPr marL="0" marR="0" marT="63500" marB="63500" anchor="ctr">
                        <a:lnL w="12700" cap="flat" cmpd="sng" algn="ctr">
                          <a:solidFill>
                            <a:srgbClr val="FFFFFF">
                              <a:alpha val="100000"/>
                            </a:srgbClr>
                          </a:solidFill>
                          <a:prstDash val="solid"/>
                        </a:lnL>
                        <a:lnR w="12700" cap="flat" cmpd="sng" algn="ctr">
                          <a:solidFill>
                            <a:srgbClr val="FFFFFF">
                              <a:alpha val="100000"/>
                            </a:srgbClr>
                          </a:solidFill>
                          <a:prstDash val="solid"/>
                        </a:lnR>
                        <a:lnT w="12700" cap="flat" cmpd="sng" algn="ctr">
                          <a:solidFill>
                            <a:srgbClr val="000000">
                              <a:alpha val="100000"/>
                            </a:srgbClr>
                          </a:solidFill>
                          <a:prstDash val="solid"/>
                        </a:lnT>
                        <a:lnB w="12700" cap="flat" cmpd="sng" algn="ctr">
                          <a:solidFill>
                            <a:srgbClr val="000000">
                              <a:alpha val="100000"/>
                            </a:srgbClr>
                          </a:solidFill>
                          <a:prstDash val="solid"/>
                        </a:lnB>
                        <a:solidFill>
                          <a:srgbClr val="FFFFFF">
                            <a:alpha val="0"/>
                          </a:srgbClr>
                        </a:solidFill>
                      </a:tcPr>
                    </a:tc>
                    <a:extLst>
                      <a:ext uri="{0D108BD9-81ED-4DB2-BD59-A6C34878D82A}">
                        <a16:rowId xmlns:a16="http://schemas.microsoft.com/office/drawing/2014/main" val="10000"/>
                      </a:ext>
                    </a:extLst>
                  </a:tr>
                  <a:tr h="350806">
                    <a:tc>
                      <a:txBody>
                        <a:bodyPr/>
                        <a:lstStyle/>
                        <a:p>
                          <a:endParaRPr lang="en-US"/>
                        </a:p>
                      </a:txBody>
                      <a:tcPr marL="0" marR="0" marT="63500" marB="63500" anchor="ctr">
                        <a:lnL w="12700" cap="flat" cmpd="sng" algn="ctr">
                          <a:solidFill>
                            <a:srgbClr val="FFFFFF">
                              <a:alpha val="100000"/>
                            </a:srgbClr>
                          </a:solidFill>
                          <a:prstDash val="solid"/>
                        </a:lnL>
                        <a:lnR w="12700" cap="flat" cmpd="sng" algn="ctr">
                          <a:solidFill>
                            <a:srgbClr val="FFFFFF">
                              <a:alpha val="100000"/>
                            </a:srgbClr>
                          </a:solidFill>
                          <a:prstDash val="solid"/>
                        </a:lnR>
                        <a:lnT w="12700" cap="flat" cmpd="sng" algn="ctr">
                          <a:solidFill>
                            <a:srgbClr val="000000"/>
                          </a:solidFill>
                          <a:prstDash val="solid"/>
                          <a:round/>
                          <a:headEnd type="none" w="med" len="med"/>
                          <a:tailEnd type="none" w="med" len="med"/>
                        </a:lnT>
                        <a:lnB w="12700" cap="flat" cmpd="sng" algn="ctr">
                          <a:solidFill>
                            <a:srgbClr val="FFFFFF">
                              <a:alpha val="100000"/>
                            </a:srgbClr>
                          </a:solidFill>
                          <a:prstDash val="solid"/>
                        </a:lnB>
                        <a:blipFill>
                          <a:blip r:embed="rId3"/>
                          <a:stretch>
                            <a:fillRect l="-833" t="-121429" r="-547500" b="-1064286"/>
                          </a:stretch>
                        </a:blipFill>
                      </a:tcPr>
                    </a:tc>
                    <a:tc>
                      <a:txBody>
                        <a:bodyPr/>
                        <a:lstStyle/>
                        <a:p>
                          <a:pPr marL="63500" marR="63500" algn="ctr">
                            <a:lnSpc>
                              <a:spcPct val="100000"/>
                            </a:lnSpc>
                            <a:spcBef>
                              <a:spcPts val="500"/>
                            </a:spcBef>
                            <a:spcAft>
                              <a:spcPts val="500"/>
                            </a:spcAft>
                            <a:buNone/>
                          </a:pPr>
                          <a:r>
                            <a:rPr sz="1000" b="0" i="0" u="none" strike="noStrike" cap="none">
                              <a:solidFill>
                                <a:srgbClr val="000000">
                                  <a:alpha val="100000"/>
                                </a:srgbClr>
                              </a:solidFill>
                              <a:latin typeface="Arial"/>
                              <a:cs typeface="Helvetica"/>
                              <a:sym typeface="Helvetica"/>
                            </a:rPr>
                            <a:t>0.01*</a:t>
                          </a:r>
                        </a:p>
                      </a:txBody>
                      <a:tcPr marL="0" marR="0" marT="63500" marB="63500" anchor="ctr">
                        <a:lnL w="12700" cap="flat" cmpd="sng" algn="ctr">
                          <a:solidFill>
                            <a:srgbClr val="FFFFFF">
                              <a:alpha val="100000"/>
                            </a:srgbClr>
                          </a:solidFill>
                          <a:prstDash val="solid"/>
                        </a:lnL>
                        <a:lnR w="12700" cap="flat" cmpd="sng" algn="ctr">
                          <a:solidFill>
                            <a:srgbClr val="FFFFFF">
                              <a:alpha val="100000"/>
                            </a:srgbClr>
                          </a:solidFill>
                          <a:prstDash val="solid"/>
                        </a:lnR>
                        <a:lnT w="12700" cap="flat" cmpd="sng" algn="ctr">
                          <a:solidFill>
                            <a:srgbClr val="000000"/>
                          </a:solidFill>
                          <a:prstDash val="solid"/>
                          <a:round/>
                          <a:headEnd type="none" w="med" len="med"/>
                          <a:tailEnd type="none" w="med" len="med"/>
                        </a:lnT>
                        <a:lnB w="12700" cap="flat" cmpd="sng" algn="ctr">
                          <a:solidFill>
                            <a:srgbClr val="FFFFFF">
                              <a:alpha val="100000"/>
                            </a:srgbClr>
                          </a:solidFill>
                          <a:prstDash val="solid"/>
                        </a:lnB>
                        <a:solidFill>
                          <a:srgbClr val="FFFFFF">
                            <a:alpha val="0"/>
                          </a:srgbClr>
                        </a:solidFill>
                      </a:tcPr>
                    </a:tc>
                    <a:tc>
                      <a:txBody>
                        <a:bodyPr/>
                        <a:lstStyle/>
                        <a:p>
                          <a:pPr marL="63500" marR="63500" algn="ctr">
                            <a:lnSpc>
                              <a:spcPct val="100000"/>
                            </a:lnSpc>
                            <a:spcBef>
                              <a:spcPts val="500"/>
                            </a:spcBef>
                            <a:spcAft>
                              <a:spcPts val="500"/>
                            </a:spcAft>
                            <a:buNone/>
                          </a:pPr>
                          <a:r>
                            <a:rPr sz="1000" b="0" i="0" u="none" strike="noStrike" cap="none" dirty="0">
                              <a:solidFill>
                                <a:srgbClr val="000000">
                                  <a:alpha val="100000"/>
                                </a:srgbClr>
                              </a:solidFill>
                              <a:latin typeface="Arial"/>
                              <a:cs typeface="Helvetica"/>
                              <a:sym typeface="Helvetica"/>
                            </a:rPr>
                            <a:t>0.009 </a:t>
                          </a:r>
                        </a:p>
                      </a:txBody>
                      <a:tcPr marL="0" marR="0" marT="63500" marB="63500" anchor="ctr">
                        <a:lnL w="12700" cap="flat" cmpd="sng" algn="ctr">
                          <a:solidFill>
                            <a:srgbClr val="FFFFFF">
                              <a:alpha val="100000"/>
                            </a:srgbClr>
                          </a:solidFill>
                          <a:prstDash val="solid"/>
                        </a:lnL>
                        <a:lnR w="12700" cap="flat" cmpd="sng" algn="ctr">
                          <a:solidFill>
                            <a:srgbClr val="FFFFFF">
                              <a:alpha val="100000"/>
                            </a:srgbClr>
                          </a:solidFill>
                          <a:prstDash val="solid"/>
                        </a:lnR>
                        <a:lnT w="12700" cap="flat" cmpd="sng" algn="ctr">
                          <a:solidFill>
                            <a:srgbClr val="000000"/>
                          </a:solidFill>
                          <a:prstDash val="solid"/>
                          <a:round/>
                          <a:headEnd type="none" w="med" len="med"/>
                          <a:tailEnd type="none" w="med" len="med"/>
                        </a:lnT>
                        <a:lnB w="12700" cap="flat" cmpd="sng" algn="ctr">
                          <a:solidFill>
                            <a:srgbClr val="FFFFFF">
                              <a:alpha val="100000"/>
                            </a:srgbClr>
                          </a:solidFill>
                          <a:prstDash val="solid"/>
                        </a:lnB>
                        <a:solidFill>
                          <a:srgbClr val="FFFFFF">
                            <a:alpha val="0"/>
                          </a:srgbClr>
                        </a:solidFill>
                      </a:tcPr>
                    </a:tc>
                    <a:tc>
                      <a:txBody>
                        <a:bodyPr/>
                        <a:lstStyle/>
                        <a:p>
                          <a:pPr marL="63500" marR="63500" algn="ctr">
                            <a:lnSpc>
                              <a:spcPct val="100000"/>
                            </a:lnSpc>
                            <a:spcBef>
                              <a:spcPts val="500"/>
                            </a:spcBef>
                            <a:spcAft>
                              <a:spcPts val="500"/>
                            </a:spcAft>
                            <a:buNone/>
                          </a:pPr>
                          <a:r>
                            <a:rPr sz="1000" b="0" i="0" u="none" strike="noStrike" cap="none" dirty="0">
                              <a:solidFill>
                                <a:srgbClr val="000000">
                                  <a:alpha val="100000"/>
                                </a:srgbClr>
                              </a:solidFill>
                              <a:latin typeface="Arial"/>
                              <a:cs typeface="Helvetica"/>
                              <a:sym typeface="Helvetica"/>
                            </a:rPr>
                            <a:t>0.032***</a:t>
                          </a:r>
                        </a:p>
                      </a:txBody>
                      <a:tcPr marL="0" marR="0" marT="63500" marB="63500" anchor="ctr">
                        <a:lnL w="12700" cap="flat" cmpd="sng" algn="ctr">
                          <a:solidFill>
                            <a:srgbClr val="FFFFFF">
                              <a:alpha val="100000"/>
                            </a:srgbClr>
                          </a:solidFill>
                          <a:prstDash val="solid"/>
                        </a:lnL>
                        <a:lnR w="12700" cap="flat" cmpd="sng" algn="ctr">
                          <a:solidFill>
                            <a:srgbClr val="FFFFFF">
                              <a:alpha val="100000"/>
                            </a:srgbClr>
                          </a:solidFill>
                          <a:prstDash val="solid"/>
                        </a:lnR>
                        <a:lnT w="12700" cap="flat" cmpd="sng" algn="ctr">
                          <a:solidFill>
                            <a:srgbClr val="000000"/>
                          </a:solidFill>
                          <a:prstDash val="solid"/>
                          <a:round/>
                          <a:headEnd type="none" w="med" len="med"/>
                          <a:tailEnd type="none" w="med" len="med"/>
                        </a:lnT>
                        <a:lnB w="12700" cap="flat" cmpd="sng" algn="ctr">
                          <a:solidFill>
                            <a:srgbClr val="FFFFFF">
                              <a:alpha val="100000"/>
                            </a:srgbClr>
                          </a:solidFill>
                          <a:prstDash val="solid"/>
                        </a:lnB>
                        <a:solidFill>
                          <a:srgbClr val="FFFFFF">
                            <a:alpha val="0"/>
                          </a:srgbClr>
                        </a:solidFill>
                      </a:tcPr>
                    </a:tc>
                    <a:tc>
                      <a:txBody>
                        <a:bodyPr/>
                        <a:lstStyle/>
                        <a:p>
                          <a:pPr marL="63500" marR="63500" algn="ctr">
                            <a:lnSpc>
                              <a:spcPct val="100000"/>
                            </a:lnSpc>
                            <a:spcBef>
                              <a:spcPts val="500"/>
                            </a:spcBef>
                            <a:spcAft>
                              <a:spcPts val="500"/>
                            </a:spcAft>
                            <a:buNone/>
                          </a:pPr>
                          <a:r>
                            <a:rPr sz="1000" b="0" i="0" u="none" strike="noStrike" cap="none">
                              <a:solidFill>
                                <a:srgbClr val="000000">
                                  <a:alpha val="100000"/>
                                </a:srgbClr>
                              </a:solidFill>
                              <a:latin typeface="Arial"/>
                              <a:cs typeface="Helvetica"/>
                              <a:sym typeface="Helvetica"/>
                            </a:rPr>
                            <a:t>-0.046 </a:t>
                          </a:r>
                        </a:p>
                      </a:txBody>
                      <a:tcPr marL="0" marR="0" marT="63500" marB="63500" anchor="ctr">
                        <a:lnL w="12700" cap="flat" cmpd="sng" algn="ctr">
                          <a:solidFill>
                            <a:srgbClr val="FFFFFF">
                              <a:alpha val="100000"/>
                            </a:srgbClr>
                          </a:solidFill>
                          <a:prstDash val="solid"/>
                        </a:lnL>
                        <a:lnR w="12700" cap="flat" cmpd="sng" algn="ctr">
                          <a:solidFill>
                            <a:srgbClr val="FFFFFF">
                              <a:alpha val="100000"/>
                            </a:srgbClr>
                          </a:solidFill>
                          <a:prstDash val="solid"/>
                        </a:lnR>
                        <a:lnT w="12700" cap="flat" cmpd="sng" algn="ctr">
                          <a:solidFill>
                            <a:srgbClr val="000000"/>
                          </a:solidFill>
                          <a:prstDash val="solid"/>
                          <a:round/>
                          <a:headEnd type="none" w="med" len="med"/>
                          <a:tailEnd type="none" w="med" len="med"/>
                        </a:lnT>
                        <a:lnB w="12700" cap="flat" cmpd="sng" algn="ctr">
                          <a:solidFill>
                            <a:srgbClr val="FFFFFF">
                              <a:alpha val="100000"/>
                            </a:srgbClr>
                          </a:solidFill>
                          <a:prstDash val="solid"/>
                        </a:lnB>
                        <a:solidFill>
                          <a:srgbClr val="FFFFFF">
                            <a:alpha val="0"/>
                          </a:srgbClr>
                        </a:solidFill>
                      </a:tcPr>
                    </a:tc>
                    <a:tc>
                      <a:txBody>
                        <a:bodyPr/>
                        <a:lstStyle/>
                        <a:p>
                          <a:pPr marL="63500" marR="63500" algn="ctr">
                            <a:lnSpc>
                              <a:spcPct val="100000"/>
                            </a:lnSpc>
                            <a:spcBef>
                              <a:spcPts val="500"/>
                            </a:spcBef>
                            <a:spcAft>
                              <a:spcPts val="500"/>
                            </a:spcAft>
                            <a:buNone/>
                          </a:pPr>
                          <a:r>
                            <a:rPr sz="1000" b="0" i="0" u="none" strike="noStrike" cap="none">
                              <a:solidFill>
                                <a:srgbClr val="000000">
                                  <a:alpha val="100000"/>
                                </a:srgbClr>
                              </a:solidFill>
                              <a:latin typeface="Arial"/>
                              <a:cs typeface="Helvetica"/>
                              <a:sym typeface="Helvetica"/>
                            </a:rPr>
                            <a:t>-0.104 </a:t>
                          </a:r>
                        </a:p>
                      </a:txBody>
                      <a:tcPr marL="0" marR="0" marT="63500" marB="63500" anchor="ctr">
                        <a:lnL w="12700" cap="flat" cmpd="sng" algn="ctr">
                          <a:solidFill>
                            <a:srgbClr val="FFFFFF">
                              <a:alpha val="100000"/>
                            </a:srgbClr>
                          </a:solidFill>
                          <a:prstDash val="solid"/>
                        </a:lnL>
                        <a:lnR w="12700" cap="flat" cmpd="sng" algn="ctr">
                          <a:solidFill>
                            <a:srgbClr val="FFFFFF">
                              <a:alpha val="100000"/>
                            </a:srgbClr>
                          </a:solidFill>
                          <a:prstDash val="solid"/>
                        </a:lnR>
                        <a:lnT w="12700" cap="flat" cmpd="sng" algn="ctr">
                          <a:solidFill>
                            <a:srgbClr val="000000"/>
                          </a:solidFill>
                          <a:prstDash val="solid"/>
                          <a:round/>
                          <a:headEnd type="none" w="med" len="med"/>
                          <a:tailEnd type="none" w="med" len="med"/>
                        </a:lnT>
                        <a:lnB w="12700" cap="flat" cmpd="sng" algn="ctr">
                          <a:solidFill>
                            <a:srgbClr val="FFFFFF">
                              <a:alpha val="100000"/>
                            </a:srgbClr>
                          </a:solidFill>
                          <a:prstDash val="solid"/>
                        </a:lnB>
                        <a:solidFill>
                          <a:srgbClr val="FFFFFF">
                            <a:alpha val="0"/>
                          </a:srgbClr>
                        </a:solidFill>
                      </a:tcPr>
                    </a:tc>
                    <a:tc>
                      <a:txBody>
                        <a:bodyPr/>
                        <a:lstStyle/>
                        <a:p>
                          <a:pPr marL="63500" marR="63500" algn="ctr">
                            <a:lnSpc>
                              <a:spcPct val="100000"/>
                            </a:lnSpc>
                            <a:spcBef>
                              <a:spcPts val="500"/>
                            </a:spcBef>
                            <a:spcAft>
                              <a:spcPts val="500"/>
                            </a:spcAft>
                            <a:buNone/>
                          </a:pPr>
                          <a:r>
                            <a:rPr sz="1000" b="0" i="0" u="none" strike="noStrike" cap="none">
                              <a:solidFill>
                                <a:srgbClr val="000000">
                                  <a:alpha val="100000"/>
                                </a:srgbClr>
                              </a:solidFill>
                              <a:latin typeface="Arial"/>
                              <a:cs typeface="Helvetica"/>
                              <a:sym typeface="Helvetica"/>
                            </a:rPr>
                            <a:t>-0.033 </a:t>
                          </a:r>
                        </a:p>
                      </a:txBody>
                      <a:tcPr marL="0" marR="0" marT="63500" marB="63500" anchor="ctr">
                        <a:lnL w="12700" cap="flat" cmpd="sng" algn="ctr">
                          <a:solidFill>
                            <a:srgbClr val="FFFFFF">
                              <a:alpha val="100000"/>
                            </a:srgbClr>
                          </a:solidFill>
                          <a:prstDash val="solid"/>
                        </a:lnL>
                        <a:lnR w="12700" cap="flat" cmpd="sng" algn="ctr">
                          <a:solidFill>
                            <a:srgbClr val="FFFFFF">
                              <a:alpha val="100000"/>
                            </a:srgbClr>
                          </a:solidFill>
                          <a:prstDash val="solid"/>
                        </a:lnR>
                        <a:lnT w="12700" cap="flat" cmpd="sng" algn="ctr">
                          <a:solidFill>
                            <a:srgbClr val="000000"/>
                          </a:solidFill>
                          <a:prstDash val="solid"/>
                          <a:round/>
                          <a:headEnd type="none" w="med" len="med"/>
                          <a:tailEnd type="none" w="med" len="med"/>
                        </a:lnT>
                        <a:lnB w="12700" cap="flat" cmpd="sng" algn="ctr">
                          <a:solidFill>
                            <a:srgbClr val="FFFFFF">
                              <a:alpha val="100000"/>
                            </a:srgbClr>
                          </a:solidFill>
                          <a:prstDash val="solid"/>
                        </a:lnB>
                        <a:solidFill>
                          <a:srgbClr val="FFFFFF">
                            <a:alpha val="0"/>
                          </a:srgbClr>
                        </a:solidFill>
                      </a:tcPr>
                    </a:tc>
                    <a:extLst>
                      <a:ext uri="{0D108BD9-81ED-4DB2-BD59-A6C34878D82A}">
                        <a16:rowId xmlns:a16="http://schemas.microsoft.com/office/drawing/2014/main" val="10001"/>
                      </a:ext>
                    </a:extLst>
                  </a:tr>
                  <a:tr h="352147">
                    <a:tc>
                      <a:txBody>
                        <a:bodyPr/>
                        <a:lstStyle/>
                        <a:p>
                          <a:endParaRPr lang="en-US"/>
                        </a:p>
                      </a:txBody>
                      <a:tcPr marL="0" marR="0" marT="63500" marB="63500" anchor="ctr">
                        <a:lnL w="12700" cap="flat" cmpd="sng" algn="ctr">
                          <a:solidFill>
                            <a:srgbClr val="FFFFFF">
                              <a:alpha val="100000"/>
                            </a:srgbClr>
                          </a:solidFill>
                          <a:prstDash val="solid"/>
                        </a:lnL>
                        <a:lnR w="12700" cap="flat" cmpd="sng" algn="ctr">
                          <a:solidFill>
                            <a:srgbClr val="FFFFFF">
                              <a:alpha val="100000"/>
                            </a:srgbClr>
                          </a:solidFill>
                          <a:prstDash val="solid"/>
                        </a:lnR>
                        <a:lnT w="12700" cap="flat" cmpd="sng" algn="ctr">
                          <a:solidFill>
                            <a:srgbClr val="FFFFFF">
                              <a:alpha val="100000"/>
                            </a:srgbClr>
                          </a:solidFill>
                          <a:prstDash val="solid"/>
                        </a:lnT>
                        <a:lnB w="12700" cap="flat" cmpd="sng" algn="ctr">
                          <a:solidFill>
                            <a:srgbClr val="FFFFFF">
                              <a:alpha val="100000"/>
                            </a:srgbClr>
                          </a:solidFill>
                          <a:prstDash val="solid"/>
                        </a:lnB>
                        <a:blipFill>
                          <a:blip r:embed="rId3"/>
                          <a:stretch>
                            <a:fillRect l="-833" t="-221429" r="-547500" b="-964286"/>
                          </a:stretch>
                        </a:blipFill>
                      </a:tcPr>
                    </a:tc>
                    <a:tc>
                      <a:txBody>
                        <a:bodyPr/>
                        <a:lstStyle/>
                        <a:p>
                          <a:pPr marL="63500" marR="63500" algn="ctr">
                            <a:lnSpc>
                              <a:spcPct val="100000"/>
                            </a:lnSpc>
                            <a:spcBef>
                              <a:spcPts val="500"/>
                            </a:spcBef>
                            <a:spcAft>
                              <a:spcPts val="500"/>
                            </a:spcAft>
                            <a:buNone/>
                          </a:pPr>
                          <a:endParaRPr sz="1000" b="0" i="0" u="none" strike="noStrike" cap="none">
                            <a:solidFill>
                              <a:srgbClr val="000000">
                                <a:alpha val="100000"/>
                              </a:srgbClr>
                            </a:solidFill>
                            <a:latin typeface="Arial"/>
                            <a:cs typeface="Helvetica"/>
                            <a:sym typeface="Helvetica"/>
                          </a:endParaRPr>
                        </a:p>
                      </a:txBody>
                      <a:tcPr marL="0" marR="0" marT="63500" marB="63500" anchor="ctr">
                        <a:lnL w="12700" cap="flat" cmpd="sng" algn="ctr">
                          <a:solidFill>
                            <a:srgbClr val="FFFFFF">
                              <a:alpha val="100000"/>
                            </a:srgbClr>
                          </a:solidFill>
                          <a:prstDash val="solid"/>
                        </a:lnL>
                        <a:lnR w="12700" cap="flat" cmpd="sng" algn="ctr">
                          <a:solidFill>
                            <a:srgbClr val="FFFFFF">
                              <a:alpha val="100000"/>
                            </a:srgbClr>
                          </a:solidFill>
                          <a:prstDash val="solid"/>
                        </a:lnR>
                        <a:lnT w="12700" cap="flat" cmpd="sng" algn="ctr">
                          <a:solidFill>
                            <a:srgbClr val="FFFFFF">
                              <a:alpha val="100000"/>
                            </a:srgbClr>
                          </a:solidFill>
                          <a:prstDash val="solid"/>
                        </a:lnT>
                        <a:lnB w="12700" cap="flat" cmpd="sng" algn="ctr">
                          <a:solidFill>
                            <a:srgbClr val="FFFFFF">
                              <a:alpha val="100000"/>
                            </a:srgbClr>
                          </a:solidFill>
                          <a:prstDash val="solid"/>
                        </a:lnB>
                        <a:solidFill>
                          <a:srgbClr val="FFFFFF">
                            <a:alpha val="0"/>
                          </a:srgbClr>
                        </a:solidFill>
                      </a:tcPr>
                    </a:tc>
                    <a:tc>
                      <a:txBody>
                        <a:bodyPr/>
                        <a:lstStyle/>
                        <a:p>
                          <a:pPr marL="63500" marR="63500" algn="ctr">
                            <a:lnSpc>
                              <a:spcPct val="100000"/>
                            </a:lnSpc>
                            <a:spcBef>
                              <a:spcPts val="500"/>
                            </a:spcBef>
                            <a:spcAft>
                              <a:spcPts val="500"/>
                            </a:spcAft>
                            <a:buNone/>
                          </a:pPr>
                          <a:endParaRPr sz="1000" b="0" i="0" u="none" strike="noStrike" cap="none">
                            <a:solidFill>
                              <a:srgbClr val="000000">
                                <a:alpha val="100000"/>
                              </a:srgbClr>
                            </a:solidFill>
                            <a:latin typeface="Arial"/>
                            <a:cs typeface="Helvetica"/>
                            <a:sym typeface="Helvetica"/>
                          </a:endParaRPr>
                        </a:p>
                      </a:txBody>
                      <a:tcPr marL="0" marR="0" marT="63500" marB="63500" anchor="ctr">
                        <a:lnL w="12700" cap="flat" cmpd="sng" algn="ctr">
                          <a:solidFill>
                            <a:srgbClr val="FFFFFF">
                              <a:alpha val="100000"/>
                            </a:srgbClr>
                          </a:solidFill>
                          <a:prstDash val="solid"/>
                        </a:lnL>
                        <a:lnR w="12700" cap="flat" cmpd="sng" algn="ctr">
                          <a:solidFill>
                            <a:srgbClr val="FFFFFF">
                              <a:alpha val="100000"/>
                            </a:srgbClr>
                          </a:solidFill>
                          <a:prstDash val="solid"/>
                        </a:lnR>
                        <a:lnT w="12700" cap="flat" cmpd="sng" algn="ctr">
                          <a:solidFill>
                            <a:srgbClr val="FFFFFF">
                              <a:alpha val="100000"/>
                            </a:srgbClr>
                          </a:solidFill>
                          <a:prstDash val="solid"/>
                        </a:lnT>
                        <a:lnB w="12700" cap="flat" cmpd="sng" algn="ctr">
                          <a:solidFill>
                            <a:srgbClr val="FFFFFF">
                              <a:alpha val="100000"/>
                            </a:srgbClr>
                          </a:solidFill>
                          <a:prstDash val="solid"/>
                        </a:lnB>
                        <a:solidFill>
                          <a:srgbClr val="FFFFFF">
                            <a:alpha val="0"/>
                          </a:srgbClr>
                        </a:solidFill>
                      </a:tcPr>
                    </a:tc>
                    <a:tc>
                      <a:txBody>
                        <a:bodyPr/>
                        <a:lstStyle/>
                        <a:p>
                          <a:pPr marL="63500" marR="63500" algn="ctr">
                            <a:lnSpc>
                              <a:spcPct val="100000"/>
                            </a:lnSpc>
                            <a:spcBef>
                              <a:spcPts val="500"/>
                            </a:spcBef>
                            <a:spcAft>
                              <a:spcPts val="500"/>
                            </a:spcAft>
                            <a:buNone/>
                          </a:pPr>
                          <a:endParaRPr sz="1000" b="0" i="0" u="none" strike="noStrike" cap="none" dirty="0">
                            <a:solidFill>
                              <a:srgbClr val="000000">
                                <a:alpha val="100000"/>
                              </a:srgbClr>
                            </a:solidFill>
                            <a:latin typeface="Arial"/>
                            <a:cs typeface="Helvetica"/>
                            <a:sym typeface="Helvetica"/>
                          </a:endParaRPr>
                        </a:p>
                      </a:txBody>
                      <a:tcPr marL="0" marR="0" marT="63500" marB="63500" anchor="ctr">
                        <a:lnL w="12700" cap="flat" cmpd="sng" algn="ctr">
                          <a:solidFill>
                            <a:srgbClr val="FFFFFF">
                              <a:alpha val="100000"/>
                            </a:srgbClr>
                          </a:solidFill>
                          <a:prstDash val="solid"/>
                        </a:lnL>
                        <a:lnR w="12700" cap="flat" cmpd="sng" algn="ctr">
                          <a:solidFill>
                            <a:srgbClr val="FFFFFF">
                              <a:alpha val="100000"/>
                            </a:srgbClr>
                          </a:solidFill>
                          <a:prstDash val="solid"/>
                        </a:lnR>
                        <a:lnT w="12700" cap="flat" cmpd="sng" algn="ctr">
                          <a:solidFill>
                            <a:srgbClr val="FFFFFF">
                              <a:alpha val="100000"/>
                            </a:srgbClr>
                          </a:solidFill>
                          <a:prstDash val="solid"/>
                        </a:lnT>
                        <a:lnB w="12700" cap="flat" cmpd="sng" algn="ctr">
                          <a:solidFill>
                            <a:srgbClr val="FFFFFF">
                              <a:alpha val="100000"/>
                            </a:srgbClr>
                          </a:solidFill>
                          <a:prstDash val="solid"/>
                        </a:lnB>
                        <a:solidFill>
                          <a:srgbClr val="FFFFFF">
                            <a:alpha val="0"/>
                          </a:srgbClr>
                        </a:solidFill>
                      </a:tcPr>
                    </a:tc>
                    <a:tc>
                      <a:txBody>
                        <a:bodyPr/>
                        <a:lstStyle/>
                        <a:p>
                          <a:pPr marL="63500" marR="63500" algn="ctr">
                            <a:lnSpc>
                              <a:spcPct val="100000"/>
                            </a:lnSpc>
                            <a:spcBef>
                              <a:spcPts val="500"/>
                            </a:spcBef>
                            <a:spcAft>
                              <a:spcPts val="500"/>
                            </a:spcAft>
                            <a:buNone/>
                          </a:pPr>
                          <a:r>
                            <a:rPr sz="1000" b="0" i="0" u="none" strike="noStrike" cap="none" dirty="0">
                              <a:solidFill>
                                <a:srgbClr val="000000">
                                  <a:alpha val="100000"/>
                                </a:srgbClr>
                              </a:solidFill>
                              <a:latin typeface="Arial"/>
                              <a:cs typeface="Helvetica"/>
                              <a:sym typeface="Helvetica"/>
                            </a:rPr>
                            <a:t>0.006*</a:t>
                          </a:r>
                        </a:p>
                      </a:txBody>
                      <a:tcPr marL="0" marR="0" marT="63500" marB="63500" anchor="ctr">
                        <a:lnL w="12700" cap="flat" cmpd="sng" algn="ctr">
                          <a:solidFill>
                            <a:srgbClr val="FFFFFF">
                              <a:alpha val="100000"/>
                            </a:srgbClr>
                          </a:solidFill>
                          <a:prstDash val="solid"/>
                        </a:lnL>
                        <a:lnR w="12700" cap="flat" cmpd="sng" algn="ctr">
                          <a:solidFill>
                            <a:srgbClr val="FFFFFF">
                              <a:alpha val="100000"/>
                            </a:srgbClr>
                          </a:solidFill>
                          <a:prstDash val="solid"/>
                        </a:lnR>
                        <a:lnT w="12700" cap="flat" cmpd="sng" algn="ctr">
                          <a:solidFill>
                            <a:srgbClr val="FFFFFF">
                              <a:alpha val="100000"/>
                            </a:srgbClr>
                          </a:solidFill>
                          <a:prstDash val="solid"/>
                        </a:lnT>
                        <a:lnB w="12700" cap="flat" cmpd="sng" algn="ctr">
                          <a:solidFill>
                            <a:srgbClr val="FFFFFF">
                              <a:alpha val="100000"/>
                            </a:srgbClr>
                          </a:solidFill>
                          <a:prstDash val="solid"/>
                        </a:lnB>
                        <a:solidFill>
                          <a:srgbClr val="FFFFFF">
                            <a:alpha val="0"/>
                          </a:srgbClr>
                        </a:solidFill>
                      </a:tcPr>
                    </a:tc>
                    <a:tc>
                      <a:txBody>
                        <a:bodyPr/>
                        <a:lstStyle/>
                        <a:p>
                          <a:pPr marL="63500" marR="63500" algn="ctr">
                            <a:lnSpc>
                              <a:spcPct val="100000"/>
                            </a:lnSpc>
                            <a:spcBef>
                              <a:spcPts val="500"/>
                            </a:spcBef>
                            <a:spcAft>
                              <a:spcPts val="500"/>
                            </a:spcAft>
                            <a:buNone/>
                          </a:pPr>
                          <a:r>
                            <a:rPr sz="1000" b="0" i="0" u="none" strike="noStrike" cap="none">
                              <a:solidFill>
                                <a:srgbClr val="000000">
                                  <a:alpha val="100000"/>
                                </a:srgbClr>
                              </a:solidFill>
                              <a:latin typeface="Arial"/>
                              <a:cs typeface="Helvetica"/>
                              <a:sym typeface="Helvetica"/>
                            </a:rPr>
                            <a:t>0.011*</a:t>
                          </a:r>
                        </a:p>
                      </a:txBody>
                      <a:tcPr marL="0" marR="0" marT="63500" marB="63500" anchor="ctr">
                        <a:lnL w="12700" cap="flat" cmpd="sng" algn="ctr">
                          <a:solidFill>
                            <a:srgbClr val="FFFFFF">
                              <a:alpha val="100000"/>
                            </a:srgbClr>
                          </a:solidFill>
                          <a:prstDash val="solid"/>
                        </a:lnL>
                        <a:lnR w="12700" cap="flat" cmpd="sng" algn="ctr">
                          <a:solidFill>
                            <a:srgbClr val="FFFFFF">
                              <a:alpha val="100000"/>
                            </a:srgbClr>
                          </a:solidFill>
                          <a:prstDash val="solid"/>
                        </a:lnR>
                        <a:lnT w="12700" cap="flat" cmpd="sng" algn="ctr">
                          <a:solidFill>
                            <a:srgbClr val="FFFFFF">
                              <a:alpha val="100000"/>
                            </a:srgbClr>
                          </a:solidFill>
                          <a:prstDash val="solid"/>
                        </a:lnT>
                        <a:lnB w="12700" cap="flat" cmpd="sng" algn="ctr">
                          <a:solidFill>
                            <a:srgbClr val="FFFFFF">
                              <a:alpha val="100000"/>
                            </a:srgbClr>
                          </a:solidFill>
                          <a:prstDash val="solid"/>
                        </a:lnB>
                        <a:solidFill>
                          <a:srgbClr val="FFFFFF">
                            <a:alpha val="0"/>
                          </a:srgbClr>
                        </a:solidFill>
                      </a:tcPr>
                    </a:tc>
                    <a:tc>
                      <a:txBody>
                        <a:bodyPr/>
                        <a:lstStyle/>
                        <a:p>
                          <a:pPr marL="63500" marR="63500" algn="ctr">
                            <a:lnSpc>
                              <a:spcPct val="100000"/>
                            </a:lnSpc>
                            <a:spcBef>
                              <a:spcPts val="500"/>
                            </a:spcBef>
                            <a:spcAft>
                              <a:spcPts val="500"/>
                            </a:spcAft>
                            <a:buNone/>
                          </a:pPr>
                          <a:r>
                            <a:rPr sz="1000" b="0" i="0" u="none" strike="noStrike" cap="none">
                              <a:solidFill>
                                <a:srgbClr val="000000">
                                  <a:alpha val="100000"/>
                                </a:srgbClr>
                              </a:solidFill>
                              <a:latin typeface="Arial"/>
                              <a:cs typeface="Helvetica"/>
                              <a:sym typeface="Helvetica"/>
                            </a:rPr>
                            <a:t>0.007*</a:t>
                          </a:r>
                        </a:p>
                      </a:txBody>
                      <a:tcPr marL="0" marR="0" marT="63500" marB="63500" anchor="ctr">
                        <a:lnL w="12700" cap="flat" cmpd="sng" algn="ctr">
                          <a:solidFill>
                            <a:srgbClr val="FFFFFF">
                              <a:alpha val="100000"/>
                            </a:srgbClr>
                          </a:solidFill>
                          <a:prstDash val="solid"/>
                        </a:lnL>
                        <a:lnR w="12700" cap="flat" cmpd="sng" algn="ctr">
                          <a:solidFill>
                            <a:srgbClr val="FFFFFF">
                              <a:alpha val="100000"/>
                            </a:srgbClr>
                          </a:solidFill>
                          <a:prstDash val="solid"/>
                        </a:lnR>
                        <a:lnT w="12700" cap="flat" cmpd="sng" algn="ctr">
                          <a:solidFill>
                            <a:srgbClr val="FFFFFF">
                              <a:alpha val="100000"/>
                            </a:srgbClr>
                          </a:solidFill>
                          <a:prstDash val="solid"/>
                        </a:lnT>
                        <a:lnB w="12700" cap="flat" cmpd="sng" algn="ctr">
                          <a:solidFill>
                            <a:srgbClr val="FFFFFF">
                              <a:alpha val="100000"/>
                            </a:srgbClr>
                          </a:solidFill>
                          <a:prstDash val="solid"/>
                        </a:lnB>
                        <a:solidFill>
                          <a:srgbClr val="FFFFFF">
                            <a:alpha val="0"/>
                          </a:srgbClr>
                        </a:solidFill>
                      </a:tcPr>
                    </a:tc>
                    <a:extLst>
                      <a:ext uri="{0D108BD9-81ED-4DB2-BD59-A6C34878D82A}">
                        <a16:rowId xmlns:a16="http://schemas.microsoft.com/office/drawing/2014/main" val="10002"/>
                      </a:ext>
                    </a:extLst>
                  </a:tr>
                  <a:tr h="350806">
                    <a:tc>
                      <a:txBody>
                        <a:bodyPr/>
                        <a:lstStyle/>
                        <a:p>
                          <a:endParaRPr lang="en-US"/>
                        </a:p>
                      </a:txBody>
                      <a:tcPr marL="0" marR="0" marT="63500" marB="63500" anchor="ctr">
                        <a:lnL w="12700" cap="flat" cmpd="sng" algn="ctr">
                          <a:solidFill>
                            <a:srgbClr val="FFFFFF">
                              <a:alpha val="100000"/>
                            </a:srgbClr>
                          </a:solidFill>
                          <a:prstDash val="solid"/>
                        </a:lnL>
                        <a:lnR w="12700" cap="flat" cmpd="sng" algn="ctr">
                          <a:solidFill>
                            <a:srgbClr val="FFFFFF">
                              <a:alpha val="100000"/>
                            </a:srgbClr>
                          </a:solidFill>
                          <a:prstDash val="solid"/>
                        </a:lnR>
                        <a:lnT w="12700" cap="flat" cmpd="sng" algn="ctr">
                          <a:solidFill>
                            <a:srgbClr val="FFFFFF">
                              <a:alpha val="100000"/>
                            </a:srgbClr>
                          </a:solidFill>
                          <a:prstDash val="solid"/>
                        </a:lnT>
                        <a:lnB w="12700" cap="flat" cmpd="sng" algn="ctr">
                          <a:solidFill>
                            <a:srgbClr val="FFFFFF">
                              <a:alpha val="100000"/>
                            </a:srgbClr>
                          </a:solidFill>
                          <a:prstDash val="solid"/>
                        </a:lnB>
                        <a:blipFill>
                          <a:blip r:embed="rId3"/>
                          <a:stretch>
                            <a:fillRect l="-833" t="-333333" r="-547500" b="-900000"/>
                          </a:stretch>
                        </a:blipFill>
                      </a:tcPr>
                    </a:tc>
                    <a:tc>
                      <a:txBody>
                        <a:bodyPr/>
                        <a:lstStyle/>
                        <a:p>
                          <a:pPr marL="63500" marR="63500" algn="ctr">
                            <a:lnSpc>
                              <a:spcPct val="100000"/>
                            </a:lnSpc>
                            <a:spcBef>
                              <a:spcPts val="500"/>
                            </a:spcBef>
                            <a:spcAft>
                              <a:spcPts val="500"/>
                            </a:spcAft>
                            <a:buNone/>
                          </a:pPr>
                          <a:r>
                            <a:rPr sz="1000" b="0" i="0" u="none" strike="noStrike" cap="none">
                              <a:solidFill>
                                <a:srgbClr val="000000">
                                  <a:alpha val="100000"/>
                                </a:srgbClr>
                              </a:solidFill>
                              <a:latin typeface="Arial"/>
                              <a:cs typeface="Helvetica"/>
                              <a:sym typeface="Helvetica"/>
                            </a:rPr>
                            <a:t>0.244***</a:t>
                          </a:r>
                        </a:p>
                      </a:txBody>
                      <a:tcPr marL="0" marR="0" marT="63500" marB="63500" anchor="ctr">
                        <a:lnL w="12700" cap="flat" cmpd="sng" algn="ctr">
                          <a:solidFill>
                            <a:srgbClr val="FFFFFF">
                              <a:alpha val="100000"/>
                            </a:srgbClr>
                          </a:solidFill>
                          <a:prstDash val="solid"/>
                        </a:lnL>
                        <a:lnR w="12700" cap="flat" cmpd="sng" algn="ctr">
                          <a:solidFill>
                            <a:srgbClr val="FFFFFF">
                              <a:alpha val="100000"/>
                            </a:srgbClr>
                          </a:solidFill>
                          <a:prstDash val="solid"/>
                        </a:lnR>
                        <a:lnT w="12700" cap="flat" cmpd="sng" algn="ctr">
                          <a:solidFill>
                            <a:srgbClr val="FFFFFF">
                              <a:alpha val="100000"/>
                            </a:srgbClr>
                          </a:solidFill>
                          <a:prstDash val="solid"/>
                        </a:lnT>
                        <a:lnB w="12700" cap="flat" cmpd="sng" algn="ctr">
                          <a:solidFill>
                            <a:srgbClr val="FFFFFF">
                              <a:alpha val="100000"/>
                            </a:srgbClr>
                          </a:solidFill>
                          <a:prstDash val="solid"/>
                        </a:lnB>
                        <a:solidFill>
                          <a:srgbClr val="FFFFFF">
                            <a:alpha val="0"/>
                          </a:srgbClr>
                        </a:solidFill>
                      </a:tcPr>
                    </a:tc>
                    <a:tc>
                      <a:txBody>
                        <a:bodyPr/>
                        <a:lstStyle/>
                        <a:p>
                          <a:pPr marL="63500" marR="63500" algn="ctr">
                            <a:lnSpc>
                              <a:spcPct val="100000"/>
                            </a:lnSpc>
                            <a:spcBef>
                              <a:spcPts val="500"/>
                            </a:spcBef>
                            <a:spcAft>
                              <a:spcPts val="500"/>
                            </a:spcAft>
                            <a:buNone/>
                          </a:pPr>
                          <a:r>
                            <a:rPr sz="1000" b="0" i="0" u="none" strike="noStrike" cap="none">
                              <a:solidFill>
                                <a:srgbClr val="000000">
                                  <a:alpha val="100000"/>
                                </a:srgbClr>
                              </a:solidFill>
                              <a:latin typeface="Arial"/>
                              <a:cs typeface="Helvetica"/>
                              <a:sym typeface="Helvetica"/>
                            </a:rPr>
                            <a:t>0.173*</a:t>
                          </a:r>
                        </a:p>
                      </a:txBody>
                      <a:tcPr marL="0" marR="0" marT="63500" marB="63500" anchor="ctr">
                        <a:lnL w="12700" cap="flat" cmpd="sng" algn="ctr">
                          <a:solidFill>
                            <a:srgbClr val="FFFFFF">
                              <a:alpha val="100000"/>
                            </a:srgbClr>
                          </a:solidFill>
                          <a:prstDash val="solid"/>
                        </a:lnL>
                        <a:lnR w="12700" cap="flat" cmpd="sng" algn="ctr">
                          <a:solidFill>
                            <a:srgbClr val="FFFFFF">
                              <a:alpha val="100000"/>
                            </a:srgbClr>
                          </a:solidFill>
                          <a:prstDash val="solid"/>
                        </a:lnR>
                        <a:lnT w="12700" cap="flat" cmpd="sng" algn="ctr">
                          <a:solidFill>
                            <a:srgbClr val="FFFFFF">
                              <a:alpha val="100000"/>
                            </a:srgbClr>
                          </a:solidFill>
                          <a:prstDash val="solid"/>
                        </a:lnT>
                        <a:lnB w="12700" cap="flat" cmpd="sng" algn="ctr">
                          <a:solidFill>
                            <a:srgbClr val="FFFFFF">
                              <a:alpha val="100000"/>
                            </a:srgbClr>
                          </a:solidFill>
                          <a:prstDash val="solid"/>
                        </a:lnB>
                        <a:solidFill>
                          <a:srgbClr val="FFFFFF">
                            <a:alpha val="0"/>
                          </a:srgbClr>
                        </a:solidFill>
                      </a:tcPr>
                    </a:tc>
                    <a:tc>
                      <a:txBody>
                        <a:bodyPr/>
                        <a:lstStyle/>
                        <a:p>
                          <a:pPr marL="63500" marR="63500" algn="ctr">
                            <a:lnSpc>
                              <a:spcPct val="100000"/>
                            </a:lnSpc>
                            <a:spcBef>
                              <a:spcPts val="500"/>
                            </a:spcBef>
                            <a:spcAft>
                              <a:spcPts val="500"/>
                            </a:spcAft>
                            <a:buNone/>
                          </a:pPr>
                          <a:r>
                            <a:rPr sz="1000" b="0" i="0" u="none" strike="noStrike" cap="none">
                              <a:solidFill>
                                <a:srgbClr val="000000">
                                  <a:alpha val="100000"/>
                                </a:srgbClr>
                              </a:solidFill>
                              <a:latin typeface="Arial"/>
                              <a:cs typeface="Helvetica"/>
                              <a:sym typeface="Helvetica"/>
                            </a:rPr>
                            <a:t>0.248**</a:t>
                          </a:r>
                        </a:p>
                      </a:txBody>
                      <a:tcPr marL="0" marR="0" marT="63500" marB="63500" anchor="ctr">
                        <a:lnL w="12700" cap="flat" cmpd="sng" algn="ctr">
                          <a:solidFill>
                            <a:srgbClr val="FFFFFF">
                              <a:alpha val="100000"/>
                            </a:srgbClr>
                          </a:solidFill>
                          <a:prstDash val="solid"/>
                        </a:lnL>
                        <a:lnR w="12700" cap="flat" cmpd="sng" algn="ctr">
                          <a:solidFill>
                            <a:srgbClr val="FFFFFF">
                              <a:alpha val="100000"/>
                            </a:srgbClr>
                          </a:solidFill>
                          <a:prstDash val="solid"/>
                        </a:lnR>
                        <a:lnT w="12700" cap="flat" cmpd="sng" algn="ctr">
                          <a:solidFill>
                            <a:srgbClr val="FFFFFF">
                              <a:alpha val="100000"/>
                            </a:srgbClr>
                          </a:solidFill>
                          <a:prstDash val="solid"/>
                        </a:lnT>
                        <a:lnB w="12700" cap="flat" cmpd="sng" algn="ctr">
                          <a:solidFill>
                            <a:srgbClr val="FFFFFF">
                              <a:alpha val="100000"/>
                            </a:srgbClr>
                          </a:solidFill>
                          <a:prstDash val="solid"/>
                        </a:lnB>
                        <a:solidFill>
                          <a:srgbClr val="FFFFFF">
                            <a:alpha val="0"/>
                          </a:srgbClr>
                        </a:solidFill>
                      </a:tcPr>
                    </a:tc>
                    <a:tc>
                      <a:txBody>
                        <a:bodyPr/>
                        <a:lstStyle/>
                        <a:p>
                          <a:pPr marL="63500" marR="63500" algn="ctr">
                            <a:lnSpc>
                              <a:spcPct val="100000"/>
                            </a:lnSpc>
                            <a:spcBef>
                              <a:spcPts val="500"/>
                            </a:spcBef>
                            <a:spcAft>
                              <a:spcPts val="500"/>
                            </a:spcAft>
                            <a:buNone/>
                          </a:pPr>
                          <a:r>
                            <a:rPr sz="1000" b="0" i="0" u="none" strike="noStrike" cap="none" dirty="0">
                              <a:solidFill>
                                <a:srgbClr val="000000">
                                  <a:alpha val="100000"/>
                                </a:srgbClr>
                              </a:solidFill>
                              <a:latin typeface="Arial"/>
                              <a:cs typeface="Helvetica"/>
                              <a:sym typeface="Helvetica"/>
                            </a:rPr>
                            <a:t>0.234***</a:t>
                          </a:r>
                        </a:p>
                      </a:txBody>
                      <a:tcPr marL="0" marR="0" marT="63500" marB="63500" anchor="ctr">
                        <a:lnL w="12700" cap="flat" cmpd="sng" algn="ctr">
                          <a:solidFill>
                            <a:srgbClr val="FFFFFF">
                              <a:alpha val="100000"/>
                            </a:srgbClr>
                          </a:solidFill>
                          <a:prstDash val="solid"/>
                        </a:lnL>
                        <a:lnR w="12700" cap="flat" cmpd="sng" algn="ctr">
                          <a:solidFill>
                            <a:srgbClr val="FFFFFF">
                              <a:alpha val="100000"/>
                            </a:srgbClr>
                          </a:solidFill>
                          <a:prstDash val="solid"/>
                        </a:lnR>
                        <a:lnT w="12700" cap="flat" cmpd="sng" algn="ctr">
                          <a:solidFill>
                            <a:srgbClr val="FFFFFF">
                              <a:alpha val="100000"/>
                            </a:srgbClr>
                          </a:solidFill>
                          <a:prstDash val="solid"/>
                        </a:lnT>
                        <a:lnB w="12700" cap="flat" cmpd="sng" algn="ctr">
                          <a:solidFill>
                            <a:srgbClr val="FFFFFF">
                              <a:alpha val="100000"/>
                            </a:srgbClr>
                          </a:solidFill>
                          <a:prstDash val="solid"/>
                        </a:lnB>
                        <a:solidFill>
                          <a:srgbClr val="FFFFFF">
                            <a:alpha val="0"/>
                          </a:srgbClr>
                        </a:solidFill>
                      </a:tcPr>
                    </a:tc>
                    <a:tc>
                      <a:txBody>
                        <a:bodyPr/>
                        <a:lstStyle/>
                        <a:p>
                          <a:pPr marL="63500" marR="63500" algn="ctr">
                            <a:lnSpc>
                              <a:spcPct val="100000"/>
                            </a:lnSpc>
                            <a:spcBef>
                              <a:spcPts val="500"/>
                            </a:spcBef>
                            <a:spcAft>
                              <a:spcPts val="500"/>
                            </a:spcAft>
                            <a:buNone/>
                          </a:pPr>
                          <a:r>
                            <a:rPr sz="1000" b="0" i="0" u="none" strike="noStrike" cap="none">
                              <a:solidFill>
                                <a:srgbClr val="000000">
                                  <a:alpha val="100000"/>
                                </a:srgbClr>
                              </a:solidFill>
                              <a:latin typeface="Arial"/>
                              <a:cs typeface="Helvetica"/>
                              <a:sym typeface="Helvetica"/>
                            </a:rPr>
                            <a:t>0.154 </a:t>
                          </a:r>
                        </a:p>
                      </a:txBody>
                      <a:tcPr marL="0" marR="0" marT="63500" marB="63500" anchor="ctr">
                        <a:lnL w="12700" cap="flat" cmpd="sng" algn="ctr">
                          <a:solidFill>
                            <a:srgbClr val="FFFFFF">
                              <a:alpha val="100000"/>
                            </a:srgbClr>
                          </a:solidFill>
                          <a:prstDash val="solid"/>
                        </a:lnL>
                        <a:lnR w="12700" cap="flat" cmpd="sng" algn="ctr">
                          <a:solidFill>
                            <a:srgbClr val="FFFFFF">
                              <a:alpha val="100000"/>
                            </a:srgbClr>
                          </a:solidFill>
                          <a:prstDash val="solid"/>
                        </a:lnR>
                        <a:lnT w="12700" cap="flat" cmpd="sng" algn="ctr">
                          <a:solidFill>
                            <a:srgbClr val="FFFFFF">
                              <a:alpha val="100000"/>
                            </a:srgbClr>
                          </a:solidFill>
                          <a:prstDash val="solid"/>
                        </a:lnT>
                        <a:lnB w="12700" cap="flat" cmpd="sng" algn="ctr">
                          <a:solidFill>
                            <a:srgbClr val="FFFFFF">
                              <a:alpha val="100000"/>
                            </a:srgbClr>
                          </a:solidFill>
                          <a:prstDash val="solid"/>
                        </a:lnB>
                        <a:solidFill>
                          <a:srgbClr val="FFFFFF">
                            <a:alpha val="0"/>
                          </a:srgbClr>
                        </a:solidFill>
                      </a:tcPr>
                    </a:tc>
                    <a:tc>
                      <a:txBody>
                        <a:bodyPr/>
                        <a:lstStyle/>
                        <a:p>
                          <a:pPr marL="63500" marR="63500" algn="ctr">
                            <a:lnSpc>
                              <a:spcPct val="100000"/>
                            </a:lnSpc>
                            <a:spcBef>
                              <a:spcPts val="500"/>
                            </a:spcBef>
                            <a:spcAft>
                              <a:spcPts val="500"/>
                            </a:spcAft>
                            <a:buNone/>
                          </a:pPr>
                          <a:r>
                            <a:rPr sz="1000" b="0" i="0" u="none" strike="noStrike" cap="none">
                              <a:solidFill>
                                <a:srgbClr val="000000">
                                  <a:alpha val="100000"/>
                                </a:srgbClr>
                              </a:solidFill>
                              <a:latin typeface="Arial"/>
                              <a:cs typeface="Helvetica"/>
                              <a:sym typeface="Helvetica"/>
                            </a:rPr>
                            <a:t>0.209**</a:t>
                          </a:r>
                        </a:p>
                      </a:txBody>
                      <a:tcPr marL="0" marR="0" marT="63500" marB="63500" anchor="ctr">
                        <a:lnL w="12700" cap="flat" cmpd="sng" algn="ctr">
                          <a:solidFill>
                            <a:srgbClr val="FFFFFF">
                              <a:alpha val="100000"/>
                            </a:srgbClr>
                          </a:solidFill>
                          <a:prstDash val="solid"/>
                        </a:lnL>
                        <a:lnR w="12700" cap="flat" cmpd="sng" algn="ctr">
                          <a:solidFill>
                            <a:srgbClr val="FFFFFF">
                              <a:alpha val="100000"/>
                            </a:srgbClr>
                          </a:solidFill>
                          <a:prstDash val="solid"/>
                        </a:lnR>
                        <a:lnT w="12700" cap="flat" cmpd="sng" algn="ctr">
                          <a:solidFill>
                            <a:srgbClr val="FFFFFF">
                              <a:alpha val="100000"/>
                            </a:srgbClr>
                          </a:solidFill>
                          <a:prstDash val="solid"/>
                        </a:lnT>
                        <a:lnB w="12700" cap="flat" cmpd="sng" algn="ctr">
                          <a:solidFill>
                            <a:srgbClr val="FFFFFF">
                              <a:alpha val="100000"/>
                            </a:srgbClr>
                          </a:solidFill>
                          <a:prstDash val="solid"/>
                        </a:lnB>
                        <a:solidFill>
                          <a:srgbClr val="FFFFFF">
                            <a:alpha val="0"/>
                          </a:srgbClr>
                        </a:solidFill>
                      </a:tcPr>
                    </a:tc>
                    <a:extLst>
                      <a:ext uri="{0D108BD9-81ED-4DB2-BD59-A6C34878D82A}">
                        <a16:rowId xmlns:a16="http://schemas.microsoft.com/office/drawing/2014/main" val="10003"/>
                      </a:ext>
                    </a:extLst>
                  </a:tr>
                  <a:tr h="350806">
                    <a:tc>
                      <a:txBody>
                        <a:bodyPr/>
                        <a:lstStyle/>
                        <a:p>
                          <a:endParaRPr lang="en-US"/>
                        </a:p>
                      </a:txBody>
                      <a:tcPr marL="0" marR="0" marT="63500" marB="63500" anchor="ctr">
                        <a:lnL w="12700" cap="flat" cmpd="sng" algn="ctr">
                          <a:solidFill>
                            <a:srgbClr val="FFFFFF">
                              <a:alpha val="100000"/>
                            </a:srgbClr>
                          </a:solidFill>
                          <a:prstDash val="solid"/>
                        </a:lnL>
                        <a:lnR w="12700" cap="flat" cmpd="sng" algn="ctr">
                          <a:solidFill>
                            <a:srgbClr val="FFFFFF">
                              <a:alpha val="100000"/>
                            </a:srgbClr>
                          </a:solidFill>
                          <a:prstDash val="solid"/>
                        </a:lnR>
                        <a:lnT w="12700" cap="flat" cmpd="sng" algn="ctr">
                          <a:solidFill>
                            <a:srgbClr val="FFFFFF">
                              <a:alpha val="100000"/>
                            </a:srgbClr>
                          </a:solidFill>
                          <a:prstDash val="solid"/>
                        </a:lnT>
                        <a:lnB w="12700" cap="flat" cmpd="sng" algn="ctr">
                          <a:solidFill>
                            <a:srgbClr val="FFFFFF">
                              <a:alpha val="100000"/>
                            </a:srgbClr>
                          </a:solidFill>
                          <a:prstDash val="solid"/>
                        </a:lnB>
                        <a:blipFill>
                          <a:blip r:embed="rId3"/>
                          <a:stretch>
                            <a:fillRect l="-833" t="-417857" r="-547500" b="-767857"/>
                          </a:stretch>
                        </a:blipFill>
                      </a:tcPr>
                    </a:tc>
                    <a:tc>
                      <a:txBody>
                        <a:bodyPr/>
                        <a:lstStyle/>
                        <a:p>
                          <a:pPr marL="63500" marR="63500" algn="ctr">
                            <a:lnSpc>
                              <a:spcPct val="100000"/>
                            </a:lnSpc>
                            <a:spcBef>
                              <a:spcPts val="500"/>
                            </a:spcBef>
                            <a:spcAft>
                              <a:spcPts val="500"/>
                            </a:spcAft>
                            <a:buNone/>
                          </a:pPr>
                          <a:r>
                            <a:rPr sz="1000" b="0" i="0" u="none" strike="noStrike" cap="none">
                              <a:solidFill>
                                <a:srgbClr val="000000">
                                  <a:alpha val="100000"/>
                                </a:srgbClr>
                              </a:solidFill>
                              <a:latin typeface="Arial"/>
                              <a:cs typeface="Helvetica"/>
                              <a:sym typeface="Helvetica"/>
                            </a:rPr>
                            <a:t>-0.382***</a:t>
                          </a:r>
                        </a:p>
                      </a:txBody>
                      <a:tcPr marL="0" marR="0" marT="63500" marB="63500" anchor="ctr">
                        <a:lnL w="12700" cap="flat" cmpd="sng" algn="ctr">
                          <a:solidFill>
                            <a:srgbClr val="FFFFFF">
                              <a:alpha val="100000"/>
                            </a:srgbClr>
                          </a:solidFill>
                          <a:prstDash val="solid"/>
                        </a:lnL>
                        <a:lnR w="12700" cap="flat" cmpd="sng" algn="ctr">
                          <a:solidFill>
                            <a:srgbClr val="FFFFFF">
                              <a:alpha val="100000"/>
                            </a:srgbClr>
                          </a:solidFill>
                          <a:prstDash val="solid"/>
                        </a:lnR>
                        <a:lnT w="12700" cap="flat" cmpd="sng" algn="ctr">
                          <a:solidFill>
                            <a:srgbClr val="FFFFFF">
                              <a:alpha val="100000"/>
                            </a:srgbClr>
                          </a:solidFill>
                          <a:prstDash val="solid"/>
                        </a:lnT>
                        <a:lnB w="12700" cap="flat" cmpd="sng" algn="ctr">
                          <a:solidFill>
                            <a:srgbClr val="FFFFFF">
                              <a:alpha val="100000"/>
                            </a:srgbClr>
                          </a:solidFill>
                          <a:prstDash val="solid"/>
                        </a:lnB>
                        <a:solidFill>
                          <a:srgbClr val="FFFFFF">
                            <a:alpha val="0"/>
                          </a:srgbClr>
                        </a:solidFill>
                      </a:tcPr>
                    </a:tc>
                    <a:tc>
                      <a:txBody>
                        <a:bodyPr/>
                        <a:lstStyle/>
                        <a:p>
                          <a:pPr marL="63500" marR="63500" algn="ctr">
                            <a:lnSpc>
                              <a:spcPct val="100000"/>
                            </a:lnSpc>
                            <a:spcBef>
                              <a:spcPts val="500"/>
                            </a:spcBef>
                            <a:spcAft>
                              <a:spcPts val="500"/>
                            </a:spcAft>
                            <a:buNone/>
                          </a:pPr>
                          <a:r>
                            <a:rPr sz="1000" b="0" i="0" u="none" strike="noStrike" cap="none">
                              <a:solidFill>
                                <a:srgbClr val="000000">
                                  <a:alpha val="100000"/>
                                </a:srgbClr>
                              </a:solidFill>
                              <a:latin typeface="Arial"/>
                              <a:cs typeface="Helvetica"/>
                              <a:sym typeface="Helvetica"/>
                            </a:rPr>
                            <a:t>-0.14 </a:t>
                          </a:r>
                        </a:p>
                      </a:txBody>
                      <a:tcPr marL="0" marR="0" marT="63500" marB="63500" anchor="ctr">
                        <a:lnL w="12700" cap="flat" cmpd="sng" algn="ctr">
                          <a:solidFill>
                            <a:srgbClr val="FFFFFF">
                              <a:alpha val="100000"/>
                            </a:srgbClr>
                          </a:solidFill>
                          <a:prstDash val="solid"/>
                        </a:lnL>
                        <a:lnR w="12700" cap="flat" cmpd="sng" algn="ctr">
                          <a:solidFill>
                            <a:srgbClr val="FFFFFF">
                              <a:alpha val="100000"/>
                            </a:srgbClr>
                          </a:solidFill>
                          <a:prstDash val="solid"/>
                        </a:lnR>
                        <a:lnT w="12700" cap="flat" cmpd="sng" algn="ctr">
                          <a:solidFill>
                            <a:srgbClr val="FFFFFF">
                              <a:alpha val="100000"/>
                            </a:srgbClr>
                          </a:solidFill>
                          <a:prstDash val="solid"/>
                        </a:lnT>
                        <a:lnB w="12700" cap="flat" cmpd="sng" algn="ctr">
                          <a:solidFill>
                            <a:srgbClr val="FFFFFF">
                              <a:alpha val="100000"/>
                            </a:srgbClr>
                          </a:solidFill>
                          <a:prstDash val="solid"/>
                        </a:lnB>
                        <a:solidFill>
                          <a:srgbClr val="FFFFFF">
                            <a:alpha val="0"/>
                          </a:srgbClr>
                        </a:solidFill>
                      </a:tcPr>
                    </a:tc>
                    <a:tc>
                      <a:txBody>
                        <a:bodyPr/>
                        <a:lstStyle/>
                        <a:p>
                          <a:pPr marL="63500" marR="63500" algn="ctr">
                            <a:lnSpc>
                              <a:spcPct val="100000"/>
                            </a:lnSpc>
                            <a:spcBef>
                              <a:spcPts val="500"/>
                            </a:spcBef>
                            <a:spcAft>
                              <a:spcPts val="500"/>
                            </a:spcAft>
                            <a:buNone/>
                          </a:pPr>
                          <a:r>
                            <a:rPr sz="1000" b="0" i="0" u="none" strike="noStrike" cap="none">
                              <a:solidFill>
                                <a:srgbClr val="000000">
                                  <a:alpha val="100000"/>
                                </a:srgbClr>
                              </a:solidFill>
                              <a:latin typeface="Arial"/>
                              <a:cs typeface="Helvetica"/>
                              <a:sym typeface="Helvetica"/>
                            </a:rPr>
                            <a:t>-0.645***</a:t>
                          </a:r>
                        </a:p>
                      </a:txBody>
                      <a:tcPr marL="0" marR="0" marT="63500" marB="63500" anchor="ctr">
                        <a:lnL w="12700" cap="flat" cmpd="sng" algn="ctr">
                          <a:solidFill>
                            <a:srgbClr val="FFFFFF">
                              <a:alpha val="100000"/>
                            </a:srgbClr>
                          </a:solidFill>
                          <a:prstDash val="solid"/>
                        </a:lnL>
                        <a:lnR w="12700" cap="flat" cmpd="sng" algn="ctr">
                          <a:solidFill>
                            <a:srgbClr val="FFFFFF">
                              <a:alpha val="100000"/>
                            </a:srgbClr>
                          </a:solidFill>
                          <a:prstDash val="solid"/>
                        </a:lnR>
                        <a:lnT w="12700" cap="flat" cmpd="sng" algn="ctr">
                          <a:solidFill>
                            <a:srgbClr val="FFFFFF">
                              <a:alpha val="100000"/>
                            </a:srgbClr>
                          </a:solidFill>
                          <a:prstDash val="solid"/>
                        </a:lnT>
                        <a:lnB w="12700" cap="flat" cmpd="sng" algn="ctr">
                          <a:solidFill>
                            <a:srgbClr val="FFFFFF">
                              <a:alpha val="100000"/>
                            </a:srgbClr>
                          </a:solidFill>
                          <a:prstDash val="solid"/>
                        </a:lnB>
                        <a:solidFill>
                          <a:srgbClr val="FFFFFF">
                            <a:alpha val="0"/>
                          </a:srgbClr>
                        </a:solidFill>
                      </a:tcPr>
                    </a:tc>
                    <a:tc>
                      <a:txBody>
                        <a:bodyPr/>
                        <a:lstStyle/>
                        <a:p>
                          <a:pPr marL="63500" marR="63500" algn="ctr">
                            <a:lnSpc>
                              <a:spcPct val="100000"/>
                            </a:lnSpc>
                            <a:spcBef>
                              <a:spcPts val="500"/>
                            </a:spcBef>
                            <a:spcAft>
                              <a:spcPts val="500"/>
                            </a:spcAft>
                            <a:buNone/>
                          </a:pPr>
                          <a:r>
                            <a:rPr sz="1000" b="0" i="0" u="none" strike="noStrike" cap="none" dirty="0">
                              <a:solidFill>
                                <a:srgbClr val="000000">
                                  <a:alpha val="100000"/>
                                </a:srgbClr>
                              </a:solidFill>
                              <a:latin typeface="Arial"/>
                              <a:cs typeface="Helvetica"/>
                              <a:sym typeface="Helvetica"/>
                            </a:rPr>
                            <a:t>-0.363***</a:t>
                          </a:r>
                        </a:p>
                      </a:txBody>
                      <a:tcPr marL="0" marR="0" marT="63500" marB="63500" anchor="ctr">
                        <a:lnL w="12700" cap="flat" cmpd="sng" algn="ctr">
                          <a:solidFill>
                            <a:srgbClr val="FFFFFF">
                              <a:alpha val="100000"/>
                            </a:srgbClr>
                          </a:solidFill>
                          <a:prstDash val="solid"/>
                        </a:lnL>
                        <a:lnR w="12700" cap="flat" cmpd="sng" algn="ctr">
                          <a:solidFill>
                            <a:srgbClr val="FFFFFF">
                              <a:alpha val="100000"/>
                            </a:srgbClr>
                          </a:solidFill>
                          <a:prstDash val="solid"/>
                        </a:lnR>
                        <a:lnT w="12700" cap="flat" cmpd="sng" algn="ctr">
                          <a:solidFill>
                            <a:srgbClr val="FFFFFF">
                              <a:alpha val="100000"/>
                            </a:srgbClr>
                          </a:solidFill>
                          <a:prstDash val="solid"/>
                        </a:lnT>
                        <a:lnB w="12700" cap="flat" cmpd="sng" algn="ctr">
                          <a:solidFill>
                            <a:srgbClr val="FFFFFF">
                              <a:alpha val="100000"/>
                            </a:srgbClr>
                          </a:solidFill>
                          <a:prstDash val="solid"/>
                        </a:lnB>
                        <a:solidFill>
                          <a:srgbClr val="FFFFFF">
                            <a:alpha val="0"/>
                          </a:srgbClr>
                        </a:solidFill>
                      </a:tcPr>
                    </a:tc>
                    <a:tc>
                      <a:txBody>
                        <a:bodyPr/>
                        <a:lstStyle/>
                        <a:p>
                          <a:pPr marL="63500" marR="63500" algn="ctr">
                            <a:lnSpc>
                              <a:spcPct val="100000"/>
                            </a:lnSpc>
                            <a:spcBef>
                              <a:spcPts val="500"/>
                            </a:spcBef>
                            <a:spcAft>
                              <a:spcPts val="500"/>
                            </a:spcAft>
                            <a:buNone/>
                          </a:pPr>
                          <a:r>
                            <a:rPr sz="1000" b="0" i="0" u="none" strike="noStrike" cap="none">
                              <a:solidFill>
                                <a:srgbClr val="000000">
                                  <a:alpha val="100000"/>
                                </a:srgbClr>
                              </a:solidFill>
                              <a:latin typeface="Arial"/>
                              <a:cs typeface="Helvetica"/>
                              <a:sym typeface="Helvetica"/>
                            </a:rPr>
                            <a:t>-0.111 </a:t>
                          </a:r>
                        </a:p>
                      </a:txBody>
                      <a:tcPr marL="0" marR="0" marT="63500" marB="63500" anchor="ctr">
                        <a:lnL w="12700" cap="flat" cmpd="sng" algn="ctr">
                          <a:solidFill>
                            <a:srgbClr val="FFFFFF">
                              <a:alpha val="100000"/>
                            </a:srgbClr>
                          </a:solidFill>
                          <a:prstDash val="solid"/>
                        </a:lnL>
                        <a:lnR w="12700" cap="flat" cmpd="sng" algn="ctr">
                          <a:solidFill>
                            <a:srgbClr val="FFFFFF">
                              <a:alpha val="100000"/>
                            </a:srgbClr>
                          </a:solidFill>
                          <a:prstDash val="solid"/>
                        </a:lnR>
                        <a:lnT w="12700" cap="flat" cmpd="sng" algn="ctr">
                          <a:solidFill>
                            <a:srgbClr val="FFFFFF">
                              <a:alpha val="100000"/>
                            </a:srgbClr>
                          </a:solidFill>
                          <a:prstDash val="solid"/>
                        </a:lnT>
                        <a:lnB w="12700" cap="flat" cmpd="sng" algn="ctr">
                          <a:solidFill>
                            <a:srgbClr val="FFFFFF">
                              <a:alpha val="100000"/>
                            </a:srgbClr>
                          </a:solidFill>
                          <a:prstDash val="solid"/>
                        </a:lnB>
                        <a:solidFill>
                          <a:srgbClr val="FFFFFF">
                            <a:alpha val="0"/>
                          </a:srgbClr>
                        </a:solidFill>
                      </a:tcPr>
                    </a:tc>
                    <a:tc>
                      <a:txBody>
                        <a:bodyPr/>
                        <a:lstStyle/>
                        <a:p>
                          <a:pPr marL="63500" marR="63500" algn="ctr">
                            <a:lnSpc>
                              <a:spcPct val="100000"/>
                            </a:lnSpc>
                            <a:spcBef>
                              <a:spcPts val="500"/>
                            </a:spcBef>
                            <a:spcAft>
                              <a:spcPts val="500"/>
                            </a:spcAft>
                            <a:buNone/>
                          </a:pPr>
                          <a:r>
                            <a:rPr sz="1000" b="0" i="0" u="none" strike="noStrike" cap="none">
                              <a:solidFill>
                                <a:srgbClr val="000000">
                                  <a:alpha val="100000"/>
                                </a:srgbClr>
                              </a:solidFill>
                              <a:latin typeface="Arial"/>
                              <a:cs typeface="Helvetica"/>
                              <a:sym typeface="Helvetica"/>
                            </a:rPr>
                            <a:t>-0.609***</a:t>
                          </a:r>
                        </a:p>
                      </a:txBody>
                      <a:tcPr marL="0" marR="0" marT="63500" marB="63500" anchor="ctr">
                        <a:lnL w="12700" cap="flat" cmpd="sng" algn="ctr">
                          <a:solidFill>
                            <a:srgbClr val="FFFFFF">
                              <a:alpha val="100000"/>
                            </a:srgbClr>
                          </a:solidFill>
                          <a:prstDash val="solid"/>
                        </a:lnL>
                        <a:lnR w="12700" cap="flat" cmpd="sng" algn="ctr">
                          <a:solidFill>
                            <a:srgbClr val="FFFFFF">
                              <a:alpha val="100000"/>
                            </a:srgbClr>
                          </a:solidFill>
                          <a:prstDash val="solid"/>
                        </a:lnR>
                        <a:lnT w="12700" cap="flat" cmpd="sng" algn="ctr">
                          <a:solidFill>
                            <a:srgbClr val="FFFFFF">
                              <a:alpha val="100000"/>
                            </a:srgbClr>
                          </a:solidFill>
                          <a:prstDash val="solid"/>
                        </a:lnT>
                        <a:lnB w="12700" cap="flat" cmpd="sng" algn="ctr">
                          <a:solidFill>
                            <a:srgbClr val="FFFFFF">
                              <a:alpha val="100000"/>
                            </a:srgbClr>
                          </a:solidFill>
                          <a:prstDash val="solid"/>
                        </a:lnB>
                        <a:solidFill>
                          <a:srgbClr val="FFFFFF">
                            <a:alpha val="0"/>
                          </a:srgbClr>
                        </a:solidFill>
                      </a:tcPr>
                    </a:tc>
                    <a:extLst>
                      <a:ext uri="{0D108BD9-81ED-4DB2-BD59-A6C34878D82A}">
                        <a16:rowId xmlns:a16="http://schemas.microsoft.com/office/drawing/2014/main" val="10004"/>
                      </a:ext>
                    </a:extLst>
                  </a:tr>
                  <a:tr h="350806">
                    <a:tc>
                      <a:txBody>
                        <a:bodyPr/>
                        <a:lstStyle/>
                        <a:p>
                          <a:endParaRPr lang="en-US"/>
                        </a:p>
                      </a:txBody>
                      <a:tcPr marL="0" marR="0" marT="63500" marB="63500" anchor="ctr">
                        <a:lnL w="12700" cap="flat" cmpd="sng" algn="ctr">
                          <a:solidFill>
                            <a:srgbClr val="FFFFFF">
                              <a:alpha val="100000"/>
                            </a:srgbClr>
                          </a:solidFill>
                          <a:prstDash val="solid"/>
                        </a:lnL>
                        <a:lnR w="12700" cap="flat" cmpd="sng" algn="ctr">
                          <a:solidFill>
                            <a:srgbClr val="FFFFFF">
                              <a:alpha val="100000"/>
                            </a:srgbClr>
                          </a:solidFill>
                          <a:prstDash val="solid"/>
                        </a:lnR>
                        <a:lnT w="12700" cap="flat" cmpd="sng" algn="ctr">
                          <a:solidFill>
                            <a:srgbClr val="FFFFFF">
                              <a:alpha val="100000"/>
                            </a:srgbClr>
                          </a:solidFill>
                          <a:prstDash val="solid"/>
                        </a:lnT>
                        <a:lnB w="12700" cap="flat" cmpd="sng" algn="ctr">
                          <a:solidFill>
                            <a:srgbClr val="FFFFFF">
                              <a:alpha val="100000"/>
                            </a:srgbClr>
                          </a:solidFill>
                          <a:prstDash val="solid"/>
                        </a:lnB>
                        <a:blipFill>
                          <a:blip r:embed="rId3"/>
                          <a:stretch>
                            <a:fillRect l="-833" t="-517857" r="-547500" b="-667857"/>
                          </a:stretch>
                        </a:blipFill>
                      </a:tcPr>
                    </a:tc>
                    <a:tc>
                      <a:txBody>
                        <a:bodyPr/>
                        <a:lstStyle/>
                        <a:p>
                          <a:pPr marL="63500" marR="63500" algn="ctr">
                            <a:lnSpc>
                              <a:spcPct val="100000"/>
                            </a:lnSpc>
                            <a:spcBef>
                              <a:spcPts val="500"/>
                            </a:spcBef>
                            <a:spcAft>
                              <a:spcPts val="500"/>
                            </a:spcAft>
                            <a:buNone/>
                          </a:pPr>
                          <a:r>
                            <a:rPr sz="1000" b="0" i="0" u="none" strike="noStrike" cap="none">
                              <a:solidFill>
                                <a:srgbClr val="000000">
                                  <a:alpha val="100000"/>
                                </a:srgbClr>
                              </a:solidFill>
                              <a:latin typeface="Arial"/>
                              <a:cs typeface="Helvetica"/>
                              <a:sym typeface="Helvetica"/>
                            </a:rPr>
                            <a:t>1.039***</a:t>
                          </a:r>
                        </a:p>
                      </a:txBody>
                      <a:tcPr marL="0" marR="0" marT="63500" marB="63500" anchor="ctr">
                        <a:lnL w="12700" cap="flat" cmpd="sng" algn="ctr">
                          <a:solidFill>
                            <a:srgbClr val="FFFFFF">
                              <a:alpha val="100000"/>
                            </a:srgbClr>
                          </a:solidFill>
                          <a:prstDash val="solid"/>
                        </a:lnL>
                        <a:lnR w="12700" cap="flat" cmpd="sng" algn="ctr">
                          <a:solidFill>
                            <a:srgbClr val="FFFFFF">
                              <a:alpha val="100000"/>
                            </a:srgbClr>
                          </a:solidFill>
                          <a:prstDash val="solid"/>
                        </a:lnR>
                        <a:lnT w="12700" cap="flat" cmpd="sng" algn="ctr">
                          <a:solidFill>
                            <a:srgbClr val="FFFFFF">
                              <a:alpha val="100000"/>
                            </a:srgbClr>
                          </a:solidFill>
                          <a:prstDash val="solid"/>
                        </a:lnT>
                        <a:lnB w="12700" cap="flat" cmpd="sng" algn="ctr">
                          <a:solidFill>
                            <a:srgbClr val="FFFFFF">
                              <a:alpha val="100000"/>
                            </a:srgbClr>
                          </a:solidFill>
                          <a:prstDash val="solid"/>
                        </a:lnB>
                        <a:solidFill>
                          <a:srgbClr val="FFFFFF">
                            <a:alpha val="0"/>
                          </a:srgbClr>
                        </a:solidFill>
                      </a:tcPr>
                    </a:tc>
                    <a:tc>
                      <a:txBody>
                        <a:bodyPr/>
                        <a:lstStyle/>
                        <a:p>
                          <a:pPr marL="63500" marR="63500" algn="ctr">
                            <a:lnSpc>
                              <a:spcPct val="100000"/>
                            </a:lnSpc>
                            <a:spcBef>
                              <a:spcPts val="500"/>
                            </a:spcBef>
                            <a:spcAft>
                              <a:spcPts val="500"/>
                            </a:spcAft>
                            <a:buNone/>
                          </a:pPr>
                          <a:r>
                            <a:rPr sz="1000" b="0" i="0" u="none" strike="noStrike" cap="none">
                              <a:solidFill>
                                <a:srgbClr val="000000">
                                  <a:alpha val="100000"/>
                                </a:srgbClr>
                              </a:solidFill>
                              <a:latin typeface="Arial"/>
                              <a:cs typeface="Helvetica"/>
                              <a:sym typeface="Helvetica"/>
                            </a:rPr>
                            <a:t>0.896***</a:t>
                          </a:r>
                        </a:p>
                      </a:txBody>
                      <a:tcPr marL="0" marR="0" marT="63500" marB="63500" anchor="ctr">
                        <a:lnL w="12700" cap="flat" cmpd="sng" algn="ctr">
                          <a:solidFill>
                            <a:srgbClr val="FFFFFF">
                              <a:alpha val="100000"/>
                            </a:srgbClr>
                          </a:solidFill>
                          <a:prstDash val="solid"/>
                        </a:lnL>
                        <a:lnR w="12700" cap="flat" cmpd="sng" algn="ctr">
                          <a:solidFill>
                            <a:srgbClr val="FFFFFF">
                              <a:alpha val="100000"/>
                            </a:srgbClr>
                          </a:solidFill>
                          <a:prstDash val="solid"/>
                        </a:lnR>
                        <a:lnT w="12700" cap="flat" cmpd="sng" algn="ctr">
                          <a:solidFill>
                            <a:srgbClr val="FFFFFF">
                              <a:alpha val="100000"/>
                            </a:srgbClr>
                          </a:solidFill>
                          <a:prstDash val="solid"/>
                        </a:lnT>
                        <a:lnB w="12700" cap="flat" cmpd="sng" algn="ctr">
                          <a:solidFill>
                            <a:srgbClr val="FFFFFF">
                              <a:alpha val="100000"/>
                            </a:srgbClr>
                          </a:solidFill>
                          <a:prstDash val="solid"/>
                        </a:lnB>
                        <a:solidFill>
                          <a:srgbClr val="FFFFFF">
                            <a:alpha val="0"/>
                          </a:srgbClr>
                        </a:solidFill>
                      </a:tcPr>
                    </a:tc>
                    <a:tc>
                      <a:txBody>
                        <a:bodyPr/>
                        <a:lstStyle/>
                        <a:p>
                          <a:pPr marL="63500" marR="63500" algn="ctr">
                            <a:lnSpc>
                              <a:spcPct val="100000"/>
                            </a:lnSpc>
                            <a:spcBef>
                              <a:spcPts val="500"/>
                            </a:spcBef>
                            <a:spcAft>
                              <a:spcPts val="500"/>
                            </a:spcAft>
                            <a:buNone/>
                          </a:pPr>
                          <a:r>
                            <a:rPr sz="1000" b="0" i="0" u="none" strike="noStrike" cap="none">
                              <a:solidFill>
                                <a:srgbClr val="000000">
                                  <a:alpha val="100000"/>
                                </a:srgbClr>
                              </a:solidFill>
                              <a:latin typeface="Arial"/>
                              <a:cs typeface="Helvetica"/>
                              <a:sym typeface="Helvetica"/>
                            </a:rPr>
                            <a:t>1.116***</a:t>
                          </a:r>
                        </a:p>
                      </a:txBody>
                      <a:tcPr marL="0" marR="0" marT="63500" marB="63500" anchor="ctr">
                        <a:lnL w="12700" cap="flat" cmpd="sng" algn="ctr">
                          <a:solidFill>
                            <a:srgbClr val="FFFFFF">
                              <a:alpha val="100000"/>
                            </a:srgbClr>
                          </a:solidFill>
                          <a:prstDash val="solid"/>
                        </a:lnL>
                        <a:lnR w="12700" cap="flat" cmpd="sng" algn="ctr">
                          <a:solidFill>
                            <a:srgbClr val="FFFFFF">
                              <a:alpha val="100000"/>
                            </a:srgbClr>
                          </a:solidFill>
                          <a:prstDash val="solid"/>
                        </a:lnR>
                        <a:lnT w="12700" cap="flat" cmpd="sng" algn="ctr">
                          <a:solidFill>
                            <a:srgbClr val="FFFFFF">
                              <a:alpha val="100000"/>
                            </a:srgbClr>
                          </a:solidFill>
                          <a:prstDash val="solid"/>
                        </a:lnT>
                        <a:lnB w="12700" cap="flat" cmpd="sng" algn="ctr">
                          <a:solidFill>
                            <a:srgbClr val="FFFFFF">
                              <a:alpha val="100000"/>
                            </a:srgbClr>
                          </a:solidFill>
                          <a:prstDash val="solid"/>
                        </a:lnB>
                        <a:solidFill>
                          <a:srgbClr val="FFFFFF">
                            <a:alpha val="0"/>
                          </a:srgbClr>
                        </a:solidFill>
                      </a:tcPr>
                    </a:tc>
                    <a:tc>
                      <a:txBody>
                        <a:bodyPr/>
                        <a:lstStyle/>
                        <a:p>
                          <a:pPr marL="63500" marR="63500" algn="ctr">
                            <a:lnSpc>
                              <a:spcPct val="100000"/>
                            </a:lnSpc>
                            <a:spcBef>
                              <a:spcPts val="500"/>
                            </a:spcBef>
                            <a:spcAft>
                              <a:spcPts val="500"/>
                            </a:spcAft>
                            <a:buNone/>
                          </a:pPr>
                          <a:r>
                            <a:rPr sz="1000" b="0" i="0" u="none" strike="noStrike" cap="none" dirty="0">
                              <a:solidFill>
                                <a:srgbClr val="000000">
                                  <a:alpha val="100000"/>
                                </a:srgbClr>
                              </a:solidFill>
                              <a:latin typeface="Arial"/>
                              <a:cs typeface="Helvetica"/>
                              <a:sym typeface="Helvetica"/>
                            </a:rPr>
                            <a:t>1.017***</a:t>
                          </a:r>
                        </a:p>
                      </a:txBody>
                      <a:tcPr marL="0" marR="0" marT="63500" marB="63500" anchor="ctr">
                        <a:lnL w="12700" cap="flat" cmpd="sng" algn="ctr">
                          <a:solidFill>
                            <a:srgbClr val="FFFFFF">
                              <a:alpha val="100000"/>
                            </a:srgbClr>
                          </a:solidFill>
                          <a:prstDash val="solid"/>
                        </a:lnL>
                        <a:lnR w="12700" cap="flat" cmpd="sng" algn="ctr">
                          <a:solidFill>
                            <a:srgbClr val="FFFFFF">
                              <a:alpha val="100000"/>
                            </a:srgbClr>
                          </a:solidFill>
                          <a:prstDash val="solid"/>
                        </a:lnR>
                        <a:lnT w="12700" cap="flat" cmpd="sng" algn="ctr">
                          <a:solidFill>
                            <a:srgbClr val="FFFFFF">
                              <a:alpha val="100000"/>
                            </a:srgbClr>
                          </a:solidFill>
                          <a:prstDash val="solid"/>
                        </a:lnT>
                        <a:lnB w="12700" cap="flat" cmpd="sng" algn="ctr">
                          <a:solidFill>
                            <a:srgbClr val="FFFFFF">
                              <a:alpha val="100000"/>
                            </a:srgbClr>
                          </a:solidFill>
                          <a:prstDash val="solid"/>
                        </a:lnB>
                        <a:solidFill>
                          <a:srgbClr val="FFFFFF">
                            <a:alpha val="0"/>
                          </a:srgbClr>
                        </a:solidFill>
                      </a:tcPr>
                    </a:tc>
                    <a:tc>
                      <a:txBody>
                        <a:bodyPr/>
                        <a:lstStyle/>
                        <a:p>
                          <a:pPr marL="63500" marR="63500" algn="ctr">
                            <a:lnSpc>
                              <a:spcPct val="100000"/>
                            </a:lnSpc>
                            <a:spcBef>
                              <a:spcPts val="500"/>
                            </a:spcBef>
                            <a:spcAft>
                              <a:spcPts val="500"/>
                            </a:spcAft>
                            <a:buNone/>
                          </a:pPr>
                          <a:r>
                            <a:rPr sz="1000" b="0" i="0" u="none" strike="noStrike" cap="none">
                              <a:solidFill>
                                <a:srgbClr val="000000">
                                  <a:alpha val="100000"/>
                                </a:srgbClr>
                              </a:solidFill>
                              <a:latin typeface="Arial"/>
                              <a:cs typeface="Helvetica"/>
                              <a:sym typeface="Helvetica"/>
                            </a:rPr>
                            <a:t>0.864***</a:t>
                          </a:r>
                        </a:p>
                      </a:txBody>
                      <a:tcPr marL="0" marR="0" marT="63500" marB="63500" anchor="ctr">
                        <a:lnL w="12700" cap="flat" cmpd="sng" algn="ctr">
                          <a:solidFill>
                            <a:srgbClr val="FFFFFF">
                              <a:alpha val="100000"/>
                            </a:srgbClr>
                          </a:solidFill>
                          <a:prstDash val="solid"/>
                        </a:lnL>
                        <a:lnR w="12700" cap="flat" cmpd="sng" algn="ctr">
                          <a:solidFill>
                            <a:srgbClr val="FFFFFF">
                              <a:alpha val="100000"/>
                            </a:srgbClr>
                          </a:solidFill>
                          <a:prstDash val="solid"/>
                        </a:lnR>
                        <a:lnT w="12700" cap="flat" cmpd="sng" algn="ctr">
                          <a:solidFill>
                            <a:srgbClr val="FFFFFF">
                              <a:alpha val="100000"/>
                            </a:srgbClr>
                          </a:solidFill>
                          <a:prstDash val="solid"/>
                        </a:lnT>
                        <a:lnB w="12700" cap="flat" cmpd="sng" algn="ctr">
                          <a:solidFill>
                            <a:srgbClr val="FFFFFF">
                              <a:alpha val="100000"/>
                            </a:srgbClr>
                          </a:solidFill>
                          <a:prstDash val="solid"/>
                        </a:lnB>
                        <a:solidFill>
                          <a:srgbClr val="FFFFFF">
                            <a:alpha val="0"/>
                          </a:srgbClr>
                        </a:solidFill>
                      </a:tcPr>
                    </a:tc>
                    <a:tc>
                      <a:txBody>
                        <a:bodyPr/>
                        <a:lstStyle/>
                        <a:p>
                          <a:pPr marL="63500" marR="63500" algn="ctr">
                            <a:lnSpc>
                              <a:spcPct val="100000"/>
                            </a:lnSpc>
                            <a:spcBef>
                              <a:spcPts val="500"/>
                            </a:spcBef>
                            <a:spcAft>
                              <a:spcPts val="500"/>
                            </a:spcAft>
                            <a:buNone/>
                          </a:pPr>
                          <a:r>
                            <a:rPr sz="1000" b="0" i="0" u="none" strike="noStrike" cap="none">
                              <a:solidFill>
                                <a:srgbClr val="000000">
                                  <a:alpha val="100000"/>
                                </a:srgbClr>
                              </a:solidFill>
                              <a:latin typeface="Arial"/>
                              <a:cs typeface="Helvetica"/>
                              <a:sym typeface="Helvetica"/>
                            </a:rPr>
                            <a:t>1.063***</a:t>
                          </a:r>
                        </a:p>
                      </a:txBody>
                      <a:tcPr marL="0" marR="0" marT="63500" marB="63500" anchor="ctr">
                        <a:lnL w="12700" cap="flat" cmpd="sng" algn="ctr">
                          <a:solidFill>
                            <a:srgbClr val="FFFFFF">
                              <a:alpha val="100000"/>
                            </a:srgbClr>
                          </a:solidFill>
                          <a:prstDash val="solid"/>
                        </a:lnL>
                        <a:lnR w="12700" cap="flat" cmpd="sng" algn="ctr">
                          <a:solidFill>
                            <a:srgbClr val="FFFFFF">
                              <a:alpha val="100000"/>
                            </a:srgbClr>
                          </a:solidFill>
                          <a:prstDash val="solid"/>
                        </a:lnR>
                        <a:lnT w="12700" cap="flat" cmpd="sng" algn="ctr">
                          <a:solidFill>
                            <a:srgbClr val="FFFFFF">
                              <a:alpha val="100000"/>
                            </a:srgbClr>
                          </a:solidFill>
                          <a:prstDash val="solid"/>
                        </a:lnT>
                        <a:lnB w="12700" cap="flat" cmpd="sng" algn="ctr">
                          <a:solidFill>
                            <a:srgbClr val="FFFFFF">
                              <a:alpha val="100000"/>
                            </a:srgbClr>
                          </a:solidFill>
                          <a:prstDash val="solid"/>
                        </a:lnB>
                        <a:solidFill>
                          <a:srgbClr val="FFFFFF">
                            <a:alpha val="0"/>
                          </a:srgbClr>
                        </a:solidFill>
                      </a:tcPr>
                    </a:tc>
                    <a:extLst>
                      <a:ext uri="{0D108BD9-81ED-4DB2-BD59-A6C34878D82A}">
                        <a16:rowId xmlns:a16="http://schemas.microsoft.com/office/drawing/2014/main" val="10005"/>
                      </a:ext>
                    </a:extLst>
                  </a:tr>
                  <a:tr h="350806">
                    <a:tc>
                      <a:txBody>
                        <a:bodyPr/>
                        <a:lstStyle/>
                        <a:p>
                          <a:endParaRPr lang="en-US"/>
                        </a:p>
                      </a:txBody>
                      <a:tcPr marL="0" marR="0" marT="63500" marB="63500" anchor="ctr">
                        <a:lnL w="12700" cap="flat" cmpd="sng" algn="ctr">
                          <a:solidFill>
                            <a:srgbClr val="FFFFFF">
                              <a:alpha val="100000"/>
                            </a:srgbClr>
                          </a:solidFill>
                          <a:prstDash val="solid"/>
                        </a:lnL>
                        <a:lnR w="12700" cap="flat" cmpd="sng" algn="ctr">
                          <a:solidFill>
                            <a:srgbClr val="FFFFFF">
                              <a:alpha val="100000"/>
                            </a:srgbClr>
                          </a:solidFill>
                          <a:prstDash val="solid"/>
                        </a:lnR>
                        <a:lnT w="12700" cap="flat" cmpd="sng" algn="ctr">
                          <a:solidFill>
                            <a:srgbClr val="FFFFFF">
                              <a:alpha val="100000"/>
                            </a:srgbClr>
                          </a:solidFill>
                          <a:prstDash val="solid"/>
                        </a:lnT>
                        <a:lnB w="12700" cap="flat" cmpd="sng" algn="ctr">
                          <a:solidFill>
                            <a:srgbClr val="FFFFFF">
                              <a:alpha val="100000"/>
                            </a:srgbClr>
                          </a:solidFill>
                          <a:prstDash val="solid"/>
                        </a:lnB>
                        <a:blipFill>
                          <a:blip r:embed="rId3"/>
                          <a:stretch>
                            <a:fillRect l="-833" t="-617857" r="-547500" b="-567857"/>
                          </a:stretch>
                        </a:blipFill>
                      </a:tcPr>
                    </a:tc>
                    <a:tc>
                      <a:txBody>
                        <a:bodyPr/>
                        <a:lstStyle/>
                        <a:p>
                          <a:pPr marL="63500" marR="63500" algn="ctr">
                            <a:lnSpc>
                              <a:spcPct val="100000"/>
                            </a:lnSpc>
                            <a:spcBef>
                              <a:spcPts val="500"/>
                            </a:spcBef>
                            <a:spcAft>
                              <a:spcPts val="500"/>
                            </a:spcAft>
                            <a:buNone/>
                          </a:pPr>
                          <a:r>
                            <a:rPr sz="1000" b="0" i="0" u="none" strike="noStrike" cap="none">
                              <a:solidFill>
                                <a:srgbClr val="000000">
                                  <a:alpha val="100000"/>
                                </a:srgbClr>
                              </a:solidFill>
                              <a:latin typeface="Arial"/>
                              <a:cs typeface="Helvetica"/>
                              <a:sym typeface="Helvetica"/>
                            </a:rPr>
                            <a:t>0.026 </a:t>
                          </a:r>
                        </a:p>
                      </a:txBody>
                      <a:tcPr marL="0" marR="0" marT="63500" marB="63500" anchor="ctr">
                        <a:lnL w="12700" cap="flat" cmpd="sng" algn="ctr">
                          <a:solidFill>
                            <a:srgbClr val="FFFFFF">
                              <a:alpha val="100000"/>
                            </a:srgbClr>
                          </a:solidFill>
                          <a:prstDash val="solid"/>
                        </a:lnL>
                        <a:lnR w="12700" cap="flat" cmpd="sng" algn="ctr">
                          <a:solidFill>
                            <a:srgbClr val="FFFFFF">
                              <a:alpha val="100000"/>
                            </a:srgbClr>
                          </a:solidFill>
                          <a:prstDash val="solid"/>
                        </a:lnR>
                        <a:lnT w="12700" cap="flat" cmpd="sng" algn="ctr">
                          <a:solidFill>
                            <a:srgbClr val="FFFFFF">
                              <a:alpha val="100000"/>
                            </a:srgbClr>
                          </a:solidFill>
                          <a:prstDash val="solid"/>
                        </a:lnT>
                        <a:lnB w="12700" cap="flat" cmpd="sng" algn="ctr">
                          <a:solidFill>
                            <a:srgbClr val="FFFFFF">
                              <a:alpha val="100000"/>
                            </a:srgbClr>
                          </a:solidFill>
                          <a:prstDash val="solid"/>
                        </a:lnB>
                        <a:solidFill>
                          <a:srgbClr val="FFFFFF">
                            <a:alpha val="0"/>
                          </a:srgbClr>
                        </a:solidFill>
                      </a:tcPr>
                    </a:tc>
                    <a:tc>
                      <a:txBody>
                        <a:bodyPr/>
                        <a:lstStyle/>
                        <a:p>
                          <a:pPr marL="63500" marR="63500" algn="ctr">
                            <a:lnSpc>
                              <a:spcPct val="100000"/>
                            </a:lnSpc>
                            <a:spcBef>
                              <a:spcPts val="500"/>
                            </a:spcBef>
                            <a:spcAft>
                              <a:spcPts val="500"/>
                            </a:spcAft>
                            <a:buNone/>
                          </a:pPr>
                          <a:endParaRPr sz="1000" b="0" i="0" u="none" strike="noStrike" cap="none">
                            <a:solidFill>
                              <a:srgbClr val="000000">
                                <a:alpha val="100000"/>
                              </a:srgbClr>
                            </a:solidFill>
                            <a:latin typeface="Arial"/>
                            <a:cs typeface="Helvetica"/>
                            <a:sym typeface="Helvetica"/>
                          </a:endParaRPr>
                        </a:p>
                      </a:txBody>
                      <a:tcPr marL="0" marR="0" marT="63500" marB="63500" anchor="ctr">
                        <a:lnL w="12700" cap="flat" cmpd="sng" algn="ctr">
                          <a:solidFill>
                            <a:srgbClr val="FFFFFF">
                              <a:alpha val="100000"/>
                            </a:srgbClr>
                          </a:solidFill>
                          <a:prstDash val="solid"/>
                        </a:lnL>
                        <a:lnR w="12700" cap="flat" cmpd="sng" algn="ctr">
                          <a:solidFill>
                            <a:srgbClr val="FFFFFF">
                              <a:alpha val="100000"/>
                            </a:srgbClr>
                          </a:solidFill>
                          <a:prstDash val="solid"/>
                        </a:lnR>
                        <a:lnT w="12700" cap="flat" cmpd="sng" algn="ctr">
                          <a:solidFill>
                            <a:srgbClr val="FFFFFF">
                              <a:alpha val="100000"/>
                            </a:srgbClr>
                          </a:solidFill>
                          <a:prstDash val="solid"/>
                        </a:lnT>
                        <a:lnB w="12700" cap="flat" cmpd="sng" algn="ctr">
                          <a:solidFill>
                            <a:srgbClr val="FFFFFF">
                              <a:alpha val="100000"/>
                            </a:srgbClr>
                          </a:solidFill>
                          <a:prstDash val="solid"/>
                        </a:lnB>
                        <a:solidFill>
                          <a:srgbClr val="FFFFFF">
                            <a:alpha val="0"/>
                          </a:srgbClr>
                        </a:solidFill>
                      </a:tcPr>
                    </a:tc>
                    <a:tc>
                      <a:txBody>
                        <a:bodyPr/>
                        <a:lstStyle/>
                        <a:p>
                          <a:pPr marL="63500" marR="63500" algn="ctr">
                            <a:lnSpc>
                              <a:spcPct val="100000"/>
                            </a:lnSpc>
                            <a:spcBef>
                              <a:spcPts val="500"/>
                            </a:spcBef>
                            <a:spcAft>
                              <a:spcPts val="500"/>
                            </a:spcAft>
                            <a:buNone/>
                          </a:pPr>
                          <a:r>
                            <a:rPr sz="1000" b="0" i="0" u="none" strike="noStrike" cap="none">
                              <a:solidFill>
                                <a:srgbClr val="000000">
                                  <a:alpha val="100000"/>
                                </a:srgbClr>
                              </a:solidFill>
                              <a:latin typeface="Arial"/>
                              <a:cs typeface="Helvetica"/>
                              <a:sym typeface="Helvetica"/>
                            </a:rPr>
                            <a:t>0.024 </a:t>
                          </a:r>
                        </a:p>
                      </a:txBody>
                      <a:tcPr marL="0" marR="0" marT="63500" marB="63500" anchor="ctr">
                        <a:lnL w="12700" cap="flat" cmpd="sng" algn="ctr">
                          <a:solidFill>
                            <a:srgbClr val="FFFFFF">
                              <a:alpha val="100000"/>
                            </a:srgbClr>
                          </a:solidFill>
                          <a:prstDash val="solid"/>
                        </a:lnL>
                        <a:lnR w="12700" cap="flat" cmpd="sng" algn="ctr">
                          <a:solidFill>
                            <a:srgbClr val="FFFFFF">
                              <a:alpha val="100000"/>
                            </a:srgbClr>
                          </a:solidFill>
                          <a:prstDash val="solid"/>
                        </a:lnR>
                        <a:lnT w="12700" cap="flat" cmpd="sng" algn="ctr">
                          <a:solidFill>
                            <a:srgbClr val="FFFFFF">
                              <a:alpha val="100000"/>
                            </a:srgbClr>
                          </a:solidFill>
                          <a:prstDash val="solid"/>
                        </a:lnT>
                        <a:lnB w="12700" cap="flat" cmpd="sng" algn="ctr">
                          <a:solidFill>
                            <a:srgbClr val="FFFFFF">
                              <a:alpha val="100000"/>
                            </a:srgbClr>
                          </a:solidFill>
                          <a:prstDash val="solid"/>
                        </a:lnB>
                        <a:solidFill>
                          <a:srgbClr val="FFFFFF">
                            <a:alpha val="0"/>
                          </a:srgbClr>
                        </a:solidFill>
                      </a:tcPr>
                    </a:tc>
                    <a:tc>
                      <a:txBody>
                        <a:bodyPr/>
                        <a:lstStyle/>
                        <a:p>
                          <a:pPr marL="63500" marR="63500" algn="ctr">
                            <a:lnSpc>
                              <a:spcPct val="100000"/>
                            </a:lnSpc>
                            <a:spcBef>
                              <a:spcPts val="500"/>
                            </a:spcBef>
                            <a:spcAft>
                              <a:spcPts val="500"/>
                            </a:spcAft>
                            <a:buNone/>
                          </a:pPr>
                          <a:r>
                            <a:rPr sz="1000" b="0" i="0" u="none" strike="noStrike" cap="none" dirty="0">
                              <a:solidFill>
                                <a:srgbClr val="000000">
                                  <a:alpha val="100000"/>
                                </a:srgbClr>
                              </a:solidFill>
                              <a:latin typeface="Arial"/>
                              <a:cs typeface="Helvetica"/>
                              <a:sym typeface="Helvetica"/>
                            </a:rPr>
                            <a:t>-0.001 </a:t>
                          </a:r>
                        </a:p>
                      </a:txBody>
                      <a:tcPr marL="0" marR="0" marT="63500" marB="63500" anchor="ctr">
                        <a:lnL w="12700" cap="flat" cmpd="sng" algn="ctr">
                          <a:solidFill>
                            <a:srgbClr val="FFFFFF">
                              <a:alpha val="100000"/>
                            </a:srgbClr>
                          </a:solidFill>
                          <a:prstDash val="solid"/>
                        </a:lnL>
                        <a:lnR w="12700" cap="flat" cmpd="sng" algn="ctr">
                          <a:solidFill>
                            <a:srgbClr val="FFFFFF">
                              <a:alpha val="100000"/>
                            </a:srgbClr>
                          </a:solidFill>
                          <a:prstDash val="solid"/>
                        </a:lnR>
                        <a:lnT w="12700" cap="flat" cmpd="sng" algn="ctr">
                          <a:solidFill>
                            <a:srgbClr val="FFFFFF">
                              <a:alpha val="100000"/>
                            </a:srgbClr>
                          </a:solidFill>
                          <a:prstDash val="solid"/>
                        </a:lnT>
                        <a:lnB w="12700" cap="flat" cmpd="sng" algn="ctr">
                          <a:solidFill>
                            <a:srgbClr val="FFFFFF">
                              <a:alpha val="100000"/>
                            </a:srgbClr>
                          </a:solidFill>
                          <a:prstDash val="solid"/>
                        </a:lnB>
                        <a:solidFill>
                          <a:srgbClr val="FFFFFF">
                            <a:alpha val="0"/>
                          </a:srgbClr>
                        </a:solidFill>
                      </a:tcPr>
                    </a:tc>
                    <a:tc>
                      <a:txBody>
                        <a:bodyPr/>
                        <a:lstStyle/>
                        <a:p>
                          <a:pPr marL="63500" marR="63500" algn="ctr">
                            <a:lnSpc>
                              <a:spcPct val="100000"/>
                            </a:lnSpc>
                            <a:spcBef>
                              <a:spcPts val="500"/>
                            </a:spcBef>
                            <a:spcAft>
                              <a:spcPts val="500"/>
                            </a:spcAft>
                            <a:buNone/>
                          </a:pPr>
                          <a:endParaRPr sz="1000" b="0" i="0" u="none" strike="noStrike" cap="none">
                            <a:solidFill>
                              <a:srgbClr val="000000">
                                <a:alpha val="100000"/>
                              </a:srgbClr>
                            </a:solidFill>
                            <a:latin typeface="Arial"/>
                            <a:cs typeface="Helvetica"/>
                            <a:sym typeface="Helvetica"/>
                          </a:endParaRPr>
                        </a:p>
                      </a:txBody>
                      <a:tcPr marL="0" marR="0" marT="63500" marB="63500" anchor="ctr">
                        <a:lnL w="12700" cap="flat" cmpd="sng" algn="ctr">
                          <a:solidFill>
                            <a:srgbClr val="FFFFFF">
                              <a:alpha val="100000"/>
                            </a:srgbClr>
                          </a:solidFill>
                          <a:prstDash val="solid"/>
                        </a:lnL>
                        <a:lnR w="12700" cap="flat" cmpd="sng" algn="ctr">
                          <a:solidFill>
                            <a:srgbClr val="FFFFFF">
                              <a:alpha val="100000"/>
                            </a:srgbClr>
                          </a:solidFill>
                          <a:prstDash val="solid"/>
                        </a:lnR>
                        <a:lnT w="12700" cap="flat" cmpd="sng" algn="ctr">
                          <a:solidFill>
                            <a:srgbClr val="FFFFFF">
                              <a:alpha val="100000"/>
                            </a:srgbClr>
                          </a:solidFill>
                          <a:prstDash val="solid"/>
                        </a:lnT>
                        <a:lnB w="12700" cap="flat" cmpd="sng" algn="ctr">
                          <a:solidFill>
                            <a:srgbClr val="FFFFFF">
                              <a:alpha val="100000"/>
                            </a:srgbClr>
                          </a:solidFill>
                          <a:prstDash val="solid"/>
                        </a:lnB>
                        <a:solidFill>
                          <a:srgbClr val="FFFFFF">
                            <a:alpha val="0"/>
                          </a:srgbClr>
                        </a:solidFill>
                      </a:tcPr>
                    </a:tc>
                    <a:tc>
                      <a:txBody>
                        <a:bodyPr/>
                        <a:lstStyle/>
                        <a:p>
                          <a:pPr marL="63500" marR="63500" algn="ctr">
                            <a:lnSpc>
                              <a:spcPct val="100000"/>
                            </a:lnSpc>
                            <a:spcBef>
                              <a:spcPts val="500"/>
                            </a:spcBef>
                            <a:spcAft>
                              <a:spcPts val="500"/>
                            </a:spcAft>
                            <a:buNone/>
                          </a:pPr>
                          <a:r>
                            <a:rPr sz="1000" b="0" i="0" u="none" strike="noStrike" cap="none">
                              <a:solidFill>
                                <a:srgbClr val="000000">
                                  <a:alpha val="100000"/>
                                </a:srgbClr>
                              </a:solidFill>
                              <a:latin typeface="Arial"/>
                              <a:cs typeface="Helvetica"/>
                              <a:sym typeface="Helvetica"/>
                            </a:rPr>
                            <a:t>-0.012 </a:t>
                          </a:r>
                        </a:p>
                      </a:txBody>
                      <a:tcPr marL="0" marR="0" marT="63500" marB="63500" anchor="ctr">
                        <a:lnL w="12700" cap="flat" cmpd="sng" algn="ctr">
                          <a:solidFill>
                            <a:srgbClr val="FFFFFF">
                              <a:alpha val="100000"/>
                            </a:srgbClr>
                          </a:solidFill>
                          <a:prstDash val="solid"/>
                        </a:lnL>
                        <a:lnR w="12700" cap="flat" cmpd="sng" algn="ctr">
                          <a:solidFill>
                            <a:srgbClr val="FFFFFF">
                              <a:alpha val="100000"/>
                            </a:srgbClr>
                          </a:solidFill>
                          <a:prstDash val="solid"/>
                        </a:lnR>
                        <a:lnT w="12700" cap="flat" cmpd="sng" algn="ctr">
                          <a:solidFill>
                            <a:srgbClr val="FFFFFF">
                              <a:alpha val="100000"/>
                            </a:srgbClr>
                          </a:solidFill>
                          <a:prstDash val="solid"/>
                        </a:lnT>
                        <a:lnB w="12700" cap="flat" cmpd="sng" algn="ctr">
                          <a:solidFill>
                            <a:srgbClr val="FFFFFF">
                              <a:alpha val="100000"/>
                            </a:srgbClr>
                          </a:solidFill>
                          <a:prstDash val="solid"/>
                        </a:lnB>
                        <a:solidFill>
                          <a:srgbClr val="FFFFFF">
                            <a:alpha val="0"/>
                          </a:srgbClr>
                        </a:solidFill>
                      </a:tcPr>
                    </a:tc>
                    <a:extLst>
                      <a:ext uri="{0D108BD9-81ED-4DB2-BD59-A6C34878D82A}">
                        <a16:rowId xmlns:a16="http://schemas.microsoft.com/office/drawing/2014/main" val="10006"/>
                      </a:ext>
                    </a:extLst>
                  </a:tr>
                  <a:tr h="350806">
                    <a:tc>
                      <a:txBody>
                        <a:bodyPr/>
                        <a:lstStyle/>
                        <a:p>
                          <a:endParaRPr lang="en-US"/>
                        </a:p>
                      </a:txBody>
                      <a:tcPr marL="0" marR="0" marT="63500" marB="63500" anchor="ctr">
                        <a:lnL w="12700" cap="flat" cmpd="sng" algn="ctr">
                          <a:solidFill>
                            <a:srgbClr val="FFFFFF">
                              <a:alpha val="100000"/>
                            </a:srgbClr>
                          </a:solidFill>
                          <a:prstDash val="solid"/>
                        </a:lnL>
                        <a:lnR w="12700" cap="flat" cmpd="sng" algn="ctr">
                          <a:solidFill>
                            <a:srgbClr val="FFFFFF">
                              <a:alpha val="100000"/>
                            </a:srgbClr>
                          </a:solidFill>
                          <a:prstDash val="solid"/>
                        </a:lnR>
                        <a:lnT w="12700" cap="flat" cmpd="sng" algn="ctr">
                          <a:solidFill>
                            <a:srgbClr val="FFFFFF">
                              <a:alpha val="100000"/>
                            </a:srgbClr>
                          </a:solidFill>
                          <a:prstDash val="solid"/>
                        </a:lnT>
                        <a:lnB w="12700" cap="flat" cmpd="sng" algn="ctr">
                          <a:solidFill>
                            <a:srgbClr val="FFFFFF">
                              <a:alpha val="100000"/>
                            </a:srgbClr>
                          </a:solidFill>
                          <a:prstDash val="solid"/>
                        </a:lnB>
                        <a:blipFill>
                          <a:blip r:embed="rId3"/>
                          <a:stretch>
                            <a:fillRect l="-833" t="-744444" r="-547500" b="-488889"/>
                          </a:stretch>
                        </a:blipFill>
                      </a:tcPr>
                    </a:tc>
                    <a:tc>
                      <a:txBody>
                        <a:bodyPr/>
                        <a:lstStyle/>
                        <a:p>
                          <a:pPr marL="63500" marR="63500" algn="ctr">
                            <a:lnSpc>
                              <a:spcPct val="100000"/>
                            </a:lnSpc>
                            <a:spcBef>
                              <a:spcPts val="500"/>
                            </a:spcBef>
                            <a:spcAft>
                              <a:spcPts val="500"/>
                            </a:spcAft>
                            <a:buNone/>
                          </a:pPr>
                          <a:r>
                            <a:rPr sz="1000" b="0" i="0" u="none" strike="noStrike" cap="none">
                              <a:solidFill>
                                <a:srgbClr val="000000">
                                  <a:alpha val="100000"/>
                                </a:srgbClr>
                              </a:solidFill>
                              <a:latin typeface="Arial"/>
                              <a:cs typeface="Helvetica"/>
                              <a:sym typeface="Helvetica"/>
                            </a:rPr>
                            <a:t>-0.116 </a:t>
                          </a:r>
                        </a:p>
                      </a:txBody>
                      <a:tcPr marL="0" marR="0" marT="63500" marB="63500" anchor="ctr">
                        <a:lnL w="12700" cap="flat" cmpd="sng" algn="ctr">
                          <a:solidFill>
                            <a:srgbClr val="FFFFFF">
                              <a:alpha val="100000"/>
                            </a:srgbClr>
                          </a:solidFill>
                          <a:prstDash val="solid"/>
                        </a:lnL>
                        <a:lnR w="12700" cap="flat" cmpd="sng" algn="ctr">
                          <a:solidFill>
                            <a:srgbClr val="FFFFFF">
                              <a:alpha val="100000"/>
                            </a:srgbClr>
                          </a:solidFill>
                          <a:prstDash val="solid"/>
                        </a:lnR>
                        <a:lnT w="12700" cap="flat" cmpd="sng" algn="ctr">
                          <a:solidFill>
                            <a:srgbClr val="FFFFFF">
                              <a:alpha val="100000"/>
                            </a:srgbClr>
                          </a:solidFill>
                          <a:prstDash val="solid"/>
                        </a:lnT>
                        <a:lnB w="12700" cap="flat" cmpd="sng" algn="ctr">
                          <a:solidFill>
                            <a:srgbClr val="FFFFFF">
                              <a:alpha val="100000"/>
                            </a:srgbClr>
                          </a:solidFill>
                          <a:prstDash val="solid"/>
                        </a:lnB>
                        <a:solidFill>
                          <a:srgbClr val="FFFFFF">
                            <a:alpha val="0"/>
                          </a:srgbClr>
                        </a:solidFill>
                      </a:tcPr>
                    </a:tc>
                    <a:tc>
                      <a:txBody>
                        <a:bodyPr/>
                        <a:lstStyle/>
                        <a:p>
                          <a:pPr marL="63500" marR="63500" algn="ctr">
                            <a:lnSpc>
                              <a:spcPct val="100000"/>
                            </a:lnSpc>
                            <a:spcBef>
                              <a:spcPts val="500"/>
                            </a:spcBef>
                            <a:spcAft>
                              <a:spcPts val="500"/>
                            </a:spcAft>
                            <a:buNone/>
                          </a:pPr>
                          <a:endParaRPr sz="1000" b="0" i="0" u="none" strike="noStrike" cap="none">
                            <a:solidFill>
                              <a:srgbClr val="000000">
                                <a:alpha val="100000"/>
                              </a:srgbClr>
                            </a:solidFill>
                            <a:latin typeface="Arial"/>
                            <a:cs typeface="Helvetica"/>
                            <a:sym typeface="Helvetica"/>
                          </a:endParaRPr>
                        </a:p>
                      </a:txBody>
                      <a:tcPr marL="0" marR="0" marT="63500" marB="63500" anchor="ctr">
                        <a:lnL w="12700" cap="flat" cmpd="sng" algn="ctr">
                          <a:solidFill>
                            <a:srgbClr val="FFFFFF">
                              <a:alpha val="100000"/>
                            </a:srgbClr>
                          </a:solidFill>
                          <a:prstDash val="solid"/>
                        </a:lnL>
                        <a:lnR w="12700" cap="flat" cmpd="sng" algn="ctr">
                          <a:solidFill>
                            <a:srgbClr val="FFFFFF">
                              <a:alpha val="100000"/>
                            </a:srgbClr>
                          </a:solidFill>
                          <a:prstDash val="solid"/>
                        </a:lnR>
                        <a:lnT w="12700" cap="flat" cmpd="sng" algn="ctr">
                          <a:solidFill>
                            <a:srgbClr val="FFFFFF">
                              <a:alpha val="100000"/>
                            </a:srgbClr>
                          </a:solidFill>
                          <a:prstDash val="solid"/>
                        </a:lnT>
                        <a:lnB w="12700" cap="flat" cmpd="sng" algn="ctr">
                          <a:solidFill>
                            <a:srgbClr val="FFFFFF">
                              <a:alpha val="100000"/>
                            </a:srgbClr>
                          </a:solidFill>
                          <a:prstDash val="solid"/>
                        </a:lnB>
                        <a:solidFill>
                          <a:srgbClr val="FFFFFF">
                            <a:alpha val="0"/>
                          </a:srgbClr>
                        </a:solidFill>
                      </a:tcPr>
                    </a:tc>
                    <a:tc>
                      <a:txBody>
                        <a:bodyPr/>
                        <a:lstStyle/>
                        <a:p>
                          <a:pPr marL="63500" marR="63500" algn="ctr">
                            <a:lnSpc>
                              <a:spcPct val="100000"/>
                            </a:lnSpc>
                            <a:spcBef>
                              <a:spcPts val="500"/>
                            </a:spcBef>
                            <a:spcAft>
                              <a:spcPts val="500"/>
                            </a:spcAft>
                            <a:buNone/>
                          </a:pPr>
                          <a:r>
                            <a:rPr sz="1000" b="0" i="0" u="none" strike="noStrike" cap="none">
                              <a:solidFill>
                                <a:srgbClr val="000000">
                                  <a:alpha val="100000"/>
                                </a:srgbClr>
                              </a:solidFill>
                              <a:latin typeface="Arial"/>
                              <a:cs typeface="Helvetica"/>
                              <a:sym typeface="Helvetica"/>
                            </a:rPr>
                            <a:t>-0.213**</a:t>
                          </a:r>
                        </a:p>
                      </a:txBody>
                      <a:tcPr marL="0" marR="0" marT="63500" marB="63500" anchor="ctr">
                        <a:lnL w="12700" cap="flat" cmpd="sng" algn="ctr">
                          <a:solidFill>
                            <a:srgbClr val="FFFFFF">
                              <a:alpha val="100000"/>
                            </a:srgbClr>
                          </a:solidFill>
                          <a:prstDash val="solid"/>
                        </a:lnL>
                        <a:lnR w="12700" cap="flat" cmpd="sng" algn="ctr">
                          <a:solidFill>
                            <a:srgbClr val="FFFFFF">
                              <a:alpha val="100000"/>
                            </a:srgbClr>
                          </a:solidFill>
                          <a:prstDash val="solid"/>
                        </a:lnR>
                        <a:lnT w="12700" cap="flat" cmpd="sng" algn="ctr">
                          <a:solidFill>
                            <a:srgbClr val="FFFFFF">
                              <a:alpha val="100000"/>
                            </a:srgbClr>
                          </a:solidFill>
                          <a:prstDash val="solid"/>
                        </a:lnT>
                        <a:lnB w="12700" cap="flat" cmpd="sng" algn="ctr">
                          <a:solidFill>
                            <a:srgbClr val="FFFFFF">
                              <a:alpha val="100000"/>
                            </a:srgbClr>
                          </a:solidFill>
                          <a:prstDash val="solid"/>
                        </a:lnB>
                        <a:solidFill>
                          <a:srgbClr val="FFFFFF">
                            <a:alpha val="0"/>
                          </a:srgbClr>
                        </a:solidFill>
                      </a:tcPr>
                    </a:tc>
                    <a:tc>
                      <a:txBody>
                        <a:bodyPr/>
                        <a:lstStyle/>
                        <a:p>
                          <a:pPr marL="63500" marR="63500" algn="ctr">
                            <a:lnSpc>
                              <a:spcPct val="100000"/>
                            </a:lnSpc>
                            <a:spcBef>
                              <a:spcPts val="500"/>
                            </a:spcBef>
                            <a:spcAft>
                              <a:spcPts val="500"/>
                            </a:spcAft>
                            <a:buNone/>
                          </a:pPr>
                          <a:r>
                            <a:rPr sz="1000" b="0" i="0" u="none" strike="noStrike" cap="none" dirty="0">
                              <a:solidFill>
                                <a:srgbClr val="000000">
                                  <a:alpha val="100000"/>
                                </a:srgbClr>
                              </a:solidFill>
                              <a:latin typeface="Arial"/>
                              <a:cs typeface="Helvetica"/>
                              <a:sym typeface="Helvetica"/>
                            </a:rPr>
                            <a:t>-0.106 </a:t>
                          </a:r>
                        </a:p>
                      </a:txBody>
                      <a:tcPr marL="0" marR="0" marT="63500" marB="63500" anchor="ctr">
                        <a:lnL w="12700" cap="flat" cmpd="sng" algn="ctr">
                          <a:solidFill>
                            <a:srgbClr val="FFFFFF">
                              <a:alpha val="100000"/>
                            </a:srgbClr>
                          </a:solidFill>
                          <a:prstDash val="solid"/>
                        </a:lnL>
                        <a:lnR w="12700" cap="flat" cmpd="sng" algn="ctr">
                          <a:solidFill>
                            <a:srgbClr val="FFFFFF">
                              <a:alpha val="100000"/>
                            </a:srgbClr>
                          </a:solidFill>
                          <a:prstDash val="solid"/>
                        </a:lnR>
                        <a:lnT w="12700" cap="flat" cmpd="sng" algn="ctr">
                          <a:solidFill>
                            <a:srgbClr val="FFFFFF">
                              <a:alpha val="100000"/>
                            </a:srgbClr>
                          </a:solidFill>
                          <a:prstDash val="solid"/>
                        </a:lnT>
                        <a:lnB w="12700" cap="flat" cmpd="sng" algn="ctr">
                          <a:solidFill>
                            <a:srgbClr val="FFFFFF">
                              <a:alpha val="100000"/>
                            </a:srgbClr>
                          </a:solidFill>
                          <a:prstDash val="solid"/>
                        </a:lnB>
                        <a:solidFill>
                          <a:srgbClr val="FFFFFF">
                            <a:alpha val="0"/>
                          </a:srgbClr>
                        </a:solidFill>
                      </a:tcPr>
                    </a:tc>
                    <a:tc>
                      <a:txBody>
                        <a:bodyPr/>
                        <a:lstStyle/>
                        <a:p>
                          <a:pPr marL="63500" marR="63500" algn="ctr">
                            <a:lnSpc>
                              <a:spcPct val="100000"/>
                            </a:lnSpc>
                            <a:spcBef>
                              <a:spcPts val="500"/>
                            </a:spcBef>
                            <a:spcAft>
                              <a:spcPts val="500"/>
                            </a:spcAft>
                            <a:buNone/>
                          </a:pPr>
                          <a:endParaRPr sz="1000" b="0" i="0" u="none" strike="noStrike" cap="none">
                            <a:solidFill>
                              <a:srgbClr val="000000">
                                <a:alpha val="100000"/>
                              </a:srgbClr>
                            </a:solidFill>
                            <a:latin typeface="Arial"/>
                            <a:cs typeface="Helvetica"/>
                            <a:sym typeface="Helvetica"/>
                          </a:endParaRPr>
                        </a:p>
                      </a:txBody>
                      <a:tcPr marL="0" marR="0" marT="63500" marB="63500" anchor="ctr">
                        <a:lnL w="12700" cap="flat" cmpd="sng" algn="ctr">
                          <a:solidFill>
                            <a:srgbClr val="FFFFFF">
                              <a:alpha val="100000"/>
                            </a:srgbClr>
                          </a:solidFill>
                          <a:prstDash val="solid"/>
                        </a:lnL>
                        <a:lnR w="12700" cap="flat" cmpd="sng" algn="ctr">
                          <a:solidFill>
                            <a:srgbClr val="FFFFFF">
                              <a:alpha val="100000"/>
                            </a:srgbClr>
                          </a:solidFill>
                          <a:prstDash val="solid"/>
                        </a:lnR>
                        <a:lnT w="12700" cap="flat" cmpd="sng" algn="ctr">
                          <a:solidFill>
                            <a:srgbClr val="FFFFFF">
                              <a:alpha val="100000"/>
                            </a:srgbClr>
                          </a:solidFill>
                          <a:prstDash val="solid"/>
                        </a:lnT>
                        <a:lnB w="12700" cap="flat" cmpd="sng" algn="ctr">
                          <a:solidFill>
                            <a:srgbClr val="FFFFFF">
                              <a:alpha val="100000"/>
                            </a:srgbClr>
                          </a:solidFill>
                          <a:prstDash val="solid"/>
                        </a:lnB>
                        <a:solidFill>
                          <a:srgbClr val="FFFFFF">
                            <a:alpha val="0"/>
                          </a:srgbClr>
                        </a:solidFill>
                      </a:tcPr>
                    </a:tc>
                    <a:tc>
                      <a:txBody>
                        <a:bodyPr/>
                        <a:lstStyle/>
                        <a:p>
                          <a:pPr marL="63500" marR="63500" algn="ctr">
                            <a:lnSpc>
                              <a:spcPct val="100000"/>
                            </a:lnSpc>
                            <a:spcBef>
                              <a:spcPts val="500"/>
                            </a:spcBef>
                            <a:spcAft>
                              <a:spcPts val="500"/>
                            </a:spcAft>
                            <a:buNone/>
                          </a:pPr>
                          <a:r>
                            <a:rPr sz="1000" b="0" i="0" u="none" strike="noStrike" cap="none">
                              <a:solidFill>
                                <a:srgbClr val="000000">
                                  <a:alpha val="100000"/>
                                </a:srgbClr>
                              </a:solidFill>
                              <a:latin typeface="Arial"/>
                              <a:cs typeface="Helvetica"/>
                              <a:sym typeface="Helvetica"/>
                            </a:rPr>
                            <a:t>-0.205**</a:t>
                          </a:r>
                        </a:p>
                      </a:txBody>
                      <a:tcPr marL="0" marR="0" marT="63500" marB="63500" anchor="ctr">
                        <a:lnL w="12700" cap="flat" cmpd="sng" algn="ctr">
                          <a:solidFill>
                            <a:srgbClr val="FFFFFF">
                              <a:alpha val="100000"/>
                            </a:srgbClr>
                          </a:solidFill>
                          <a:prstDash val="solid"/>
                        </a:lnL>
                        <a:lnR w="12700" cap="flat" cmpd="sng" algn="ctr">
                          <a:solidFill>
                            <a:srgbClr val="FFFFFF">
                              <a:alpha val="100000"/>
                            </a:srgbClr>
                          </a:solidFill>
                          <a:prstDash val="solid"/>
                        </a:lnR>
                        <a:lnT w="12700" cap="flat" cmpd="sng" algn="ctr">
                          <a:solidFill>
                            <a:srgbClr val="FFFFFF">
                              <a:alpha val="100000"/>
                            </a:srgbClr>
                          </a:solidFill>
                          <a:prstDash val="solid"/>
                        </a:lnT>
                        <a:lnB w="12700" cap="flat" cmpd="sng" algn="ctr">
                          <a:solidFill>
                            <a:srgbClr val="FFFFFF">
                              <a:alpha val="100000"/>
                            </a:srgbClr>
                          </a:solidFill>
                          <a:prstDash val="solid"/>
                        </a:lnB>
                        <a:solidFill>
                          <a:srgbClr val="FFFFFF">
                            <a:alpha val="0"/>
                          </a:srgbClr>
                        </a:solidFill>
                      </a:tcPr>
                    </a:tc>
                    <a:extLst>
                      <a:ext uri="{0D108BD9-81ED-4DB2-BD59-A6C34878D82A}">
                        <a16:rowId xmlns:a16="http://schemas.microsoft.com/office/drawing/2014/main" val="10007"/>
                      </a:ext>
                    </a:extLst>
                  </a:tr>
                  <a:tr h="350806">
                    <a:tc>
                      <a:txBody>
                        <a:bodyPr/>
                        <a:lstStyle/>
                        <a:p>
                          <a:endParaRPr lang="en-US"/>
                        </a:p>
                      </a:txBody>
                      <a:tcPr marL="0" marR="0" marT="63500" marB="63500" anchor="ctr">
                        <a:lnL w="12700" cap="flat" cmpd="sng" algn="ctr">
                          <a:solidFill>
                            <a:srgbClr val="FFFFFF">
                              <a:alpha val="100000"/>
                            </a:srgbClr>
                          </a:solidFill>
                          <a:prstDash val="solid"/>
                        </a:lnL>
                        <a:lnR w="12700" cap="flat" cmpd="sng" algn="ctr">
                          <a:solidFill>
                            <a:srgbClr val="FFFFFF">
                              <a:alpha val="100000"/>
                            </a:srgbClr>
                          </a:solidFill>
                          <a:prstDash val="solid"/>
                        </a:lnR>
                        <a:lnT w="12700" cap="flat" cmpd="sng" algn="ctr">
                          <a:solidFill>
                            <a:srgbClr val="FFFFFF">
                              <a:alpha val="100000"/>
                            </a:srgbClr>
                          </a:solidFill>
                          <a:prstDash val="solid"/>
                        </a:lnT>
                        <a:lnB w="12700" cap="flat" cmpd="sng" algn="ctr">
                          <a:solidFill>
                            <a:srgbClr val="FFFFFF">
                              <a:alpha val="100000"/>
                            </a:srgbClr>
                          </a:solidFill>
                          <a:prstDash val="solid"/>
                        </a:lnB>
                        <a:blipFill>
                          <a:blip r:embed="rId3"/>
                          <a:stretch>
                            <a:fillRect l="-833" t="-814286" r="-547500" b="-371429"/>
                          </a:stretch>
                        </a:blipFill>
                      </a:tcPr>
                    </a:tc>
                    <a:tc>
                      <a:txBody>
                        <a:bodyPr/>
                        <a:lstStyle/>
                        <a:p>
                          <a:pPr marL="63500" marR="63500" algn="ctr">
                            <a:lnSpc>
                              <a:spcPct val="100000"/>
                            </a:lnSpc>
                            <a:spcBef>
                              <a:spcPts val="500"/>
                            </a:spcBef>
                            <a:spcAft>
                              <a:spcPts val="500"/>
                            </a:spcAft>
                            <a:buNone/>
                          </a:pPr>
                          <a:r>
                            <a:rPr sz="1000" b="0" i="0" u="none" strike="noStrike" cap="none">
                              <a:solidFill>
                                <a:srgbClr val="000000">
                                  <a:alpha val="100000"/>
                                </a:srgbClr>
                              </a:solidFill>
                              <a:latin typeface="Arial"/>
                              <a:cs typeface="Helvetica"/>
                              <a:sym typeface="Helvetica"/>
                            </a:rPr>
                            <a:t>0.156*</a:t>
                          </a:r>
                        </a:p>
                      </a:txBody>
                      <a:tcPr marL="0" marR="0" marT="63500" marB="63500" anchor="ctr">
                        <a:lnL w="12700" cap="flat" cmpd="sng" algn="ctr">
                          <a:solidFill>
                            <a:srgbClr val="FFFFFF">
                              <a:alpha val="100000"/>
                            </a:srgbClr>
                          </a:solidFill>
                          <a:prstDash val="solid"/>
                        </a:lnL>
                        <a:lnR w="12700" cap="flat" cmpd="sng" algn="ctr">
                          <a:solidFill>
                            <a:srgbClr val="FFFFFF">
                              <a:alpha val="100000"/>
                            </a:srgbClr>
                          </a:solidFill>
                          <a:prstDash val="solid"/>
                        </a:lnR>
                        <a:lnT w="12700" cap="flat" cmpd="sng" algn="ctr">
                          <a:solidFill>
                            <a:srgbClr val="FFFFFF">
                              <a:alpha val="100000"/>
                            </a:srgbClr>
                          </a:solidFill>
                          <a:prstDash val="solid"/>
                        </a:lnT>
                        <a:lnB w="12700" cap="flat" cmpd="sng" algn="ctr">
                          <a:solidFill>
                            <a:srgbClr val="FFFFFF">
                              <a:alpha val="100000"/>
                            </a:srgbClr>
                          </a:solidFill>
                          <a:prstDash val="solid"/>
                        </a:lnB>
                        <a:solidFill>
                          <a:srgbClr val="FFFFFF">
                            <a:alpha val="0"/>
                          </a:srgbClr>
                        </a:solidFill>
                      </a:tcPr>
                    </a:tc>
                    <a:tc>
                      <a:txBody>
                        <a:bodyPr/>
                        <a:lstStyle/>
                        <a:p>
                          <a:pPr marL="63500" marR="63500" algn="ctr">
                            <a:lnSpc>
                              <a:spcPct val="100000"/>
                            </a:lnSpc>
                            <a:spcBef>
                              <a:spcPts val="500"/>
                            </a:spcBef>
                            <a:spcAft>
                              <a:spcPts val="500"/>
                            </a:spcAft>
                            <a:buNone/>
                          </a:pPr>
                          <a:endParaRPr sz="1000" b="0" i="0" u="none" strike="noStrike" cap="none">
                            <a:solidFill>
                              <a:srgbClr val="000000">
                                <a:alpha val="100000"/>
                              </a:srgbClr>
                            </a:solidFill>
                            <a:latin typeface="Arial"/>
                            <a:cs typeface="Helvetica"/>
                            <a:sym typeface="Helvetica"/>
                          </a:endParaRPr>
                        </a:p>
                      </a:txBody>
                      <a:tcPr marL="0" marR="0" marT="63500" marB="63500" anchor="ctr">
                        <a:lnL w="12700" cap="flat" cmpd="sng" algn="ctr">
                          <a:solidFill>
                            <a:srgbClr val="FFFFFF">
                              <a:alpha val="100000"/>
                            </a:srgbClr>
                          </a:solidFill>
                          <a:prstDash val="solid"/>
                        </a:lnL>
                        <a:lnR w="12700" cap="flat" cmpd="sng" algn="ctr">
                          <a:solidFill>
                            <a:srgbClr val="FFFFFF">
                              <a:alpha val="100000"/>
                            </a:srgbClr>
                          </a:solidFill>
                          <a:prstDash val="solid"/>
                        </a:lnR>
                        <a:lnT w="12700" cap="flat" cmpd="sng" algn="ctr">
                          <a:solidFill>
                            <a:srgbClr val="FFFFFF">
                              <a:alpha val="100000"/>
                            </a:srgbClr>
                          </a:solidFill>
                          <a:prstDash val="solid"/>
                        </a:lnT>
                        <a:lnB w="12700" cap="flat" cmpd="sng" algn="ctr">
                          <a:solidFill>
                            <a:srgbClr val="FFFFFF">
                              <a:alpha val="100000"/>
                            </a:srgbClr>
                          </a:solidFill>
                          <a:prstDash val="solid"/>
                        </a:lnB>
                        <a:solidFill>
                          <a:srgbClr val="FFFFFF">
                            <a:alpha val="0"/>
                          </a:srgbClr>
                        </a:solidFill>
                      </a:tcPr>
                    </a:tc>
                    <a:tc>
                      <a:txBody>
                        <a:bodyPr/>
                        <a:lstStyle/>
                        <a:p>
                          <a:pPr marL="63500" marR="63500" algn="ctr">
                            <a:lnSpc>
                              <a:spcPct val="100000"/>
                            </a:lnSpc>
                            <a:spcBef>
                              <a:spcPts val="500"/>
                            </a:spcBef>
                            <a:spcAft>
                              <a:spcPts val="500"/>
                            </a:spcAft>
                            <a:buNone/>
                          </a:pPr>
                          <a:endParaRPr sz="1000" b="0" i="0" u="none" strike="noStrike" cap="none">
                            <a:solidFill>
                              <a:srgbClr val="000000">
                                <a:alpha val="100000"/>
                              </a:srgbClr>
                            </a:solidFill>
                            <a:latin typeface="Arial"/>
                            <a:cs typeface="Helvetica"/>
                            <a:sym typeface="Helvetica"/>
                          </a:endParaRPr>
                        </a:p>
                      </a:txBody>
                      <a:tcPr marL="0" marR="0" marT="63500" marB="63500" anchor="ctr">
                        <a:lnL w="12700" cap="flat" cmpd="sng" algn="ctr">
                          <a:solidFill>
                            <a:srgbClr val="FFFFFF">
                              <a:alpha val="100000"/>
                            </a:srgbClr>
                          </a:solidFill>
                          <a:prstDash val="solid"/>
                        </a:lnL>
                        <a:lnR w="12700" cap="flat" cmpd="sng" algn="ctr">
                          <a:solidFill>
                            <a:srgbClr val="FFFFFF">
                              <a:alpha val="100000"/>
                            </a:srgbClr>
                          </a:solidFill>
                          <a:prstDash val="solid"/>
                        </a:lnR>
                        <a:lnT w="12700" cap="flat" cmpd="sng" algn="ctr">
                          <a:solidFill>
                            <a:srgbClr val="FFFFFF">
                              <a:alpha val="100000"/>
                            </a:srgbClr>
                          </a:solidFill>
                          <a:prstDash val="solid"/>
                        </a:lnT>
                        <a:lnB w="12700" cap="flat" cmpd="sng" algn="ctr">
                          <a:solidFill>
                            <a:srgbClr val="FFFFFF">
                              <a:alpha val="100000"/>
                            </a:srgbClr>
                          </a:solidFill>
                          <a:prstDash val="solid"/>
                        </a:lnB>
                        <a:solidFill>
                          <a:srgbClr val="FFFFFF">
                            <a:alpha val="0"/>
                          </a:srgbClr>
                        </a:solidFill>
                      </a:tcPr>
                    </a:tc>
                    <a:tc>
                      <a:txBody>
                        <a:bodyPr/>
                        <a:lstStyle/>
                        <a:p>
                          <a:pPr marL="63500" marR="63500" algn="ctr">
                            <a:lnSpc>
                              <a:spcPct val="100000"/>
                            </a:lnSpc>
                            <a:spcBef>
                              <a:spcPts val="500"/>
                            </a:spcBef>
                            <a:spcAft>
                              <a:spcPts val="500"/>
                            </a:spcAft>
                            <a:buNone/>
                          </a:pPr>
                          <a:r>
                            <a:rPr sz="1000" b="0" i="0" u="none" strike="noStrike" cap="none" dirty="0">
                              <a:solidFill>
                                <a:srgbClr val="000000">
                                  <a:alpha val="100000"/>
                                </a:srgbClr>
                              </a:solidFill>
                              <a:latin typeface="Arial"/>
                              <a:cs typeface="Helvetica"/>
                              <a:sym typeface="Helvetica"/>
                            </a:rPr>
                            <a:t>0.161*</a:t>
                          </a:r>
                        </a:p>
                      </a:txBody>
                      <a:tcPr marL="0" marR="0" marT="63500" marB="63500" anchor="ctr">
                        <a:lnL w="12700" cap="flat" cmpd="sng" algn="ctr">
                          <a:solidFill>
                            <a:srgbClr val="FFFFFF">
                              <a:alpha val="100000"/>
                            </a:srgbClr>
                          </a:solidFill>
                          <a:prstDash val="solid"/>
                        </a:lnL>
                        <a:lnR w="12700" cap="flat" cmpd="sng" algn="ctr">
                          <a:solidFill>
                            <a:srgbClr val="FFFFFF">
                              <a:alpha val="100000"/>
                            </a:srgbClr>
                          </a:solidFill>
                          <a:prstDash val="solid"/>
                        </a:lnR>
                        <a:lnT w="12700" cap="flat" cmpd="sng" algn="ctr">
                          <a:solidFill>
                            <a:srgbClr val="FFFFFF">
                              <a:alpha val="100000"/>
                            </a:srgbClr>
                          </a:solidFill>
                          <a:prstDash val="solid"/>
                        </a:lnT>
                        <a:lnB w="12700" cap="flat" cmpd="sng" algn="ctr">
                          <a:solidFill>
                            <a:srgbClr val="FFFFFF">
                              <a:alpha val="100000"/>
                            </a:srgbClr>
                          </a:solidFill>
                          <a:prstDash val="solid"/>
                        </a:lnB>
                        <a:solidFill>
                          <a:srgbClr val="FFFFFF">
                            <a:alpha val="0"/>
                          </a:srgbClr>
                        </a:solidFill>
                      </a:tcPr>
                    </a:tc>
                    <a:tc>
                      <a:txBody>
                        <a:bodyPr/>
                        <a:lstStyle/>
                        <a:p>
                          <a:pPr marL="63500" marR="63500" algn="ctr">
                            <a:lnSpc>
                              <a:spcPct val="100000"/>
                            </a:lnSpc>
                            <a:spcBef>
                              <a:spcPts val="500"/>
                            </a:spcBef>
                            <a:spcAft>
                              <a:spcPts val="500"/>
                            </a:spcAft>
                            <a:buNone/>
                          </a:pPr>
                          <a:endParaRPr sz="1000" b="0" i="0" u="none" strike="noStrike" cap="none" dirty="0">
                            <a:solidFill>
                              <a:srgbClr val="000000">
                                <a:alpha val="100000"/>
                              </a:srgbClr>
                            </a:solidFill>
                            <a:latin typeface="Arial"/>
                            <a:cs typeface="Helvetica"/>
                            <a:sym typeface="Helvetica"/>
                          </a:endParaRPr>
                        </a:p>
                      </a:txBody>
                      <a:tcPr marL="0" marR="0" marT="63500" marB="63500" anchor="ctr">
                        <a:lnL w="12700" cap="flat" cmpd="sng" algn="ctr">
                          <a:solidFill>
                            <a:srgbClr val="FFFFFF">
                              <a:alpha val="100000"/>
                            </a:srgbClr>
                          </a:solidFill>
                          <a:prstDash val="solid"/>
                        </a:lnL>
                        <a:lnR w="12700" cap="flat" cmpd="sng" algn="ctr">
                          <a:solidFill>
                            <a:srgbClr val="FFFFFF">
                              <a:alpha val="100000"/>
                            </a:srgbClr>
                          </a:solidFill>
                          <a:prstDash val="solid"/>
                        </a:lnR>
                        <a:lnT w="12700" cap="flat" cmpd="sng" algn="ctr">
                          <a:solidFill>
                            <a:srgbClr val="FFFFFF">
                              <a:alpha val="100000"/>
                            </a:srgbClr>
                          </a:solidFill>
                          <a:prstDash val="solid"/>
                        </a:lnT>
                        <a:lnB w="12700" cap="flat" cmpd="sng" algn="ctr">
                          <a:solidFill>
                            <a:srgbClr val="FFFFFF">
                              <a:alpha val="100000"/>
                            </a:srgbClr>
                          </a:solidFill>
                          <a:prstDash val="solid"/>
                        </a:lnB>
                        <a:solidFill>
                          <a:srgbClr val="FFFFFF">
                            <a:alpha val="0"/>
                          </a:srgbClr>
                        </a:solidFill>
                      </a:tcPr>
                    </a:tc>
                    <a:tc>
                      <a:txBody>
                        <a:bodyPr/>
                        <a:lstStyle/>
                        <a:p>
                          <a:pPr marL="63500" marR="63500" algn="ctr">
                            <a:lnSpc>
                              <a:spcPct val="100000"/>
                            </a:lnSpc>
                            <a:spcBef>
                              <a:spcPts val="500"/>
                            </a:spcBef>
                            <a:spcAft>
                              <a:spcPts val="500"/>
                            </a:spcAft>
                            <a:buNone/>
                          </a:pPr>
                          <a:endParaRPr sz="1000" b="0" i="0" u="none" strike="noStrike" cap="none">
                            <a:solidFill>
                              <a:srgbClr val="000000">
                                <a:alpha val="100000"/>
                              </a:srgbClr>
                            </a:solidFill>
                            <a:latin typeface="Arial"/>
                            <a:cs typeface="Helvetica"/>
                            <a:sym typeface="Helvetica"/>
                          </a:endParaRPr>
                        </a:p>
                      </a:txBody>
                      <a:tcPr marL="0" marR="0" marT="63500" marB="63500" anchor="ctr">
                        <a:lnL w="12700" cap="flat" cmpd="sng" algn="ctr">
                          <a:solidFill>
                            <a:srgbClr val="FFFFFF">
                              <a:alpha val="100000"/>
                            </a:srgbClr>
                          </a:solidFill>
                          <a:prstDash val="solid"/>
                        </a:lnL>
                        <a:lnR w="12700" cap="flat" cmpd="sng" algn="ctr">
                          <a:solidFill>
                            <a:srgbClr val="FFFFFF">
                              <a:alpha val="100000"/>
                            </a:srgbClr>
                          </a:solidFill>
                          <a:prstDash val="solid"/>
                        </a:lnR>
                        <a:lnT w="12700" cap="flat" cmpd="sng" algn="ctr">
                          <a:solidFill>
                            <a:srgbClr val="FFFFFF">
                              <a:alpha val="100000"/>
                            </a:srgbClr>
                          </a:solidFill>
                          <a:prstDash val="solid"/>
                        </a:lnT>
                        <a:lnB w="12700" cap="flat" cmpd="sng" algn="ctr">
                          <a:solidFill>
                            <a:srgbClr val="FFFFFF">
                              <a:alpha val="100000"/>
                            </a:srgbClr>
                          </a:solidFill>
                          <a:prstDash val="solid"/>
                        </a:lnB>
                        <a:solidFill>
                          <a:srgbClr val="FFFFFF">
                            <a:alpha val="0"/>
                          </a:srgbClr>
                        </a:solidFill>
                      </a:tcPr>
                    </a:tc>
                    <a:extLst>
                      <a:ext uri="{0D108BD9-81ED-4DB2-BD59-A6C34878D82A}">
                        <a16:rowId xmlns:a16="http://schemas.microsoft.com/office/drawing/2014/main" val="10008"/>
                      </a:ext>
                    </a:extLst>
                  </a:tr>
                  <a:tr h="350806">
                    <a:tc>
                      <a:txBody>
                        <a:bodyPr/>
                        <a:lstStyle/>
                        <a:p>
                          <a:endParaRPr lang="en-US"/>
                        </a:p>
                      </a:txBody>
                      <a:tcPr marL="0" marR="0" marT="63500" marB="63500" anchor="ctr">
                        <a:lnL w="12700" cap="flat" cmpd="sng" algn="ctr">
                          <a:solidFill>
                            <a:srgbClr val="FFFFFF">
                              <a:alpha val="100000"/>
                            </a:srgbClr>
                          </a:solidFill>
                          <a:prstDash val="solid"/>
                        </a:lnL>
                        <a:lnR w="12700" cap="flat" cmpd="sng" algn="ctr">
                          <a:solidFill>
                            <a:srgbClr val="FFFFFF">
                              <a:alpha val="100000"/>
                            </a:srgbClr>
                          </a:solidFill>
                          <a:prstDash val="solid"/>
                        </a:lnR>
                        <a:lnT w="12700" cap="flat" cmpd="sng" algn="ctr">
                          <a:solidFill>
                            <a:srgbClr val="FFFFFF">
                              <a:alpha val="100000"/>
                            </a:srgbClr>
                          </a:solidFill>
                          <a:prstDash val="solid"/>
                        </a:lnT>
                        <a:lnB w="12700" cap="flat" cmpd="sng" algn="ctr">
                          <a:solidFill>
                            <a:srgbClr val="FFFFFF">
                              <a:alpha val="100000"/>
                            </a:srgbClr>
                          </a:solidFill>
                          <a:prstDash val="solid"/>
                        </a:lnB>
                        <a:blipFill>
                          <a:blip r:embed="rId3"/>
                          <a:stretch>
                            <a:fillRect l="-833" t="-914286" r="-547500" b="-271429"/>
                          </a:stretch>
                        </a:blipFill>
                      </a:tcPr>
                    </a:tc>
                    <a:tc>
                      <a:txBody>
                        <a:bodyPr/>
                        <a:lstStyle/>
                        <a:p>
                          <a:pPr marL="63500" marR="63500" algn="ctr">
                            <a:lnSpc>
                              <a:spcPct val="100000"/>
                            </a:lnSpc>
                            <a:spcBef>
                              <a:spcPts val="500"/>
                            </a:spcBef>
                            <a:spcAft>
                              <a:spcPts val="500"/>
                            </a:spcAft>
                            <a:buNone/>
                          </a:pPr>
                          <a:r>
                            <a:rPr sz="1000" b="0" i="0" u="none" strike="noStrike" cap="none">
                              <a:solidFill>
                                <a:srgbClr val="000000">
                                  <a:alpha val="100000"/>
                                </a:srgbClr>
                              </a:solidFill>
                              <a:latin typeface="Arial"/>
                              <a:cs typeface="Helvetica"/>
                              <a:sym typeface="Helvetica"/>
                            </a:rPr>
                            <a:t>-0.098 </a:t>
                          </a:r>
                        </a:p>
                      </a:txBody>
                      <a:tcPr marL="0" marR="0" marT="63500" marB="63500" anchor="ctr">
                        <a:lnL w="12700" cap="flat" cmpd="sng" algn="ctr">
                          <a:solidFill>
                            <a:srgbClr val="FFFFFF">
                              <a:alpha val="100000"/>
                            </a:srgbClr>
                          </a:solidFill>
                          <a:prstDash val="solid"/>
                        </a:lnL>
                        <a:lnR w="12700" cap="flat" cmpd="sng" algn="ctr">
                          <a:solidFill>
                            <a:srgbClr val="FFFFFF">
                              <a:alpha val="100000"/>
                            </a:srgbClr>
                          </a:solidFill>
                          <a:prstDash val="solid"/>
                        </a:lnR>
                        <a:lnT w="12700" cap="flat" cmpd="sng" algn="ctr">
                          <a:solidFill>
                            <a:srgbClr val="FFFFFF">
                              <a:alpha val="100000"/>
                            </a:srgbClr>
                          </a:solidFill>
                          <a:prstDash val="solid"/>
                        </a:lnT>
                        <a:lnB w="12700" cap="flat" cmpd="sng" algn="ctr">
                          <a:solidFill>
                            <a:srgbClr val="FFFFFF">
                              <a:alpha val="100000"/>
                            </a:srgbClr>
                          </a:solidFill>
                          <a:prstDash val="solid"/>
                        </a:lnB>
                        <a:solidFill>
                          <a:srgbClr val="FFFFFF">
                            <a:alpha val="0"/>
                          </a:srgbClr>
                        </a:solidFill>
                      </a:tcPr>
                    </a:tc>
                    <a:tc>
                      <a:txBody>
                        <a:bodyPr/>
                        <a:lstStyle/>
                        <a:p>
                          <a:pPr marL="63500" marR="63500" algn="ctr">
                            <a:lnSpc>
                              <a:spcPct val="100000"/>
                            </a:lnSpc>
                            <a:spcBef>
                              <a:spcPts val="500"/>
                            </a:spcBef>
                            <a:spcAft>
                              <a:spcPts val="500"/>
                            </a:spcAft>
                            <a:buNone/>
                          </a:pPr>
                          <a:r>
                            <a:rPr sz="1000" b="0" i="0" u="none" strike="noStrike" cap="none">
                              <a:solidFill>
                                <a:srgbClr val="000000">
                                  <a:alpha val="100000"/>
                                </a:srgbClr>
                              </a:solidFill>
                              <a:latin typeface="Arial"/>
                              <a:cs typeface="Helvetica"/>
                              <a:sym typeface="Helvetica"/>
                            </a:rPr>
                            <a:t>-0.087 </a:t>
                          </a:r>
                        </a:p>
                      </a:txBody>
                      <a:tcPr marL="0" marR="0" marT="63500" marB="63500" anchor="ctr">
                        <a:lnL w="12700" cap="flat" cmpd="sng" algn="ctr">
                          <a:solidFill>
                            <a:srgbClr val="FFFFFF">
                              <a:alpha val="100000"/>
                            </a:srgbClr>
                          </a:solidFill>
                          <a:prstDash val="solid"/>
                        </a:lnL>
                        <a:lnR w="12700" cap="flat" cmpd="sng" algn="ctr">
                          <a:solidFill>
                            <a:srgbClr val="FFFFFF">
                              <a:alpha val="100000"/>
                            </a:srgbClr>
                          </a:solidFill>
                          <a:prstDash val="solid"/>
                        </a:lnR>
                        <a:lnT w="12700" cap="flat" cmpd="sng" algn="ctr">
                          <a:solidFill>
                            <a:srgbClr val="FFFFFF">
                              <a:alpha val="100000"/>
                            </a:srgbClr>
                          </a:solidFill>
                          <a:prstDash val="solid"/>
                        </a:lnT>
                        <a:lnB w="12700" cap="flat" cmpd="sng" algn="ctr">
                          <a:solidFill>
                            <a:srgbClr val="FFFFFF">
                              <a:alpha val="100000"/>
                            </a:srgbClr>
                          </a:solidFill>
                          <a:prstDash val="solid"/>
                        </a:lnB>
                        <a:solidFill>
                          <a:srgbClr val="FFFFFF">
                            <a:alpha val="0"/>
                          </a:srgbClr>
                        </a:solidFill>
                      </a:tcPr>
                    </a:tc>
                    <a:tc>
                      <a:txBody>
                        <a:bodyPr/>
                        <a:lstStyle/>
                        <a:p>
                          <a:pPr marL="63500" marR="63500" algn="ctr">
                            <a:lnSpc>
                              <a:spcPct val="100000"/>
                            </a:lnSpc>
                            <a:spcBef>
                              <a:spcPts val="500"/>
                            </a:spcBef>
                            <a:spcAft>
                              <a:spcPts val="500"/>
                            </a:spcAft>
                            <a:buNone/>
                          </a:pPr>
                          <a:endParaRPr sz="1000" b="0" i="0" u="none" strike="noStrike" cap="none">
                            <a:solidFill>
                              <a:srgbClr val="000000">
                                <a:alpha val="100000"/>
                              </a:srgbClr>
                            </a:solidFill>
                            <a:latin typeface="Arial"/>
                            <a:cs typeface="Helvetica"/>
                            <a:sym typeface="Helvetica"/>
                          </a:endParaRPr>
                        </a:p>
                      </a:txBody>
                      <a:tcPr marL="0" marR="0" marT="63500" marB="63500" anchor="ctr">
                        <a:lnL w="12700" cap="flat" cmpd="sng" algn="ctr">
                          <a:solidFill>
                            <a:srgbClr val="FFFFFF">
                              <a:alpha val="100000"/>
                            </a:srgbClr>
                          </a:solidFill>
                          <a:prstDash val="solid"/>
                        </a:lnL>
                        <a:lnR w="12700" cap="flat" cmpd="sng" algn="ctr">
                          <a:solidFill>
                            <a:srgbClr val="FFFFFF">
                              <a:alpha val="100000"/>
                            </a:srgbClr>
                          </a:solidFill>
                          <a:prstDash val="solid"/>
                        </a:lnR>
                        <a:lnT w="12700" cap="flat" cmpd="sng" algn="ctr">
                          <a:solidFill>
                            <a:srgbClr val="FFFFFF">
                              <a:alpha val="100000"/>
                            </a:srgbClr>
                          </a:solidFill>
                          <a:prstDash val="solid"/>
                        </a:lnT>
                        <a:lnB w="12700" cap="flat" cmpd="sng" algn="ctr">
                          <a:solidFill>
                            <a:srgbClr val="FFFFFF">
                              <a:alpha val="100000"/>
                            </a:srgbClr>
                          </a:solidFill>
                          <a:prstDash val="solid"/>
                        </a:lnB>
                        <a:solidFill>
                          <a:srgbClr val="FFFFFF">
                            <a:alpha val="0"/>
                          </a:srgbClr>
                        </a:solidFill>
                      </a:tcPr>
                    </a:tc>
                    <a:tc>
                      <a:txBody>
                        <a:bodyPr/>
                        <a:lstStyle/>
                        <a:p>
                          <a:pPr marL="63500" marR="63500" algn="ctr">
                            <a:lnSpc>
                              <a:spcPct val="100000"/>
                            </a:lnSpc>
                            <a:spcBef>
                              <a:spcPts val="500"/>
                            </a:spcBef>
                            <a:spcAft>
                              <a:spcPts val="500"/>
                            </a:spcAft>
                            <a:buNone/>
                          </a:pPr>
                          <a:r>
                            <a:rPr sz="1000" b="0" i="0" u="none" strike="noStrike" cap="none">
                              <a:solidFill>
                                <a:srgbClr val="000000">
                                  <a:alpha val="100000"/>
                                </a:srgbClr>
                              </a:solidFill>
                              <a:latin typeface="Arial"/>
                              <a:cs typeface="Helvetica"/>
                              <a:sym typeface="Helvetica"/>
                            </a:rPr>
                            <a:t>-0.105 </a:t>
                          </a:r>
                        </a:p>
                      </a:txBody>
                      <a:tcPr marL="0" marR="0" marT="63500" marB="63500" anchor="ctr">
                        <a:lnL w="12700" cap="flat" cmpd="sng" algn="ctr">
                          <a:solidFill>
                            <a:srgbClr val="FFFFFF">
                              <a:alpha val="100000"/>
                            </a:srgbClr>
                          </a:solidFill>
                          <a:prstDash val="solid"/>
                        </a:lnL>
                        <a:lnR w="12700" cap="flat" cmpd="sng" algn="ctr">
                          <a:solidFill>
                            <a:srgbClr val="FFFFFF">
                              <a:alpha val="100000"/>
                            </a:srgbClr>
                          </a:solidFill>
                          <a:prstDash val="solid"/>
                        </a:lnR>
                        <a:lnT w="12700" cap="flat" cmpd="sng" algn="ctr">
                          <a:solidFill>
                            <a:srgbClr val="FFFFFF">
                              <a:alpha val="100000"/>
                            </a:srgbClr>
                          </a:solidFill>
                          <a:prstDash val="solid"/>
                        </a:lnT>
                        <a:lnB w="12700" cap="flat" cmpd="sng" algn="ctr">
                          <a:solidFill>
                            <a:srgbClr val="FFFFFF">
                              <a:alpha val="100000"/>
                            </a:srgbClr>
                          </a:solidFill>
                          <a:prstDash val="solid"/>
                        </a:lnB>
                        <a:solidFill>
                          <a:srgbClr val="FFFFFF">
                            <a:alpha val="0"/>
                          </a:srgbClr>
                        </a:solidFill>
                      </a:tcPr>
                    </a:tc>
                    <a:tc>
                      <a:txBody>
                        <a:bodyPr/>
                        <a:lstStyle/>
                        <a:p>
                          <a:pPr marL="63500" marR="63500" algn="ctr">
                            <a:lnSpc>
                              <a:spcPct val="100000"/>
                            </a:lnSpc>
                            <a:spcBef>
                              <a:spcPts val="500"/>
                            </a:spcBef>
                            <a:spcAft>
                              <a:spcPts val="500"/>
                            </a:spcAft>
                            <a:buNone/>
                          </a:pPr>
                          <a:r>
                            <a:rPr sz="1000" b="0" i="0" u="none" strike="noStrike" cap="none" dirty="0">
                              <a:solidFill>
                                <a:srgbClr val="000000">
                                  <a:alpha val="100000"/>
                                </a:srgbClr>
                              </a:solidFill>
                              <a:latin typeface="Arial"/>
                              <a:cs typeface="Helvetica"/>
                              <a:sym typeface="Helvetica"/>
                            </a:rPr>
                            <a:t>-0.096 </a:t>
                          </a:r>
                        </a:p>
                      </a:txBody>
                      <a:tcPr marL="0" marR="0" marT="63500" marB="63500" anchor="ctr">
                        <a:lnL w="12700" cap="flat" cmpd="sng" algn="ctr">
                          <a:solidFill>
                            <a:srgbClr val="FFFFFF">
                              <a:alpha val="100000"/>
                            </a:srgbClr>
                          </a:solidFill>
                          <a:prstDash val="solid"/>
                        </a:lnL>
                        <a:lnR w="12700" cap="flat" cmpd="sng" algn="ctr">
                          <a:solidFill>
                            <a:srgbClr val="FFFFFF">
                              <a:alpha val="100000"/>
                            </a:srgbClr>
                          </a:solidFill>
                          <a:prstDash val="solid"/>
                        </a:lnR>
                        <a:lnT w="12700" cap="flat" cmpd="sng" algn="ctr">
                          <a:solidFill>
                            <a:srgbClr val="FFFFFF">
                              <a:alpha val="100000"/>
                            </a:srgbClr>
                          </a:solidFill>
                          <a:prstDash val="solid"/>
                        </a:lnT>
                        <a:lnB w="12700" cap="flat" cmpd="sng" algn="ctr">
                          <a:solidFill>
                            <a:srgbClr val="FFFFFF">
                              <a:alpha val="100000"/>
                            </a:srgbClr>
                          </a:solidFill>
                          <a:prstDash val="solid"/>
                        </a:lnB>
                        <a:solidFill>
                          <a:srgbClr val="FFFFFF">
                            <a:alpha val="0"/>
                          </a:srgbClr>
                        </a:solidFill>
                      </a:tcPr>
                    </a:tc>
                    <a:tc>
                      <a:txBody>
                        <a:bodyPr/>
                        <a:lstStyle/>
                        <a:p>
                          <a:pPr marL="63500" marR="63500" algn="ctr">
                            <a:lnSpc>
                              <a:spcPct val="100000"/>
                            </a:lnSpc>
                            <a:spcBef>
                              <a:spcPts val="500"/>
                            </a:spcBef>
                            <a:spcAft>
                              <a:spcPts val="500"/>
                            </a:spcAft>
                            <a:buNone/>
                          </a:pPr>
                          <a:endParaRPr sz="1000" b="0" i="0" u="none" strike="noStrike" cap="none">
                            <a:solidFill>
                              <a:srgbClr val="000000">
                                <a:alpha val="100000"/>
                              </a:srgbClr>
                            </a:solidFill>
                            <a:latin typeface="Arial"/>
                            <a:cs typeface="Helvetica"/>
                            <a:sym typeface="Helvetica"/>
                          </a:endParaRPr>
                        </a:p>
                      </a:txBody>
                      <a:tcPr marL="0" marR="0" marT="63500" marB="63500" anchor="ctr">
                        <a:lnL w="12700" cap="flat" cmpd="sng" algn="ctr">
                          <a:solidFill>
                            <a:srgbClr val="FFFFFF">
                              <a:alpha val="100000"/>
                            </a:srgbClr>
                          </a:solidFill>
                          <a:prstDash val="solid"/>
                        </a:lnL>
                        <a:lnR w="12700" cap="flat" cmpd="sng" algn="ctr">
                          <a:solidFill>
                            <a:srgbClr val="FFFFFF">
                              <a:alpha val="100000"/>
                            </a:srgbClr>
                          </a:solidFill>
                          <a:prstDash val="solid"/>
                        </a:lnR>
                        <a:lnT w="12700" cap="flat" cmpd="sng" algn="ctr">
                          <a:solidFill>
                            <a:srgbClr val="FFFFFF">
                              <a:alpha val="100000"/>
                            </a:srgbClr>
                          </a:solidFill>
                          <a:prstDash val="solid"/>
                        </a:lnT>
                        <a:lnB w="12700" cap="flat" cmpd="sng" algn="ctr">
                          <a:solidFill>
                            <a:srgbClr val="FFFFFF">
                              <a:alpha val="100000"/>
                            </a:srgbClr>
                          </a:solidFill>
                          <a:prstDash val="solid"/>
                        </a:lnB>
                        <a:solidFill>
                          <a:srgbClr val="FFFFFF">
                            <a:alpha val="0"/>
                          </a:srgbClr>
                        </a:solidFill>
                      </a:tcPr>
                    </a:tc>
                    <a:extLst>
                      <a:ext uri="{0D108BD9-81ED-4DB2-BD59-A6C34878D82A}">
                        <a16:rowId xmlns:a16="http://schemas.microsoft.com/office/drawing/2014/main" val="10009"/>
                      </a:ext>
                    </a:extLst>
                  </a:tr>
                  <a:tr h="350806">
                    <a:tc>
                      <a:txBody>
                        <a:bodyPr/>
                        <a:lstStyle/>
                        <a:p>
                          <a:endParaRPr lang="en-US"/>
                        </a:p>
                      </a:txBody>
                      <a:tcPr marL="0" marR="0" marT="63500" marB="63500" anchor="ctr">
                        <a:lnL w="12700" cap="flat" cmpd="sng" algn="ctr">
                          <a:solidFill>
                            <a:srgbClr val="FFFFFF">
                              <a:alpha val="100000"/>
                            </a:srgbClr>
                          </a:solidFill>
                          <a:prstDash val="solid"/>
                        </a:lnL>
                        <a:lnR w="12700" cap="flat" cmpd="sng" algn="ctr">
                          <a:solidFill>
                            <a:srgbClr val="FFFFFF">
                              <a:alpha val="100000"/>
                            </a:srgbClr>
                          </a:solidFill>
                          <a:prstDash val="solid"/>
                        </a:lnR>
                        <a:lnT w="12700" cap="flat" cmpd="sng" algn="ctr">
                          <a:solidFill>
                            <a:srgbClr val="FFFFFF">
                              <a:alpha val="100000"/>
                            </a:srgbClr>
                          </a:solidFill>
                          <a:prstDash val="solid"/>
                        </a:lnT>
                        <a:lnB w="12700" cap="flat" cmpd="sng" algn="ctr">
                          <a:solidFill>
                            <a:srgbClr val="FFFFFF">
                              <a:alpha val="100000"/>
                            </a:srgbClr>
                          </a:solidFill>
                          <a:prstDash val="solid"/>
                        </a:lnB>
                        <a:blipFill>
                          <a:blip r:embed="rId3"/>
                          <a:stretch>
                            <a:fillRect l="-833" t="-1014286" r="-547500" b="-171429"/>
                          </a:stretch>
                        </a:blipFill>
                      </a:tcPr>
                    </a:tc>
                    <a:tc>
                      <a:txBody>
                        <a:bodyPr/>
                        <a:lstStyle/>
                        <a:p>
                          <a:pPr marL="63500" marR="63500" algn="ctr">
                            <a:lnSpc>
                              <a:spcPct val="100000"/>
                            </a:lnSpc>
                            <a:spcBef>
                              <a:spcPts val="500"/>
                            </a:spcBef>
                            <a:spcAft>
                              <a:spcPts val="500"/>
                            </a:spcAft>
                            <a:buNone/>
                          </a:pPr>
                          <a:r>
                            <a:rPr sz="1000" b="0" i="0" u="none" strike="noStrike" cap="none">
                              <a:solidFill>
                                <a:srgbClr val="000000">
                                  <a:alpha val="100000"/>
                                </a:srgbClr>
                              </a:solidFill>
                              <a:latin typeface="Arial"/>
                              <a:cs typeface="Helvetica"/>
                              <a:sym typeface="Helvetica"/>
                            </a:rPr>
                            <a:t>0.042 </a:t>
                          </a:r>
                        </a:p>
                      </a:txBody>
                      <a:tcPr marL="0" marR="0" marT="63500" marB="63500" anchor="ctr">
                        <a:lnL w="12700" cap="flat" cmpd="sng" algn="ctr">
                          <a:solidFill>
                            <a:srgbClr val="FFFFFF">
                              <a:alpha val="100000"/>
                            </a:srgbClr>
                          </a:solidFill>
                          <a:prstDash val="solid"/>
                        </a:lnL>
                        <a:lnR w="12700" cap="flat" cmpd="sng" algn="ctr">
                          <a:solidFill>
                            <a:srgbClr val="FFFFFF">
                              <a:alpha val="100000"/>
                            </a:srgbClr>
                          </a:solidFill>
                          <a:prstDash val="solid"/>
                        </a:lnR>
                        <a:lnT w="12700" cap="flat" cmpd="sng" algn="ctr">
                          <a:solidFill>
                            <a:srgbClr val="FFFFFF">
                              <a:alpha val="100000"/>
                            </a:srgbClr>
                          </a:solidFill>
                          <a:prstDash val="solid"/>
                        </a:lnT>
                        <a:lnB w="12700" cap="flat" cmpd="sng" algn="ctr">
                          <a:solidFill>
                            <a:srgbClr val="FFFFFF">
                              <a:alpha val="100000"/>
                            </a:srgbClr>
                          </a:solidFill>
                          <a:prstDash val="solid"/>
                        </a:lnB>
                        <a:solidFill>
                          <a:srgbClr val="FFFFFF">
                            <a:alpha val="0"/>
                          </a:srgbClr>
                        </a:solidFill>
                      </a:tcPr>
                    </a:tc>
                    <a:tc>
                      <a:txBody>
                        <a:bodyPr/>
                        <a:lstStyle/>
                        <a:p>
                          <a:pPr marL="63500" marR="63500" algn="ctr">
                            <a:lnSpc>
                              <a:spcPct val="100000"/>
                            </a:lnSpc>
                            <a:spcBef>
                              <a:spcPts val="500"/>
                            </a:spcBef>
                            <a:spcAft>
                              <a:spcPts val="500"/>
                            </a:spcAft>
                            <a:buNone/>
                          </a:pPr>
                          <a:r>
                            <a:rPr sz="1000" b="0" i="0" u="none" strike="noStrike" cap="none">
                              <a:solidFill>
                                <a:srgbClr val="000000">
                                  <a:alpha val="100000"/>
                                </a:srgbClr>
                              </a:solidFill>
                              <a:latin typeface="Arial"/>
                              <a:cs typeface="Helvetica"/>
                              <a:sym typeface="Helvetica"/>
                            </a:rPr>
                            <a:t>0.027 </a:t>
                          </a:r>
                        </a:p>
                      </a:txBody>
                      <a:tcPr marL="0" marR="0" marT="63500" marB="63500" anchor="ctr">
                        <a:lnL w="12700" cap="flat" cmpd="sng" algn="ctr">
                          <a:solidFill>
                            <a:srgbClr val="FFFFFF">
                              <a:alpha val="100000"/>
                            </a:srgbClr>
                          </a:solidFill>
                          <a:prstDash val="solid"/>
                        </a:lnL>
                        <a:lnR w="12700" cap="flat" cmpd="sng" algn="ctr">
                          <a:solidFill>
                            <a:srgbClr val="FFFFFF">
                              <a:alpha val="100000"/>
                            </a:srgbClr>
                          </a:solidFill>
                          <a:prstDash val="solid"/>
                        </a:lnR>
                        <a:lnT w="12700" cap="flat" cmpd="sng" algn="ctr">
                          <a:solidFill>
                            <a:srgbClr val="FFFFFF">
                              <a:alpha val="100000"/>
                            </a:srgbClr>
                          </a:solidFill>
                          <a:prstDash val="solid"/>
                        </a:lnT>
                        <a:lnB w="12700" cap="flat" cmpd="sng" algn="ctr">
                          <a:solidFill>
                            <a:srgbClr val="FFFFFF">
                              <a:alpha val="100000"/>
                            </a:srgbClr>
                          </a:solidFill>
                          <a:prstDash val="solid"/>
                        </a:lnB>
                        <a:solidFill>
                          <a:srgbClr val="FFFFFF">
                            <a:alpha val="0"/>
                          </a:srgbClr>
                        </a:solidFill>
                      </a:tcPr>
                    </a:tc>
                    <a:tc>
                      <a:txBody>
                        <a:bodyPr/>
                        <a:lstStyle/>
                        <a:p>
                          <a:pPr marL="63500" marR="63500" algn="ctr">
                            <a:lnSpc>
                              <a:spcPct val="100000"/>
                            </a:lnSpc>
                            <a:spcBef>
                              <a:spcPts val="500"/>
                            </a:spcBef>
                            <a:spcAft>
                              <a:spcPts val="500"/>
                            </a:spcAft>
                            <a:buNone/>
                          </a:pPr>
                          <a:endParaRPr sz="1000" b="0" i="0" u="none" strike="noStrike" cap="none">
                            <a:solidFill>
                              <a:srgbClr val="000000">
                                <a:alpha val="100000"/>
                              </a:srgbClr>
                            </a:solidFill>
                            <a:latin typeface="Arial"/>
                            <a:cs typeface="Helvetica"/>
                            <a:sym typeface="Helvetica"/>
                          </a:endParaRPr>
                        </a:p>
                      </a:txBody>
                      <a:tcPr marL="0" marR="0" marT="63500" marB="63500" anchor="ctr">
                        <a:lnL w="12700" cap="flat" cmpd="sng" algn="ctr">
                          <a:solidFill>
                            <a:srgbClr val="FFFFFF">
                              <a:alpha val="100000"/>
                            </a:srgbClr>
                          </a:solidFill>
                          <a:prstDash val="solid"/>
                        </a:lnL>
                        <a:lnR w="12700" cap="flat" cmpd="sng" algn="ctr">
                          <a:solidFill>
                            <a:srgbClr val="FFFFFF">
                              <a:alpha val="100000"/>
                            </a:srgbClr>
                          </a:solidFill>
                          <a:prstDash val="solid"/>
                        </a:lnR>
                        <a:lnT w="12700" cap="flat" cmpd="sng" algn="ctr">
                          <a:solidFill>
                            <a:srgbClr val="FFFFFF">
                              <a:alpha val="100000"/>
                            </a:srgbClr>
                          </a:solidFill>
                          <a:prstDash val="solid"/>
                        </a:lnT>
                        <a:lnB w="12700" cap="flat" cmpd="sng" algn="ctr">
                          <a:solidFill>
                            <a:srgbClr val="FFFFFF">
                              <a:alpha val="100000"/>
                            </a:srgbClr>
                          </a:solidFill>
                          <a:prstDash val="solid"/>
                        </a:lnB>
                        <a:solidFill>
                          <a:srgbClr val="FFFFFF">
                            <a:alpha val="0"/>
                          </a:srgbClr>
                        </a:solidFill>
                      </a:tcPr>
                    </a:tc>
                    <a:tc>
                      <a:txBody>
                        <a:bodyPr/>
                        <a:lstStyle/>
                        <a:p>
                          <a:pPr marL="63500" marR="63500" algn="ctr">
                            <a:lnSpc>
                              <a:spcPct val="100000"/>
                            </a:lnSpc>
                            <a:spcBef>
                              <a:spcPts val="500"/>
                            </a:spcBef>
                            <a:spcAft>
                              <a:spcPts val="500"/>
                            </a:spcAft>
                            <a:buNone/>
                          </a:pPr>
                          <a:r>
                            <a:rPr sz="1000" b="0" i="0" u="none" strike="noStrike" cap="none">
                              <a:solidFill>
                                <a:srgbClr val="000000">
                                  <a:alpha val="100000"/>
                                </a:srgbClr>
                              </a:solidFill>
                              <a:latin typeface="Arial"/>
                              <a:cs typeface="Helvetica"/>
                              <a:sym typeface="Helvetica"/>
                            </a:rPr>
                            <a:t>0.047 </a:t>
                          </a:r>
                        </a:p>
                      </a:txBody>
                      <a:tcPr marL="0" marR="0" marT="63500" marB="63500" anchor="ctr">
                        <a:lnL w="12700" cap="flat" cmpd="sng" algn="ctr">
                          <a:solidFill>
                            <a:srgbClr val="FFFFFF">
                              <a:alpha val="100000"/>
                            </a:srgbClr>
                          </a:solidFill>
                          <a:prstDash val="solid"/>
                        </a:lnL>
                        <a:lnR w="12700" cap="flat" cmpd="sng" algn="ctr">
                          <a:solidFill>
                            <a:srgbClr val="FFFFFF">
                              <a:alpha val="100000"/>
                            </a:srgbClr>
                          </a:solidFill>
                          <a:prstDash val="solid"/>
                        </a:lnR>
                        <a:lnT w="12700" cap="flat" cmpd="sng" algn="ctr">
                          <a:solidFill>
                            <a:srgbClr val="FFFFFF">
                              <a:alpha val="100000"/>
                            </a:srgbClr>
                          </a:solidFill>
                          <a:prstDash val="solid"/>
                        </a:lnT>
                        <a:lnB w="12700" cap="flat" cmpd="sng" algn="ctr">
                          <a:solidFill>
                            <a:srgbClr val="FFFFFF">
                              <a:alpha val="100000"/>
                            </a:srgbClr>
                          </a:solidFill>
                          <a:prstDash val="solid"/>
                        </a:lnB>
                        <a:solidFill>
                          <a:srgbClr val="FFFFFF">
                            <a:alpha val="0"/>
                          </a:srgbClr>
                        </a:solidFill>
                      </a:tcPr>
                    </a:tc>
                    <a:tc>
                      <a:txBody>
                        <a:bodyPr/>
                        <a:lstStyle/>
                        <a:p>
                          <a:pPr marL="63500" marR="63500" algn="ctr">
                            <a:lnSpc>
                              <a:spcPct val="100000"/>
                            </a:lnSpc>
                            <a:spcBef>
                              <a:spcPts val="500"/>
                            </a:spcBef>
                            <a:spcAft>
                              <a:spcPts val="500"/>
                            </a:spcAft>
                            <a:buNone/>
                          </a:pPr>
                          <a:r>
                            <a:rPr sz="1000" b="0" i="0" u="none" strike="noStrike" cap="none" dirty="0">
                              <a:solidFill>
                                <a:srgbClr val="000000">
                                  <a:alpha val="100000"/>
                                </a:srgbClr>
                              </a:solidFill>
                              <a:latin typeface="Arial"/>
                              <a:cs typeface="Helvetica"/>
                              <a:sym typeface="Helvetica"/>
                            </a:rPr>
                            <a:t>0.037 </a:t>
                          </a:r>
                        </a:p>
                      </a:txBody>
                      <a:tcPr marL="0" marR="0" marT="63500" marB="63500" anchor="ctr">
                        <a:lnL w="12700" cap="flat" cmpd="sng" algn="ctr">
                          <a:solidFill>
                            <a:srgbClr val="FFFFFF">
                              <a:alpha val="100000"/>
                            </a:srgbClr>
                          </a:solidFill>
                          <a:prstDash val="solid"/>
                        </a:lnL>
                        <a:lnR w="12700" cap="flat" cmpd="sng" algn="ctr">
                          <a:solidFill>
                            <a:srgbClr val="FFFFFF">
                              <a:alpha val="100000"/>
                            </a:srgbClr>
                          </a:solidFill>
                          <a:prstDash val="solid"/>
                        </a:lnR>
                        <a:lnT w="12700" cap="flat" cmpd="sng" algn="ctr">
                          <a:solidFill>
                            <a:srgbClr val="FFFFFF">
                              <a:alpha val="100000"/>
                            </a:srgbClr>
                          </a:solidFill>
                          <a:prstDash val="solid"/>
                        </a:lnT>
                        <a:lnB w="12700" cap="flat" cmpd="sng" algn="ctr">
                          <a:solidFill>
                            <a:srgbClr val="FFFFFF">
                              <a:alpha val="100000"/>
                            </a:srgbClr>
                          </a:solidFill>
                          <a:prstDash val="solid"/>
                        </a:lnB>
                        <a:solidFill>
                          <a:srgbClr val="FFFFFF">
                            <a:alpha val="0"/>
                          </a:srgbClr>
                        </a:solidFill>
                      </a:tcPr>
                    </a:tc>
                    <a:tc>
                      <a:txBody>
                        <a:bodyPr/>
                        <a:lstStyle/>
                        <a:p>
                          <a:pPr marL="63500" marR="63500" algn="ctr">
                            <a:lnSpc>
                              <a:spcPct val="100000"/>
                            </a:lnSpc>
                            <a:spcBef>
                              <a:spcPts val="500"/>
                            </a:spcBef>
                            <a:spcAft>
                              <a:spcPts val="500"/>
                            </a:spcAft>
                            <a:buNone/>
                          </a:pPr>
                          <a:endParaRPr sz="1000" b="0" i="0" u="none" strike="noStrike" cap="none">
                            <a:solidFill>
                              <a:srgbClr val="000000">
                                <a:alpha val="100000"/>
                              </a:srgbClr>
                            </a:solidFill>
                            <a:latin typeface="Arial"/>
                            <a:cs typeface="Helvetica"/>
                            <a:sym typeface="Helvetica"/>
                          </a:endParaRPr>
                        </a:p>
                      </a:txBody>
                      <a:tcPr marL="0" marR="0" marT="63500" marB="63500" anchor="ctr">
                        <a:lnL w="12700" cap="flat" cmpd="sng" algn="ctr">
                          <a:solidFill>
                            <a:srgbClr val="FFFFFF">
                              <a:alpha val="100000"/>
                            </a:srgbClr>
                          </a:solidFill>
                          <a:prstDash val="solid"/>
                        </a:lnL>
                        <a:lnR w="12700" cap="flat" cmpd="sng" algn="ctr">
                          <a:solidFill>
                            <a:srgbClr val="FFFFFF">
                              <a:alpha val="100000"/>
                            </a:srgbClr>
                          </a:solidFill>
                          <a:prstDash val="solid"/>
                        </a:lnR>
                        <a:lnT w="12700" cap="flat" cmpd="sng" algn="ctr">
                          <a:solidFill>
                            <a:srgbClr val="FFFFFF">
                              <a:alpha val="100000"/>
                            </a:srgbClr>
                          </a:solidFill>
                          <a:prstDash val="solid"/>
                        </a:lnT>
                        <a:lnB w="12700" cap="flat" cmpd="sng" algn="ctr">
                          <a:solidFill>
                            <a:srgbClr val="FFFFFF">
                              <a:alpha val="100000"/>
                            </a:srgbClr>
                          </a:solidFill>
                          <a:prstDash val="solid"/>
                        </a:lnB>
                        <a:solidFill>
                          <a:srgbClr val="FFFFFF">
                            <a:alpha val="0"/>
                          </a:srgbClr>
                        </a:solidFill>
                      </a:tcPr>
                    </a:tc>
                    <a:extLst>
                      <a:ext uri="{0D108BD9-81ED-4DB2-BD59-A6C34878D82A}">
                        <a16:rowId xmlns:a16="http://schemas.microsoft.com/office/drawing/2014/main" val="10010"/>
                      </a:ext>
                    </a:extLst>
                  </a:tr>
                  <a:tr h="350806">
                    <a:tc>
                      <a:txBody>
                        <a:bodyPr/>
                        <a:lstStyle/>
                        <a:p>
                          <a:endParaRPr lang="en-US"/>
                        </a:p>
                      </a:txBody>
                      <a:tcPr marL="0" marR="0" marT="63500" marB="63500" anchor="ctr">
                        <a:lnL w="12700" cap="flat" cmpd="sng" algn="ctr">
                          <a:solidFill>
                            <a:srgbClr val="FFFFFF">
                              <a:alpha val="100000"/>
                            </a:srgbClr>
                          </a:solidFill>
                          <a:prstDash val="solid"/>
                        </a:lnL>
                        <a:lnR w="12700" cap="flat" cmpd="sng" algn="ctr">
                          <a:solidFill>
                            <a:srgbClr val="FFFFFF">
                              <a:alpha val="100000"/>
                            </a:srgbClr>
                          </a:solidFill>
                          <a:prstDash val="solid"/>
                        </a:lnR>
                        <a:lnT w="12700" cap="flat" cmpd="sng" algn="ctr">
                          <a:solidFill>
                            <a:srgbClr val="FFFFFF">
                              <a:alpha val="100000"/>
                            </a:srgbClr>
                          </a:solidFill>
                          <a:prstDash val="solid"/>
                        </a:lnT>
                        <a:lnB w="12700" cap="flat" cmpd="sng" algn="ctr">
                          <a:solidFill>
                            <a:srgbClr val="000000">
                              <a:alpha val="100000"/>
                            </a:srgbClr>
                          </a:solidFill>
                          <a:prstDash val="solid"/>
                        </a:lnB>
                        <a:blipFill>
                          <a:blip r:embed="rId3"/>
                          <a:stretch>
                            <a:fillRect l="-833" t="-1155556" r="-547500" b="-77778"/>
                          </a:stretch>
                        </a:blipFill>
                      </a:tcPr>
                    </a:tc>
                    <a:tc>
                      <a:txBody>
                        <a:bodyPr/>
                        <a:lstStyle/>
                        <a:p>
                          <a:pPr marL="63500" marR="63500" algn="ctr">
                            <a:lnSpc>
                              <a:spcPct val="100000"/>
                            </a:lnSpc>
                            <a:spcBef>
                              <a:spcPts val="500"/>
                            </a:spcBef>
                            <a:spcAft>
                              <a:spcPts val="500"/>
                            </a:spcAft>
                            <a:buNone/>
                          </a:pPr>
                          <a:r>
                            <a:rPr sz="1000" b="0" i="0" u="none" strike="noStrike" cap="none">
                              <a:solidFill>
                                <a:srgbClr val="000000">
                                  <a:alpha val="100000"/>
                                </a:srgbClr>
                              </a:solidFill>
                              <a:latin typeface="Arial"/>
                              <a:cs typeface="Helvetica"/>
                              <a:sym typeface="Helvetica"/>
                            </a:rPr>
                            <a:t>0.044 </a:t>
                          </a:r>
                        </a:p>
                      </a:txBody>
                      <a:tcPr marL="0" marR="0" marT="63500" marB="63500" anchor="ctr">
                        <a:lnL w="12700" cap="flat" cmpd="sng" algn="ctr">
                          <a:solidFill>
                            <a:srgbClr val="FFFFFF">
                              <a:alpha val="100000"/>
                            </a:srgbClr>
                          </a:solidFill>
                          <a:prstDash val="solid"/>
                        </a:lnL>
                        <a:lnR w="12700" cap="flat" cmpd="sng" algn="ctr">
                          <a:solidFill>
                            <a:srgbClr val="FFFFFF">
                              <a:alpha val="100000"/>
                            </a:srgbClr>
                          </a:solidFill>
                          <a:prstDash val="solid"/>
                        </a:lnR>
                        <a:lnT w="12700" cap="flat" cmpd="sng" algn="ctr">
                          <a:solidFill>
                            <a:srgbClr val="FFFFFF">
                              <a:alpha val="100000"/>
                            </a:srgbClr>
                          </a:solidFill>
                          <a:prstDash val="solid"/>
                        </a:lnT>
                        <a:lnB w="12700" cap="flat" cmpd="sng" algn="ctr">
                          <a:solidFill>
                            <a:srgbClr val="000000">
                              <a:alpha val="100000"/>
                            </a:srgbClr>
                          </a:solidFill>
                          <a:prstDash val="solid"/>
                        </a:lnB>
                        <a:solidFill>
                          <a:srgbClr val="FFFFFF">
                            <a:alpha val="0"/>
                          </a:srgbClr>
                        </a:solidFill>
                      </a:tcPr>
                    </a:tc>
                    <a:tc>
                      <a:txBody>
                        <a:bodyPr/>
                        <a:lstStyle/>
                        <a:p>
                          <a:pPr marL="63500" marR="63500" algn="ctr">
                            <a:lnSpc>
                              <a:spcPct val="100000"/>
                            </a:lnSpc>
                            <a:spcBef>
                              <a:spcPts val="500"/>
                            </a:spcBef>
                            <a:spcAft>
                              <a:spcPts val="500"/>
                            </a:spcAft>
                            <a:buNone/>
                          </a:pPr>
                          <a:r>
                            <a:rPr sz="1000" b="0" i="0" u="none" strike="noStrike" cap="none">
                              <a:solidFill>
                                <a:srgbClr val="000000">
                                  <a:alpha val="100000"/>
                                </a:srgbClr>
                              </a:solidFill>
                              <a:latin typeface="Arial"/>
                              <a:cs typeface="Helvetica"/>
                              <a:sym typeface="Helvetica"/>
                            </a:rPr>
                            <a:t>0.012 </a:t>
                          </a:r>
                        </a:p>
                      </a:txBody>
                      <a:tcPr marL="0" marR="0" marT="63500" marB="63500" anchor="ctr">
                        <a:lnL w="12700" cap="flat" cmpd="sng" algn="ctr">
                          <a:solidFill>
                            <a:srgbClr val="FFFFFF">
                              <a:alpha val="100000"/>
                            </a:srgbClr>
                          </a:solidFill>
                          <a:prstDash val="solid"/>
                        </a:lnL>
                        <a:lnR w="12700" cap="flat" cmpd="sng" algn="ctr">
                          <a:solidFill>
                            <a:srgbClr val="FFFFFF">
                              <a:alpha val="100000"/>
                            </a:srgbClr>
                          </a:solidFill>
                          <a:prstDash val="solid"/>
                        </a:lnR>
                        <a:lnT w="12700" cap="flat" cmpd="sng" algn="ctr">
                          <a:solidFill>
                            <a:srgbClr val="FFFFFF">
                              <a:alpha val="100000"/>
                            </a:srgbClr>
                          </a:solidFill>
                          <a:prstDash val="solid"/>
                        </a:lnT>
                        <a:lnB w="12700" cap="flat" cmpd="sng" algn="ctr">
                          <a:solidFill>
                            <a:srgbClr val="000000">
                              <a:alpha val="100000"/>
                            </a:srgbClr>
                          </a:solidFill>
                          <a:prstDash val="solid"/>
                        </a:lnB>
                        <a:solidFill>
                          <a:srgbClr val="FFFFFF">
                            <a:alpha val="0"/>
                          </a:srgbClr>
                        </a:solidFill>
                      </a:tcPr>
                    </a:tc>
                    <a:tc>
                      <a:txBody>
                        <a:bodyPr/>
                        <a:lstStyle/>
                        <a:p>
                          <a:pPr marL="63500" marR="63500" algn="ctr">
                            <a:lnSpc>
                              <a:spcPct val="100000"/>
                            </a:lnSpc>
                            <a:spcBef>
                              <a:spcPts val="500"/>
                            </a:spcBef>
                            <a:spcAft>
                              <a:spcPts val="500"/>
                            </a:spcAft>
                            <a:buNone/>
                          </a:pPr>
                          <a:r>
                            <a:rPr sz="1000" b="0" i="0" u="none" strike="noStrike" cap="none">
                              <a:solidFill>
                                <a:srgbClr val="000000">
                                  <a:alpha val="100000"/>
                                </a:srgbClr>
                              </a:solidFill>
                              <a:latin typeface="Arial"/>
                              <a:cs typeface="Helvetica"/>
                              <a:sym typeface="Helvetica"/>
                            </a:rPr>
                            <a:t>0.117***</a:t>
                          </a:r>
                        </a:p>
                      </a:txBody>
                      <a:tcPr marL="0" marR="0" marT="63500" marB="63500" anchor="ctr">
                        <a:lnL w="12700" cap="flat" cmpd="sng" algn="ctr">
                          <a:solidFill>
                            <a:srgbClr val="FFFFFF">
                              <a:alpha val="100000"/>
                            </a:srgbClr>
                          </a:solidFill>
                          <a:prstDash val="solid"/>
                        </a:lnL>
                        <a:lnR w="12700" cap="flat" cmpd="sng" algn="ctr">
                          <a:solidFill>
                            <a:srgbClr val="FFFFFF">
                              <a:alpha val="100000"/>
                            </a:srgbClr>
                          </a:solidFill>
                          <a:prstDash val="solid"/>
                        </a:lnR>
                        <a:lnT w="12700" cap="flat" cmpd="sng" algn="ctr">
                          <a:solidFill>
                            <a:srgbClr val="FFFFFF">
                              <a:alpha val="100000"/>
                            </a:srgbClr>
                          </a:solidFill>
                          <a:prstDash val="solid"/>
                        </a:lnT>
                        <a:lnB w="12700" cap="flat" cmpd="sng" algn="ctr">
                          <a:solidFill>
                            <a:srgbClr val="000000">
                              <a:alpha val="100000"/>
                            </a:srgbClr>
                          </a:solidFill>
                          <a:prstDash val="solid"/>
                        </a:lnB>
                        <a:solidFill>
                          <a:srgbClr val="FFFFFF">
                            <a:alpha val="0"/>
                          </a:srgbClr>
                        </a:solidFill>
                      </a:tcPr>
                    </a:tc>
                    <a:tc>
                      <a:txBody>
                        <a:bodyPr/>
                        <a:lstStyle/>
                        <a:p>
                          <a:pPr marL="63500" marR="63500" algn="ctr">
                            <a:lnSpc>
                              <a:spcPct val="100000"/>
                            </a:lnSpc>
                            <a:spcBef>
                              <a:spcPts val="500"/>
                            </a:spcBef>
                            <a:spcAft>
                              <a:spcPts val="500"/>
                            </a:spcAft>
                            <a:buNone/>
                          </a:pPr>
                          <a:r>
                            <a:rPr sz="1000" b="0" i="0" u="none" strike="noStrike" cap="none" dirty="0">
                              <a:solidFill>
                                <a:srgbClr val="000000">
                                  <a:alpha val="100000"/>
                                </a:srgbClr>
                              </a:solidFill>
                              <a:latin typeface="Arial"/>
                              <a:cs typeface="Helvetica"/>
                              <a:sym typeface="Helvetica"/>
                            </a:rPr>
                            <a:t>0.184**</a:t>
                          </a:r>
                        </a:p>
                      </a:txBody>
                      <a:tcPr marL="0" marR="0" marT="63500" marB="63500" anchor="ctr">
                        <a:lnL w="12700" cap="flat" cmpd="sng" algn="ctr">
                          <a:solidFill>
                            <a:srgbClr val="FFFFFF">
                              <a:alpha val="100000"/>
                            </a:srgbClr>
                          </a:solidFill>
                          <a:prstDash val="solid"/>
                        </a:lnL>
                        <a:lnR w="12700" cap="flat" cmpd="sng" algn="ctr">
                          <a:solidFill>
                            <a:srgbClr val="FFFFFF">
                              <a:alpha val="100000"/>
                            </a:srgbClr>
                          </a:solidFill>
                          <a:prstDash val="solid"/>
                        </a:lnR>
                        <a:lnT w="12700" cap="flat" cmpd="sng" algn="ctr">
                          <a:solidFill>
                            <a:srgbClr val="FFFFFF">
                              <a:alpha val="100000"/>
                            </a:srgbClr>
                          </a:solidFill>
                          <a:prstDash val="solid"/>
                        </a:lnT>
                        <a:lnB w="12700" cap="flat" cmpd="sng" algn="ctr">
                          <a:solidFill>
                            <a:srgbClr val="000000">
                              <a:alpha val="100000"/>
                            </a:srgbClr>
                          </a:solidFill>
                          <a:prstDash val="solid"/>
                        </a:lnB>
                        <a:solidFill>
                          <a:srgbClr val="FFFFFF">
                            <a:alpha val="0"/>
                          </a:srgbClr>
                        </a:solidFill>
                      </a:tcPr>
                    </a:tc>
                    <a:tc>
                      <a:txBody>
                        <a:bodyPr/>
                        <a:lstStyle/>
                        <a:p>
                          <a:pPr marL="63500" marR="63500" algn="ctr">
                            <a:lnSpc>
                              <a:spcPct val="100000"/>
                            </a:lnSpc>
                            <a:spcBef>
                              <a:spcPts val="500"/>
                            </a:spcBef>
                            <a:spcAft>
                              <a:spcPts val="500"/>
                            </a:spcAft>
                            <a:buNone/>
                          </a:pPr>
                          <a:r>
                            <a:rPr sz="1000" b="0" i="0" u="none" strike="noStrike" cap="none" dirty="0">
                              <a:solidFill>
                                <a:srgbClr val="000000">
                                  <a:alpha val="100000"/>
                                </a:srgbClr>
                              </a:solidFill>
                              <a:latin typeface="Arial"/>
                              <a:cs typeface="Helvetica"/>
                              <a:sym typeface="Helvetica"/>
                            </a:rPr>
                            <a:t>0.326*</a:t>
                          </a:r>
                        </a:p>
                      </a:txBody>
                      <a:tcPr marL="0" marR="0" marT="63500" marB="63500" anchor="ctr">
                        <a:lnL w="12700" cap="flat" cmpd="sng" algn="ctr">
                          <a:solidFill>
                            <a:srgbClr val="FFFFFF">
                              <a:alpha val="100000"/>
                            </a:srgbClr>
                          </a:solidFill>
                          <a:prstDash val="solid"/>
                        </a:lnL>
                        <a:lnR w="12700" cap="flat" cmpd="sng" algn="ctr">
                          <a:solidFill>
                            <a:srgbClr val="FFFFFF">
                              <a:alpha val="100000"/>
                            </a:srgbClr>
                          </a:solidFill>
                          <a:prstDash val="solid"/>
                        </a:lnR>
                        <a:lnT w="12700" cap="flat" cmpd="sng" algn="ctr">
                          <a:solidFill>
                            <a:srgbClr val="FFFFFF">
                              <a:alpha val="100000"/>
                            </a:srgbClr>
                          </a:solidFill>
                          <a:prstDash val="solid"/>
                        </a:lnT>
                        <a:lnB w="12700" cap="flat" cmpd="sng" algn="ctr">
                          <a:solidFill>
                            <a:srgbClr val="000000">
                              <a:alpha val="100000"/>
                            </a:srgbClr>
                          </a:solidFill>
                          <a:prstDash val="solid"/>
                        </a:lnB>
                        <a:solidFill>
                          <a:srgbClr val="FFFFFF">
                            <a:alpha val="0"/>
                          </a:srgbClr>
                        </a:solidFill>
                      </a:tcPr>
                    </a:tc>
                    <a:tc>
                      <a:txBody>
                        <a:bodyPr/>
                        <a:lstStyle/>
                        <a:p>
                          <a:pPr marL="63500" marR="63500" algn="ctr">
                            <a:lnSpc>
                              <a:spcPct val="100000"/>
                            </a:lnSpc>
                            <a:spcBef>
                              <a:spcPts val="500"/>
                            </a:spcBef>
                            <a:spcAft>
                              <a:spcPts val="500"/>
                            </a:spcAft>
                            <a:buNone/>
                          </a:pPr>
                          <a:r>
                            <a:rPr sz="1000" b="0" i="0" u="none" strike="noStrike" cap="none" dirty="0">
                              <a:solidFill>
                                <a:srgbClr val="000000">
                                  <a:alpha val="100000"/>
                                </a:srgbClr>
                              </a:solidFill>
                              <a:latin typeface="Arial"/>
                              <a:cs typeface="Helvetica"/>
                              <a:sym typeface="Helvetica"/>
                            </a:rPr>
                            <a:t>0.304**</a:t>
                          </a:r>
                        </a:p>
                      </a:txBody>
                      <a:tcPr marL="0" marR="0" marT="63500" marB="63500" anchor="ctr">
                        <a:lnL w="12700" cap="flat" cmpd="sng" algn="ctr">
                          <a:solidFill>
                            <a:srgbClr val="FFFFFF">
                              <a:alpha val="100000"/>
                            </a:srgbClr>
                          </a:solidFill>
                          <a:prstDash val="solid"/>
                        </a:lnL>
                        <a:lnR w="12700" cap="flat" cmpd="sng" algn="ctr">
                          <a:solidFill>
                            <a:srgbClr val="FFFFFF">
                              <a:alpha val="100000"/>
                            </a:srgbClr>
                          </a:solidFill>
                          <a:prstDash val="solid"/>
                        </a:lnR>
                        <a:lnT w="12700" cap="flat" cmpd="sng" algn="ctr">
                          <a:solidFill>
                            <a:srgbClr val="FFFFFF">
                              <a:alpha val="100000"/>
                            </a:srgbClr>
                          </a:solidFill>
                          <a:prstDash val="solid"/>
                        </a:lnT>
                        <a:lnB w="12700" cap="flat" cmpd="sng" algn="ctr">
                          <a:solidFill>
                            <a:srgbClr val="000000">
                              <a:alpha val="100000"/>
                            </a:srgbClr>
                          </a:solidFill>
                          <a:prstDash val="solid"/>
                        </a:lnB>
                        <a:solidFill>
                          <a:srgbClr val="FFFFFF">
                            <a:alpha val="0"/>
                          </a:srgbClr>
                        </a:solidFill>
                      </a:tcPr>
                    </a:tc>
                    <a:extLst>
                      <a:ext uri="{0D108BD9-81ED-4DB2-BD59-A6C34878D82A}">
                        <a16:rowId xmlns:a16="http://schemas.microsoft.com/office/drawing/2014/main" val="10011"/>
                      </a:ext>
                    </a:extLst>
                  </a:tr>
                  <a:tr h="248920">
                    <a:tc gridSpan="7">
                      <a:txBody>
                        <a:bodyPr/>
                        <a:lstStyle/>
                        <a:p>
                          <a:pPr marL="63500" marR="63500" algn="l">
                            <a:lnSpc>
                              <a:spcPct val="100000"/>
                            </a:lnSpc>
                            <a:spcBef>
                              <a:spcPts val="500"/>
                            </a:spcBef>
                            <a:spcAft>
                              <a:spcPts val="500"/>
                            </a:spcAft>
                            <a:buNone/>
                          </a:pPr>
                          <a:r>
                            <a:rPr sz="800" b="0" i="0" u="none" strike="noStrike" cap="none" dirty="0">
                              <a:solidFill>
                                <a:srgbClr val="000000">
                                  <a:alpha val="100000"/>
                                </a:srgbClr>
                              </a:solidFill>
                              <a:latin typeface="Arial"/>
                              <a:cs typeface="Helvetica"/>
                              <a:sym typeface="Helvetica"/>
                            </a:rPr>
                            <a:t>Note: *** = p value &lt; 0.01, ** = 0.01 &lt; p value &lt; 0.05, * = 0.05 &lt; p value &lt; 0.1.</a:t>
                          </a:r>
                        </a:p>
                      </a:txBody>
                      <a:tcPr marL="0" marR="0" marT="63500" marB="63500" anchor="ctr">
                        <a:lnL w="0" cap="flat" cmpd="sng" algn="ctr">
                          <a:noFill/>
                          <a:prstDash val="solid"/>
                        </a:lnL>
                        <a:lnR w="0" cap="flat" cmpd="sng" algn="ctr">
                          <a:noFill/>
                          <a:prstDash val="solid"/>
                        </a:lnR>
                        <a:lnT w="12700" cap="flat" cmpd="sng" algn="ctr">
                          <a:solidFill>
                            <a:srgbClr val="000000"/>
                          </a:solidFill>
                          <a:prstDash val="solid"/>
                          <a:round/>
                          <a:headEnd type="none" w="med" len="med"/>
                          <a:tailEnd type="none" w="med" len="med"/>
                        </a:lnT>
                        <a:lnB w="0" cap="flat" cmpd="sng" algn="ctr">
                          <a:noFill/>
                          <a:prstDash val="solid"/>
                        </a:lnB>
                        <a:solidFill>
                          <a:srgbClr val="FFFFFF">
                            <a:alpha val="0"/>
                          </a:srgbClr>
                        </a:solidFill>
                      </a:tcPr>
                    </a:tc>
                    <a:tc hMerge="1">
                      <a:txBody>
                        <a:bodyPr/>
                        <a:lstStyle/>
                        <a:p>
                          <a:pPr marL="63500" marR="63500" algn="ctr">
                            <a:lnSpc>
                              <a:spcPct val="100000"/>
                            </a:lnSpc>
                            <a:spcBef>
                              <a:spcPts val="500"/>
                            </a:spcBef>
                            <a:spcAft>
                              <a:spcPts val="500"/>
                            </a:spcAft>
                            <a:buNone/>
                          </a:pPr>
                          <a:r>
                            <a:rPr sz="700" b="0" i="0" u="none" strike="noStrike" cap="none">
                              <a:solidFill>
                                <a:srgbClr val="000000">
                                  <a:alpha val="100000"/>
                                </a:srgbClr>
                              </a:solidFill>
                              <a:latin typeface="Arial"/>
                              <a:cs typeface="Helvetica"/>
                              <a:sym typeface="Helvetica"/>
                            </a:rPr>
                            <a:t>Note: *** = p value &lt; 0.01, ** = 0.01 &lt; p value &lt; 0.05, * = 0.05 &lt; p value &lt; 0.1.</a:t>
                          </a:r>
                        </a:p>
                      </a:txBody>
                      <a:tcPr marL="0" marR="0" marT="63500" marB="63500" anchor="ctr">
                        <a:lnL w="0" cap="flat" cmpd="sng" algn="ctr">
                          <a:noFill/>
                          <a:prstDash val="solid"/>
                        </a:lnL>
                        <a:lnR w="0" cap="flat" cmpd="sng" algn="ctr">
                          <a:noFill/>
                          <a:prstDash val="solid"/>
                        </a:lnR>
                        <a:lnT w="0" cap="flat" cmpd="sng" algn="ctr">
                          <a:noFill/>
                          <a:prstDash val="solid"/>
                        </a:lnT>
                        <a:lnB w="0" cap="flat" cmpd="sng" algn="ctr">
                          <a:noFill/>
                          <a:prstDash val="solid"/>
                        </a:lnB>
                        <a:solidFill>
                          <a:srgbClr val="FFFFFF">
                            <a:alpha val="0"/>
                          </a:srgbClr>
                        </a:solidFill>
                      </a:tcPr>
                    </a:tc>
                    <a:tc hMerge="1">
                      <a:txBody>
                        <a:bodyPr/>
                        <a:lstStyle/>
                        <a:p>
                          <a:pPr marL="63500" marR="63500" algn="l">
                            <a:lnSpc>
                              <a:spcPct val="100000"/>
                            </a:lnSpc>
                            <a:spcBef>
                              <a:spcPts val="500"/>
                            </a:spcBef>
                            <a:spcAft>
                              <a:spcPts val="500"/>
                            </a:spcAft>
                            <a:buNone/>
                          </a:pPr>
                          <a:r>
                            <a:rPr sz="700" b="0" i="0" u="none" strike="noStrike" cap="none">
                              <a:solidFill>
                                <a:srgbClr val="000000">
                                  <a:alpha val="100000"/>
                                </a:srgbClr>
                              </a:solidFill>
                              <a:latin typeface="Arial"/>
                              <a:cs typeface="Helvetica"/>
                              <a:sym typeface="Helvetica"/>
                            </a:rPr>
                            <a:t>Note: *** = p value &lt; 0.01, ** = 0.01 &lt; p value &lt; 0.05, * = 0.05 &lt; p value &lt; 0.1.</a:t>
                          </a:r>
                        </a:p>
                      </a:txBody>
                      <a:tcPr marL="0" marR="0" marT="63500" marB="63500" anchor="ctr">
                        <a:lnL w="0" cap="flat" cmpd="sng" algn="ctr">
                          <a:noFill/>
                          <a:prstDash val="solid"/>
                        </a:lnL>
                        <a:lnR w="0" cap="flat" cmpd="sng" algn="ctr">
                          <a:noFill/>
                          <a:prstDash val="solid"/>
                        </a:lnR>
                        <a:lnT w="0" cap="flat" cmpd="sng" algn="ctr">
                          <a:noFill/>
                          <a:prstDash val="solid"/>
                        </a:lnT>
                        <a:lnB w="0" cap="flat" cmpd="sng" algn="ctr">
                          <a:noFill/>
                          <a:prstDash val="solid"/>
                        </a:lnB>
                        <a:solidFill>
                          <a:srgbClr val="FFFFFF">
                            <a:alpha val="0"/>
                          </a:srgbClr>
                        </a:solidFill>
                      </a:tcPr>
                    </a:tc>
                    <a:tc hMerge="1">
                      <a:txBody>
                        <a:bodyPr/>
                        <a:lstStyle/>
                        <a:p>
                          <a:pPr marL="63500" marR="63500" algn="l">
                            <a:lnSpc>
                              <a:spcPct val="100000"/>
                            </a:lnSpc>
                            <a:spcBef>
                              <a:spcPts val="500"/>
                            </a:spcBef>
                            <a:spcAft>
                              <a:spcPts val="500"/>
                            </a:spcAft>
                            <a:buNone/>
                          </a:pPr>
                          <a:r>
                            <a:rPr sz="700" b="0" i="0" u="none" strike="noStrike" cap="none">
                              <a:solidFill>
                                <a:srgbClr val="000000">
                                  <a:alpha val="100000"/>
                                </a:srgbClr>
                              </a:solidFill>
                              <a:latin typeface="Arial"/>
                              <a:cs typeface="Helvetica"/>
                              <a:sym typeface="Helvetica"/>
                            </a:rPr>
                            <a:t>Note: *** = p value &lt; 0.01, ** = 0.01 &lt; p value &lt; 0.05, * = 0.05 &lt; p value &lt; 0.1.</a:t>
                          </a:r>
                        </a:p>
                      </a:txBody>
                      <a:tcPr marL="0" marR="0" marT="63500" marB="63500" anchor="ctr">
                        <a:lnL w="0" cap="flat" cmpd="sng" algn="ctr">
                          <a:noFill/>
                          <a:prstDash val="solid"/>
                        </a:lnL>
                        <a:lnR w="0" cap="flat" cmpd="sng" algn="ctr">
                          <a:noFill/>
                          <a:prstDash val="solid"/>
                        </a:lnR>
                        <a:lnT w="0" cap="flat" cmpd="sng" algn="ctr">
                          <a:noFill/>
                          <a:prstDash val="solid"/>
                        </a:lnT>
                        <a:lnB w="0" cap="flat" cmpd="sng" algn="ctr">
                          <a:noFill/>
                          <a:prstDash val="solid"/>
                        </a:lnB>
                        <a:solidFill>
                          <a:srgbClr val="FFFFFF">
                            <a:alpha val="0"/>
                          </a:srgbClr>
                        </a:solidFill>
                      </a:tcPr>
                    </a:tc>
                    <a:tc hMerge="1">
                      <a:txBody>
                        <a:bodyPr/>
                        <a:lstStyle/>
                        <a:p>
                          <a:pPr marL="63500" marR="63500" algn="l">
                            <a:lnSpc>
                              <a:spcPct val="100000"/>
                            </a:lnSpc>
                            <a:spcBef>
                              <a:spcPts val="500"/>
                            </a:spcBef>
                            <a:spcAft>
                              <a:spcPts val="500"/>
                            </a:spcAft>
                            <a:buNone/>
                          </a:pPr>
                          <a:r>
                            <a:rPr sz="700" b="0" i="0" u="none" strike="noStrike" cap="none">
                              <a:solidFill>
                                <a:srgbClr val="000000">
                                  <a:alpha val="100000"/>
                                </a:srgbClr>
                              </a:solidFill>
                              <a:latin typeface="Arial"/>
                              <a:cs typeface="Helvetica"/>
                              <a:sym typeface="Helvetica"/>
                            </a:rPr>
                            <a:t>Note: *** = p value &lt; 0.01, ** = 0.01 &lt; p value &lt; 0.05, * = 0.05 &lt; p value &lt; 0.1.</a:t>
                          </a:r>
                        </a:p>
                      </a:txBody>
                      <a:tcPr marL="0" marR="0" marT="63500" marB="63500" anchor="ctr">
                        <a:lnL w="0" cap="flat" cmpd="sng" algn="ctr">
                          <a:noFill/>
                          <a:prstDash val="solid"/>
                        </a:lnL>
                        <a:lnR w="0" cap="flat" cmpd="sng" algn="ctr">
                          <a:noFill/>
                          <a:prstDash val="solid"/>
                        </a:lnR>
                        <a:lnT w="0" cap="flat" cmpd="sng" algn="ctr">
                          <a:noFill/>
                          <a:prstDash val="solid"/>
                        </a:lnT>
                        <a:lnB w="0" cap="flat" cmpd="sng" algn="ctr">
                          <a:noFill/>
                          <a:prstDash val="solid"/>
                        </a:lnB>
                        <a:solidFill>
                          <a:srgbClr val="FFFFFF">
                            <a:alpha val="0"/>
                          </a:srgbClr>
                        </a:solidFill>
                      </a:tcPr>
                    </a:tc>
                    <a:tc hMerge="1">
                      <a:txBody>
                        <a:bodyPr/>
                        <a:lstStyle/>
                        <a:p>
                          <a:pPr marL="63500" marR="63500" algn="l">
                            <a:lnSpc>
                              <a:spcPct val="100000"/>
                            </a:lnSpc>
                            <a:spcBef>
                              <a:spcPts val="500"/>
                            </a:spcBef>
                            <a:spcAft>
                              <a:spcPts val="500"/>
                            </a:spcAft>
                            <a:buNone/>
                          </a:pPr>
                          <a:r>
                            <a:rPr sz="700" b="0" i="0" u="none" strike="noStrike" cap="none">
                              <a:solidFill>
                                <a:srgbClr val="000000">
                                  <a:alpha val="100000"/>
                                </a:srgbClr>
                              </a:solidFill>
                              <a:latin typeface="Arial"/>
                              <a:cs typeface="Helvetica"/>
                              <a:sym typeface="Helvetica"/>
                            </a:rPr>
                            <a:t>Note: *** = p value &lt; 0.01, ** = 0.01 &lt; p value &lt; 0.05, * = 0.05 &lt; p value &lt; 0.1.</a:t>
                          </a:r>
                        </a:p>
                      </a:txBody>
                      <a:tcPr marL="0" marR="0" marT="63500" marB="63500" anchor="ctr">
                        <a:lnL w="0" cap="flat" cmpd="sng" algn="ctr">
                          <a:noFill/>
                          <a:prstDash val="solid"/>
                        </a:lnL>
                        <a:lnR w="0" cap="flat" cmpd="sng" algn="ctr">
                          <a:noFill/>
                          <a:prstDash val="solid"/>
                        </a:lnR>
                        <a:lnT w="0" cap="flat" cmpd="sng" algn="ctr">
                          <a:noFill/>
                          <a:prstDash val="solid"/>
                        </a:lnT>
                        <a:lnB w="0" cap="flat" cmpd="sng" algn="ctr">
                          <a:noFill/>
                          <a:prstDash val="solid"/>
                        </a:lnB>
                        <a:solidFill>
                          <a:srgbClr val="FFFFFF">
                            <a:alpha val="0"/>
                          </a:srgbClr>
                        </a:solidFill>
                      </a:tcPr>
                    </a:tc>
                    <a:tc hMerge="1">
                      <a:txBody>
                        <a:bodyPr/>
                        <a:lstStyle/>
                        <a:p>
                          <a:pPr marL="63500" marR="63500" algn="l">
                            <a:lnSpc>
                              <a:spcPct val="100000"/>
                            </a:lnSpc>
                            <a:spcBef>
                              <a:spcPts val="500"/>
                            </a:spcBef>
                            <a:spcAft>
                              <a:spcPts val="500"/>
                            </a:spcAft>
                            <a:buNone/>
                          </a:pPr>
                          <a:r>
                            <a:rPr sz="700" b="0" i="0" u="none" strike="noStrike" cap="none">
                              <a:solidFill>
                                <a:srgbClr val="000000">
                                  <a:alpha val="100000"/>
                                </a:srgbClr>
                              </a:solidFill>
                              <a:latin typeface="Arial"/>
                              <a:cs typeface="Helvetica"/>
                              <a:sym typeface="Helvetica"/>
                            </a:rPr>
                            <a:t>Note: *** = p value &lt; 0.01, ** = 0.01 &lt; p value &lt; 0.05, * = 0.05 &lt; p value &lt; 0.1.</a:t>
                          </a:r>
                        </a:p>
                      </a:txBody>
                      <a:tcPr marL="0" marR="0" marT="63500" marB="63500" anchor="ctr">
                        <a:lnL w="0" cap="flat" cmpd="sng" algn="ctr">
                          <a:noFill/>
                          <a:prstDash val="solid"/>
                        </a:lnL>
                        <a:lnR w="0" cap="flat" cmpd="sng" algn="ctr">
                          <a:noFill/>
                          <a:prstDash val="solid"/>
                        </a:lnR>
                        <a:lnT w="0" cap="flat" cmpd="sng" algn="ctr">
                          <a:noFill/>
                          <a:prstDash val="solid"/>
                        </a:lnT>
                        <a:lnB w="0" cap="flat" cmpd="sng" algn="ctr">
                          <a:noFill/>
                          <a:prstDash val="solid"/>
                        </a:lnB>
                        <a:solidFill>
                          <a:srgbClr val="FFFFFF">
                            <a:alpha val="0"/>
                          </a:srgbClr>
                        </a:solidFill>
                      </a:tcPr>
                    </a:tc>
                    <a:extLst>
                      <a:ext uri="{0D108BD9-81ED-4DB2-BD59-A6C34878D82A}">
                        <a16:rowId xmlns:a16="http://schemas.microsoft.com/office/drawing/2014/main" val="10012"/>
                      </a:ext>
                    </a:extLst>
                  </a:tr>
                </a:tbl>
              </a:graphicData>
            </a:graphic>
          </p:graphicFrame>
        </mc:Fallback>
      </mc:AlternateContent>
      <p:sp>
        <p:nvSpPr>
          <p:cNvPr id="7" name="Slide Number Placeholder 5">
            <a:extLst>
              <a:ext uri="{FF2B5EF4-FFF2-40B4-BE49-F238E27FC236}">
                <a16:creationId xmlns:a16="http://schemas.microsoft.com/office/drawing/2014/main" id="{FB221DBE-BC54-6C4C-BA1C-95E280B67712}"/>
              </a:ext>
            </a:extLst>
          </p:cNvPr>
          <p:cNvSpPr>
            <a:spLocks noGrp="1"/>
          </p:cNvSpPr>
          <p:nvPr>
            <p:ph type="sldNum" sz="quarter" idx="12"/>
          </p:nvPr>
        </p:nvSpPr>
        <p:spPr>
          <a:xfrm>
            <a:off x="7557977" y="6313820"/>
            <a:ext cx="2743200" cy="365125"/>
          </a:xfrm>
        </p:spPr>
        <p:txBody>
          <a:bodyPr/>
          <a:lstStyle>
            <a:lvl1pPr>
              <a:defRPr sz="1100"/>
            </a:lvl1pPr>
          </a:lstStyle>
          <a:p>
            <a:fld id="{85DA3A08-9E66-614E-AAE5-F810EFDD6885}" type="slidenum">
              <a:rPr lang="en-US" smtClean="0"/>
              <a:pPr/>
              <a:t>26</a:t>
            </a:fld>
            <a:endParaRPr lang="en-US" dirty="0"/>
          </a:p>
        </p:txBody>
      </p:sp>
      <p:sp>
        <p:nvSpPr>
          <p:cNvPr id="3" name="TextBox 2">
            <a:extLst>
              <a:ext uri="{FF2B5EF4-FFF2-40B4-BE49-F238E27FC236}">
                <a16:creationId xmlns:a16="http://schemas.microsoft.com/office/drawing/2014/main" id="{54AC87C6-8323-D40B-46C5-54491D0F012A}"/>
              </a:ext>
            </a:extLst>
          </p:cNvPr>
          <p:cNvSpPr txBox="1"/>
          <p:nvPr/>
        </p:nvSpPr>
        <p:spPr>
          <a:xfrm>
            <a:off x="1139777" y="1222969"/>
            <a:ext cx="2398481" cy="276999"/>
          </a:xfrm>
          <a:prstGeom prst="rect">
            <a:avLst/>
          </a:prstGeom>
          <a:noFill/>
        </p:spPr>
        <p:txBody>
          <a:bodyPr wrap="square" rtlCol="0">
            <a:spAutoFit/>
          </a:bodyPr>
          <a:lstStyle/>
          <a:p>
            <a:r>
              <a:rPr lang="en-US" sz="1200" b="1" dirty="0">
                <a:latin typeface="Arial" panose="020B0604020202020204" pitchFamily="34" charset="0"/>
                <a:cs typeface="Arial" panose="020B0604020202020204" pitchFamily="34" charset="0"/>
              </a:rPr>
              <a:t>Table 1: Baseline regressions</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631292-24AE-5F41-8820-196C7D8E36A1}"/>
              </a:ext>
            </a:extLst>
          </p:cNvPr>
          <p:cNvSpPr>
            <a:spLocks noGrp="1"/>
          </p:cNvSpPr>
          <p:nvPr>
            <p:ph type="title"/>
          </p:nvPr>
        </p:nvSpPr>
        <p:spPr>
          <a:xfrm>
            <a:off x="1055553" y="169826"/>
            <a:ext cx="10977744" cy="666233"/>
          </a:xfrm>
        </p:spPr>
        <p:txBody>
          <a:bodyPr/>
          <a:lstStyle/>
          <a:p>
            <a:pPr marL="0" lvl="0" indent="0">
              <a:buNone/>
            </a:pPr>
            <a:r>
              <a:rPr lang="en-US" dirty="0"/>
              <a:t>Supported by significant time-varying results</a:t>
            </a:r>
            <a:endParaRPr dirty="0"/>
          </a:p>
        </p:txBody>
      </p:sp>
      <p:sp>
        <p:nvSpPr>
          <p:cNvPr id="7" name="Slide Number Placeholder 5">
            <a:extLst>
              <a:ext uri="{FF2B5EF4-FFF2-40B4-BE49-F238E27FC236}">
                <a16:creationId xmlns:a16="http://schemas.microsoft.com/office/drawing/2014/main" id="{FB221DBE-BC54-6C4C-BA1C-95E280B67712}"/>
              </a:ext>
            </a:extLst>
          </p:cNvPr>
          <p:cNvSpPr>
            <a:spLocks noGrp="1"/>
          </p:cNvSpPr>
          <p:nvPr>
            <p:ph type="sldNum" sz="quarter" idx="12"/>
          </p:nvPr>
        </p:nvSpPr>
        <p:spPr>
          <a:xfrm>
            <a:off x="7557977" y="6313820"/>
            <a:ext cx="2743200" cy="365125"/>
          </a:xfrm>
        </p:spPr>
        <p:txBody>
          <a:bodyPr/>
          <a:lstStyle>
            <a:lvl1pPr>
              <a:defRPr sz="1100"/>
            </a:lvl1pPr>
          </a:lstStyle>
          <a:p>
            <a:fld id="{85DA3A08-9E66-614E-AAE5-F810EFDD6885}" type="slidenum">
              <a:rPr lang="en-US" smtClean="0"/>
              <a:pPr/>
              <a:t>27</a:t>
            </a:fld>
            <a:endParaRPr lang="en-US" dirty="0"/>
          </a:p>
        </p:txBody>
      </p:sp>
      <p:pic>
        <p:nvPicPr>
          <p:cNvPr id="4" name="Picture 3">
            <a:extLst>
              <a:ext uri="{FF2B5EF4-FFF2-40B4-BE49-F238E27FC236}">
                <a16:creationId xmlns:a16="http://schemas.microsoft.com/office/drawing/2014/main" id="{BAF8D204-7C98-DFF3-CE0E-611B29EABB13}"/>
              </a:ext>
            </a:extLst>
          </p:cNvPr>
          <p:cNvPicPr>
            <a:picLocks noChangeAspect="1"/>
          </p:cNvPicPr>
          <p:nvPr/>
        </p:nvPicPr>
        <p:blipFill>
          <a:blip r:embed="rId2"/>
          <a:srcRect r="7688"/>
          <a:stretch>
            <a:fillRect/>
          </a:stretch>
        </p:blipFill>
        <p:spPr>
          <a:xfrm>
            <a:off x="2282806" y="1325085"/>
            <a:ext cx="7174832" cy="5353860"/>
          </a:xfrm>
          <a:prstGeom prst="rect">
            <a:avLst/>
          </a:prstGeom>
        </p:spPr>
      </p:pic>
      <p:sp>
        <p:nvSpPr>
          <p:cNvPr id="5" name="TextBox 4">
            <a:extLst>
              <a:ext uri="{FF2B5EF4-FFF2-40B4-BE49-F238E27FC236}">
                <a16:creationId xmlns:a16="http://schemas.microsoft.com/office/drawing/2014/main" id="{C9F22426-336D-7479-D350-3CC16DC96898}"/>
              </a:ext>
            </a:extLst>
          </p:cNvPr>
          <p:cNvSpPr txBox="1"/>
          <p:nvPr/>
        </p:nvSpPr>
        <p:spPr>
          <a:xfrm>
            <a:off x="2734362" y="1048086"/>
            <a:ext cx="3183221" cy="276999"/>
          </a:xfrm>
          <a:prstGeom prst="rect">
            <a:avLst/>
          </a:prstGeom>
          <a:noFill/>
        </p:spPr>
        <p:txBody>
          <a:bodyPr wrap="square" rtlCol="0">
            <a:spAutoFit/>
          </a:bodyPr>
          <a:lstStyle/>
          <a:p>
            <a:r>
              <a:rPr lang="en-US" sz="1200" b="1" dirty="0">
                <a:latin typeface="Arial" panose="020B0604020202020204" pitchFamily="34" charset="0"/>
                <a:cs typeface="Arial" panose="020B0604020202020204" pitchFamily="34" charset="0"/>
              </a:rPr>
              <a:t>Figure 5: Rolling window regressions</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631292-24AE-5F41-8820-196C7D8E36A1}"/>
              </a:ext>
            </a:extLst>
          </p:cNvPr>
          <p:cNvSpPr>
            <a:spLocks noGrp="1"/>
          </p:cNvSpPr>
          <p:nvPr>
            <p:ph type="title"/>
          </p:nvPr>
        </p:nvSpPr>
        <p:spPr>
          <a:xfrm>
            <a:off x="1067584" y="-4482"/>
            <a:ext cx="10977744" cy="666233"/>
          </a:xfrm>
        </p:spPr>
        <p:txBody>
          <a:bodyPr/>
          <a:lstStyle/>
          <a:p>
            <a:pPr marL="0" lvl="0" indent="0">
              <a:buNone/>
            </a:pPr>
            <a:r>
              <a:rPr dirty="0"/>
              <a:t>Resul</a:t>
            </a:r>
            <a:r>
              <a:rPr lang="en-US" dirty="0"/>
              <a:t>ts suggests an optimal inflation in the range of 2-3%</a:t>
            </a:r>
            <a:endParaRPr dirty="0"/>
          </a:p>
        </p:txBody>
      </p:sp>
      <p:sp>
        <p:nvSpPr>
          <p:cNvPr id="7" name="Slide Number Placeholder 5">
            <a:extLst>
              <a:ext uri="{FF2B5EF4-FFF2-40B4-BE49-F238E27FC236}">
                <a16:creationId xmlns:a16="http://schemas.microsoft.com/office/drawing/2014/main" id="{FB221DBE-BC54-6C4C-BA1C-95E280B67712}"/>
              </a:ext>
            </a:extLst>
          </p:cNvPr>
          <p:cNvSpPr>
            <a:spLocks noGrp="1"/>
          </p:cNvSpPr>
          <p:nvPr>
            <p:ph type="sldNum" sz="quarter" idx="12"/>
          </p:nvPr>
        </p:nvSpPr>
        <p:spPr>
          <a:xfrm>
            <a:off x="7557977" y="6313820"/>
            <a:ext cx="2743200" cy="365125"/>
          </a:xfrm>
        </p:spPr>
        <p:txBody>
          <a:bodyPr/>
          <a:lstStyle>
            <a:lvl1pPr>
              <a:defRPr sz="1100"/>
            </a:lvl1pPr>
          </a:lstStyle>
          <a:p>
            <a:fld id="{85DA3A08-9E66-614E-AAE5-F810EFDD6885}" type="slidenum">
              <a:rPr lang="en-US" smtClean="0"/>
              <a:pPr/>
              <a:t>28</a:t>
            </a:fld>
            <a:endParaRPr lang="en-US" dirty="0"/>
          </a:p>
        </p:txBody>
      </p:sp>
      <p:sp>
        <p:nvSpPr>
          <p:cNvPr id="5" name="TextBox 4">
            <a:extLst>
              <a:ext uri="{FF2B5EF4-FFF2-40B4-BE49-F238E27FC236}">
                <a16:creationId xmlns:a16="http://schemas.microsoft.com/office/drawing/2014/main" id="{0D2E5AD9-3B86-7F33-01F7-3A53B51AA131}"/>
              </a:ext>
            </a:extLst>
          </p:cNvPr>
          <p:cNvSpPr txBox="1"/>
          <p:nvPr/>
        </p:nvSpPr>
        <p:spPr>
          <a:xfrm>
            <a:off x="1454400" y="811846"/>
            <a:ext cx="3775055" cy="276999"/>
          </a:xfrm>
          <a:prstGeom prst="rect">
            <a:avLst/>
          </a:prstGeom>
          <a:noFill/>
        </p:spPr>
        <p:txBody>
          <a:bodyPr wrap="square" rtlCol="0">
            <a:spAutoFit/>
          </a:bodyPr>
          <a:lstStyle/>
          <a:p>
            <a:r>
              <a:rPr lang="en-US" sz="1200" b="1" dirty="0">
                <a:latin typeface="Arial" panose="020B0604020202020204" pitchFamily="34" charset="0"/>
                <a:cs typeface="Arial" panose="020B0604020202020204" pitchFamily="34" charset="0"/>
              </a:rPr>
              <a:t>Figure 6: Semi-parametric regressions</a:t>
            </a:r>
          </a:p>
        </p:txBody>
      </p:sp>
      <p:sp>
        <p:nvSpPr>
          <p:cNvPr id="8" name="TextBox 7">
            <a:extLst>
              <a:ext uri="{FF2B5EF4-FFF2-40B4-BE49-F238E27FC236}">
                <a16:creationId xmlns:a16="http://schemas.microsoft.com/office/drawing/2014/main" id="{6430AB6B-C052-83B9-D85A-8222A224D656}"/>
              </a:ext>
            </a:extLst>
          </p:cNvPr>
          <p:cNvSpPr txBox="1"/>
          <p:nvPr/>
        </p:nvSpPr>
        <p:spPr>
          <a:xfrm>
            <a:off x="7808458" y="1580696"/>
            <a:ext cx="4047028" cy="738664"/>
          </a:xfrm>
          <a:prstGeom prst="rect">
            <a:avLst/>
          </a:prstGeom>
          <a:noFill/>
        </p:spPr>
        <p:txBody>
          <a:bodyPr wrap="square">
            <a:spAutoFit/>
          </a:bodyPr>
          <a:lstStyle/>
          <a:p>
            <a:r>
              <a:rPr lang="en-ZA" sz="1400" b="0" i="0" dirty="0">
                <a:effectLst/>
                <a:latin typeface="Arial" panose="020B0604020202020204" pitchFamily="34" charset="0"/>
              </a:rPr>
              <a:t>Full sample, the relationship shows a U-shaped profile in line with the theoretical predictions of Head and Kumar(2005)</a:t>
            </a:r>
            <a:endParaRPr lang="en-US" sz="1400" dirty="0"/>
          </a:p>
        </p:txBody>
      </p:sp>
      <p:sp>
        <p:nvSpPr>
          <p:cNvPr id="9" name="Heptagon 8">
            <a:extLst>
              <a:ext uri="{FF2B5EF4-FFF2-40B4-BE49-F238E27FC236}">
                <a16:creationId xmlns:a16="http://schemas.microsoft.com/office/drawing/2014/main" id="{99C5AAF4-3255-783B-AC04-431887598FB3}"/>
              </a:ext>
            </a:extLst>
          </p:cNvPr>
          <p:cNvSpPr/>
          <p:nvPr/>
        </p:nvSpPr>
        <p:spPr>
          <a:xfrm>
            <a:off x="7454671" y="1769520"/>
            <a:ext cx="265355" cy="258215"/>
          </a:xfrm>
          <a:prstGeom prst="heptagon">
            <a:avLst/>
          </a:prstGeom>
          <a:solidFill>
            <a:schemeClr val="accent6">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1</a:t>
            </a:r>
          </a:p>
        </p:txBody>
      </p:sp>
      <p:sp>
        <p:nvSpPr>
          <p:cNvPr id="10" name="Heptagon 9">
            <a:extLst>
              <a:ext uri="{FF2B5EF4-FFF2-40B4-BE49-F238E27FC236}">
                <a16:creationId xmlns:a16="http://schemas.microsoft.com/office/drawing/2014/main" id="{2355586F-BBB6-989E-F709-98A1C610D8A1}"/>
              </a:ext>
            </a:extLst>
          </p:cNvPr>
          <p:cNvSpPr/>
          <p:nvPr/>
        </p:nvSpPr>
        <p:spPr>
          <a:xfrm>
            <a:off x="7454671" y="3565529"/>
            <a:ext cx="265355" cy="258215"/>
          </a:xfrm>
          <a:prstGeom prst="heptagon">
            <a:avLst/>
          </a:prstGeom>
          <a:solidFill>
            <a:schemeClr val="accent6">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2</a:t>
            </a:r>
          </a:p>
        </p:txBody>
      </p:sp>
      <p:sp>
        <p:nvSpPr>
          <p:cNvPr id="12" name="TextBox 11">
            <a:extLst>
              <a:ext uri="{FF2B5EF4-FFF2-40B4-BE49-F238E27FC236}">
                <a16:creationId xmlns:a16="http://schemas.microsoft.com/office/drawing/2014/main" id="{322C108C-5BB7-A537-AB65-78ED0BA43818}"/>
              </a:ext>
            </a:extLst>
          </p:cNvPr>
          <p:cNvSpPr txBox="1"/>
          <p:nvPr/>
        </p:nvSpPr>
        <p:spPr>
          <a:xfrm>
            <a:off x="7808458" y="3238306"/>
            <a:ext cx="4047028" cy="954107"/>
          </a:xfrm>
          <a:prstGeom prst="rect">
            <a:avLst/>
          </a:prstGeom>
          <a:noFill/>
        </p:spPr>
        <p:txBody>
          <a:bodyPr wrap="square">
            <a:spAutoFit/>
          </a:bodyPr>
          <a:lstStyle/>
          <a:p>
            <a:r>
              <a:rPr lang="en-ZA" sz="1400" dirty="0">
                <a:latin typeface="Arial" panose="020B0604020202020204" pitchFamily="34" charset="0"/>
              </a:rPr>
              <a:t>S</a:t>
            </a:r>
            <a:r>
              <a:rPr lang="en-ZA" sz="1400" b="0" i="0" dirty="0">
                <a:effectLst/>
                <a:latin typeface="Arial" panose="020B0604020202020204" pitchFamily="34" charset="0"/>
              </a:rPr>
              <a:t>mall positive effects on RPD for an inflation range of 2-3 percent, moreover RPD is at its lowest in this range suggesting this would be the optimal inflation range as RPD is not amplified</a:t>
            </a:r>
            <a:endParaRPr lang="en-US" sz="1400" dirty="0"/>
          </a:p>
        </p:txBody>
      </p:sp>
      <p:sp>
        <p:nvSpPr>
          <p:cNvPr id="13" name="Heptagon 12">
            <a:extLst>
              <a:ext uri="{FF2B5EF4-FFF2-40B4-BE49-F238E27FC236}">
                <a16:creationId xmlns:a16="http://schemas.microsoft.com/office/drawing/2014/main" id="{0F727EDE-AF4B-39FB-B2C7-95410123FB63}"/>
              </a:ext>
            </a:extLst>
          </p:cNvPr>
          <p:cNvSpPr/>
          <p:nvPr/>
        </p:nvSpPr>
        <p:spPr>
          <a:xfrm>
            <a:off x="7454671" y="5361537"/>
            <a:ext cx="265355" cy="258215"/>
          </a:xfrm>
          <a:prstGeom prst="heptagon">
            <a:avLst/>
          </a:prstGeom>
          <a:solidFill>
            <a:schemeClr val="accent6">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3</a:t>
            </a:r>
          </a:p>
        </p:txBody>
      </p:sp>
      <p:sp>
        <p:nvSpPr>
          <p:cNvPr id="14" name="TextBox 13">
            <a:extLst>
              <a:ext uri="{FF2B5EF4-FFF2-40B4-BE49-F238E27FC236}">
                <a16:creationId xmlns:a16="http://schemas.microsoft.com/office/drawing/2014/main" id="{D02E4ED9-9750-78CA-590B-7240D290869D}"/>
              </a:ext>
            </a:extLst>
          </p:cNvPr>
          <p:cNvSpPr txBox="1"/>
          <p:nvPr/>
        </p:nvSpPr>
        <p:spPr>
          <a:xfrm>
            <a:off x="7808458" y="5181956"/>
            <a:ext cx="4047028" cy="523220"/>
          </a:xfrm>
          <a:prstGeom prst="rect">
            <a:avLst/>
          </a:prstGeom>
          <a:noFill/>
        </p:spPr>
        <p:txBody>
          <a:bodyPr wrap="square">
            <a:spAutoFit/>
          </a:bodyPr>
          <a:lstStyle/>
          <a:p>
            <a:r>
              <a:rPr lang="en-ZA" sz="1400" dirty="0">
                <a:latin typeface="Arial" panose="020B0604020202020204" pitchFamily="34" charset="0"/>
                <a:cs typeface="Arial" panose="020B0604020202020204" pitchFamily="34" charset="0"/>
              </a:rPr>
              <a:t>The post 2017 sub-samples results indicate less rapid response in RPD for a change in inflation</a:t>
            </a:r>
            <a:endParaRPr lang="en-US" sz="1400" dirty="0">
              <a:latin typeface="Arial" panose="020B0604020202020204" pitchFamily="34" charset="0"/>
              <a:cs typeface="Arial" panose="020B0604020202020204" pitchFamily="34" charset="0"/>
            </a:endParaRPr>
          </a:p>
        </p:txBody>
      </p:sp>
      <p:pic>
        <p:nvPicPr>
          <p:cNvPr id="6" name="Picture 5">
            <a:extLst>
              <a:ext uri="{FF2B5EF4-FFF2-40B4-BE49-F238E27FC236}">
                <a16:creationId xmlns:a16="http://schemas.microsoft.com/office/drawing/2014/main" id="{DB19106B-C96C-2776-ED60-CD9C5F773357}"/>
              </a:ext>
            </a:extLst>
          </p:cNvPr>
          <p:cNvPicPr>
            <a:picLocks noChangeAspect="1"/>
          </p:cNvPicPr>
          <p:nvPr/>
        </p:nvPicPr>
        <p:blipFill>
          <a:blip r:embed="rId2">
            <a:extLst>
              <a:ext uri="{BEBA8EAE-BF5A-486C-A8C5-ECC9F3942E4B}">
                <a14:imgProps xmlns:a14="http://schemas.microsoft.com/office/drawing/2010/main">
                  <a14:imgLayer r:embed="rId3">
                    <a14:imgEffect>
                      <a14:brightnessContrast contrast="-40000"/>
                    </a14:imgEffect>
                  </a14:imgLayer>
                </a14:imgProps>
              </a:ext>
            </a:extLst>
          </a:blip>
          <a:stretch>
            <a:fillRect/>
          </a:stretch>
        </p:blipFill>
        <p:spPr>
          <a:xfrm>
            <a:off x="1272994" y="1291638"/>
            <a:ext cx="5150956" cy="5022182"/>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631292-24AE-5F41-8820-196C7D8E36A1}"/>
              </a:ext>
            </a:extLst>
          </p:cNvPr>
          <p:cNvSpPr>
            <a:spLocks noGrp="1"/>
          </p:cNvSpPr>
          <p:nvPr>
            <p:ph type="title"/>
          </p:nvPr>
        </p:nvSpPr>
        <p:spPr>
          <a:xfrm>
            <a:off x="1043521" y="32008"/>
            <a:ext cx="10977744" cy="666233"/>
          </a:xfrm>
        </p:spPr>
        <p:txBody>
          <a:bodyPr/>
          <a:lstStyle/>
          <a:p>
            <a:pPr marL="0" lvl="0" indent="0">
              <a:buNone/>
            </a:pPr>
            <a:r>
              <a:rPr lang="en-US" dirty="0"/>
              <a:t>Interestingly, severe inflation shocks compressed RPD</a:t>
            </a:r>
            <a:endParaRPr dirty="0"/>
          </a:p>
        </p:txBody>
      </p:sp>
      <p:sp>
        <p:nvSpPr>
          <p:cNvPr id="7" name="Slide Number Placeholder 5">
            <a:extLst>
              <a:ext uri="{FF2B5EF4-FFF2-40B4-BE49-F238E27FC236}">
                <a16:creationId xmlns:a16="http://schemas.microsoft.com/office/drawing/2014/main" id="{FB221DBE-BC54-6C4C-BA1C-95E280B67712}"/>
              </a:ext>
            </a:extLst>
          </p:cNvPr>
          <p:cNvSpPr>
            <a:spLocks noGrp="1"/>
          </p:cNvSpPr>
          <p:nvPr>
            <p:ph type="sldNum" sz="quarter" idx="12"/>
          </p:nvPr>
        </p:nvSpPr>
        <p:spPr>
          <a:xfrm>
            <a:off x="7557977" y="6313820"/>
            <a:ext cx="2743200" cy="365125"/>
          </a:xfrm>
        </p:spPr>
        <p:txBody>
          <a:bodyPr/>
          <a:lstStyle>
            <a:lvl1pPr>
              <a:defRPr sz="1100"/>
            </a:lvl1pPr>
          </a:lstStyle>
          <a:p>
            <a:fld id="{85DA3A08-9E66-614E-AAE5-F810EFDD6885}" type="slidenum">
              <a:rPr lang="en-US" smtClean="0"/>
              <a:pPr/>
              <a:t>29</a:t>
            </a:fld>
            <a:endParaRPr lang="en-US" dirty="0"/>
          </a:p>
        </p:txBody>
      </p:sp>
      <p:sp>
        <p:nvSpPr>
          <p:cNvPr id="5" name="TextBox 4">
            <a:extLst>
              <a:ext uri="{FF2B5EF4-FFF2-40B4-BE49-F238E27FC236}">
                <a16:creationId xmlns:a16="http://schemas.microsoft.com/office/drawing/2014/main" id="{1E71234F-1A42-3E41-21F5-E1F0D0E13FA1}"/>
              </a:ext>
            </a:extLst>
          </p:cNvPr>
          <p:cNvSpPr txBox="1"/>
          <p:nvPr/>
        </p:nvSpPr>
        <p:spPr>
          <a:xfrm>
            <a:off x="1372872" y="980064"/>
            <a:ext cx="4892216" cy="276999"/>
          </a:xfrm>
          <a:prstGeom prst="rect">
            <a:avLst/>
          </a:prstGeom>
          <a:noFill/>
        </p:spPr>
        <p:txBody>
          <a:bodyPr wrap="square" rtlCol="0">
            <a:spAutoFit/>
          </a:bodyPr>
          <a:lstStyle/>
          <a:p>
            <a:r>
              <a:rPr lang="en-US" sz="1200" b="1" dirty="0">
                <a:latin typeface="Arial" panose="020B0604020202020204" pitchFamily="34" charset="0"/>
                <a:cs typeface="Arial" panose="020B0604020202020204" pitchFamily="34" charset="0"/>
              </a:rPr>
              <a:t>Figure 7: Semi-parametric regressions for unexpected inflation</a:t>
            </a:r>
          </a:p>
        </p:txBody>
      </p:sp>
      <p:sp>
        <p:nvSpPr>
          <p:cNvPr id="3" name="Heptagon 2">
            <a:extLst>
              <a:ext uri="{FF2B5EF4-FFF2-40B4-BE49-F238E27FC236}">
                <a16:creationId xmlns:a16="http://schemas.microsoft.com/office/drawing/2014/main" id="{84731970-70DD-97AB-EE3C-A2E6CE555745}"/>
              </a:ext>
            </a:extLst>
          </p:cNvPr>
          <p:cNvSpPr/>
          <p:nvPr/>
        </p:nvSpPr>
        <p:spPr>
          <a:xfrm>
            <a:off x="7292622" y="1769520"/>
            <a:ext cx="265355" cy="258215"/>
          </a:xfrm>
          <a:prstGeom prst="heptagon">
            <a:avLst/>
          </a:prstGeom>
          <a:solidFill>
            <a:schemeClr val="accent6">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1</a:t>
            </a:r>
          </a:p>
        </p:txBody>
      </p:sp>
      <p:sp>
        <p:nvSpPr>
          <p:cNvPr id="8" name="Heptagon 7">
            <a:extLst>
              <a:ext uri="{FF2B5EF4-FFF2-40B4-BE49-F238E27FC236}">
                <a16:creationId xmlns:a16="http://schemas.microsoft.com/office/drawing/2014/main" id="{8A1B9574-4290-1D91-8F2B-4BEC1858956D}"/>
              </a:ext>
            </a:extLst>
          </p:cNvPr>
          <p:cNvSpPr/>
          <p:nvPr/>
        </p:nvSpPr>
        <p:spPr>
          <a:xfrm>
            <a:off x="7292621" y="3602641"/>
            <a:ext cx="265355" cy="258215"/>
          </a:xfrm>
          <a:prstGeom prst="heptagon">
            <a:avLst/>
          </a:prstGeom>
          <a:solidFill>
            <a:schemeClr val="accent6">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2</a:t>
            </a:r>
          </a:p>
        </p:txBody>
      </p:sp>
      <p:sp>
        <p:nvSpPr>
          <p:cNvPr id="9" name="Heptagon 8">
            <a:extLst>
              <a:ext uri="{FF2B5EF4-FFF2-40B4-BE49-F238E27FC236}">
                <a16:creationId xmlns:a16="http://schemas.microsoft.com/office/drawing/2014/main" id="{9B0AE799-F817-D69E-F56B-7850239E99CC}"/>
              </a:ext>
            </a:extLst>
          </p:cNvPr>
          <p:cNvSpPr/>
          <p:nvPr/>
        </p:nvSpPr>
        <p:spPr>
          <a:xfrm>
            <a:off x="7292622" y="5103323"/>
            <a:ext cx="265355" cy="258215"/>
          </a:xfrm>
          <a:prstGeom prst="heptagon">
            <a:avLst/>
          </a:prstGeom>
          <a:solidFill>
            <a:schemeClr val="accent6">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3</a:t>
            </a:r>
          </a:p>
        </p:txBody>
      </p:sp>
      <p:sp>
        <p:nvSpPr>
          <p:cNvPr id="11" name="TextBox 10">
            <a:extLst>
              <a:ext uri="{FF2B5EF4-FFF2-40B4-BE49-F238E27FC236}">
                <a16:creationId xmlns:a16="http://schemas.microsoft.com/office/drawing/2014/main" id="{F3704DA0-0E60-4947-0684-3EE9D4C2B8C6}"/>
              </a:ext>
            </a:extLst>
          </p:cNvPr>
          <p:cNvSpPr txBox="1"/>
          <p:nvPr/>
        </p:nvSpPr>
        <p:spPr>
          <a:xfrm>
            <a:off x="7762662" y="1392309"/>
            <a:ext cx="4258603" cy="1169551"/>
          </a:xfrm>
          <a:prstGeom prst="rect">
            <a:avLst/>
          </a:prstGeom>
          <a:noFill/>
        </p:spPr>
        <p:txBody>
          <a:bodyPr wrap="square">
            <a:spAutoFit/>
          </a:bodyPr>
          <a:lstStyle/>
          <a:p>
            <a:r>
              <a:rPr lang="en-ZA" sz="1400" b="0" i="0" dirty="0">
                <a:effectLst/>
                <a:latin typeface="Arial" panose="020B0604020202020204" pitchFamily="34" charset="0"/>
              </a:rPr>
              <a:t>Full and pre-2017 samples, the intuition is that inflation surprises create informational noise as a result firms confuse aggregate price shocks with relative shocks leading to higher relative price variability consistent with the misperception models</a:t>
            </a:r>
            <a:endParaRPr lang="en-US" sz="1400" dirty="0"/>
          </a:p>
        </p:txBody>
      </p:sp>
      <p:sp>
        <p:nvSpPr>
          <p:cNvPr id="13" name="TextBox 12">
            <a:extLst>
              <a:ext uri="{FF2B5EF4-FFF2-40B4-BE49-F238E27FC236}">
                <a16:creationId xmlns:a16="http://schemas.microsoft.com/office/drawing/2014/main" id="{1DBC03F6-A035-1827-5635-0C3DFF2A0AAF}"/>
              </a:ext>
            </a:extLst>
          </p:cNvPr>
          <p:cNvSpPr txBox="1"/>
          <p:nvPr/>
        </p:nvSpPr>
        <p:spPr>
          <a:xfrm>
            <a:off x="7762662" y="3429000"/>
            <a:ext cx="4258603" cy="954107"/>
          </a:xfrm>
          <a:prstGeom prst="rect">
            <a:avLst/>
          </a:prstGeom>
          <a:noFill/>
        </p:spPr>
        <p:txBody>
          <a:bodyPr wrap="square">
            <a:spAutoFit/>
          </a:bodyPr>
          <a:lstStyle/>
          <a:p>
            <a:r>
              <a:rPr lang="en-ZA" sz="1400" b="0" i="0" dirty="0">
                <a:effectLst/>
                <a:latin typeface="Arial" panose="020B0604020202020204" pitchFamily="34" charset="0"/>
              </a:rPr>
              <a:t>The post-2017 period is characterised by significant global shocks to inflation from the COVID-2019 Pandemic in 2020 and associated supply chain disruptions</a:t>
            </a:r>
            <a:endParaRPr lang="en-US" sz="1400" dirty="0"/>
          </a:p>
        </p:txBody>
      </p:sp>
      <p:sp>
        <p:nvSpPr>
          <p:cNvPr id="15" name="TextBox 14">
            <a:extLst>
              <a:ext uri="{FF2B5EF4-FFF2-40B4-BE49-F238E27FC236}">
                <a16:creationId xmlns:a16="http://schemas.microsoft.com/office/drawing/2014/main" id="{AFAAD64C-E022-6C47-DD6D-0E1488A80046}"/>
              </a:ext>
            </a:extLst>
          </p:cNvPr>
          <p:cNvSpPr txBox="1"/>
          <p:nvPr/>
        </p:nvSpPr>
        <p:spPr>
          <a:xfrm>
            <a:off x="7762662" y="4871410"/>
            <a:ext cx="4339027" cy="954107"/>
          </a:xfrm>
          <a:prstGeom prst="rect">
            <a:avLst/>
          </a:prstGeom>
          <a:noFill/>
        </p:spPr>
        <p:txBody>
          <a:bodyPr wrap="square">
            <a:spAutoFit/>
          </a:bodyPr>
          <a:lstStyle/>
          <a:p>
            <a:r>
              <a:rPr lang="en-ZA" sz="1400" b="0" i="0" dirty="0">
                <a:effectLst/>
                <a:latin typeface="Arial" panose="020B0604020202020204" pitchFamily="34" charset="0"/>
              </a:rPr>
              <a:t>These common unexpected shocks would’ve induced a similar price setting behavioural response in the same direction therefore compressing price dispersion (Nakamura </a:t>
            </a:r>
            <a:r>
              <a:rPr lang="en-ZA" sz="1400" b="0" i="1" dirty="0">
                <a:effectLst/>
                <a:latin typeface="Arial" panose="020B0604020202020204" pitchFamily="34" charset="0"/>
              </a:rPr>
              <a:t>et al</a:t>
            </a:r>
            <a:r>
              <a:rPr lang="en-ZA" sz="1400" b="0" i="0" dirty="0">
                <a:effectLst/>
                <a:latin typeface="Arial" panose="020B0604020202020204" pitchFamily="34" charset="0"/>
              </a:rPr>
              <a:t>., 2018)</a:t>
            </a:r>
            <a:endParaRPr lang="en-US" sz="1400" dirty="0"/>
          </a:p>
        </p:txBody>
      </p:sp>
      <p:pic>
        <p:nvPicPr>
          <p:cNvPr id="10" name="Picture 9">
            <a:extLst>
              <a:ext uri="{FF2B5EF4-FFF2-40B4-BE49-F238E27FC236}">
                <a16:creationId xmlns:a16="http://schemas.microsoft.com/office/drawing/2014/main" id="{B4DD9BBD-04CC-1E2E-61EA-D9C28E37A9EB}"/>
              </a:ext>
            </a:extLst>
          </p:cNvPr>
          <p:cNvPicPr>
            <a:picLocks noChangeAspect="1"/>
          </p:cNvPicPr>
          <p:nvPr/>
        </p:nvPicPr>
        <p:blipFill>
          <a:blip r:embed="rId2">
            <a:extLst>
              <a:ext uri="{BEBA8EAE-BF5A-486C-A8C5-ECC9F3942E4B}">
                <a14:imgProps xmlns:a14="http://schemas.microsoft.com/office/drawing/2010/main">
                  <a14:imgLayer r:embed="rId3">
                    <a14:imgEffect>
                      <a14:brightnessContrast contrast="-40000"/>
                    </a14:imgEffect>
                  </a14:imgLayer>
                </a14:imgProps>
              </a:ext>
            </a:extLst>
          </a:blip>
          <a:stretch>
            <a:fillRect/>
          </a:stretch>
        </p:blipFill>
        <p:spPr>
          <a:xfrm>
            <a:off x="1372872" y="1229753"/>
            <a:ext cx="5618237" cy="5352600"/>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631292-24AE-5F41-8820-196C7D8E36A1}"/>
              </a:ext>
            </a:extLst>
          </p:cNvPr>
          <p:cNvSpPr>
            <a:spLocks noGrp="1"/>
          </p:cNvSpPr>
          <p:nvPr>
            <p:ph type="title"/>
          </p:nvPr>
        </p:nvSpPr>
        <p:spPr>
          <a:xfrm>
            <a:off x="976595" y="115917"/>
            <a:ext cx="11125093" cy="714102"/>
          </a:xfrm>
        </p:spPr>
        <p:txBody>
          <a:bodyPr>
            <a:normAutofit fontScale="90000"/>
          </a:bodyPr>
          <a:lstStyle/>
          <a:p>
            <a:pPr marL="0" lvl="0" indent="0">
              <a:buNone/>
            </a:pPr>
            <a:r>
              <a:rPr lang="en-US" dirty="0"/>
              <a:t>Three distinct regimes emerged further enhancing the initial results</a:t>
            </a:r>
            <a:endParaRPr dirty="0"/>
          </a:p>
        </p:txBody>
      </p:sp>
      <p:pic>
        <p:nvPicPr>
          <p:cNvPr id="3" name="Picture 1" descr="inflation_relative_price_variance_presentation_files/figure-pptx/fig-quant_reg-1.png"/>
          <p:cNvPicPr>
            <a:picLocks noGrp="1" noChangeAspect="1"/>
          </p:cNvPicPr>
          <p:nvPr/>
        </p:nvPicPr>
        <p:blipFill>
          <a:blip r:embed="rId2"/>
          <a:stretch>
            <a:fillRect/>
          </a:stretch>
        </p:blipFill>
        <p:spPr bwMode="auto">
          <a:xfrm>
            <a:off x="1756735" y="1258186"/>
            <a:ext cx="9271000" cy="4635500"/>
          </a:xfrm>
          <a:prstGeom prst="rect">
            <a:avLst/>
          </a:prstGeom>
          <a:noFill/>
        </p:spPr>
      </p:pic>
      <p:sp>
        <p:nvSpPr>
          <p:cNvPr id="7" name="Slide Number Placeholder 5">
            <a:extLst>
              <a:ext uri="{FF2B5EF4-FFF2-40B4-BE49-F238E27FC236}">
                <a16:creationId xmlns:a16="http://schemas.microsoft.com/office/drawing/2014/main" id="{FB221DBE-BC54-6C4C-BA1C-95E280B67712}"/>
              </a:ext>
            </a:extLst>
          </p:cNvPr>
          <p:cNvSpPr>
            <a:spLocks noGrp="1"/>
          </p:cNvSpPr>
          <p:nvPr>
            <p:ph type="sldNum" sz="quarter" idx="12"/>
          </p:nvPr>
        </p:nvSpPr>
        <p:spPr>
          <a:xfrm>
            <a:off x="7557977" y="6313820"/>
            <a:ext cx="2743200" cy="365125"/>
          </a:xfrm>
        </p:spPr>
        <p:txBody>
          <a:bodyPr/>
          <a:lstStyle>
            <a:lvl1pPr>
              <a:defRPr sz="1100"/>
            </a:lvl1pPr>
          </a:lstStyle>
          <a:p>
            <a:fld id="{85DA3A08-9E66-614E-AAE5-F810EFDD6885}" type="slidenum">
              <a:rPr lang="en-US" smtClean="0"/>
              <a:pPr/>
              <a:t>30</a:t>
            </a:fld>
            <a:endParaRPr lang="en-US" dirty="0"/>
          </a:p>
        </p:txBody>
      </p:sp>
      <p:sp>
        <p:nvSpPr>
          <p:cNvPr id="4" name="TextBox 3">
            <a:extLst>
              <a:ext uri="{FF2B5EF4-FFF2-40B4-BE49-F238E27FC236}">
                <a16:creationId xmlns:a16="http://schemas.microsoft.com/office/drawing/2014/main" id="{B71D642E-7D4C-F657-5755-5AB54DD4BF77}"/>
              </a:ext>
            </a:extLst>
          </p:cNvPr>
          <p:cNvSpPr txBox="1"/>
          <p:nvPr/>
        </p:nvSpPr>
        <p:spPr>
          <a:xfrm>
            <a:off x="1903202" y="1317197"/>
            <a:ext cx="6462088" cy="400110"/>
          </a:xfrm>
          <a:prstGeom prst="rect">
            <a:avLst/>
          </a:prstGeom>
          <a:noFill/>
        </p:spPr>
        <p:txBody>
          <a:bodyPr wrap="square" rtlCol="0">
            <a:spAutoFit/>
          </a:bodyPr>
          <a:lstStyle>
            <a:defPPr>
              <a:defRPr lang="en-US"/>
            </a:defPPr>
            <a:lvl1pPr>
              <a:defRPr sz="1200" b="1">
                <a:latin typeface="Arial" panose="020B0604020202020204" pitchFamily="34" charset="0"/>
                <a:cs typeface="Arial" panose="020B0604020202020204" pitchFamily="34" charset="0"/>
              </a:defRPr>
            </a:lvl1pPr>
          </a:lstStyle>
          <a:p>
            <a:r>
              <a:rPr lang="en-US" dirty="0"/>
              <a:t>Figure 8: </a:t>
            </a:r>
            <a:r>
              <a:rPr lang="en-ZA" dirty="0"/>
              <a:t>Quantile on quantile regressions for headline inflation</a:t>
            </a:r>
          </a:p>
          <a:p>
            <a:endParaRPr lang="en-US" dirty="0"/>
          </a:p>
        </p:txBody>
      </p:sp>
      <p:sp>
        <p:nvSpPr>
          <p:cNvPr id="10" name="TextBox 9">
            <a:extLst>
              <a:ext uri="{FF2B5EF4-FFF2-40B4-BE49-F238E27FC236}">
                <a16:creationId xmlns:a16="http://schemas.microsoft.com/office/drawing/2014/main" id="{1779D5F3-F6D3-1523-64F1-2E6BA60C9A13}"/>
              </a:ext>
            </a:extLst>
          </p:cNvPr>
          <p:cNvSpPr txBox="1"/>
          <p:nvPr/>
        </p:nvSpPr>
        <p:spPr>
          <a:xfrm>
            <a:off x="1903202" y="5781760"/>
            <a:ext cx="9124533" cy="246221"/>
          </a:xfrm>
          <a:prstGeom prst="rect">
            <a:avLst/>
          </a:prstGeom>
          <a:noFill/>
        </p:spPr>
        <p:txBody>
          <a:bodyPr wrap="square">
            <a:spAutoFit/>
          </a:bodyPr>
          <a:lstStyle/>
          <a:p>
            <a:pPr>
              <a:buNone/>
            </a:pPr>
            <a:r>
              <a:rPr lang="en-ZA" sz="1000" dirty="0">
                <a:solidFill>
                  <a:srgbClr val="000000"/>
                </a:solidFill>
                <a:effectLst/>
                <a:latin typeface="Arial" panose="020B0604020202020204" pitchFamily="34" charset="0"/>
                <a:cs typeface="Arial" panose="020B0604020202020204" pitchFamily="34" charset="0"/>
              </a:rPr>
              <a:t>Note: The x-axis represents the quantiles of headline inflation, while the y-axis represents the quantiles of RPD</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631292-24AE-5F41-8820-196C7D8E36A1}"/>
              </a:ext>
            </a:extLst>
          </p:cNvPr>
          <p:cNvSpPr>
            <a:spLocks noGrp="1"/>
          </p:cNvSpPr>
          <p:nvPr>
            <p:ph type="title"/>
          </p:nvPr>
        </p:nvSpPr>
        <p:spPr>
          <a:xfrm>
            <a:off x="1055553" y="211063"/>
            <a:ext cx="10977744" cy="666233"/>
          </a:xfrm>
        </p:spPr>
        <p:txBody>
          <a:bodyPr/>
          <a:lstStyle/>
          <a:p>
            <a:pPr marL="0" lvl="0" indent="0">
              <a:buNone/>
            </a:pPr>
            <a:r>
              <a:rPr lang="en-US" dirty="0"/>
              <a:t>Except post 2017, RPD was well anchored</a:t>
            </a:r>
            <a:endParaRPr dirty="0"/>
          </a:p>
        </p:txBody>
      </p:sp>
      <p:pic>
        <p:nvPicPr>
          <p:cNvPr id="3" name="Picture 1" descr="inflation_relative_price_variance_presentation_files/figure-pptx/fig-unif_quant_reg-1.png"/>
          <p:cNvPicPr>
            <a:picLocks noGrp="1" noChangeAspect="1"/>
          </p:cNvPicPr>
          <p:nvPr/>
        </p:nvPicPr>
        <p:blipFill>
          <a:blip r:embed="rId2"/>
          <a:stretch>
            <a:fillRect/>
          </a:stretch>
        </p:blipFill>
        <p:spPr bwMode="auto">
          <a:xfrm>
            <a:off x="1788633" y="1111250"/>
            <a:ext cx="9271000" cy="4635500"/>
          </a:xfrm>
          <a:prstGeom prst="rect">
            <a:avLst/>
          </a:prstGeom>
          <a:noFill/>
          <a:ln w="9525">
            <a:noFill/>
            <a:headEnd/>
            <a:tailEnd/>
          </a:ln>
        </p:spPr>
      </p:pic>
      <p:sp>
        <p:nvSpPr>
          <p:cNvPr id="7" name="Slide Number Placeholder 5">
            <a:extLst>
              <a:ext uri="{FF2B5EF4-FFF2-40B4-BE49-F238E27FC236}">
                <a16:creationId xmlns:a16="http://schemas.microsoft.com/office/drawing/2014/main" id="{FB221DBE-BC54-6C4C-BA1C-95E280B67712}"/>
              </a:ext>
            </a:extLst>
          </p:cNvPr>
          <p:cNvSpPr>
            <a:spLocks noGrp="1"/>
          </p:cNvSpPr>
          <p:nvPr>
            <p:ph type="sldNum" sz="quarter" idx="12"/>
          </p:nvPr>
        </p:nvSpPr>
        <p:spPr>
          <a:xfrm>
            <a:off x="7557977" y="6313820"/>
            <a:ext cx="2743200" cy="365125"/>
          </a:xfrm>
        </p:spPr>
        <p:txBody>
          <a:bodyPr/>
          <a:lstStyle>
            <a:lvl1pPr>
              <a:defRPr sz="1100"/>
            </a:lvl1pPr>
          </a:lstStyle>
          <a:p>
            <a:fld id="{85DA3A08-9E66-614E-AAE5-F810EFDD6885}" type="slidenum">
              <a:rPr lang="en-US" smtClean="0"/>
              <a:pPr/>
              <a:t>31</a:t>
            </a:fld>
            <a:endParaRPr lang="en-US" dirty="0"/>
          </a:p>
        </p:txBody>
      </p:sp>
      <p:sp>
        <p:nvSpPr>
          <p:cNvPr id="4" name="TextBox 3">
            <a:extLst>
              <a:ext uri="{FF2B5EF4-FFF2-40B4-BE49-F238E27FC236}">
                <a16:creationId xmlns:a16="http://schemas.microsoft.com/office/drawing/2014/main" id="{16C68806-18BD-8564-04F3-3B8E141F70BB}"/>
              </a:ext>
            </a:extLst>
          </p:cNvPr>
          <p:cNvSpPr txBox="1"/>
          <p:nvPr/>
        </p:nvSpPr>
        <p:spPr>
          <a:xfrm>
            <a:off x="2006051" y="1247001"/>
            <a:ext cx="8295126" cy="400110"/>
          </a:xfrm>
          <a:prstGeom prst="rect">
            <a:avLst/>
          </a:prstGeom>
          <a:noFill/>
        </p:spPr>
        <p:txBody>
          <a:bodyPr wrap="square" rtlCol="0">
            <a:spAutoFit/>
          </a:bodyPr>
          <a:lstStyle>
            <a:defPPr>
              <a:defRPr lang="en-US"/>
            </a:defPPr>
            <a:lvl1pPr>
              <a:defRPr sz="1200" b="1">
                <a:latin typeface="Arial" panose="020B0604020202020204" pitchFamily="34" charset="0"/>
                <a:cs typeface="Arial" panose="020B0604020202020204" pitchFamily="34" charset="0"/>
              </a:defRPr>
            </a:lvl1pPr>
          </a:lstStyle>
          <a:p>
            <a:r>
              <a:rPr lang="en-US" dirty="0"/>
              <a:t>Figure 9: </a:t>
            </a:r>
            <a:r>
              <a:rPr lang="en-ZA" dirty="0"/>
              <a:t>Quantile on quantile regressions for the unexpected component of inflation.</a:t>
            </a:r>
          </a:p>
          <a:p>
            <a:endParaRPr lang="en-US" dirty="0"/>
          </a:p>
        </p:txBody>
      </p:sp>
      <p:sp>
        <p:nvSpPr>
          <p:cNvPr id="6" name="TextBox 5">
            <a:extLst>
              <a:ext uri="{FF2B5EF4-FFF2-40B4-BE49-F238E27FC236}">
                <a16:creationId xmlns:a16="http://schemas.microsoft.com/office/drawing/2014/main" id="{5B6E747C-A788-B085-DF9F-044C548F3B8B}"/>
              </a:ext>
            </a:extLst>
          </p:cNvPr>
          <p:cNvSpPr txBox="1"/>
          <p:nvPr/>
        </p:nvSpPr>
        <p:spPr>
          <a:xfrm>
            <a:off x="1788632" y="5430121"/>
            <a:ext cx="9124533" cy="246221"/>
          </a:xfrm>
          <a:prstGeom prst="rect">
            <a:avLst/>
          </a:prstGeom>
          <a:noFill/>
        </p:spPr>
        <p:txBody>
          <a:bodyPr wrap="square">
            <a:spAutoFit/>
          </a:bodyPr>
          <a:lstStyle/>
          <a:p>
            <a:pPr>
              <a:buNone/>
            </a:pPr>
            <a:r>
              <a:rPr lang="en-ZA" sz="1000" dirty="0">
                <a:solidFill>
                  <a:srgbClr val="000000"/>
                </a:solidFill>
                <a:effectLst/>
                <a:latin typeface="Arial" panose="020B0604020202020204" pitchFamily="34" charset="0"/>
                <a:cs typeface="Arial" panose="020B0604020202020204" pitchFamily="34" charset="0"/>
              </a:rPr>
              <a:t>Note: The x-axis represents the quantiles of the unexpected component of headline inflation, while the y-axis represents the quantiles of RPD</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806118-0840-574D-AD0F-62FBB748D13C}"/>
              </a:ext>
            </a:extLst>
          </p:cNvPr>
          <p:cNvSpPr>
            <a:spLocks noGrp="1"/>
          </p:cNvSpPr>
          <p:nvPr>
            <p:ph type="ctrTitle" hasCustomPrompt="1"/>
          </p:nvPr>
        </p:nvSpPr>
        <p:spPr>
          <a:xfrm>
            <a:off x="2997986" y="1817520"/>
            <a:ext cx="6394369" cy="1381125"/>
          </a:xfrm>
        </p:spPr>
        <p:txBody>
          <a:bodyPr/>
          <a:lstStyle/>
          <a:p>
            <a:pPr marL="0" lvl="0" indent="0">
              <a:buNone/>
            </a:pPr>
            <a:r>
              <a:rPr dirty="0"/>
              <a:t>Conclusions</a:t>
            </a:r>
            <a:r>
              <a:rPr lang="en-US" dirty="0"/>
              <a:t> (what are we saying?)</a:t>
            </a:r>
            <a:endParaRPr dirty="0"/>
          </a:p>
        </p:txBody>
      </p:sp>
      <p:sp>
        <p:nvSpPr>
          <p:cNvPr id="9" name="Slide Number Placeholder 5">
            <a:extLst>
              <a:ext uri="{FF2B5EF4-FFF2-40B4-BE49-F238E27FC236}">
                <a16:creationId xmlns:a16="http://schemas.microsoft.com/office/drawing/2014/main" id="{A50C40EB-9722-8244-8C4B-58C77EAC766D}"/>
              </a:ext>
            </a:extLst>
          </p:cNvPr>
          <p:cNvSpPr>
            <a:spLocks noGrp="1"/>
          </p:cNvSpPr>
          <p:nvPr>
            <p:ph type="sldNum" sz="quarter" idx="12"/>
          </p:nvPr>
        </p:nvSpPr>
        <p:spPr>
          <a:xfrm>
            <a:off x="7557977" y="6313820"/>
            <a:ext cx="2743200" cy="365125"/>
          </a:xfrm>
        </p:spPr>
        <p:txBody>
          <a:bodyPr/>
          <a:lstStyle>
            <a:lvl1pPr>
              <a:defRPr sz="1100"/>
            </a:lvl1pPr>
          </a:lstStyle>
          <a:p>
            <a:fld id="{85DA3A08-9E66-614E-AAE5-F810EFDD6885}" type="slidenum">
              <a:rPr lang="en-US" smtClean="0"/>
              <a:pPr/>
              <a:t>32</a:t>
            </a:fld>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631292-24AE-5F41-8820-196C7D8E36A1}"/>
              </a:ext>
            </a:extLst>
          </p:cNvPr>
          <p:cNvSpPr>
            <a:spLocks noGrp="1"/>
          </p:cNvSpPr>
          <p:nvPr>
            <p:ph type="title"/>
          </p:nvPr>
        </p:nvSpPr>
        <p:spPr>
          <a:xfrm>
            <a:off x="1055553" y="365125"/>
            <a:ext cx="10977744" cy="666233"/>
          </a:xfrm>
        </p:spPr>
        <p:txBody>
          <a:bodyPr/>
          <a:lstStyle/>
          <a:p>
            <a:pPr marL="0" lvl="0" indent="0">
              <a:buNone/>
            </a:pPr>
            <a:r>
              <a:t>Conclusion</a:t>
            </a:r>
          </a:p>
        </p:txBody>
      </p:sp>
      <p:sp>
        <p:nvSpPr>
          <p:cNvPr id="7" name="Slide Number Placeholder 5">
            <a:extLst>
              <a:ext uri="{FF2B5EF4-FFF2-40B4-BE49-F238E27FC236}">
                <a16:creationId xmlns:a16="http://schemas.microsoft.com/office/drawing/2014/main" id="{FB221DBE-BC54-6C4C-BA1C-95E280B67712}"/>
              </a:ext>
            </a:extLst>
          </p:cNvPr>
          <p:cNvSpPr>
            <a:spLocks noGrp="1"/>
          </p:cNvSpPr>
          <p:nvPr>
            <p:ph type="sldNum" sz="quarter" idx="12"/>
          </p:nvPr>
        </p:nvSpPr>
        <p:spPr>
          <a:xfrm>
            <a:off x="7557977" y="6313820"/>
            <a:ext cx="2743200" cy="365125"/>
          </a:xfrm>
        </p:spPr>
        <p:txBody>
          <a:bodyPr/>
          <a:lstStyle>
            <a:lvl1pPr>
              <a:defRPr sz="1100"/>
            </a:lvl1pPr>
          </a:lstStyle>
          <a:p>
            <a:fld id="{85DA3A08-9E66-614E-AAE5-F810EFDD6885}" type="slidenum">
              <a:rPr lang="en-US" smtClean="0"/>
              <a:pPr/>
              <a:t>33</a:t>
            </a:fld>
            <a:endParaRPr lang="en-US" dirty="0"/>
          </a:p>
        </p:txBody>
      </p:sp>
      <p:sp>
        <p:nvSpPr>
          <p:cNvPr id="5" name="Content Placeholder 2">
            <a:extLst>
              <a:ext uri="{FF2B5EF4-FFF2-40B4-BE49-F238E27FC236}">
                <a16:creationId xmlns:a16="http://schemas.microsoft.com/office/drawing/2014/main" id="{33E8DDA6-66E4-2C34-3CB2-BE03E2C035AE}"/>
              </a:ext>
            </a:extLst>
          </p:cNvPr>
          <p:cNvSpPr>
            <a:spLocks noGrp="1"/>
          </p:cNvSpPr>
          <p:nvPr>
            <p:ph idx="1" hasCustomPrompt="1"/>
          </p:nvPr>
        </p:nvSpPr>
        <p:spPr>
          <a:xfrm>
            <a:off x="1055553" y="1349651"/>
            <a:ext cx="10278491" cy="4645875"/>
          </a:xfrm>
        </p:spPr>
        <p:txBody>
          <a:bodyPr/>
          <a:lstStyle/>
          <a:p>
            <a:pPr lvl="0"/>
            <a:r>
              <a:rPr lang="en-US" dirty="0"/>
              <a:t>SA presents an interesting case given its target reform over the last decade</a:t>
            </a:r>
          </a:p>
          <a:p>
            <a:pPr lvl="0"/>
            <a:r>
              <a:rPr lang="en-US" dirty="0"/>
              <a:t>We find that the RPD Inflation dynamic in SA inline with the literature and with </a:t>
            </a:r>
            <a:r>
              <a:rPr lang="en-US" b="1" dirty="0"/>
              <a:t>significant regimes</a:t>
            </a:r>
          </a:p>
          <a:p>
            <a:pPr lvl="0"/>
            <a:r>
              <a:rPr lang="en-US" dirty="0"/>
              <a:t>The results suggest that the optimal inflation declined post 2017</a:t>
            </a:r>
          </a:p>
          <a:p>
            <a:pPr lvl="0"/>
            <a:r>
              <a:rPr lang="en-US" dirty="0"/>
              <a:t>In the main we suggest that post the 2017 target change, the response of RPD to changes inflation </a:t>
            </a:r>
            <a:r>
              <a:rPr lang="en-US" b="1" dirty="0"/>
              <a:t>declined compared to pre-2017</a:t>
            </a:r>
          </a:p>
          <a:p>
            <a:pPr lvl="0"/>
            <a:r>
              <a:rPr lang="en-US" dirty="0"/>
              <a:t>Suggests that the policy path is more predictable (maybe policy more credible)</a:t>
            </a:r>
          </a:p>
          <a:p>
            <a:pPr lvl="0"/>
            <a:r>
              <a:rPr lang="en-US" dirty="0"/>
              <a:t>We cannot discount the role of the recent inflation shocks – possible that we are in a transitory period</a:t>
            </a:r>
          </a:p>
          <a:p>
            <a:pPr lvl="0"/>
            <a:r>
              <a:rPr lang="en-US" dirty="0"/>
              <a:t>But given the further reform in the target, the RPD inflation profile may settle in a more desirable equilibrium </a:t>
            </a:r>
          </a:p>
          <a:p>
            <a:pPr lvl="0"/>
            <a:r>
              <a:rPr lang="en-US" dirty="0"/>
              <a:t>This is as recent evidence suggests that the recent change in the target is resulting in lower expectations in general (</a:t>
            </a:r>
            <a:r>
              <a:rPr lang="en-US" dirty="0" err="1"/>
              <a:t>Foresto</a:t>
            </a:r>
            <a:r>
              <a:rPr lang="en-US" dirty="0"/>
              <a:t> </a:t>
            </a:r>
            <a:r>
              <a:rPr lang="en-US" i="1" dirty="0"/>
              <a:t>et al., </a:t>
            </a:r>
            <a:r>
              <a:rPr lang="en-US" dirty="0"/>
              <a:t>forthcoming; Amaral </a:t>
            </a:r>
            <a:r>
              <a:rPr lang="en-US" i="1" dirty="0"/>
              <a:t>et al., </a:t>
            </a:r>
            <a:r>
              <a:rPr lang="en-US" dirty="0"/>
              <a:t> forthcoming</a:t>
            </a:r>
            <a:r>
              <a:rPr lang="en-US" i="1" dirty="0"/>
              <a:t>)</a:t>
            </a:r>
          </a:p>
          <a:p>
            <a:pPr lvl="0"/>
            <a:r>
              <a:rPr lang="en-US" dirty="0"/>
              <a:t>Further research is necessary</a:t>
            </a:r>
            <a:endParaRPr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631292-24AE-5F41-8820-196C7D8E36A1}"/>
              </a:ext>
            </a:extLst>
          </p:cNvPr>
          <p:cNvSpPr>
            <a:spLocks noGrp="1"/>
          </p:cNvSpPr>
          <p:nvPr>
            <p:ph type="title"/>
          </p:nvPr>
        </p:nvSpPr>
        <p:spPr>
          <a:xfrm>
            <a:off x="5425534" y="3661218"/>
            <a:ext cx="10977744" cy="666233"/>
          </a:xfrm>
        </p:spPr>
        <p:txBody>
          <a:bodyPr>
            <a:normAutofit fontScale="90000"/>
          </a:bodyPr>
          <a:lstStyle/>
          <a:p>
            <a:r>
              <a:rPr dirty="0"/>
              <a:t>Thank You!</a:t>
            </a:r>
            <a:br>
              <a:rPr lang="en-US" dirty="0"/>
            </a:br>
            <a:br>
              <a:rPr lang="en-ZA" dirty="0"/>
            </a:br>
            <a:br>
              <a:rPr lang="en-US" dirty="0"/>
            </a:br>
            <a:r>
              <a:rPr lang="en-ZA" dirty="0"/>
              <a:t>Questions?</a:t>
            </a:r>
            <a:br>
              <a:rPr lang="en-ZA" dirty="0"/>
            </a:br>
            <a:endParaRPr dirty="0"/>
          </a:p>
        </p:txBody>
      </p:sp>
      <p:sp>
        <p:nvSpPr>
          <p:cNvPr id="7" name="Slide Number Placeholder 5">
            <a:extLst>
              <a:ext uri="{FF2B5EF4-FFF2-40B4-BE49-F238E27FC236}">
                <a16:creationId xmlns:a16="http://schemas.microsoft.com/office/drawing/2014/main" id="{FB221DBE-BC54-6C4C-BA1C-95E280B67712}"/>
              </a:ext>
            </a:extLst>
          </p:cNvPr>
          <p:cNvSpPr>
            <a:spLocks noGrp="1"/>
          </p:cNvSpPr>
          <p:nvPr>
            <p:ph type="sldNum" sz="quarter" idx="12"/>
          </p:nvPr>
        </p:nvSpPr>
        <p:spPr>
          <a:xfrm>
            <a:off x="7557977" y="6313820"/>
            <a:ext cx="2743200" cy="365125"/>
          </a:xfrm>
        </p:spPr>
        <p:txBody>
          <a:bodyPr/>
          <a:lstStyle>
            <a:lvl1pPr>
              <a:defRPr sz="1100"/>
            </a:lvl1pPr>
          </a:lstStyle>
          <a:p>
            <a:fld id="{85DA3A08-9E66-614E-AAE5-F810EFDD6885}" type="slidenum">
              <a:rPr lang="en-US" smtClean="0"/>
              <a:pPr/>
              <a:t>34</a:t>
            </a:fld>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631292-24AE-5F41-8820-196C7D8E36A1}"/>
              </a:ext>
            </a:extLst>
          </p:cNvPr>
          <p:cNvSpPr>
            <a:spLocks noGrp="1"/>
          </p:cNvSpPr>
          <p:nvPr>
            <p:ph type="title"/>
          </p:nvPr>
        </p:nvSpPr>
        <p:spPr>
          <a:xfrm>
            <a:off x="1067585" y="165000"/>
            <a:ext cx="10977744" cy="666233"/>
          </a:xfrm>
        </p:spPr>
        <p:txBody>
          <a:bodyPr/>
          <a:lstStyle/>
          <a:p>
            <a:pPr marL="0" lvl="0" indent="0">
              <a:buNone/>
            </a:pPr>
            <a:r>
              <a:t>References</a:t>
            </a:r>
          </a:p>
        </p:txBody>
      </p:sp>
      <p:sp>
        <p:nvSpPr>
          <p:cNvPr id="3" name="Content Placeholder 2">
            <a:extLst>
              <a:ext uri="{FF2B5EF4-FFF2-40B4-BE49-F238E27FC236}">
                <a16:creationId xmlns:a16="http://schemas.microsoft.com/office/drawing/2014/main" id="{9C966DDB-3364-1B41-9729-DB3686A721C5}"/>
              </a:ext>
            </a:extLst>
          </p:cNvPr>
          <p:cNvSpPr>
            <a:spLocks noGrp="1"/>
          </p:cNvSpPr>
          <p:nvPr>
            <p:ph idx="1" hasCustomPrompt="1"/>
          </p:nvPr>
        </p:nvSpPr>
        <p:spPr>
          <a:xfrm>
            <a:off x="1153986" y="1013795"/>
            <a:ext cx="10575170" cy="5117462"/>
          </a:xfrm>
        </p:spPr>
        <p:txBody>
          <a:bodyPr>
            <a:normAutofit fontScale="85000" lnSpcReduction="20000"/>
          </a:bodyPr>
          <a:lstStyle/>
          <a:p>
            <a:pPr marL="0" lvl="0" indent="0">
              <a:buNone/>
            </a:pPr>
            <a:r>
              <a:rPr dirty="0"/>
              <a:t>Caglayan, Mustafa, and Alpay </a:t>
            </a:r>
            <a:r>
              <a:rPr dirty="0" err="1"/>
              <a:t>Filiztekin</a:t>
            </a:r>
            <a:r>
              <a:rPr dirty="0"/>
              <a:t>. 2003. “Nonlinear Impact of Inflation on Relative Price Variability.” </a:t>
            </a:r>
            <a:r>
              <a:rPr i="1" dirty="0"/>
              <a:t>Economics Letters</a:t>
            </a:r>
            <a:r>
              <a:rPr dirty="0"/>
              <a:t> 79 (2): 213–18.</a:t>
            </a:r>
          </a:p>
          <a:p>
            <a:pPr marL="0" lvl="0" indent="0">
              <a:buNone/>
            </a:pPr>
            <a:r>
              <a:rPr dirty="0"/>
              <a:t>Choi, Chi-Young. 2010. “Reconsidering the Relationship Between Inflation and Relative Price Variability.” </a:t>
            </a:r>
            <a:r>
              <a:rPr i="1" dirty="0"/>
              <a:t>Journal of Money, Credit and Banking</a:t>
            </a:r>
            <a:r>
              <a:rPr dirty="0"/>
              <a:t> 42 (5): 769–98. </a:t>
            </a:r>
            <a:r>
              <a:rPr dirty="0">
                <a:hlinkClick r:id="rId2"/>
              </a:rPr>
              <a:t>https://doi.org/10.1111/j.1538-4616.2010.00307.x</a:t>
            </a:r>
            <a:r>
              <a:rPr dirty="0"/>
              <a:t>.</a:t>
            </a:r>
          </a:p>
          <a:p>
            <a:pPr marL="0" lvl="0" indent="0">
              <a:buNone/>
            </a:pPr>
            <a:r>
              <a:rPr dirty="0"/>
              <a:t>Cukierman, Alex. 1983. “Relative Price Variability and Inflation: A Survey and Further Results.” In </a:t>
            </a:r>
            <a:r>
              <a:rPr i="1" dirty="0"/>
              <a:t>Carnegie-Rochester Conference Series on Public Policy</a:t>
            </a:r>
            <a:r>
              <a:rPr dirty="0"/>
              <a:t>, 19:103–57. Elsevier.</a:t>
            </a:r>
          </a:p>
          <a:p>
            <a:pPr marL="0" lvl="0" indent="0">
              <a:buNone/>
            </a:pPr>
            <a:r>
              <a:rPr dirty="0"/>
              <a:t>Fielding, David, and Paul Mizen. 2000. “Relative Price Variability and Inflation in Europe.” </a:t>
            </a:r>
            <a:r>
              <a:rPr i="1" dirty="0"/>
              <a:t>Economica</a:t>
            </a:r>
            <a:r>
              <a:rPr dirty="0"/>
              <a:t> 67 (265): 57–78. </a:t>
            </a:r>
            <a:r>
              <a:rPr dirty="0">
                <a:hlinkClick r:id="rId3"/>
              </a:rPr>
              <a:t>https://doi.org/10.1111/1468-0335.00195</a:t>
            </a:r>
            <a:r>
              <a:rPr dirty="0"/>
              <a:t>.</a:t>
            </a:r>
            <a:endParaRPr lang="en-US" dirty="0"/>
          </a:p>
          <a:p>
            <a:pPr marL="0" indent="0">
              <a:buNone/>
            </a:pPr>
            <a:r>
              <a:rPr lang="en-US" dirty="0" err="1"/>
              <a:t>Foresto</a:t>
            </a:r>
            <a:r>
              <a:rPr lang="en-US" dirty="0"/>
              <a:t>, Anis, Reid, Monique, </a:t>
            </a:r>
            <a:r>
              <a:rPr lang="en-US" dirty="0" err="1"/>
              <a:t>Mosoma</a:t>
            </a:r>
            <a:r>
              <a:rPr lang="en-US" dirty="0"/>
              <a:t>, </a:t>
            </a:r>
            <a:r>
              <a:rPr lang="en-US" dirty="0" err="1"/>
              <a:t>Pabalelo</a:t>
            </a:r>
            <a:r>
              <a:rPr lang="en-US" dirty="0"/>
              <a:t>. Forthcoming. ”BER Special Question: Do firms know about the new inflation target? Implications for the path to 3%. South African Reserve Bank Working Paper Series</a:t>
            </a:r>
          </a:p>
          <a:p>
            <a:pPr marL="0" lvl="0" indent="0">
              <a:buNone/>
            </a:pPr>
            <a:r>
              <a:rPr lang="en-US" dirty="0"/>
              <a:t>Amaral, Ayrton, </a:t>
            </a:r>
            <a:r>
              <a:rPr lang="en-US" dirty="0" err="1"/>
              <a:t>Foresto</a:t>
            </a:r>
            <a:r>
              <a:rPr lang="en-US" dirty="0"/>
              <a:t>, Anis, </a:t>
            </a:r>
            <a:r>
              <a:rPr lang="en-US" dirty="0" err="1"/>
              <a:t>Mosoma</a:t>
            </a:r>
            <a:r>
              <a:rPr lang="en-US" dirty="0"/>
              <a:t>, </a:t>
            </a:r>
            <a:r>
              <a:rPr lang="en-US" dirty="0" err="1"/>
              <a:t>Pabalelo</a:t>
            </a:r>
            <a:r>
              <a:rPr lang="en-US" dirty="0"/>
              <a:t>. Forthcoming. “Finding the anchor: An assessment of the anchoring of inflation expectations in South Africa” South African Reserve Bank Working Paper Series</a:t>
            </a:r>
            <a:endParaRPr dirty="0"/>
          </a:p>
          <a:p>
            <a:pPr marL="0" lvl="0" indent="0">
              <a:buNone/>
            </a:pPr>
            <a:r>
              <a:rPr dirty="0"/>
              <a:t>Head, Allen, and Alok Kumar. 2005. “Price Dispersion, Inflation, and Welfare.” </a:t>
            </a:r>
            <a:r>
              <a:rPr i="1" dirty="0"/>
              <a:t>International Economic Review</a:t>
            </a:r>
            <a:r>
              <a:rPr dirty="0"/>
              <a:t> 46 (2): 533–72. </a:t>
            </a:r>
            <a:r>
              <a:rPr dirty="0">
                <a:hlinkClick r:id="rId4"/>
              </a:rPr>
              <a:t>https://doi.org/10.1111/j.1468-2354.2005.00333.x</a:t>
            </a:r>
            <a:r>
              <a:rPr dirty="0"/>
              <a:t>.</a:t>
            </a:r>
          </a:p>
          <a:p>
            <a:pPr marL="0" lvl="0" indent="0">
              <a:buNone/>
            </a:pPr>
            <a:r>
              <a:rPr dirty="0" err="1"/>
              <a:t>Hercowitz</a:t>
            </a:r>
            <a:r>
              <a:rPr dirty="0"/>
              <a:t>, Zvi. 1981. “Money and the Dispersion of Relative Prices.” </a:t>
            </a:r>
            <a:r>
              <a:rPr i="1" dirty="0"/>
              <a:t>Journal of Political Economy</a:t>
            </a:r>
            <a:r>
              <a:rPr dirty="0"/>
              <a:t> 89 (2): 328–56. </a:t>
            </a:r>
            <a:r>
              <a:rPr dirty="0">
                <a:hlinkClick r:id="rId5"/>
              </a:rPr>
              <a:t>https://doi.org/10.1086/260968</a:t>
            </a:r>
            <a:r>
              <a:rPr dirty="0"/>
              <a:t>.</a:t>
            </a:r>
          </a:p>
          <a:p>
            <a:pPr marL="0" lvl="0" indent="0">
              <a:buNone/>
            </a:pPr>
            <a:r>
              <a:rPr dirty="0" err="1"/>
              <a:t>Koenker</a:t>
            </a:r>
            <a:r>
              <a:rPr dirty="0"/>
              <a:t>, Roger. 2017. “Quantile Regression: 40 Years On.” </a:t>
            </a:r>
            <a:r>
              <a:rPr i="1" dirty="0"/>
              <a:t>Annual Review of Economics</a:t>
            </a:r>
            <a:r>
              <a:rPr dirty="0"/>
              <a:t> 9 (1): 155–76. </a:t>
            </a:r>
            <a:r>
              <a:rPr dirty="0">
                <a:hlinkClick r:id="rId6"/>
              </a:rPr>
              <a:t>https://doi.org/10.1146/annurev-economics-063016-103651</a:t>
            </a:r>
            <a:r>
              <a:rPr dirty="0"/>
              <a:t>.</a:t>
            </a:r>
          </a:p>
          <a:p>
            <a:pPr marL="0" lvl="0" indent="0">
              <a:buNone/>
            </a:pPr>
            <a:r>
              <a:rPr dirty="0"/>
              <a:t>Lach, Saul, and Daniel </a:t>
            </a:r>
            <a:r>
              <a:rPr dirty="0" err="1"/>
              <a:t>Tsiddon</a:t>
            </a:r>
            <a:r>
              <a:rPr dirty="0"/>
              <a:t>. 1992. “The Behavior of Prices and Inflation: An Empirical Analysis of </a:t>
            </a:r>
            <a:r>
              <a:rPr dirty="0" err="1"/>
              <a:t>Disaggregat</a:t>
            </a:r>
            <a:r>
              <a:rPr dirty="0"/>
              <a:t> Price Data.” </a:t>
            </a:r>
            <a:r>
              <a:rPr i="1" dirty="0"/>
              <a:t>Journal of Political Economy</a:t>
            </a:r>
            <a:r>
              <a:rPr dirty="0"/>
              <a:t> 100 (2): 349–89. </a:t>
            </a:r>
            <a:r>
              <a:rPr dirty="0">
                <a:hlinkClick r:id="rId7"/>
              </a:rPr>
              <a:t>https://doi.org/10.1086/261821</a:t>
            </a:r>
            <a:r>
              <a:rPr dirty="0"/>
              <a:t>.</a:t>
            </a:r>
          </a:p>
          <a:p>
            <a:pPr marL="0" lvl="0" indent="0">
              <a:buNone/>
            </a:pPr>
            <a:r>
              <a:rPr dirty="0"/>
              <a:t>Lucas, Robert E. 1973. “Some International Evidence on Output-Inflation Tradeoffs.” </a:t>
            </a:r>
            <a:r>
              <a:rPr i="1" dirty="0"/>
              <a:t>The American Economic Review</a:t>
            </a:r>
            <a:r>
              <a:rPr dirty="0"/>
              <a:t> 63 (3): 326–34. </a:t>
            </a:r>
            <a:r>
              <a:rPr dirty="0">
                <a:hlinkClick r:id="rId8"/>
              </a:rPr>
              <a:t>https://www.jstor.org/stable/1914364</a:t>
            </a:r>
            <a:r>
              <a:rPr dirty="0"/>
              <a:t>.</a:t>
            </a:r>
          </a:p>
        </p:txBody>
      </p:sp>
      <p:sp>
        <p:nvSpPr>
          <p:cNvPr id="7" name="Slide Number Placeholder 5">
            <a:extLst>
              <a:ext uri="{FF2B5EF4-FFF2-40B4-BE49-F238E27FC236}">
                <a16:creationId xmlns:a16="http://schemas.microsoft.com/office/drawing/2014/main" id="{FB221DBE-BC54-6C4C-BA1C-95E280B67712}"/>
              </a:ext>
            </a:extLst>
          </p:cNvPr>
          <p:cNvSpPr>
            <a:spLocks noGrp="1"/>
          </p:cNvSpPr>
          <p:nvPr>
            <p:ph type="sldNum" sz="quarter" idx="12"/>
          </p:nvPr>
        </p:nvSpPr>
        <p:spPr>
          <a:xfrm>
            <a:off x="7557977" y="6313820"/>
            <a:ext cx="2743200" cy="365125"/>
          </a:xfrm>
        </p:spPr>
        <p:txBody>
          <a:bodyPr/>
          <a:lstStyle>
            <a:lvl1pPr>
              <a:defRPr sz="1100"/>
            </a:lvl1pPr>
          </a:lstStyle>
          <a:p>
            <a:fld id="{85DA3A08-9E66-614E-AAE5-F810EFDD6885}" type="slidenum">
              <a:rPr lang="en-US" smtClean="0"/>
              <a:pPr/>
              <a:t>35</a:t>
            </a:fld>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631292-24AE-5F41-8820-196C7D8E36A1}"/>
              </a:ext>
            </a:extLst>
          </p:cNvPr>
          <p:cNvSpPr>
            <a:spLocks noGrp="1"/>
          </p:cNvSpPr>
          <p:nvPr>
            <p:ph type="title"/>
          </p:nvPr>
        </p:nvSpPr>
        <p:spPr>
          <a:xfrm>
            <a:off x="1055553" y="365125"/>
            <a:ext cx="10977744" cy="666233"/>
          </a:xfrm>
        </p:spPr>
        <p:txBody>
          <a:bodyPr/>
          <a:lstStyle/>
          <a:p>
            <a:pPr marL="0" lvl="0" indent="0">
              <a:buNone/>
            </a:pPr>
            <a:r>
              <a:t>Notes</a:t>
            </a:r>
          </a:p>
        </p:txBody>
      </p:sp>
      <p:sp>
        <p:nvSpPr>
          <p:cNvPr id="3" name="Content Placeholder 2">
            <a:extLst>
              <a:ext uri="{FF2B5EF4-FFF2-40B4-BE49-F238E27FC236}">
                <a16:creationId xmlns:a16="http://schemas.microsoft.com/office/drawing/2014/main" id="{9C966DDB-3364-1B41-9729-DB3686A721C5}"/>
              </a:ext>
            </a:extLst>
          </p:cNvPr>
          <p:cNvSpPr>
            <a:spLocks noGrp="1"/>
          </p:cNvSpPr>
          <p:nvPr>
            <p:ph idx="1" hasCustomPrompt="1"/>
          </p:nvPr>
        </p:nvSpPr>
        <p:spPr/>
        <p:txBody>
          <a:bodyPr/>
          <a:lstStyle/>
          <a:p>
            <a:pPr marL="0" lvl="0" indent="0">
              <a:buNone/>
            </a:pPr>
            <a:r>
              <a:rPr sz="1800"/>
              <a:t>1. The data is available at: http://www.statssa.gov.za/ and the data was seasonally adjusted.</a:t>
            </a:r>
          </a:p>
        </p:txBody>
      </p:sp>
      <p:sp>
        <p:nvSpPr>
          <p:cNvPr id="7" name="Slide Number Placeholder 5">
            <a:extLst>
              <a:ext uri="{FF2B5EF4-FFF2-40B4-BE49-F238E27FC236}">
                <a16:creationId xmlns:a16="http://schemas.microsoft.com/office/drawing/2014/main" id="{FB221DBE-BC54-6C4C-BA1C-95E280B67712}"/>
              </a:ext>
            </a:extLst>
          </p:cNvPr>
          <p:cNvSpPr>
            <a:spLocks noGrp="1"/>
          </p:cNvSpPr>
          <p:nvPr>
            <p:ph type="sldNum" sz="quarter" idx="12"/>
          </p:nvPr>
        </p:nvSpPr>
        <p:spPr>
          <a:xfrm>
            <a:off x="7557977" y="6313820"/>
            <a:ext cx="2743200" cy="365125"/>
          </a:xfrm>
        </p:spPr>
        <p:txBody>
          <a:bodyPr/>
          <a:lstStyle>
            <a:lvl1pPr>
              <a:defRPr sz="1100"/>
            </a:lvl1pPr>
          </a:lstStyle>
          <a:p>
            <a:fld id="{85DA3A08-9E66-614E-AAE5-F810EFDD6885}" type="slidenum">
              <a:rPr lang="en-US" smtClean="0"/>
              <a:pPr/>
              <a:t>36</a:t>
            </a:fld>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70c52299-74de-4dfd-b117-c9c408edfa50}" enabled="1" method="Standard" siteId="{853cbaab-a620-4178-8933-88d76414184a}" contentBits="0" removed="0"/>
</clbl:labelList>
</file>

<file path=docProps/app.xml><?xml version="1.0" encoding="utf-8"?>
<Properties xmlns="http://schemas.openxmlformats.org/officeDocument/2006/extended-properties" xmlns:vt="http://schemas.openxmlformats.org/officeDocument/2006/docPropsVTypes">
  <TotalTime>434</TotalTime>
  <Words>3661</Words>
  <Application>Microsoft Macintosh PowerPoint</Application>
  <PresentationFormat>Widescreen</PresentationFormat>
  <Paragraphs>315</Paragraphs>
  <Slides>36</Slides>
  <Notes>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36</vt:i4>
      </vt:variant>
    </vt:vector>
  </HeadingPairs>
  <TitlesOfParts>
    <vt:vector size="40" baseType="lpstr">
      <vt:lpstr>Aptos</vt:lpstr>
      <vt:lpstr>Arial</vt:lpstr>
      <vt:lpstr>Cambria Math</vt:lpstr>
      <vt:lpstr>Office Theme</vt:lpstr>
      <vt:lpstr>Relative price dispersion and inflation regimes in South Africa</vt:lpstr>
      <vt:lpstr>The recent target reform raises questions about RPD</vt:lpstr>
      <vt:lpstr>RPD through Lucas’s aggregate supply curve (but what is RPD?)</vt:lpstr>
      <vt:lpstr>RPD has many explanations or theoretical underpinnings</vt:lpstr>
      <vt:lpstr>As a thought experiment, we focus of Lucas’s supply curve </vt:lpstr>
      <vt:lpstr>Lucas’s supply curve</vt:lpstr>
      <vt:lpstr>Lucas’s supply curve: Information asymmetry</vt:lpstr>
      <vt:lpstr>Lucas’s supply curve: General price level</vt:lpstr>
      <vt:lpstr>Lucas’s supply curve: Weight on formatting expectations</vt:lpstr>
      <vt:lpstr>Lucas’s supply curve: Relative price dispersion (RPD)</vt:lpstr>
      <vt:lpstr>Data and methodology (what did we do?)</vt:lpstr>
      <vt:lpstr>We rely entirely on Stats SA CPI data, …</vt:lpstr>
      <vt:lpstr>… and calculate inflation in the standard way</vt:lpstr>
      <vt:lpstr>The definition of RPD is well understood in the literature</vt:lpstr>
      <vt:lpstr>Our main purpose in to estimate the relationship between RPD and inflation</vt:lpstr>
      <vt:lpstr>However, this relationship can be time varying, …</vt:lpstr>
      <vt:lpstr>… or even quadratic in nature</vt:lpstr>
      <vt:lpstr>This enables use to estimate RPD minimizing inflation, … </vt:lpstr>
      <vt:lpstr>… using semi-parametric (kernel-based) methods</vt:lpstr>
      <vt:lpstr>Mainly the Gaussian and Epanechnikov kernel were used</vt:lpstr>
      <vt:lpstr>As outlined before, there is an important distinction between expected and unexpected inflation</vt:lpstr>
      <vt:lpstr>Lastly, we estimate RPD-Inflation regimes using QQR</vt:lpstr>
      <vt:lpstr>Results (what did we find?)</vt:lpstr>
      <vt:lpstr>RPD tends to rise rapidly with high inflation shocks</vt:lpstr>
      <vt:lpstr>Empirically, the RPD suggests lower optimal inflation</vt:lpstr>
      <vt:lpstr>The baseline results suggests a non-linear relationship</vt:lpstr>
      <vt:lpstr>Supported by significant time-varying results</vt:lpstr>
      <vt:lpstr>Results suggests an optimal inflation in the range of 2-3%</vt:lpstr>
      <vt:lpstr>Interestingly, severe inflation shocks compressed RPD</vt:lpstr>
      <vt:lpstr>Three distinct regimes emerged further enhancing the initial results</vt:lpstr>
      <vt:lpstr>Except post 2017, RPD was well anchored</vt:lpstr>
      <vt:lpstr>Conclusions (what are we saying?)</vt:lpstr>
      <vt:lpstr>Conclusion</vt:lpstr>
      <vt:lpstr>Thank You!   Questions? </vt:lpstr>
      <vt:lpstr>References</vt:lpstr>
      <vt:lpstr>Notes</vt:lpstr>
    </vt:vector>
  </TitlesOfParts>
  <LinksUpToDate>false</LinksUpToDate>
  <SharedDoc>false</SharedDoc>
  <HyperlinksChanged>false</HyperlinksChanged>
  <AppVersion>16.0000</AppVersion>
</Properties>
</file>

<file path=docProps/app0.xml><?xml version="1.0" encoding="utf-8"?>
<Properties xmlns="http://schemas.openxmlformats.org/officeDocument/2006/extended-properties" xmlns:vt="http://schemas.openxmlformats.org/officeDocument/2006/docPropsVTypes">
  <TotalTime>1671</TotalTime>
  <Words>13</Words>
  <Application>Microsoft Macintosh PowerPoint</Application>
  <PresentationFormat>Widescreen</PresentationFormat>
  <Paragraphs>13</Paragraphs>
  <Slides>17</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Relative price dispersion and inflation regimes in South Africa</dc:title>
  <dc:creator>Keagile Lesame and Xolani Sibande | National Treasury of South Africa and South African Reserve Bank</dc:creator>
  <cp:keywords/>
  <cp:lastModifiedBy>Xolani Sibande</cp:lastModifiedBy>
  <cp:revision>16</cp:revision>
  <dcterms:created xsi:type="dcterms:W3CDTF">2026-02-16T09:03:38Z</dcterms:created>
  <dcterms:modified xsi:type="dcterms:W3CDTF">2026-02-24T07:11:07Z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references.bib</vt:lpwstr>
  </property>
  <property fmtid="{D5CDD505-2E9C-101B-9397-08002B2CF9AE}" pid="5" name="by-author">
    <vt:lpwstr/>
  </property>
  <property fmtid="{D5CDD505-2E9C-101B-9397-08002B2CF9AE}" pid="6" name="crossref">
    <vt:lpwstr/>
  </property>
  <property fmtid="{D5CDD505-2E9C-101B-9397-08002B2CF9AE}" pid="7" name="editor">
    <vt:lpwstr>source</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